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6.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7.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65" r:id="rId2"/>
    <p:sldMasterId id="2147483697" r:id="rId3"/>
    <p:sldMasterId id="2147483709" r:id="rId4"/>
    <p:sldMasterId id="2147483760" r:id="rId5"/>
    <p:sldMasterId id="2147483800" r:id="rId6"/>
    <p:sldMasterId id="2147483804" r:id="rId7"/>
    <p:sldMasterId id="2147483838" r:id="rId8"/>
  </p:sldMasterIdLst>
  <p:notesMasterIdLst>
    <p:notesMasterId r:id="rId38"/>
  </p:notesMasterIdLst>
  <p:sldIdLst>
    <p:sldId id="677" r:id="rId9"/>
    <p:sldId id="816" r:id="rId10"/>
    <p:sldId id="734" r:id="rId11"/>
    <p:sldId id="868" r:id="rId12"/>
    <p:sldId id="869" r:id="rId13"/>
    <p:sldId id="870" r:id="rId14"/>
    <p:sldId id="874" r:id="rId15"/>
    <p:sldId id="871" r:id="rId16"/>
    <p:sldId id="875" r:id="rId17"/>
    <p:sldId id="872" r:id="rId18"/>
    <p:sldId id="876" r:id="rId19"/>
    <p:sldId id="873" r:id="rId20"/>
    <p:sldId id="877" r:id="rId21"/>
    <p:sldId id="878" r:id="rId22"/>
    <p:sldId id="884" r:id="rId23"/>
    <p:sldId id="886" r:id="rId24"/>
    <p:sldId id="885" r:id="rId25"/>
    <p:sldId id="881" r:id="rId26"/>
    <p:sldId id="882" r:id="rId27"/>
    <p:sldId id="887" r:id="rId28"/>
    <p:sldId id="888" r:id="rId29"/>
    <p:sldId id="889" r:id="rId30"/>
    <p:sldId id="890" r:id="rId31"/>
    <p:sldId id="883" r:id="rId32"/>
    <p:sldId id="894" r:id="rId33"/>
    <p:sldId id="891" r:id="rId34"/>
    <p:sldId id="893" r:id="rId35"/>
    <p:sldId id="609" r:id="rId36"/>
    <p:sldId id="8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32161"/>
    <a:srgbClr val="FFB9DD"/>
    <a:srgbClr val="636465"/>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314"/>
    <p:restoredTop sz="88592"/>
  </p:normalViewPr>
  <p:slideViewPr>
    <p:cSldViewPr snapToGrid="0" snapToObjects="1">
      <p:cViewPr varScale="1">
        <p:scale>
          <a:sx n="73" d="100"/>
          <a:sy n="73" d="100"/>
        </p:scale>
        <p:origin x="216" y="8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presProps" Target="presProps.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C2156-DB5E-CD4A-9396-EA7387893EB5}" type="datetimeFigureOut">
              <a:rPr lang="en-US" smtClean="0"/>
              <a:t>5/23/24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74F79B-9206-FF49-A065-37851696EADB}" type="slidenum">
              <a:rPr lang="en-US" smtClean="0"/>
              <a:t>‹#›</a:t>
            </a:fld>
            <a:endParaRPr lang="en-US"/>
          </a:p>
        </p:txBody>
      </p:sp>
    </p:spTree>
    <p:extLst>
      <p:ext uri="{BB962C8B-B14F-4D97-AF65-F5344CB8AC3E}">
        <p14:creationId xmlns:p14="http://schemas.microsoft.com/office/powerpoint/2010/main" val="2193469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DF7AD6-4FC0-A543-A4D6-93C7CFFD4D31}" type="slidenum">
              <a:rPr lang="en-US" smtClean="0"/>
              <a:t>1</a:t>
            </a:fld>
            <a:endParaRPr lang="en-US"/>
          </a:p>
        </p:txBody>
      </p:sp>
    </p:spTree>
    <p:extLst>
      <p:ext uri="{BB962C8B-B14F-4D97-AF65-F5344CB8AC3E}">
        <p14:creationId xmlns:p14="http://schemas.microsoft.com/office/powerpoint/2010/main" val="2018519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1091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i="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6720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7078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5645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2929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3672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1474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8209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8057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8049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229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To conclude,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p>
          <a:p>
            <a:pPr marL="228600" indent="-228600">
              <a:buAutoNum type="arabicPeriod"/>
            </a:pPr>
            <a:r>
              <a:rPr lang="en-US" i="1" dirty="0"/>
              <a:t>[click] </a:t>
            </a:r>
            <a:r>
              <a:rPr lang="en-US" sz="1200" dirty="0"/>
              <a:t>There is great opportunity to use photoplethysmography in public health</a:t>
            </a:r>
          </a:p>
          <a:p>
            <a:pPr marL="228600" indent="-228600">
              <a:buAutoNum type="arabicPeriod"/>
            </a:pPr>
            <a:r>
              <a:rPr lang="en-US" sz="1200" dirty="0"/>
              <a:t>[click] Clinical applications are emerging, including detecting atrial fibrillation</a:t>
            </a:r>
          </a:p>
          <a:p>
            <a:pPr marL="228600" indent="-228600">
              <a:buAutoNum type="arabicPeriod"/>
            </a:pPr>
            <a:r>
              <a:rPr lang="en-US" sz="1200" dirty="0"/>
              <a:t>[click] And, when used clinically, </a:t>
            </a:r>
            <a:r>
              <a:rPr lang="en-US" sz="1200" dirty="0" err="1"/>
              <a:t>photoplethysmgoraphy</a:t>
            </a:r>
            <a:r>
              <a:rPr lang="en-US" sz="1200" dirty="0"/>
              <a:t> should be like a climbing rope. [click] It should be highly reliable, validated, and used for specified purposes.</a:t>
            </a:r>
          </a:p>
          <a:p>
            <a:endParaRPr lang="en-US" sz="12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8310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9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75D666D-9342-7844-8FF7-82CB5988B7D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5536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399" y="3388937"/>
            <a:ext cx="5363400" cy="2249863"/>
          </a:xfrm>
        </p:spPr>
        <p:txBody>
          <a:bodyPr/>
          <a:lstStyle>
            <a:lvl1pPr algn="l">
              <a:defRPr b="1">
                <a:solidFill>
                  <a:schemeClr val="tx1"/>
                </a:solidFill>
              </a:defRPr>
            </a:lvl1pPr>
          </a:lstStyle>
          <a:p>
            <a:r>
              <a:rPr lang="en-US" dirty="0"/>
              <a:t>edit Master title style</a:t>
            </a:r>
            <a:endParaRPr lang="en-GB" dirty="0"/>
          </a:p>
        </p:txBody>
      </p:sp>
      <p:sp>
        <p:nvSpPr>
          <p:cNvPr id="3" name="Subtitle 2"/>
          <p:cNvSpPr>
            <a:spLocks noGrp="1"/>
          </p:cNvSpPr>
          <p:nvPr>
            <p:ph type="subTitle" idx="1" hasCustomPrompt="1"/>
          </p:nvPr>
        </p:nvSpPr>
        <p:spPr>
          <a:xfrm>
            <a:off x="6815543" y="3388937"/>
            <a:ext cx="4462058" cy="2249863"/>
          </a:xfrm>
        </p:spPr>
        <p:txBody>
          <a:bodyPr/>
          <a:lstStyle>
            <a:lvl1pPr marL="0" indent="0" algn="l">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Peter H. Charlton</a:t>
            </a:r>
          </a:p>
          <a:p>
            <a:endParaRPr lang="en-US" dirty="0"/>
          </a:p>
          <a:p>
            <a:r>
              <a:rPr lang="en-US" dirty="0"/>
              <a:t>University of Cambridge</a:t>
            </a:r>
          </a:p>
          <a:p>
            <a:r>
              <a:rPr lang="en-US" dirty="0"/>
              <a:t>City, University of London</a:t>
            </a:r>
            <a:endParaRPr lang="en-GB" dirty="0"/>
          </a:p>
        </p:txBody>
      </p:sp>
      <p:sp>
        <p:nvSpPr>
          <p:cNvPr id="4" name="Date Placeholder 3"/>
          <p:cNvSpPr>
            <a:spLocks noGrp="1"/>
          </p:cNvSpPr>
          <p:nvPr>
            <p:ph type="dt" sz="half" idx="10"/>
          </p:nvPr>
        </p:nvSpPr>
        <p:spPr/>
        <p:txBody>
          <a:bodyPr/>
          <a:lstStyle>
            <a:lvl1pPr>
              <a:defRPr/>
            </a:lvl1pPr>
          </a:lstStyle>
          <a:p>
            <a:pPr>
              <a:defRPr/>
            </a:pPr>
            <a:r>
              <a:rPr lang="en-GB" dirty="0"/>
              <a:t>Peter Charlton</a:t>
            </a:r>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76D2A604-C499-7246-B278-41D6A5D9F1B1}" type="slidenum">
              <a:rPr lang="en-GB" altLang="en-US"/>
              <a:pPr/>
              <a:t>‹#›</a:t>
            </a:fld>
            <a:endParaRPr lang="en-GB" altLang="en-US"/>
          </a:p>
        </p:txBody>
      </p:sp>
      <p:sp>
        <p:nvSpPr>
          <p:cNvPr id="7" name="Rectangle 6">
            <a:extLst>
              <a:ext uri="{FF2B5EF4-FFF2-40B4-BE49-F238E27FC236}">
                <a16:creationId xmlns:a16="http://schemas.microsoft.com/office/drawing/2014/main" id="{4822327C-2345-A947-B16F-7F16C25058AC}"/>
              </a:ext>
            </a:extLst>
          </p:cNvPr>
          <p:cNvSpPr/>
          <p:nvPr userDrawn="1"/>
        </p:nvSpPr>
        <p:spPr>
          <a:xfrm rot="5400000" flipV="1">
            <a:off x="5421739" y="4491009"/>
            <a:ext cx="2249863" cy="45719"/>
          </a:xfrm>
          <a:prstGeom prst="rect">
            <a:avLst/>
          </a:prstGeom>
          <a:solidFill>
            <a:srgbClr val="32609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Tree>
    <p:extLst>
      <p:ext uri="{BB962C8B-B14F-4D97-AF65-F5344CB8AC3E}">
        <p14:creationId xmlns:p14="http://schemas.microsoft.com/office/powerpoint/2010/main" val="2281902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F28884-6BC2-7549-906C-76DB43E45149}" type="datetimeFigureOut">
              <a:rPr lang="en-US" smtClean="0"/>
              <a:t>5/23/24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9EE1FF-0021-264C-A4EC-C169E98D2A37}" type="slidenum">
              <a:rPr lang="en-US" smtClean="0"/>
              <a:t>‹#›</a:t>
            </a:fld>
            <a:endParaRPr lang="en-US"/>
          </a:p>
        </p:txBody>
      </p:sp>
    </p:spTree>
    <p:extLst>
      <p:ext uri="{BB962C8B-B14F-4D97-AF65-F5344CB8AC3E}">
        <p14:creationId xmlns:p14="http://schemas.microsoft.com/office/powerpoint/2010/main" val="312831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F28884-6BC2-7549-906C-76DB43E45149}" type="datetimeFigureOut">
              <a:rPr lang="en-US" smtClean="0"/>
              <a:t>5/23/24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9EE1FF-0021-264C-A4EC-C169E98D2A37}" type="slidenum">
              <a:rPr lang="en-US" smtClean="0"/>
              <a:t>‹#›</a:t>
            </a:fld>
            <a:endParaRPr lang="en-US"/>
          </a:p>
        </p:txBody>
      </p:sp>
    </p:spTree>
    <p:extLst>
      <p:ext uri="{BB962C8B-B14F-4D97-AF65-F5344CB8AC3E}">
        <p14:creationId xmlns:p14="http://schemas.microsoft.com/office/powerpoint/2010/main" val="1309204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65BF6-5A67-2243-969E-7C0BEA332C77}"/>
              </a:ext>
            </a:extLst>
          </p:cNvPr>
          <p:cNvSpPr>
            <a:spLocks noGrp="1"/>
          </p:cNvSpPr>
          <p:nvPr>
            <p:ph type="title"/>
          </p:nvPr>
        </p:nvSpPr>
        <p:spPr>
          <a:xfrm>
            <a:off x="609600" y="0"/>
            <a:ext cx="10972800" cy="1143000"/>
          </a:xfrm>
        </p:spPr>
        <p:txBody>
          <a:bodyPr/>
          <a:lstStyle>
            <a:lvl1pPr algn="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3F1DE71-4F5B-BA4D-ACEC-CE007F7EDB3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F388A5D-65ED-CF4F-BC22-AAD6A3D94A7D}"/>
              </a:ext>
            </a:extLst>
          </p:cNvPr>
          <p:cNvSpPr>
            <a:spLocks noGrp="1"/>
          </p:cNvSpPr>
          <p:nvPr>
            <p:ph type="dt" sz="half" idx="10"/>
          </p:nvPr>
        </p:nvSpPr>
        <p:spPr/>
        <p:txBody>
          <a:bodyPr/>
          <a:lstStyle/>
          <a:p>
            <a:pPr>
              <a:defRPr/>
            </a:pPr>
            <a:r>
              <a:rPr lang="en-GB" dirty="0"/>
              <a:t>Peter Charlton</a:t>
            </a:r>
          </a:p>
        </p:txBody>
      </p:sp>
      <p:sp>
        <p:nvSpPr>
          <p:cNvPr id="5" name="Footer Placeholder 4">
            <a:extLst>
              <a:ext uri="{FF2B5EF4-FFF2-40B4-BE49-F238E27FC236}">
                <a16:creationId xmlns:a16="http://schemas.microsoft.com/office/drawing/2014/main" id="{3C75C29D-BFAF-594C-9CF7-3E9D099259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3BBCB-D2FA-8945-B079-B34E5A41F3E1}"/>
              </a:ext>
            </a:extLst>
          </p:cNvPr>
          <p:cNvSpPr>
            <a:spLocks noGrp="1"/>
          </p:cNvSpPr>
          <p:nvPr>
            <p:ph type="sldNum" sz="quarter" idx="12"/>
          </p:nvPr>
        </p:nvSpPr>
        <p:spPr/>
        <p:txBody>
          <a:bodyPr/>
          <a:lstStyle>
            <a:lvl1pPr>
              <a:defRPr b="1"/>
            </a:lvl1pPr>
          </a:lstStyle>
          <a:p>
            <a:fld id="{1543C46E-5073-DD47-BBEA-5ADA7465C9CB}" type="slidenum">
              <a:rPr lang="en-US" smtClean="0"/>
              <a:pPr/>
              <a:t>‹#›</a:t>
            </a:fld>
            <a:endParaRPr lang="en-US" b="1" dirty="0"/>
          </a:p>
        </p:txBody>
      </p:sp>
    </p:spTree>
    <p:extLst>
      <p:ext uri="{BB962C8B-B14F-4D97-AF65-F5344CB8AC3E}">
        <p14:creationId xmlns:p14="http://schemas.microsoft.com/office/powerpoint/2010/main" val="1776972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399" y="3388937"/>
            <a:ext cx="5363400" cy="2249863"/>
          </a:xfrm>
        </p:spPr>
        <p:txBody>
          <a:bodyPr/>
          <a:lstStyle>
            <a:lvl1pPr algn="l">
              <a:defRPr b="1">
                <a:solidFill>
                  <a:schemeClr val="tx1"/>
                </a:solidFill>
              </a:defRPr>
            </a:lvl1pPr>
          </a:lstStyle>
          <a:p>
            <a:r>
              <a:rPr lang="en-US" dirty="0"/>
              <a:t>edit Master title style</a:t>
            </a:r>
            <a:endParaRPr lang="en-GB" dirty="0"/>
          </a:p>
        </p:txBody>
      </p:sp>
      <p:sp>
        <p:nvSpPr>
          <p:cNvPr id="3" name="Subtitle 2"/>
          <p:cNvSpPr>
            <a:spLocks noGrp="1"/>
          </p:cNvSpPr>
          <p:nvPr>
            <p:ph type="subTitle" idx="1" hasCustomPrompt="1"/>
          </p:nvPr>
        </p:nvSpPr>
        <p:spPr>
          <a:xfrm>
            <a:off x="6815543" y="3388937"/>
            <a:ext cx="4462058" cy="2249863"/>
          </a:xfrm>
        </p:spPr>
        <p:txBody>
          <a:bodyPr/>
          <a:lstStyle>
            <a:lvl1pPr marL="0" indent="0" algn="l">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Peter H. Charlton</a:t>
            </a:r>
          </a:p>
          <a:p>
            <a:endParaRPr lang="en-US" dirty="0"/>
          </a:p>
          <a:p>
            <a:r>
              <a:rPr lang="en-US" dirty="0"/>
              <a:t>University of Cambridge</a:t>
            </a:r>
          </a:p>
          <a:p>
            <a:r>
              <a:rPr lang="en-US" dirty="0"/>
              <a:t>City, University of London</a:t>
            </a:r>
            <a:endParaRPr lang="en-GB" dirty="0"/>
          </a:p>
        </p:txBody>
      </p:sp>
      <p:sp>
        <p:nvSpPr>
          <p:cNvPr id="4" name="Date Placeholder 3"/>
          <p:cNvSpPr>
            <a:spLocks noGrp="1"/>
          </p:cNvSpPr>
          <p:nvPr>
            <p:ph type="dt" sz="half" idx="10"/>
          </p:nvPr>
        </p:nvSpPr>
        <p:spPr/>
        <p:txBody>
          <a:bodyPr/>
          <a:lstStyle>
            <a:lvl1pPr>
              <a:defRPr/>
            </a:lvl1pPr>
          </a:lstStyle>
          <a:p>
            <a:pPr>
              <a:defRPr/>
            </a:pPr>
            <a:r>
              <a:rPr lang="en-GB" dirty="0"/>
              <a:t>Peter Charlton</a:t>
            </a:r>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76D2A604-C499-7246-B278-41D6A5D9F1B1}" type="slidenum">
              <a:rPr lang="en-GB" altLang="en-US"/>
              <a:pPr/>
              <a:t>‹#›</a:t>
            </a:fld>
            <a:endParaRPr lang="en-GB" altLang="en-US"/>
          </a:p>
        </p:txBody>
      </p:sp>
      <p:sp>
        <p:nvSpPr>
          <p:cNvPr id="7" name="Rectangle 6">
            <a:extLst>
              <a:ext uri="{FF2B5EF4-FFF2-40B4-BE49-F238E27FC236}">
                <a16:creationId xmlns:a16="http://schemas.microsoft.com/office/drawing/2014/main" id="{4822327C-2345-A947-B16F-7F16C25058AC}"/>
              </a:ext>
            </a:extLst>
          </p:cNvPr>
          <p:cNvSpPr/>
          <p:nvPr userDrawn="1"/>
        </p:nvSpPr>
        <p:spPr>
          <a:xfrm rot="5400000" flipV="1">
            <a:off x="5421739" y="4491009"/>
            <a:ext cx="2249863" cy="45719"/>
          </a:xfrm>
          <a:prstGeom prst="rect">
            <a:avLst/>
          </a:prstGeom>
          <a:solidFill>
            <a:srgbClr val="32609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Tree>
    <p:extLst>
      <p:ext uri="{BB962C8B-B14F-4D97-AF65-F5344CB8AC3E}">
        <p14:creationId xmlns:p14="http://schemas.microsoft.com/office/powerpoint/2010/main" val="3740434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65BF6-5A67-2243-969E-7C0BEA332C77}"/>
              </a:ext>
            </a:extLst>
          </p:cNvPr>
          <p:cNvSpPr>
            <a:spLocks noGrp="1"/>
          </p:cNvSpPr>
          <p:nvPr>
            <p:ph type="title"/>
          </p:nvPr>
        </p:nvSpPr>
        <p:spPr>
          <a:xfrm>
            <a:off x="609600" y="0"/>
            <a:ext cx="10972800" cy="1143000"/>
          </a:xfrm>
        </p:spPr>
        <p:txBody>
          <a:bodyPr/>
          <a:lstStyle>
            <a:lvl1pPr algn="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3F1DE71-4F5B-BA4D-ACEC-CE007F7EDB3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F388A5D-65ED-CF4F-BC22-AAD6A3D94A7D}"/>
              </a:ext>
            </a:extLst>
          </p:cNvPr>
          <p:cNvSpPr>
            <a:spLocks noGrp="1"/>
          </p:cNvSpPr>
          <p:nvPr>
            <p:ph type="dt" sz="half" idx="10"/>
          </p:nvPr>
        </p:nvSpPr>
        <p:spPr/>
        <p:txBody>
          <a:bodyPr/>
          <a:lstStyle/>
          <a:p>
            <a:pPr>
              <a:defRPr/>
            </a:pPr>
            <a:r>
              <a:rPr lang="en-GB" dirty="0"/>
              <a:t>Peter Charlton</a:t>
            </a:r>
          </a:p>
        </p:txBody>
      </p:sp>
      <p:sp>
        <p:nvSpPr>
          <p:cNvPr id="5" name="Footer Placeholder 4">
            <a:extLst>
              <a:ext uri="{FF2B5EF4-FFF2-40B4-BE49-F238E27FC236}">
                <a16:creationId xmlns:a16="http://schemas.microsoft.com/office/drawing/2014/main" id="{3C75C29D-BFAF-594C-9CF7-3E9D099259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3BBCB-D2FA-8945-B079-B34E5A41F3E1}"/>
              </a:ext>
            </a:extLst>
          </p:cNvPr>
          <p:cNvSpPr>
            <a:spLocks noGrp="1"/>
          </p:cNvSpPr>
          <p:nvPr>
            <p:ph type="sldNum" sz="quarter" idx="12"/>
          </p:nvPr>
        </p:nvSpPr>
        <p:spPr/>
        <p:txBody>
          <a:bodyPr/>
          <a:lstStyle>
            <a:lvl1pPr>
              <a:defRPr b="1"/>
            </a:lvl1pPr>
          </a:lstStyle>
          <a:p>
            <a:fld id="{1543C46E-5073-DD47-BBEA-5ADA7465C9CB}" type="slidenum">
              <a:rPr lang="en-US" smtClean="0"/>
              <a:pPr/>
              <a:t>‹#›</a:t>
            </a:fld>
            <a:endParaRPr lang="en-US" b="1" dirty="0"/>
          </a:p>
        </p:txBody>
      </p:sp>
    </p:spTree>
    <p:extLst>
      <p:ext uri="{BB962C8B-B14F-4D97-AF65-F5344CB8AC3E}">
        <p14:creationId xmlns:p14="http://schemas.microsoft.com/office/powerpoint/2010/main" val="3880258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F388A5D-65ED-CF4F-BC22-AAD6A3D94A7D}"/>
              </a:ext>
            </a:extLst>
          </p:cNvPr>
          <p:cNvSpPr>
            <a:spLocks noGrp="1"/>
          </p:cNvSpPr>
          <p:nvPr>
            <p:ph type="dt" sz="half" idx="10"/>
          </p:nvPr>
        </p:nvSpPr>
        <p:spPr/>
        <p:txBody>
          <a:bodyPr/>
          <a:lstStyle/>
          <a:p>
            <a:pPr>
              <a:defRPr/>
            </a:pPr>
            <a:r>
              <a:rPr lang="en-GB" dirty="0"/>
              <a:t>Peter Charlton</a:t>
            </a:r>
          </a:p>
        </p:txBody>
      </p:sp>
      <p:sp>
        <p:nvSpPr>
          <p:cNvPr id="5" name="Footer Placeholder 4">
            <a:extLst>
              <a:ext uri="{FF2B5EF4-FFF2-40B4-BE49-F238E27FC236}">
                <a16:creationId xmlns:a16="http://schemas.microsoft.com/office/drawing/2014/main" id="{3C75C29D-BFAF-594C-9CF7-3E9D099259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3BBCB-D2FA-8945-B079-B34E5A41F3E1}"/>
              </a:ext>
            </a:extLst>
          </p:cNvPr>
          <p:cNvSpPr>
            <a:spLocks noGrp="1"/>
          </p:cNvSpPr>
          <p:nvPr>
            <p:ph type="sldNum" sz="quarter" idx="12"/>
          </p:nvPr>
        </p:nvSpPr>
        <p:spPr/>
        <p:txBody>
          <a:bodyPr/>
          <a:lstStyle>
            <a:lvl1pPr>
              <a:defRPr b="1"/>
            </a:lvl1pPr>
          </a:lstStyle>
          <a:p>
            <a:fld id="{1543C46E-5073-DD47-BBEA-5ADA7465C9CB}" type="slidenum">
              <a:rPr lang="en-US" smtClean="0"/>
              <a:pPr/>
              <a:t>‹#›</a:t>
            </a:fld>
            <a:endParaRPr lang="en-US" b="1" dirty="0"/>
          </a:p>
        </p:txBody>
      </p:sp>
    </p:spTree>
    <p:extLst>
      <p:ext uri="{BB962C8B-B14F-4D97-AF65-F5344CB8AC3E}">
        <p14:creationId xmlns:p14="http://schemas.microsoft.com/office/powerpoint/2010/main" val="14480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67A9-CC9D-3642-ABE8-2BF86A28E75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FE0955B-B7BB-7E44-90C7-3B96D6F608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5AA784C-04D8-7C4B-8E67-1058B87257BC}"/>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5" name="Footer Placeholder 4">
            <a:extLst>
              <a:ext uri="{FF2B5EF4-FFF2-40B4-BE49-F238E27FC236}">
                <a16:creationId xmlns:a16="http://schemas.microsoft.com/office/drawing/2014/main" id="{C920E5DA-63D2-9B4E-8961-431A06B219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F0C1B-876D-0647-B29D-5806C96DBC02}"/>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3806981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0FB40-4609-0E4D-BC5F-D92FBEF2A95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9EC69E-A22C-3241-B565-CCC9BCD4BB5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191E788-9462-7D42-B3C1-D170EF642785}"/>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5" name="Footer Placeholder 4">
            <a:extLst>
              <a:ext uri="{FF2B5EF4-FFF2-40B4-BE49-F238E27FC236}">
                <a16:creationId xmlns:a16="http://schemas.microsoft.com/office/drawing/2014/main" id="{8F764187-1FB5-2045-9E4D-872472012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56479-65F2-D44C-8802-0885EB5C309F}"/>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1569440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BD2A1-F730-1F44-97F8-1BB445368F4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5BDC1AB-3B75-794B-81A6-F4E412F5E3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C1CEF7A-338F-B543-BE49-7262C061FAE2}"/>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5" name="Footer Placeholder 4">
            <a:extLst>
              <a:ext uri="{FF2B5EF4-FFF2-40B4-BE49-F238E27FC236}">
                <a16:creationId xmlns:a16="http://schemas.microsoft.com/office/drawing/2014/main" id="{A5B351A2-C9CB-CF41-91A4-FEC87BB420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B6D8AD-1F5E-A649-8B7F-D5058A075570}"/>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2918115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7CB7-69A2-B049-813E-27C89DBD91A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C99FB55-20E2-614F-A20D-6631EFB5F89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8BAE94B-00EF-374B-ACFC-5F46D298DF6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8FECCD7-5368-8A42-AEF8-1018C02A4150}"/>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6" name="Footer Placeholder 5">
            <a:extLst>
              <a:ext uri="{FF2B5EF4-FFF2-40B4-BE49-F238E27FC236}">
                <a16:creationId xmlns:a16="http://schemas.microsoft.com/office/drawing/2014/main" id="{23AA7FF4-CDD4-CD40-A8FC-0EFC4B6FC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FDD5B2-335A-644A-9558-0F2BD1B2F042}"/>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3532756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40BE6-C098-004B-9883-D40014D0E9A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7DE5363-F742-8A4B-AE6B-936A6E13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DDF0AE3-E0FB-0240-8039-61C7E39D72D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04C3F0D-FB40-2E42-B12C-7B597D8893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CBCF280-C84D-D141-959D-D64157370DC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8998260-FE7A-FB4C-9975-420764B063DC}"/>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8" name="Footer Placeholder 7">
            <a:extLst>
              <a:ext uri="{FF2B5EF4-FFF2-40B4-BE49-F238E27FC236}">
                <a16:creationId xmlns:a16="http://schemas.microsoft.com/office/drawing/2014/main" id="{DB175B91-AC33-2541-8FEA-7A6F8ACC43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B92EE0-AC28-1F42-82E5-1C8F9572D634}"/>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3283693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9ED64-BB1C-2A4D-BFB3-8844A9F3CA9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A0E1F74-5A83-AA4E-8FF9-8C770A67754D}"/>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4" name="Footer Placeholder 3">
            <a:extLst>
              <a:ext uri="{FF2B5EF4-FFF2-40B4-BE49-F238E27FC236}">
                <a16:creationId xmlns:a16="http://schemas.microsoft.com/office/drawing/2014/main" id="{6BA31A9A-BF4A-E241-9C88-8C9BFD153F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A6B247-B992-8C4C-BFBA-242950E40BDB}"/>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4275639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B35F6B-E147-E04B-B320-28BDE26C7C03}"/>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3" name="Footer Placeholder 2">
            <a:extLst>
              <a:ext uri="{FF2B5EF4-FFF2-40B4-BE49-F238E27FC236}">
                <a16:creationId xmlns:a16="http://schemas.microsoft.com/office/drawing/2014/main" id="{A798D64D-C2ED-A64C-83DD-B16B4FFA67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32F5AE-FE8B-E640-B7BC-210F3E70221A}"/>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1496456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68D9D-0590-2844-AD9E-079677BA6FC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6DB6CDE-4619-3E4B-82C4-111AE1C15A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ECE608B-6C72-794D-A12C-99577372C6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F1373B3-4AAA-A548-8D25-04A818E2E28D}"/>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6" name="Footer Placeholder 5">
            <a:extLst>
              <a:ext uri="{FF2B5EF4-FFF2-40B4-BE49-F238E27FC236}">
                <a16:creationId xmlns:a16="http://schemas.microsoft.com/office/drawing/2014/main" id="{BC3BF419-8ED2-8A4C-808B-F0DCF79845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495AEC-9F56-6147-9CBF-7990E842C799}"/>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4841562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BA609-CF03-9E47-9CC3-E58640BDB24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93E148B-7256-5043-9A97-30602879BA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B7CA0F-A7F2-5744-8E1B-39B6A37277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D9FB41B-8B61-8442-87AD-0515E955EDA6}"/>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6" name="Footer Placeholder 5">
            <a:extLst>
              <a:ext uri="{FF2B5EF4-FFF2-40B4-BE49-F238E27FC236}">
                <a16:creationId xmlns:a16="http://schemas.microsoft.com/office/drawing/2014/main" id="{9152EED5-C3DC-8D49-8DF9-B8C7DCCAB7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26760C-5505-2A4C-B1EA-BFA28A734242}"/>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19235383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A692A-465A-424B-BBF4-6A4DF58C57A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21FF6E4-9037-374F-96A1-E5912F93B3C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198BE39-F033-414D-B8F4-53F980542A08}"/>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5" name="Footer Placeholder 4">
            <a:extLst>
              <a:ext uri="{FF2B5EF4-FFF2-40B4-BE49-F238E27FC236}">
                <a16:creationId xmlns:a16="http://schemas.microsoft.com/office/drawing/2014/main" id="{5524CE35-CDAF-9940-8825-55E885A6E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E9422D-206C-AB44-AF0C-D9D3B4B38FCE}"/>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903483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A45E9A-99EB-3A47-BEA6-91ABDD8D8EB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6617C7B-06B6-024C-9DB2-61AEB429E44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681C3FF-B09B-3E45-9FD8-BC73399F3A43}"/>
              </a:ext>
            </a:extLst>
          </p:cNvPr>
          <p:cNvSpPr>
            <a:spLocks noGrp="1"/>
          </p:cNvSpPr>
          <p:nvPr>
            <p:ph type="dt" sz="half" idx="10"/>
          </p:nvPr>
        </p:nvSpPr>
        <p:spPr/>
        <p:txBody>
          <a:bodyPr/>
          <a:lstStyle/>
          <a:p>
            <a:fld id="{3DC62555-E728-274C-A8E3-0102EEED6C1C}" type="datetimeFigureOut">
              <a:rPr lang="en-US" smtClean="0"/>
              <a:t>5/23/24</a:t>
            </a:fld>
            <a:endParaRPr lang="en-US"/>
          </a:p>
        </p:txBody>
      </p:sp>
      <p:sp>
        <p:nvSpPr>
          <p:cNvPr id="5" name="Footer Placeholder 4">
            <a:extLst>
              <a:ext uri="{FF2B5EF4-FFF2-40B4-BE49-F238E27FC236}">
                <a16:creationId xmlns:a16="http://schemas.microsoft.com/office/drawing/2014/main" id="{D29039B6-6930-DD47-83B1-7A4ABE878B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52912B-C723-4E42-9F20-47E07CA3588C}"/>
              </a:ext>
            </a:extLst>
          </p:cNvPr>
          <p:cNvSpPr>
            <a:spLocks noGrp="1"/>
          </p:cNvSpPr>
          <p:nvPr>
            <p:ph type="sldNum" sz="quarter" idx="12"/>
          </p:nvPr>
        </p:nvSpPr>
        <p:spPr/>
        <p:txBody>
          <a:bodyPr/>
          <a:lstStyle/>
          <a:p>
            <a:fld id="{6AF4B0C6-53D0-A14D-8E09-98776118C32E}" type="slidenum">
              <a:rPr lang="en-US" smtClean="0"/>
              <a:t>‹#›</a:t>
            </a:fld>
            <a:endParaRPr lang="en-US"/>
          </a:p>
        </p:txBody>
      </p:sp>
    </p:spTree>
    <p:extLst>
      <p:ext uri="{BB962C8B-B14F-4D97-AF65-F5344CB8AC3E}">
        <p14:creationId xmlns:p14="http://schemas.microsoft.com/office/powerpoint/2010/main" val="4211792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lvl1pPr>
              <a:defRPr b="1">
                <a:solidFill>
                  <a:schemeClr val="bg1"/>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150096C5-6890-9F49-8F9C-749F3E36255D}" type="datetimeFigureOut">
              <a:rPr lang="en-GB"/>
              <a:pPr>
                <a:defRPr/>
              </a:pPr>
              <a:t>23/05/2024</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76D2A604-C499-7246-B278-41D6A5D9F1B1}" type="slidenum">
              <a:rPr lang="en-GB" altLang="en-US"/>
              <a:pPr/>
              <a:t>‹#›</a:t>
            </a:fld>
            <a:endParaRPr lang="en-GB" altLang="en-US"/>
          </a:p>
        </p:txBody>
      </p:sp>
    </p:spTree>
    <p:extLst>
      <p:ext uri="{BB962C8B-B14F-4D97-AF65-F5344CB8AC3E}">
        <p14:creationId xmlns:p14="http://schemas.microsoft.com/office/powerpoint/2010/main" val="408780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530504"/>
            <a:ext cx="10363200" cy="1470025"/>
          </a:xfrm>
        </p:spPr>
        <p:txBody>
          <a:bodyPr/>
          <a:lstStyle>
            <a:lvl1pPr>
              <a:defRPr b="1">
                <a:solidFill>
                  <a:schemeClr val="bg1"/>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150096C5-6890-9F49-8F9C-749F3E36255D}" type="datetimeFigureOut">
              <a:rPr lang="en-GB"/>
              <a:pPr>
                <a:defRPr/>
              </a:pPr>
              <a:t>23/05/2024</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76D2A604-C499-7246-B278-41D6A5D9F1B1}" type="slidenum">
              <a:rPr lang="en-GB" altLang="en-US"/>
              <a:pPr/>
              <a:t>‹#›</a:t>
            </a:fld>
            <a:endParaRPr lang="en-GB" altLang="en-US"/>
          </a:p>
        </p:txBody>
      </p:sp>
    </p:spTree>
    <p:extLst>
      <p:ext uri="{BB962C8B-B14F-4D97-AF65-F5344CB8AC3E}">
        <p14:creationId xmlns:p14="http://schemas.microsoft.com/office/powerpoint/2010/main" val="30211408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249A82D6-7384-BD41-B16D-E66790CBA03A}" type="datetimeFigureOut">
              <a:rPr lang="en-GB"/>
              <a:pPr>
                <a:defRPr/>
              </a:pPr>
              <a:t>23/05/2024</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fld id="{34ABE212-8482-DE46-A52D-6F2B46178510}" type="slidenum">
              <a:rPr lang="en-GB" altLang="en-US"/>
              <a:pPr/>
              <a:t>‹#›</a:t>
            </a:fld>
            <a:endParaRPr lang="en-GB" altLang="en-US"/>
          </a:p>
        </p:txBody>
      </p:sp>
    </p:spTree>
    <p:extLst>
      <p:ext uri="{BB962C8B-B14F-4D97-AF65-F5344CB8AC3E}">
        <p14:creationId xmlns:p14="http://schemas.microsoft.com/office/powerpoint/2010/main" val="4729309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399" y="3388937"/>
            <a:ext cx="5363400" cy="2249863"/>
          </a:xfrm>
        </p:spPr>
        <p:txBody>
          <a:bodyPr/>
          <a:lstStyle>
            <a:lvl1pPr algn="l">
              <a:defRPr b="1">
                <a:solidFill>
                  <a:schemeClr val="tx1"/>
                </a:solidFill>
              </a:defRPr>
            </a:lvl1pPr>
          </a:lstStyle>
          <a:p>
            <a:r>
              <a:rPr lang="en-US" dirty="0"/>
              <a:t>edit Master title style</a:t>
            </a:r>
            <a:endParaRPr lang="en-GB" dirty="0"/>
          </a:p>
        </p:txBody>
      </p:sp>
      <p:sp>
        <p:nvSpPr>
          <p:cNvPr id="3" name="Subtitle 2"/>
          <p:cNvSpPr>
            <a:spLocks noGrp="1"/>
          </p:cNvSpPr>
          <p:nvPr>
            <p:ph type="subTitle" idx="1" hasCustomPrompt="1"/>
          </p:nvPr>
        </p:nvSpPr>
        <p:spPr>
          <a:xfrm>
            <a:off x="6815543" y="3388937"/>
            <a:ext cx="4462058" cy="2249863"/>
          </a:xfrm>
        </p:spPr>
        <p:txBody>
          <a:bodyPr/>
          <a:lstStyle>
            <a:lvl1pPr marL="0" indent="0" algn="l">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Peter H. Charlton</a:t>
            </a:r>
          </a:p>
          <a:p>
            <a:endParaRPr lang="en-US" dirty="0"/>
          </a:p>
          <a:p>
            <a:r>
              <a:rPr lang="en-US" dirty="0"/>
              <a:t>University of Cambridge</a:t>
            </a:r>
          </a:p>
          <a:p>
            <a:r>
              <a:rPr lang="en-US" dirty="0"/>
              <a:t>City, University of London</a:t>
            </a:r>
            <a:endParaRPr lang="en-GB" dirty="0"/>
          </a:p>
        </p:txBody>
      </p:sp>
      <p:sp>
        <p:nvSpPr>
          <p:cNvPr id="4" name="Date Placeholder 3"/>
          <p:cNvSpPr>
            <a:spLocks noGrp="1"/>
          </p:cNvSpPr>
          <p:nvPr>
            <p:ph type="dt" sz="half" idx="10"/>
          </p:nvPr>
        </p:nvSpPr>
        <p:spPr/>
        <p:txBody>
          <a:bodyPr/>
          <a:lstStyle>
            <a:lvl1pPr>
              <a:defRPr/>
            </a:lvl1pPr>
          </a:lstStyle>
          <a:p>
            <a:pPr>
              <a:defRPr/>
            </a:pPr>
            <a:r>
              <a:rPr lang="en-GB" dirty="0"/>
              <a:t>Peter Charlton</a:t>
            </a:r>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76D2A604-C499-7246-B278-41D6A5D9F1B1}" type="slidenum">
              <a:rPr lang="en-GB" altLang="en-US"/>
              <a:pPr/>
              <a:t>‹#›</a:t>
            </a:fld>
            <a:endParaRPr lang="en-GB" altLang="en-US"/>
          </a:p>
        </p:txBody>
      </p:sp>
      <p:sp>
        <p:nvSpPr>
          <p:cNvPr id="7" name="Rectangle 6">
            <a:extLst>
              <a:ext uri="{FF2B5EF4-FFF2-40B4-BE49-F238E27FC236}">
                <a16:creationId xmlns:a16="http://schemas.microsoft.com/office/drawing/2014/main" id="{4822327C-2345-A947-B16F-7F16C25058AC}"/>
              </a:ext>
            </a:extLst>
          </p:cNvPr>
          <p:cNvSpPr/>
          <p:nvPr userDrawn="1"/>
        </p:nvSpPr>
        <p:spPr>
          <a:xfrm rot="5400000" flipV="1">
            <a:off x="5421739" y="4491009"/>
            <a:ext cx="2249863" cy="45719"/>
          </a:xfrm>
          <a:prstGeom prst="rect">
            <a:avLst/>
          </a:prstGeom>
          <a:solidFill>
            <a:srgbClr val="32609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Tree>
    <p:extLst>
      <p:ext uri="{BB962C8B-B14F-4D97-AF65-F5344CB8AC3E}">
        <p14:creationId xmlns:p14="http://schemas.microsoft.com/office/powerpoint/2010/main" val="3133641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F28884-6BC2-7549-906C-76DB43E45149}" type="datetimeFigureOut">
              <a:rPr lang="en-US" smtClean="0"/>
              <a:t>5/23/24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9EE1FF-0021-264C-A4EC-C169E98D2A37}" type="slidenum">
              <a:rPr lang="en-US" smtClean="0"/>
              <a:t>‹#›</a:t>
            </a:fld>
            <a:endParaRPr lang="en-US"/>
          </a:p>
        </p:txBody>
      </p:sp>
    </p:spTree>
    <p:extLst>
      <p:ext uri="{BB962C8B-B14F-4D97-AF65-F5344CB8AC3E}">
        <p14:creationId xmlns:p14="http://schemas.microsoft.com/office/powerpoint/2010/main" val="19326075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399" y="3388937"/>
            <a:ext cx="5363400" cy="2249863"/>
          </a:xfrm>
        </p:spPr>
        <p:txBody>
          <a:bodyPr/>
          <a:lstStyle>
            <a:lvl1pPr algn="l">
              <a:defRPr b="1">
                <a:solidFill>
                  <a:schemeClr val="tx1"/>
                </a:solidFill>
              </a:defRPr>
            </a:lvl1pPr>
          </a:lstStyle>
          <a:p>
            <a:r>
              <a:rPr lang="en-US" dirty="0"/>
              <a:t>edit Master title style</a:t>
            </a:r>
            <a:endParaRPr lang="en-GB" dirty="0"/>
          </a:p>
        </p:txBody>
      </p:sp>
      <p:sp>
        <p:nvSpPr>
          <p:cNvPr id="3" name="Subtitle 2"/>
          <p:cNvSpPr>
            <a:spLocks noGrp="1"/>
          </p:cNvSpPr>
          <p:nvPr>
            <p:ph type="subTitle" idx="1" hasCustomPrompt="1"/>
          </p:nvPr>
        </p:nvSpPr>
        <p:spPr>
          <a:xfrm>
            <a:off x="6815543" y="3388937"/>
            <a:ext cx="4462058" cy="2249863"/>
          </a:xfrm>
        </p:spPr>
        <p:txBody>
          <a:bodyPr/>
          <a:lstStyle>
            <a:lvl1pPr marL="0" indent="0" algn="l">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Peter H. Charlton</a:t>
            </a:r>
          </a:p>
          <a:p>
            <a:endParaRPr lang="en-US" dirty="0"/>
          </a:p>
          <a:p>
            <a:r>
              <a:rPr lang="en-US" dirty="0"/>
              <a:t>University of Cambridge</a:t>
            </a:r>
          </a:p>
          <a:p>
            <a:r>
              <a:rPr lang="en-US" dirty="0"/>
              <a:t>City, University of London</a:t>
            </a:r>
            <a:endParaRPr lang="en-GB" dirty="0"/>
          </a:p>
        </p:txBody>
      </p:sp>
      <p:sp>
        <p:nvSpPr>
          <p:cNvPr id="4" name="Date Placeholder 3"/>
          <p:cNvSpPr>
            <a:spLocks noGrp="1"/>
          </p:cNvSpPr>
          <p:nvPr>
            <p:ph type="dt" sz="half" idx="10"/>
          </p:nvPr>
        </p:nvSpPr>
        <p:spPr/>
        <p:txBody>
          <a:bodyPr/>
          <a:lstStyle>
            <a:lvl1pPr>
              <a:defRPr/>
            </a:lvl1pPr>
          </a:lstStyle>
          <a:p>
            <a:pPr>
              <a:defRPr/>
            </a:pPr>
            <a:r>
              <a:rPr lang="en-GB" dirty="0"/>
              <a:t>Peter Charlton</a:t>
            </a:r>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76D2A604-C499-7246-B278-41D6A5D9F1B1}" type="slidenum">
              <a:rPr lang="en-GB" altLang="en-US"/>
              <a:pPr/>
              <a:t>‹#›</a:t>
            </a:fld>
            <a:endParaRPr lang="en-GB" altLang="en-US"/>
          </a:p>
        </p:txBody>
      </p:sp>
      <p:sp>
        <p:nvSpPr>
          <p:cNvPr id="7" name="Rectangle 6">
            <a:extLst>
              <a:ext uri="{FF2B5EF4-FFF2-40B4-BE49-F238E27FC236}">
                <a16:creationId xmlns:a16="http://schemas.microsoft.com/office/drawing/2014/main" id="{4822327C-2345-A947-B16F-7F16C25058AC}"/>
              </a:ext>
            </a:extLst>
          </p:cNvPr>
          <p:cNvSpPr/>
          <p:nvPr userDrawn="1"/>
        </p:nvSpPr>
        <p:spPr>
          <a:xfrm rot="5400000" flipV="1">
            <a:off x="5421739" y="4491009"/>
            <a:ext cx="2249863" cy="45719"/>
          </a:xfrm>
          <a:prstGeom prst="rect">
            <a:avLst/>
          </a:prstGeom>
          <a:solidFill>
            <a:srgbClr val="32609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Tree>
    <p:extLst>
      <p:ext uri="{BB962C8B-B14F-4D97-AF65-F5344CB8AC3E}">
        <p14:creationId xmlns:p14="http://schemas.microsoft.com/office/powerpoint/2010/main" val="22378332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F28884-6BC2-7549-906C-76DB43E45149}" type="datetimeFigureOut">
              <a:rPr lang="en-US" smtClean="0"/>
              <a:t>5/23/24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9EE1FF-0021-264C-A4EC-C169E98D2A37}" type="slidenum">
              <a:rPr lang="en-US" smtClean="0"/>
              <a:t>‹#›</a:t>
            </a:fld>
            <a:endParaRPr lang="en-US"/>
          </a:p>
        </p:txBody>
      </p:sp>
    </p:spTree>
    <p:extLst>
      <p:ext uri="{BB962C8B-B14F-4D97-AF65-F5344CB8AC3E}">
        <p14:creationId xmlns:p14="http://schemas.microsoft.com/office/powerpoint/2010/main" val="41974732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399" y="3388937"/>
            <a:ext cx="5363400" cy="2249863"/>
          </a:xfrm>
        </p:spPr>
        <p:txBody>
          <a:bodyPr/>
          <a:lstStyle>
            <a:lvl1pPr algn="l">
              <a:defRPr b="1">
                <a:solidFill>
                  <a:schemeClr val="tx1"/>
                </a:solidFill>
              </a:defRPr>
            </a:lvl1pPr>
          </a:lstStyle>
          <a:p>
            <a:r>
              <a:rPr lang="en-US" dirty="0"/>
              <a:t>edit Master title style</a:t>
            </a:r>
            <a:endParaRPr lang="en-GB" dirty="0"/>
          </a:p>
        </p:txBody>
      </p:sp>
      <p:sp>
        <p:nvSpPr>
          <p:cNvPr id="3" name="Subtitle 2"/>
          <p:cNvSpPr>
            <a:spLocks noGrp="1"/>
          </p:cNvSpPr>
          <p:nvPr>
            <p:ph type="subTitle" idx="1" hasCustomPrompt="1"/>
          </p:nvPr>
        </p:nvSpPr>
        <p:spPr>
          <a:xfrm>
            <a:off x="6815543" y="3388937"/>
            <a:ext cx="4462058" cy="2249863"/>
          </a:xfrm>
        </p:spPr>
        <p:txBody>
          <a:bodyPr/>
          <a:lstStyle>
            <a:lvl1pPr marL="0" indent="0" algn="l">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Peter H. Charlton</a:t>
            </a:r>
          </a:p>
          <a:p>
            <a:endParaRPr lang="en-US" dirty="0"/>
          </a:p>
          <a:p>
            <a:r>
              <a:rPr lang="en-US" dirty="0"/>
              <a:t>University of Cambridge</a:t>
            </a:r>
          </a:p>
          <a:p>
            <a:r>
              <a:rPr lang="en-US" dirty="0"/>
              <a:t>City, University of London</a:t>
            </a:r>
            <a:endParaRPr lang="en-GB" dirty="0"/>
          </a:p>
        </p:txBody>
      </p:sp>
      <p:sp>
        <p:nvSpPr>
          <p:cNvPr id="4" name="Date Placeholder 3"/>
          <p:cNvSpPr>
            <a:spLocks noGrp="1"/>
          </p:cNvSpPr>
          <p:nvPr>
            <p:ph type="dt" sz="half" idx="10"/>
          </p:nvPr>
        </p:nvSpPr>
        <p:spPr/>
        <p:txBody>
          <a:bodyPr/>
          <a:lstStyle>
            <a:lvl1pPr>
              <a:defRPr/>
            </a:lvl1pPr>
          </a:lstStyle>
          <a:p>
            <a:pPr>
              <a:defRPr/>
            </a:pPr>
            <a:r>
              <a:rPr lang="en-GB" dirty="0"/>
              <a:t>Peter Charlton</a:t>
            </a:r>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76D2A604-C499-7246-B278-41D6A5D9F1B1}" type="slidenum">
              <a:rPr lang="en-GB" altLang="en-US"/>
              <a:pPr/>
              <a:t>‹#›</a:t>
            </a:fld>
            <a:endParaRPr lang="en-GB" altLang="en-US"/>
          </a:p>
        </p:txBody>
      </p:sp>
      <p:sp>
        <p:nvSpPr>
          <p:cNvPr id="7" name="Rectangle 6">
            <a:extLst>
              <a:ext uri="{FF2B5EF4-FFF2-40B4-BE49-F238E27FC236}">
                <a16:creationId xmlns:a16="http://schemas.microsoft.com/office/drawing/2014/main" id="{4822327C-2345-A947-B16F-7F16C25058AC}"/>
              </a:ext>
            </a:extLst>
          </p:cNvPr>
          <p:cNvSpPr/>
          <p:nvPr userDrawn="1"/>
        </p:nvSpPr>
        <p:spPr>
          <a:xfrm rot="5400000" flipV="1">
            <a:off x="5421739" y="4491009"/>
            <a:ext cx="2249863" cy="45719"/>
          </a:xfrm>
          <a:prstGeom prst="rect">
            <a:avLst/>
          </a:prstGeom>
          <a:solidFill>
            <a:srgbClr val="32609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Tree>
    <p:extLst>
      <p:ext uri="{BB962C8B-B14F-4D97-AF65-F5344CB8AC3E}">
        <p14:creationId xmlns:p14="http://schemas.microsoft.com/office/powerpoint/2010/main" val="29293714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65BF6-5A67-2243-969E-7C0BEA332C77}"/>
              </a:ext>
            </a:extLst>
          </p:cNvPr>
          <p:cNvSpPr>
            <a:spLocks noGrp="1"/>
          </p:cNvSpPr>
          <p:nvPr>
            <p:ph type="title"/>
          </p:nvPr>
        </p:nvSpPr>
        <p:spPr>
          <a:xfrm>
            <a:off x="609600" y="0"/>
            <a:ext cx="10972800" cy="1143000"/>
          </a:xfrm>
        </p:spPr>
        <p:txBody>
          <a:bodyPr/>
          <a:lstStyle>
            <a:lvl1pPr algn="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3F1DE71-4F5B-BA4D-ACEC-CE007F7EDB3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F388A5D-65ED-CF4F-BC22-AAD6A3D94A7D}"/>
              </a:ext>
            </a:extLst>
          </p:cNvPr>
          <p:cNvSpPr>
            <a:spLocks noGrp="1"/>
          </p:cNvSpPr>
          <p:nvPr>
            <p:ph type="dt" sz="half" idx="10"/>
          </p:nvPr>
        </p:nvSpPr>
        <p:spPr/>
        <p:txBody>
          <a:bodyPr/>
          <a:lstStyle/>
          <a:p>
            <a:pPr>
              <a:defRPr/>
            </a:pPr>
            <a:r>
              <a:rPr lang="en-GB" dirty="0"/>
              <a:t>Peter Charlton</a:t>
            </a:r>
          </a:p>
        </p:txBody>
      </p:sp>
      <p:sp>
        <p:nvSpPr>
          <p:cNvPr id="5" name="Footer Placeholder 4">
            <a:extLst>
              <a:ext uri="{FF2B5EF4-FFF2-40B4-BE49-F238E27FC236}">
                <a16:creationId xmlns:a16="http://schemas.microsoft.com/office/drawing/2014/main" id="{3C75C29D-BFAF-594C-9CF7-3E9D099259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3BBCB-D2FA-8945-B079-B34E5A41F3E1}"/>
              </a:ext>
            </a:extLst>
          </p:cNvPr>
          <p:cNvSpPr>
            <a:spLocks noGrp="1"/>
          </p:cNvSpPr>
          <p:nvPr>
            <p:ph type="sldNum" sz="quarter" idx="12"/>
          </p:nvPr>
        </p:nvSpPr>
        <p:spPr/>
        <p:txBody>
          <a:bodyPr/>
          <a:lstStyle>
            <a:lvl1pPr>
              <a:defRPr b="1"/>
            </a:lvl1pPr>
          </a:lstStyle>
          <a:p>
            <a:fld id="{1543C46E-5073-DD47-BBEA-5ADA7465C9CB}" type="slidenum">
              <a:rPr lang="en-US" smtClean="0"/>
              <a:pPr/>
              <a:t>‹#›</a:t>
            </a:fld>
            <a:endParaRPr lang="en-US" b="1" dirty="0"/>
          </a:p>
        </p:txBody>
      </p:sp>
    </p:spTree>
    <p:extLst>
      <p:ext uri="{BB962C8B-B14F-4D97-AF65-F5344CB8AC3E}">
        <p14:creationId xmlns:p14="http://schemas.microsoft.com/office/powerpoint/2010/main" val="9781260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F388A5D-65ED-CF4F-BC22-AAD6A3D94A7D}"/>
              </a:ext>
            </a:extLst>
          </p:cNvPr>
          <p:cNvSpPr>
            <a:spLocks noGrp="1"/>
          </p:cNvSpPr>
          <p:nvPr>
            <p:ph type="dt" sz="half" idx="10"/>
          </p:nvPr>
        </p:nvSpPr>
        <p:spPr/>
        <p:txBody>
          <a:bodyPr/>
          <a:lstStyle/>
          <a:p>
            <a:pPr>
              <a:defRPr/>
            </a:pPr>
            <a:r>
              <a:rPr lang="en-GB" dirty="0"/>
              <a:t>Peter Charlton</a:t>
            </a:r>
          </a:p>
        </p:txBody>
      </p:sp>
      <p:sp>
        <p:nvSpPr>
          <p:cNvPr id="5" name="Footer Placeholder 4">
            <a:extLst>
              <a:ext uri="{FF2B5EF4-FFF2-40B4-BE49-F238E27FC236}">
                <a16:creationId xmlns:a16="http://schemas.microsoft.com/office/drawing/2014/main" id="{3C75C29D-BFAF-594C-9CF7-3E9D099259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3BBCB-D2FA-8945-B079-B34E5A41F3E1}"/>
              </a:ext>
            </a:extLst>
          </p:cNvPr>
          <p:cNvSpPr>
            <a:spLocks noGrp="1"/>
          </p:cNvSpPr>
          <p:nvPr>
            <p:ph type="sldNum" sz="quarter" idx="12"/>
          </p:nvPr>
        </p:nvSpPr>
        <p:spPr/>
        <p:txBody>
          <a:bodyPr/>
          <a:lstStyle>
            <a:lvl1pPr>
              <a:defRPr b="1"/>
            </a:lvl1pPr>
          </a:lstStyle>
          <a:p>
            <a:fld id="{1543C46E-5073-DD47-BBEA-5ADA7465C9CB}" type="slidenum">
              <a:rPr lang="en-US" smtClean="0"/>
              <a:pPr/>
              <a:t>‹#›</a:t>
            </a:fld>
            <a:endParaRPr lang="en-US" b="1" dirty="0"/>
          </a:p>
        </p:txBody>
      </p:sp>
    </p:spTree>
    <p:extLst>
      <p:ext uri="{BB962C8B-B14F-4D97-AF65-F5344CB8AC3E}">
        <p14:creationId xmlns:p14="http://schemas.microsoft.com/office/powerpoint/2010/main" val="1597417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F28884-6BC2-7549-906C-76DB43E45149}" type="datetimeFigureOut">
              <a:rPr lang="en-US" smtClean="0"/>
              <a:t>5/23/24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9EE1FF-0021-264C-A4EC-C169E98D2A37}" type="slidenum">
              <a:rPr lang="en-US" smtClean="0"/>
              <a:t>‹#›</a:t>
            </a:fld>
            <a:endParaRPr lang="en-US"/>
          </a:p>
        </p:txBody>
      </p:sp>
    </p:spTree>
    <p:extLst>
      <p:ext uri="{BB962C8B-B14F-4D97-AF65-F5344CB8AC3E}">
        <p14:creationId xmlns:p14="http://schemas.microsoft.com/office/powerpoint/2010/main" val="24717235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F28884-6BC2-7549-906C-76DB43E45149}" type="datetimeFigureOut">
              <a:rPr lang="en-US" smtClean="0"/>
              <a:t>5/23/24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9EE1FF-0021-264C-A4EC-C169E98D2A37}" type="slidenum">
              <a:rPr lang="en-US" smtClean="0"/>
              <a:t>‹#›</a:t>
            </a:fld>
            <a:endParaRPr lang="en-US"/>
          </a:p>
        </p:txBody>
      </p:sp>
    </p:spTree>
    <p:extLst>
      <p:ext uri="{BB962C8B-B14F-4D97-AF65-F5344CB8AC3E}">
        <p14:creationId xmlns:p14="http://schemas.microsoft.com/office/powerpoint/2010/main" val="23226725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8.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0" y="6308726"/>
            <a:ext cx="12251268" cy="549274"/>
          </a:xfrm>
          <a:prstGeom prst="rect">
            <a:avLst/>
          </a:prstGeom>
          <a:gradFill flip="none" rotWithShape="1">
            <a:gsLst>
              <a:gs pos="0">
                <a:srgbClr val="326092"/>
              </a:gs>
              <a:gs pos="100000">
                <a:srgbClr val="3B814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2051"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2"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609600" y="6405339"/>
            <a:ext cx="2844800" cy="365125"/>
          </a:xfrm>
          <a:prstGeom prst="rect">
            <a:avLst/>
          </a:prstGeom>
        </p:spPr>
        <p:txBody>
          <a:bodyPr vert="horz" lIns="91440" tIns="45720" rIns="91440" bIns="45720" rtlCol="0" anchor="ctr"/>
          <a:lstStyle>
            <a:lvl1pPr algn="l" fontAlgn="auto">
              <a:spcBef>
                <a:spcPts val="0"/>
              </a:spcBef>
              <a:spcAft>
                <a:spcPts val="0"/>
              </a:spcAft>
              <a:defRPr sz="1200" b="1">
                <a:solidFill>
                  <a:schemeClr val="bg1"/>
                </a:solidFill>
                <a:latin typeface="+mn-lt"/>
                <a:ea typeface="+mn-ea"/>
                <a:cs typeface="+mn-cs"/>
              </a:defRPr>
            </a:lvl1pPr>
          </a:lstStyle>
          <a:p>
            <a:pPr>
              <a:defRPr/>
            </a:pPr>
            <a:r>
              <a:rPr lang="en-GB" dirty="0"/>
              <a:t>Peter Charlton</a:t>
            </a:r>
          </a:p>
        </p:txBody>
      </p:sp>
      <p:sp>
        <p:nvSpPr>
          <p:cNvPr id="5" name="Footer Placeholder 4"/>
          <p:cNvSpPr>
            <a:spLocks noGrp="1"/>
          </p:cNvSpPr>
          <p:nvPr>
            <p:ph type="ftr" sz="quarter" idx="3"/>
          </p:nvPr>
        </p:nvSpPr>
        <p:spPr>
          <a:xfrm>
            <a:off x="4165600" y="6405339"/>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solidFill>
                <a:latin typeface="+mn-lt"/>
                <a:ea typeface="+mn-ea"/>
                <a:cs typeface="+mn-cs"/>
              </a:defRPr>
            </a:lvl1pPr>
          </a:lstStyle>
          <a:p>
            <a:pPr>
              <a:defRPr/>
            </a:pPr>
            <a:endParaRPr lang="en-GB" dirty="0">
              <a:solidFill>
                <a:schemeClr val="bg1"/>
              </a:solidFill>
            </a:endParaRPr>
          </a:p>
        </p:txBody>
      </p:sp>
      <p:sp>
        <p:nvSpPr>
          <p:cNvPr id="6" name="Slide Number Placeholder 5"/>
          <p:cNvSpPr>
            <a:spLocks noGrp="1"/>
          </p:cNvSpPr>
          <p:nvPr>
            <p:ph type="sldNum" sz="quarter" idx="4"/>
          </p:nvPr>
        </p:nvSpPr>
        <p:spPr>
          <a:xfrm>
            <a:off x="8737600" y="6405339"/>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chemeClr val="bg1"/>
                </a:solidFill>
              </a:defRPr>
            </a:lvl1pPr>
          </a:lstStyle>
          <a:p>
            <a:fld id="{06C6F103-5FD3-EE40-AC38-3A282FC1E4F3}" type="slidenum">
              <a:rPr lang="en-GB" altLang="en-US" smtClean="0"/>
              <a:pPr/>
              <a:t>‹#›</a:t>
            </a:fld>
            <a:endParaRPr lang="en-GB" altLang="en-US"/>
          </a:p>
        </p:txBody>
      </p:sp>
    </p:spTree>
    <p:extLst>
      <p:ext uri="{BB962C8B-B14F-4D97-AF65-F5344CB8AC3E}">
        <p14:creationId xmlns:p14="http://schemas.microsoft.com/office/powerpoint/2010/main" val="70109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844" r:id="rId4"/>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p:titleStyle>
    <p:body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0" y="6492874"/>
            <a:ext cx="12251268" cy="365125"/>
          </a:xfrm>
          <a:prstGeom prst="rect">
            <a:avLst/>
          </a:prstGeom>
          <a:gradFill flip="none" rotWithShape="1">
            <a:gsLst>
              <a:gs pos="0">
                <a:srgbClr val="326092"/>
              </a:gs>
              <a:gs pos="100000">
                <a:srgbClr val="3B814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2051"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2"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609600" y="6492875"/>
            <a:ext cx="2844800" cy="365125"/>
          </a:xfrm>
          <a:prstGeom prst="rect">
            <a:avLst/>
          </a:prstGeom>
        </p:spPr>
        <p:txBody>
          <a:bodyPr vert="horz" lIns="91440" tIns="45720" rIns="91440" bIns="45720" rtlCol="0" anchor="ctr"/>
          <a:lstStyle>
            <a:lvl1pPr algn="l" fontAlgn="auto">
              <a:spcBef>
                <a:spcPts val="0"/>
              </a:spcBef>
              <a:spcAft>
                <a:spcPts val="0"/>
              </a:spcAft>
              <a:defRPr sz="1200" b="1">
                <a:solidFill>
                  <a:schemeClr val="bg1"/>
                </a:solidFill>
                <a:latin typeface="+mn-lt"/>
                <a:ea typeface="+mn-ea"/>
                <a:cs typeface="+mn-cs"/>
              </a:defRPr>
            </a:lvl1pPr>
          </a:lstStyle>
          <a:p>
            <a:pPr>
              <a:defRPr/>
            </a:pPr>
            <a:r>
              <a:rPr lang="en-GB" dirty="0"/>
              <a:t>Peter Charlton</a:t>
            </a:r>
          </a:p>
        </p:txBody>
      </p:sp>
      <p:sp>
        <p:nvSpPr>
          <p:cNvPr id="5" name="Footer Placeholder 4"/>
          <p:cNvSpPr>
            <a:spLocks noGrp="1"/>
          </p:cNvSpPr>
          <p:nvPr>
            <p:ph type="ftr" sz="quarter" idx="3"/>
          </p:nvPr>
        </p:nvSpPr>
        <p:spPr>
          <a:xfrm>
            <a:off x="4165600" y="6492875"/>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solidFill>
                <a:latin typeface="+mn-lt"/>
                <a:ea typeface="+mn-ea"/>
                <a:cs typeface="+mn-cs"/>
              </a:defRPr>
            </a:lvl1pPr>
          </a:lstStyle>
          <a:p>
            <a:pPr>
              <a:defRPr/>
            </a:pPr>
            <a:endParaRPr lang="en-GB" dirty="0">
              <a:solidFill>
                <a:schemeClr val="bg1"/>
              </a:solidFill>
            </a:endParaRPr>
          </a:p>
        </p:txBody>
      </p:sp>
      <p:sp>
        <p:nvSpPr>
          <p:cNvPr id="6" name="Slide Number Placeholder 5"/>
          <p:cNvSpPr>
            <a:spLocks noGrp="1"/>
          </p:cNvSpPr>
          <p:nvPr>
            <p:ph type="sldNum" sz="quarter" idx="4"/>
          </p:nvPr>
        </p:nvSpPr>
        <p:spPr>
          <a:xfrm>
            <a:off x="8737600" y="6492875"/>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chemeClr val="bg1"/>
                </a:solidFill>
              </a:defRPr>
            </a:lvl1pPr>
          </a:lstStyle>
          <a:p>
            <a:fld id="{06C6F103-5FD3-EE40-AC38-3A282FC1E4F3}" type="slidenum">
              <a:rPr lang="en-GB" altLang="en-US" smtClean="0"/>
              <a:pPr/>
              <a:t>‹#›</a:t>
            </a:fld>
            <a:endParaRPr lang="en-GB" altLang="en-US"/>
          </a:p>
        </p:txBody>
      </p:sp>
    </p:spTree>
    <p:extLst>
      <p:ext uri="{BB962C8B-B14F-4D97-AF65-F5344CB8AC3E}">
        <p14:creationId xmlns:p14="http://schemas.microsoft.com/office/powerpoint/2010/main" val="135892400"/>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p:titleStyle>
    <p:body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6E8E70-B595-4549-A6C0-B9E2039CEE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CF99BD2-1676-824F-AB4D-88278EF3B9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8137EAC-9B18-BA41-8183-7930B4E529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C62555-E728-274C-A8E3-0102EEED6C1C}" type="datetimeFigureOut">
              <a:rPr lang="en-US" smtClean="0"/>
              <a:t>5/23/24</a:t>
            </a:fld>
            <a:endParaRPr lang="en-US"/>
          </a:p>
        </p:txBody>
      </p:sp>
      <p:sp>
        <p:nvSpPr>
          <p:cNvPr id="5" name="Footer Placeholder 4">
            <a:extLst>
              <a:ext uri="{FF2B5EF4-FFF2-40B4-BE49-F238E27FC236}">
                <a16:creationId xmlns:a16="http://schemas.microsoft.com/office/drawing/2014/main" id="{D3135BC7-5749-2A4C-9719-1BF652B6E1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A2D159-F53D-D54E-85B5-24DA6BCE67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F4B0C6-53D0-A14D-8E09-98776118C32E}" type="slidenum">
              <a:rPr lang="en-US" smtClean="0"/>
              <a:t>‹#›</a:t>
            </a:fld>
            <a:endParaRPr lang="en-US"/>
          </a:p>
        </p:txBody>
      </p:sp>
    </p:spTree>
    <p:extLst>
      <p:ext uri="{BB962C8B-B14F-4D97-AF65-F5344CB8AC3E}">
        <p14:creationId xmlns:p14="http://schemas.microsoft.com/office/powerpoint/2010/main" val="1415073844"/>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10582" y="1916114"/>
            <a:ext cx="12251268" cy="1917700"/>
          </a:xfrm>
          <a:prstGeom prst="rect">
            <a:avLst/>
          </a:prstGeom>
          <a:gradFill flip="none" rotWithShape="1">
            <a:gsLst>
              <a:gs pos="0">
                <a:srgbClr val="326092"/>
              </a:gs>
              <a:gs pos="100000">
                <a:srgbClr val="3B814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a:p>
        </p:txBody>
      </p:sp>
      <p:sp>
        <p:nvSpPr>
          <p:cNvPr id="2051"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2"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4467BF18-6BAE-4D4E-AF6B-51493C90F897}" type="datetimeFigureOut">
              <a:rPr lang="en-GB"/>
              <a:pPr>
                <a:defRPr/>
              </a:pPr>
              <a:t>23/05/2024</a:t>
            </a:fld>
            <a:endParaRPr lang="en-GB"/>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GB"/>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06C6F103-5FD3-EE40-AC38-3A282FC1E4F3}" type="slidenum">
              <a:rPr lang="en-GB" altLang="en-US"/>
              <a:pPr/>
              <a:t>‹#›</a:t>
            </a:fld>
            <a:endParaRPr lang="en-GB" altLang="en-US"/>
          </a:p>
        </p:txBody>
      </p:sp>
    </p:spTree>
    <p:extLst>
      <p:ext uri="{BB962C8B-B14F-4D97-AF65-F5344CB8AC3E}">
        <p14:creationId xmlns:p14="http://schemas.microsoft.com/office/powerpoint/2010/main" val="1167747827"/>
      </p:ext>
    </p:extLst>
  </p:cSld>
  <p:clrMap bg1="lt1" tx1="dk1" bg2="lt2" tx2="dk2" accent1="accent1" accent2="accent2" accent3="accent3" accent4="accent4" accent5="accent5" accent6="accent6" hlink="hlink" folHlink="folHlink"/>
  <p:sldLayoutIdLst>
    <p:sldLayoutId id="2147483710"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p:titleStyle>
    <p:body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10582" y="3"/>
            <a:ext cx="12251268" cy="1600200"/>
          </a:xfrm>
          <a:prstGeom prst="rect">
            <a:avLst/>
          </a:prstGeom>
          <a:gradFill flip="none" rotWithShape="1">
            <a:gsLst>
              <a:gs pos="0">
                <a:srgbClr val="326092"/>
              </a:gs>
              <a:gs pos="100000">
                <a:srgbClr val="3B814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a:p>
        </p:txBody>
      </p:sp>
      <p:sp>
        <p:nvSpPr>
          <p:cNvPr id="2051"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2"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4467BF18-6BAE-4D4E-AF6B-51493C90F897}" type="datetimeFigureOut">
              <a:rPr lang="en-GB"/>
              <a:pPr>
                <a:defRPr/>
              </a:pPr>
              <a:t>23/05/2024</a:t>
            </a:fld>
            <a:endParaRPr lang="en-GB"/>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GB"/>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06C6F103-5FD3-EE40-AC38-3A282FC1E4F3}" type="slidenum">
              <a:rPr lang="en-GB" altLang="en-US"/>
              <a:pPr/>
              <a:t>‹#›</a:t>
            </a:fld>
            <a:endParaRPr lang="en-GB" altLang="en-US"/>
          </a:p>
        </p:txBody>
      </p:sp>
    </p:spTree>
    <p:extLst>
      <p:ext uri="{BB962C8B-B14F-4D97-AF65-F5344CB8AC3E}">
        <p14:creationId xmlns:p14="http://schemas.microsoft.com/office/powerpoint/2010/main" val="324670270"/>
      </p:ext>
    </p:extLst>
  </p:cSld>
  <p:clrMap bg1="lt1" tx1="dk1" bg2="lt2" tx2="dk2" accent1="accent1" accent2="accent2" accent3="accent3" accent4="accent4" accent5="accent5" accent6="accent6" hlink="hlink" folHlink="folHlink"/>
  <p:sldLayoutIdLst>
    <p:sldLayoutId id="2147483761" r:id="rId1"/>
    <p:sldLayoutId id="2147483762" r:id="rId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p:titleStyle>
    <p:body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0" y="6308726"/>
            <a:ext cx="12251268" cy="549274"/>
          </a:xfrm>
          <a:prstGeom prst="rect">
            <a:avLst/>
          </a:prstGeom>
          <a:gradFill flip="none" rotWithShape="1">
            <a:gsLst>
              <a:gs pos="0">
                <a:srgbClr val="326092"/>
              </a:gs>
              <a:gs pos="100000">
                <a:srgbClr val="3B814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2051"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2"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609600" y="6405339"/>
            <a:ext cx="2844800" cy="365125"/>
          </a:xfrm>
          <a:prstGeom prst="rect">
            <a:avLst/>
          </a:prstGeom>
        </p:spPr>
        <p:txBody>
          <a:bodyPr vert="horz" lIns="91440" tIns="45720" rIns="91440" bIns="45720" rtlCol="0" anchor="ctr"/>
          <a:lstStyle>
            <a:lvl1pPr algn="l" fontAlgn="auto">
              <a:spcBef>
                <a:spcPts val="0"/>
              </a:spcBef>
              <a:spcAft>
                <a:spcPts val="0"/>
              </a:spcAft>
              <a:defRPr sz="1200" b="1">
                <a:solidFill>
                  <a:schemeClr val="bg1"/>
                </a:solidFill>
                <a:latin typeface="+mn-lt"/>
                <a:ea typeface="+mn-ea"/>
                <a:cs typeface="+mn-cs"/>
              </a:defRPr>
            </a:lvl1pPr>
          </a:lstStyle>
          <a:p>
            <a:pPr>
              <a:defRPr/>
            </a:pPr>
            <a:r>
              <a:rPr lang="en-GB" dirty="0"/>
              <a:t>Peter Charlton</a:t>
            </a:r>
          </a:p>
        </p:txBody>
      </p:sp>
      <p:sp>
        <p:nvSpPr>
          <p:cNvPr id="5" name="Footer Placeholder 4"/>
          <p:cNvSpPr>
            <a:spLocks noGrp="1"/>
          </p:cNvSpPr>
          <p:nvPr>
            <p:ph type="ftr" sz="quarter" idx="3"/>
          </p:nvPr>
        </p:nvSpPr>
        <p:spPr>
          <a:xfrm>
            <a:off x="4165600" y="6405339"/>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solidFill>
                <a:latin typeface="+mn-lt"/>
                <a:ea typeface="+mn-ea"/>
                <a:cs typeface="+mn-cs"/>
              </a:defRPr>
            </a:lvl1pPr>
          </a:lstStyle>
          <a:p>
            <a:pPr>
              <a:defRPr/>
            </a:pPr>
            <a:endParaRPr lang="en-GB" dirty="0">
              <a:solidFill>
                <a:schemeClr val="bg1"/>
              </a:solidFill>
            </a:endParaRPr>
          </a:p>
        </p:txBody>
      </p:sp>
      <p:sp>
        <p:nvSpPr>
          <p:cNvPr id="6" name="Slide Number Placeholder 5"/>
          <p:cNvSpPr>
            <a:spLocks noGrp="1"/>
          </p:cNvSpPr>
          <p:nvPr>
            <p:ph type="sldNum" sz="quarter" idx="4"/>
          </p:nvPr>
        </p:nvSpPr>
        <p:spPr>
          <a:xfrm>
            <a:off x="8737600" y="6405339"/>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chemeClr val="bg1"/>
                </a:solidFill>
              </a:defRPr>
            </a:lvl1pPr>
          </a:lstStyle>
          <a:p>
            <a:fld id="{06C6F103-5FD3-EE40-AC38-3A282FC1E4F3}" type="slidenum">
              <a:rPr lang="en-GB" altLang="en-US" smtClean="0"/>
              <a:pPr/>
              <a:t>‹#›</a:t>
            </a:fld>
            <a:endParaRPr lang="en-GB" altLang="en-US"/>
          </a:p>
        </p:txBody>
      </p:sp>
    </p:spTree>
    <p:extLst>
      <p:ext uri="{BB962C8B-B14F-4D97-AF65-F5344CB8AC3E}">
        <p14:creationId xmlns:p14="http://schemas.microsoft.com/office/powerpoint/2010/main" val="1444380196"/>
      </p:ext>
    </p:extLst>
  </p:cSld>
  <p:clrMap bg1="lt1" tx1="dk1" bg2="lt2" tx2="dk2" accent1="accent1" accent2="accent2" accent3="accent3" accent4="accent4" accent5="accent5" accent6="accent6" hlink="hlink" folHlink="folHlink"/>
  <p:sldLayoutIdLst>
    <p:sldLayoutId id="2147483801" r:id="rId1"/>
    <p:sldLayoutId id="2147483837" r:id="rId2"/>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p:titleStyle>
    <p:body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0" y="6308726"/>
            <a:ext cx="12251268" cy="549274"/>
          </a:xfrm>
          <a:prstGeom prst="rect">
            <a:avLst/>
          </a:prstGeom>
          <a:gradFill flip="none" rotWithShape="1">
            <a:gsLst>
              <a:gs pos="0">
                <a:srgbClr val="326092"/>
              </a:gs>
              <a:gs pos="100000">
                <a:srgbClr val="3B814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2051"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2"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609600" y="6405339"/>
            <a:ext cx="2844800" cy="365125"/>
          </a:xfrm>
          <a:prstGeom prst="rect">
            <a:avLst/>
          </a:prstGeom>
        </p:spPr>
        <p:txBody>
          <a:bodyPr vert="horz" lIns="91440" tIns="45720" rIns="91440" bIns="45720" rtlCol="0" anchor="ctr"/>
          <a:lstStyle>
            <a:lvl1pPr algn="l" fontAlgn="auto">
              <a:spcBef>
                <a:spcPts val="0"/>
              </a:spcBef>
              <a:spcAft>
                <a:spcPts val="0"/>
              </a:spcAft>
              <a:defRPr sz="1200" b="1">
                <a:solidFill>
                  <a:schemeClr val="bg1"/>
                </a:solidFill>
                <a:latin typeface="+mn-lt"/>
                <a:ea typeface="+mn-ea"/>
                <a:cs typeface="+mn-cs"/>
              </a:defRPr>
            </a:lvl1pPr>
          </a:lstStyle>
          <a:p>
            <a:pPr>
              <a:defRPr/>
            </a:pPr>
            <a:r>
              <a:rPr lang="en-GB" dirty="0"/>
              <a:t>Peter Charlton</a:t>
            </a:r>
          </a:p>
        </p:txBody>
      </p:sp>
      <p:sp>
        <p:nvSpPr>
          <p:cNvPr id="5" name="Footer Placeholder 4"/>
          <p:cNvSpPr>
            <a:spLocks noGrp="1"/>
          </p:cNvSpPr>
          <p:nvPr>
            <p:ph type="ftr" sz="quarter" idx="3"/>
          </p:nvPr>
        </p:nvSpPr>
        <p:spPr>
          <a:xfrm>
            <a:off x="4165600" y="6405339"/>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solidFill>
                <a:latin typeface="+mn-lt"/>
                <a:ea typeface="+mn-ea"/>
                <a:cs typeface="+mn-cs"/>
              </a:defRPr>
            </a:lvl1pPr>
          </a:lstStyle>
          <a:p>
            <a:pPr>
              <a:defRPr/>
            </a:pPr>
            <a:endParaRPr lang="en-GB" dirty="0">
              <a:solidFill>
                <a:schemeClr val="bg1"/>
              </a:solidFill>
            </a:endParaRPr>
          </a:p>
        </p:txBody>
      </p:sp>
      <p:sp>
        <p:nvSpPr>
          <p:cNvPr id="6" name="Slide Number Placeholder 5"/>
          <p:cNvSpPr>
            <a:spLocks noGrp="1"/>
          </p:cNvSpPr>
          <p:nvPr>
            <p:ph type="sldNum" sz="quarter" idx="4"/>
          </p:nvPr>
        </p:nvSpPr>
        <p:spPr>
          <a:xfrm>
            <a:off x="8737600" y="6405339"/>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chemeClr val="bg1"/>
                </a:solidFill>
              </a:defRPr>
            </a:lvl1pPr>
          </a:lstStyle>
          <a:p>
            <a:fld id="{06C6F103-5FD3-EE40-AC38-3A282FC1E4F3}" type="slidenum">
              <a:rPr lang="en-GB" altLang="en-US" smtClean="0"/>
              <a:pPr/>
              <a:t>‹#›</a:t>
            </a:fld>
            <a:endParaRPr lang="en-GB" altLang="en-US"/>
          </a:p>
        </p:txBody>
      </p:sp>
    </p:spTree>
    <p:extLst>
      <p:ext uri="{BB962C8B-B14F-4D97-AF65-F5344CB8AC3E}">
        <p14:creationId xmlns:p14="http://schemas.microsoft.com/office/powerpoint/2010/main" val="3319413468"/>
      </p:ext>
    </p:extLst>
  </p:cSld>
  <p:clrMap bg1="lt1" tx1="dk1" bg2="lt2" tx2="dk2" accent1="accent1" accent2="accent2" accent3="accent3" accent4="accent4" accent5="accent5" accent6="accent6" hlink="hlink" folHlink="folHlink"/>
  <p:sldLayoutIdLst>
    <p:sldLayoutId id="2147483805" r:id="rId1"/>
    <p:sldLayoutId id="2147483807" r:id="rId2"/>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p:titleStyle>
    <p:body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0" y="6492874"/>
            <a:ext cx="12251268" cy="365125"/>
          </a:xfrm>
          <a:prstGeom prst="rect">
            <a:avLst/>
          </a:prstGeom>
          <a:gradFill flip="none" rotWithShape="1">
            <a:gsLst>
              <a:gs pos="0">
                <a:srgbClr val="326092"/>
              </a:gs>
              <a:gs pos="100000">
                <a:srgbClr val="3B814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2051" name="Title Placeholder 1"/>
          <p:cNvSpPr>
            <a:spLocks noGrp="1"/>
          </p:cNvSpPr>
          <p:nvPr>
            <p:ph type="title"/>
          </p:nvPr>
        </p:nvSpPr>
        <p:spPr bwMode="auto">
          <a:xfrm>
            <a:off x="609600" y="274639"/>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2"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609600" y="6492875"/>
            <a:ext cx="2844800" cy="365125"/>
          </a:xfrm>
          <a:prstGeom prst="rect">
            <a:avLst/>
          </a:prstGeom>
        </p:spPr>
        <p:txBody>
          <a:bodyPr vert="horz" lIns="91440" tIns="45720" rIns="91440" bIns="45720" rtlCol="0" anchor="ctr"/>
          <a:lstStyle>
            <a:lvl1pPr algn="l" fontAlgn="auto">
              <a:spcBef>
                <a:spcPts val="0"/>
              </a:spcBef>
              <a:spcAft>
                <a:spcPts val="0"/>
              </a:spcAft>
              <a:defRPr sz="1200" b="1">
                <a:solidFill>
                  <a:schemeClr val="bg1"/>
                </a:solidFill>
                <a:latin typeface="+mn-lt"/>
                <a:ea typeface="+mn-ea"/>
                <a:cs typeface="+mn-cs"/>
              </a:defRPr>
            </a:lvl1pPr>
          </a:lstStyle>
          <a:p>
            <a:pPr>
              <a:defRPr/>
            </a:pPr>
            <a:r>
              <a:rPr lang="en-GB" dirty="0"/>
              <a:t>Peter Charlton</a:t>
            </a:r>
          </a:p>
        </p:txBody>
      </p:sp>
      <p:sp>
        <p:nvSpPr>
          <p:cNvPr id="5" name="Footer Placeholder 4"/>
          <p:cNvSpPr>
            <a:spLocks noGrp="1"/>
          </p:cNvSpPr>
          <p:nvPr>
            <p:ph type="ftr" sz="quarter" idx="3"/>
          </p:nvPr>
        </p:nvSpPr>
        <p:spPr>
          <a:xfrm>
            <a:off x="4165600" y="6492875"/>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solidFill>
                <a:latin typeface="+mn-lt"/>
                <a:ea typeface="+mn-ea"/>
                <a:cs typeface="+mn-cs"/>
              </a:defRPr>
            </a:lvl1pPr>
          </a:lstStyle>
          <a:p>
            <a:pPr>
              <a:defRPr/>
            </a:pPr>
            <a:endParaRPr lang="en-GB" dirty="0">
              <a:solidFill>
                <a:schemeClr val="bg1"/>
              </a:solidFill>
            </a:endParaRPr>
          </a:p>
        </p:txBody>
      </p:sp>
      <p:sp>
        <p:nvSpPr>
          <p:cNvPr id="6" name="Slide Number Placeholder 5"/>
          <p:cNvSpPr>
            <a:spLocks noGrp="1"/>
          </p:cNvSpPr>
          <p:nvPr>
            <p:ph type="sldNum" sz="quarter" idx="4"/>
          </p:nvPr>
        </p:nvSpPr>
        <p:spPr>
          <a:xfrm>
            <a:off x="8737600" y="6492875"/>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chemeClr val="bg1"/>
                </a:solidFill>
              </a:defRPr>
            </a:lvl1pPr>
          </a:lstStyle>
          <a:p>
            <a:fld id="{06C6F103-5FD3-EE40-AC38-3A282FC1E4F3}" type="slidenum">
              <a:rPr lang="en-GB" altLang="en-US" smtClean="0"/>
              <a:pPr/>
              <a:t>‹#›</a:t>
            </a:fld>
            <a:endParaRPr lang="en-GB" altLang="en-US"/>
          </a:p>
        </p:txBody>
      </p:sp>
    </p:spTree>
    <p:extLst>
      <p:ext uri="{BB962C8B-B14F-4D97-AF65-F5344CB8AC3E}">
        <p14:creationId xmlns:p14="http://schemas.microsoft.com/office/powerpoint/2010/main" val="560024162"/>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p:titleStyle>
    <p:body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unsplash.com/@syedmohdali121?utm_content=creditCopyText&amp;utm_medium=referral&amp;utm_source=unsplash" TargetMode="External"/><Relationship Id="rId7" Type="http://schemas.openxmlformats.org/officeDocument/2006/relationships/hyperlink" Target="https://doi.org/10.5281/zenodo.11267302"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hyperlink" Target="https://creativecommons.org/licenses/by/4.0/" TargetMode="External"/><Relationship Id="rId5" Type="http://schemas.openxmlformats.org/officeDocument/2006/relationships/image" Target="../media/image1.jpg"/><Relationship Id="rId4" Type="http://schemas.openxmlformats.org/officeDocument/2006/relationships/hyperlink" Target="https://unsplash.com/photos/man-in-white-crew-neck-t-shirt-wearing-white-face-mask-0rO4cJnimxc?utm_content=creditCopyText&amp;utm_medium=referral&amp;utm_source=unsplash"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3.jpg"/><Relationship Id="rId5" Type="http://schemas.openxmlformats.org/officeDocument/2006/relationships/hyperlink" Target="https://unsplash.com/photos/people-sitting-on-chair-in-front-of-table-while-holding-pens-during-daytime-KdeqA3aTnBY?utm_content=creditCopyText&amp;utm_medium=referral&amp;utm_source=unsplash" TargetMode="External"/><Relationship Id="rId4" Type="http://schemas.openxmlformats.org/officeDocument/2006/relationships/hyperlink" Target="https://unsplash.com/@dylandgillis?utm_content=creditCopyText&amp;utm_medium=referral&amp;utm_source=unsplash"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s://www.nationalarchives.gov.uk/doc/open-government-licence/version/3/" TargetMode="External"/><Relationship Id="rId2" Type="http://schemas.openxmlformats.org/officeDocument/2006/relationships/hyperlink" Target="https://www.gov.uk/government/publications/equity-in-medical-devices-independent-review-final-report"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hyperlink" Target="https://www.nationalarchives.gov.uk/doc/open-government-licence/version/3/" TargetMode="External"/><Relationship Id="rId2" Type="http://schemas.openxmlformats.org/officeDocument/2006/relationships/hyperlink" Target="https://www.gov.uk/government/publications/equity-in-medical-devices-independent-review-final-report"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hyperlink" Target="https://www.nationalarchives.gov.uk/doc/open-government-licence/version/3/" TargetMode="External"/><Relationship Id="rId2" Type="http://schemas.openxmlformats.org/officeDocument/2006/relationships/hyperlink" Target="https://www.gov.uk/government/publications/equity-in-medical-devices-independent-review-final-report" TargetMode="Externa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hyperlink" Target="https://www.nationalarchives.gov.uk/doc/open-government-licence/version/3/" TargetMode="External"/><Relationship Id="rId2" Type="http://schemas.openxmlformats.org/officeDocument/2006/relationships/hyperlink" Target="https://www.gov.uk/government/publications/equity-in-medical-devices-independent-review-final-report" TargetMode="Externa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www.rcp.ac.uk/improving-care/resources/national-early-warning-score-news-2/" TargetMode="External"/><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1186/cc2339" TargetMode="External"/><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hyperlink" Target="https://creativecommons.org/licenses/by/4.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hyperlink" Target="https://www.nationalarchives.gov.uk/doc/open-government-licence/version/3/" TargetMode="External"/><Relationship Id="rId2" Type="http://schemas.openxmlformats.org/officeDocument/2006/relationships/hyperlink" Target="https://www.gov.uk/government/publications/equity-in-medical-devices-independent-review-final-report"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hyperlink" Target="https://doi.org/10.4187/respcare.10582" TargetMode="Externa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hyperlink" Target="https://doi.org/10.4187/respcare.10582" TargetMode="Externa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hyperlink" Target="https://creativecommons.org/publicdomain/zero/1.0/deed.en" TargetMode="External"/><Relationship Id="rId2" Type="http://schemas.openxmlformats.org/officeDocument/2006/relationships/slideLayout" Target="../slideLayouts/slideLayout29.xml"/><Relationship Id="rId1" Type="http://schemas.openxmlformats.org/officeDocument/2006/relationships/tags" Target="../tags/tag2.xml"/><Relationship Id="rId6" Type="http://schemas.openxmlformats.org/officeDocument/2006/relationships/hyperlink" Target="https://commons.wikimedia.org/wiki/File:Kamar_Zard_Buzhan_-_Nishapur_1.jpg" TargetMode="External"/><Relationship Id="rId5" Type="http://schemas.microsoft.com/office/2007/relationships/hdphoto" Target="../media/hdphoto1.wdp"/><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8" Type="http://schemas.openxmlformats.org/officeDocument/2006/relationships/hyperlink" Target="https://www.nationalarchives.gov.uk/doc/open-government-licence/version/3/" TargetMode="External"/><Relationship Id="rId3" Type="http://schemas.openxmlformats.org/officeDocument/2006/relationships/hyperlink" Target="https://doi.org/10.1056/NEJMc2029240" TargetMode="External"/><Relationship Id="rId7" Type="http://schemas.openxmlformats.org/officeDocument/2006/relationships/hyperlink" Target="https://www.gov.uk/government/publications/equity-in-medical-devices-independent-review-final-report"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unsplash.com/photos/man-in-white-crew-neck-t-shirt-wearing-white-face-mask-0rO4cJnimxc?utm_content=creditCopyText&amp;utm_medium=referral&amp;utm_source=unsplash" TargetMode="External"/><Relationship Id="rId5" Type="http://schemas.openxmlformats.org/officeDocument/2006/relationships/hyperlink" Target="https://unsplash.com/@syedmohdali121?utm_content=creditCopyText&amp;utm_medium=referral&amp;utm_source=unsplash" TargetMode="External"/><Relationship Id="rId4" Type="http://schemas.openxmlformats.org/officeDocument/2006/relationships/image" Target="../media/image1.jpg"/><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7A7AC-87A2-9A42-A628-AA78C42A0B41}"/>
              </a:ext>
            </a:extLst>
          </p:cNvPr>
          <p:cNvSpPr>
            <a:spLocks noGrp="1"/>
          </p:cNvSpPr>
          <p:nvPr>
            <p:ph type="ctrTitle"/>
          </p:nvPr>
        </p:nvSpPr>
        <p:spPr/>
        <p:txBody>
          <a:bodyPr/>
          <a:lstStyle/>
          <a:p>
            <a:r>
              <a:rPr lang="en-GB" sz="4000" dirty="0"/>
              <a:t>Racial bias in pulse oximetry: next steps</a:t>
            </a:r>
            <a:endParaRPr lang="en-US" sz="4000" dirty="0"/>
          </a:p>
        </p:txBody>
      </p:sp>
      <p:sp>
        <p:nvSpPr>
          <p:cNvPr id="3" name="Subtitle 2">
            <a:extLst>
              <a:ext uri="{FF2B5EF4-FFF2-40B4-BE49-F238E27FC236}">
                <a16:creationId xmlns:a16="http://schemas.microsoft.com/office/drawing/2014/main" id="{BE6E19F5-2156-2A4B-9A12-49EB5D2E4AA8}"/>
              </a:ext>
            </a:extLst>
          </p:cNvPr>
          <p:cNvSpPr>
            <a:spLocks noGrp="1"/>
          </p:cNvSpPr>
          <p:nvPr>
            <p:ph type="subTitle" idx="1"/>
          </p:nvPr>
        </p:nvSpPr>
        <p:spPr>
          <a:xfrm>
            <a:off x="6815543" y="3528419"/>
            <a:ext cx="4462058" cy="2249863"/>
          </a:xfrm>
        </p:spPr>
        <p:txBody>
          <a:bodyPr/>
          <a:lstStyle/>
          <a:p>
            <a:r>
              <a:rPr lang="en-US" dirty="0"/>
              <a:t>Dr Peter H. Charlton</a:t>
            </a:r>
          </a:p>
          <a:p>
            <a:endParaRPr lang="en-US" sz="2000" dirty="0"/>
          </a:p>
          <a:p>
            <a:r>
              <a:rPr lang="en-US" sz="2800" dirty="0"/>
              <a:t>University of Cambridge</a:t>
            </a:r>
          </a:p>
          <a:p>
            <a:r>
              <a:rPr lang="en-US" sz="2800" dirty="0"/>
              <a:t>City, University of London</a:t>
            </a:r>
          </a:p>
          <a:p>
            <a:endParaRPr lang="en-US" sz="1000" dirty="0"/>
          </a:p>
          <a:p>
            <a:pPr lvl="0"/>
            <a:endParaRPr lang="en-US" sz="1000" dirty="0">
              <a:solidFill>
                <a:srgbClr val="000000">
                  <a:tint val="75000"/>
                </a:srgbClr>
              </a:solidFill>
            </a:endParaRPr>
          </a:p>
        </p:txBody>
      </p:sp>
      <p:sp>
        <p:nvSpPr>
          <p:cNvPr id="4" name="TextBox 3">
            <a:extLst>
              <a:ext uri="{FF2B5EF4-FFF2-40B4-BE49-F238E27FC236}">
                <a16:creationId xmlns:a16="http://schemas.microsoft.com/office/drawing/2014/main" id="{88F16FA3-1825-74AA-EC67-CFD37B21F31A}"/>
              </a:ext>
            </a:extLst>
          </p:cNvPr>
          <p:cNvSpPr txBox="1"/>
          <p:nvPr/>
        </p:nvSpPr>
        <p:spPr>
          <a:xfrm>
            <a:off x="5024221" y="6515020"/>
            <a:ext cx="7167780" cy="307777"/>
          </a:xfrm>
          <a:prstGeom prst="rect">
            <a:avLst/>
          </a:prstGeom>
          <a:noFill/>
          <a:effectLst>
            <a:softEdge rad="50800"/>
          </a:effectLst>
        </p:spPr>
        <p:txBody>
          <a:bodyPr wrap="square" rtlCol="0">
            <a:spAutoFit/>
          </a:bodyPr>
          <a:lstStyle/>
          <a:p>
            <a:pPr lvl="0" algn="r">
              <a:defRPr/>
            </a:pPr>
            <a:r>
              <a:rPr lang="en-GB" sz="1400" dirty="0">
                <a:solidFill>
                  <a:schemeClr val="bg1"/>
                </a:solidFill>
              </a:rPr>
              <a:t>Photo by </a:t>
            </a:r>
            <a:r>
              <a:rPr lang="en-GB" sz="1400" dirty="0">
                <a:solidFill>
                  <a:schemeClr val="bg1"/>
                </a:solidFill>
                <a:hlinkClick r:id="rId3">
                  <a:extLst>
                    <a:ext uri="{A12FA001-AC4F-418D-AE19-62706E023703}">
                      <ahyp:hlinkClr xmlns:ahyp="http://schemas.microsoft.com/office/drawing/2018/hyperlinkcolor" val="tx"/>
                    </a:ext>
                  </a:extLst>
                </a:hlinkClick>
              </a:rPr>
              <a:t>Syed Ali</a:t>
            </a:r>
            <a:r>
              <a:rPr lang="en-GB" sz="1400" dirty="0">
                <a:solidFill>
                  <a:schemeClr val="bg1"/>
                </a:solidFill>
              </a:rPr>
              <a:t> on </a:t>
            </a:r>
            <a:r>
              <a:rPr lang="en-GB" sz="1400" dirty="0">
                <a:solidFill>
                  <a:schemeClr val="bg1"/>
                </a:solidFill>
                <a:hlinkClick r:id="rId4">
                  <a:extLst>
                    <a:ext uri="{A12FA001-AC4F-418D-AE19-62706E023703}">
                      <ahyp:hlinkClr xmlns:ahyp="http://schemas.microsoft.com/office/drawing/2018/hyperlinkcolor" val="tx"/>
                    </a:ext>
                  </a:extLst>
                </a:hlinkClick>
              </a:rPr>
              <a:t>Unsplash</a:t>
            </a:r>
            <a:r>
              <a:rPr lang="en-GB" sz="1400" dirty="0">
                <a:solidFill>
                  <a:schemeClr val="bg1"/>
                </a:solidFill>
              </a:rPr>
              <a:t> </a:t>
            </a:r>
            <a:endParaRPr kumimoji="0" lang="en-US" sz="1333" b="0" i="0" u="none" strike="noStrike" kern="1200" cap="none" spc="0" normalizeH="0" baseline="0" noProof="0" dirty="0">
              <a:ln>
                <a:noFill/>
              </a:ln>
              <a:solidFill>
                <a:schemeClr val="bg1"/>
              </a:solidFill>
              <a:effectLst/>
              <a:uLnTx/>
              <a:uFillTx/>
              <a:latin typeface="Calibri"/>
            </a:endParaRPr>
          </a:p>
        </p:txBody>
      </p:sp>
      <p:pic>
        <p:nvPicPr>
          <p:cNvPr id="6" name="Picture 5">
            <a:extLst>
              <a:ext uri="{FF2B5EF4-FFF2-40B4-BE49-F238E27FC236}">
                <a16:creationId xmlns:a16="http://schemas.microsoft.com/office/drawing/2014/main" id="{3B1DF44F-E189-8265-1F7A-D448DF5D7915}"/>
              </a:ext>
            </a:extLst>
          </p:cNvPr>
          <p:cNvPicPr>
            <a:picLocks noChangeAspect="1"/>
          </p:cNvPicPr>
          <p:nvPr/>
        </p:nvPicPr>
        <p:blipFill>
          <a:blip r:embed="rId5"/>
          <a:srcRect t="8680" b="8680"/>
          <a:stretch/>
        </p:blipFill>
        <p:spPr>
          <a:xfrm>
            <a:off x="4008503" y="200706"/>
            <a:ext cx="5006343" cy="3092153"/>
          </a:xfrm>
          <a:prstGeom prst="rect">
            <a:avLst/>
          </a:prstGeom>
          <a:effectLst>
            <a:softEdge rad="222179"/>
          </a:effectLst>
        </p:spPr>
      </p:pic>
      <p:sp>
        <p:nvSpPr>
          <p:cNvPr id="5" name="Rounded Rectangle 4">
            <a:extLst>
              <a:ext uri="{FF2B5EF4-FFF2-40B4-BE49-F238E27FC236}">
                <a16:creationId xmlns:a16="http://schemas.microsoft.com/office/drawing/2014/main" id="{F19FDA90-39BE-C8DE-DD80-29B4D02CBC23}"/>
              </a:ext>
            </a:extLst>
          </p:cNvPr>
          <p:cNvSpPr/>
          <p:nvPr/>
        </p:nvSpPr>
        <p:spPr>
          <a:xfrm>
            <a:off x="140677" y="262854"/>
            <a:ext cx="4009292" cy="22498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 presentation given on 22-May-2024 at an event hosted by the Institute of Physics and Engineering in Medicine (London, UK). </a:t>
            </a:r>
          </a:p>
          <a:p>
            <a:pPr algn="ctr"/>
            <a:endParaRPr lang="en-US" sz="1600" dirty="0">
              <a:solidFill>
                <a:schemeClr val="tx1"/>
              </a:solidFill>
            </a:endParaRPr>
          </a:p>
          <a:p>
            <a:pPr algn="ctr"/>
            <a:r>
              <a:rPr lang="en-US" sz="1600" dirty="0">
                <a:solidFill>
                  <a:schemeClr val="tx1"/>
                </a:solidFill>
              </a:rPr>
              <a:t>Available under a </a:t>
            </a:r>
            <a:r>
              <a:rPr lang="en-US" sz="1600" dirty="0">
                <a:solidFill>
                  <a:schemeClr val="tx1"/>
                </a:solidFill>
                <a:hlinkClick r:id="rId6"/>
              </a:rPr>
              <a:t>CC BY 4.0</a:t>
            </a:r>
            <a:r>
              <a:rPr lang="en-US" sz="1600" dirty="0">
                <a:solidFill>
                  <a:schemeClr val="tx1"/>
                </a:solidFill>
              </a:rPr>
              <a:t> </a:t>
            </a:r>
            <a:r>
              <a:rPr lang="en-US" sz="1600" dirty="0" err="1">
                <a:solidFill>
                  <a:schemeClr val="tx1"/>
                </a:solidFill>
              </a:rPr>
              <a:t>Licence</a:t>
            </a:r>
            <a:r>
              <a:rPr lang="en-US" sz="1600" dirty="0">
                <a:solidFill>
                  <a:schemeClr val="tx1"/>
                </a:solidFill>
              </a:rPr>
              <a:t> at </a:t>
            </a:r>
            <a:r>
              <a:rPr lang="en-US" sz="1600" dirty="0">
                <a:solidFill>
                  <a:schemeClr val="tx1"/>
                </a:solidFill>
                <a:hlinkClick r:id="rId7"/>
              </a:rPr>
              <a:t>https://doi.org/10.5281/zenodo.11267302</a:t>
            </a:r>
            <a:r>
              <a:rPr lang="en-US" sz="1600" dirty="0">
                <a:solidFill>
                  <a:schemeClr val="tx1"/>
                </a:solidFill>
              </a:rPr>
              <a:t> </a:t>
            </a:r>
          </a:p>
        </p:txBody>
      </p:sp>
    </p:spTree>
    <p:extLst>
      <p:ext uri="{BB962C8B-B14F-4D97-AF65-F5344CB8AC3E}">
        <p14:creationId xmlns:p14="http://schemas.microsoft.com/office/powerpoint/2010/main" val="1150250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a:defRPr/>
            </a:pPr>
            <a:r>
              <a:rPr kumimoji="0" lang="en-US" sz="1333" b="0" i="0" u="none" strike="noStrike" kern="1200" cap="none" spc="0" normalizeH="0" baseline="0" noProof="0" dirty="0" err="1">
                <a:ln>
                  <a:noFill/>
                </a:ln>
                <a:solidFill>
                  <a:schemeClr val="bg1"/>
                </a:solidFill>
                <a:effectLst/>
                <a:uLnTx/>
                <a:uFillTx/>
                <a:latin typeface="Calibri"/>
                <a:ea typeface="+mn-ea"/>
                <a:cs typeface="+mn-cs"/>
              </a:rPr>
              <a:t>Sjoding</a:t>
            </a:r>
            <a:r>
              <a:rPr kumimoji="0" lang="en-US" sz="1333" b="0" i="0" u="none" strike="noStrike" kern="1200" cap="none" spc="0" normalizeH="0" baseline="0" noProof="0" dirty="0">
                <a:ln>
                  <a:noFill/>
                </a:ln>
                <a:solidFill>
                  <a:schemeClr val="bg1"/>
                </a:solidFill>
                <a:effectLst/>
                <a:uLnTx/>
                <a:uFillTx/>
                <a:latin typeface="Calibri"/>
                <a:ea typeface="+mn-ea"/>
                <a:cs typeface="+mn-cs"/>
              </a:rPr>
              <a:t> MW </a:t>
            </a:r>
            <a:r>
              <a:rPr kumimoji="0" lang="en-US" sz="1333" b="0" i="1" u="none" strike="noStrike" kern="1200" cap="none" spc="0" normalizeH="0" baseline="0" noProof="0" dirty="0">
                <a:ln>
                  <a:noFill/>
                </a:ln>
                <a:solidFill>
                  <a:schemeClr val="bg1"/>
                </a:solidFill>
                <a:effectLst/>
                <a:uLnTx/>
                <a:uFillTx/>
                <a:latin typeface="Calibri"/>
                <a:ea typeface="+mn-ea"/>
                <a:cs typeface="+mn-cs"/>
              </a:rPr>
              <a:t>et al.</a:t>
            </a:r>
            <a:r>
              <a:rPr kumimoji="0" lang="en-US" sz="1333" b="0" u="none" strike="noStrike" kern="1200" cap="none" spc="0" normalizeH="0" baseline="0" noProof="0" dirty="0">
                <a:ln>
                  <a:noFill/>
                </a:ln>
                <a:solidFill>
                  <a:schemeClr val="bg1"/>
                </a:solidFill>
                <a:effectLst/>
                <a:uLnTx/>
                <a:uFillTx/>
                <a:latin typeface="Calibri"/>
                <a:ea typeface="+mn-ea"/>
                <a:cs typeface="+mn-cs"/>
              </a:rPr>
              <a:t>, </a:t>
            </a:r>
            <a:r>
              <a:rPr kumimoji="0" lang="en-US" sz="1333" b="0" u="none" strike="noStrike" kern="1200" cap="none" spc="0" normalizeH="0" noProof="0" dirty="0">
                <a:ln>
                  <a:noFill/>
                </a:ln>
                <a:solidFill>
                  <a:schemeClr val="bg1"/>
                </a:solidFill>
                <a:effectLst/>
                <a:uLnTx/>
                <a:uFillTx/>
                <a:latin typeface="Calibri"/>
                <a:ea typeface="+mn-ea"/>
                <a:cs typeface="+mn-cs"/>
              </a:rPr>
              <a:t>NEJM, 2020, </a:t>
            </a:r>
            <a:r>
              <a:rPr kumimoji="0" lang="en-US" sz="1333" b="0" u="none" strike="noStrike" kern="1200" cap="none" spc="0" normalizeH="0" noProof="0" dirty="0">
                <a:ln>
                  <a:noFill/>
                </a:ln>
                <a:solidFill>
                  <a:schemeClr val="bg1"/>
                </a:solidFill>
                <a:effectLst/>
                <a:uLnTx/>
                <a:uFillTx/>
                <a:latin typeface="Calibri"/>
                <a:hlinkClick r:id="rId3">
                  <a:extLst>
                    <a:ext uri="{A12FA001-AC4F-418D-AE19-62706E023703}">
                      <ahyp:hlinkClr xmlns:ahyp="http://schemas.microsoft.com/office/drawing/2018/hyperlinkcolor" val="tx"/>
                    </a:ext>
                  </a:extLst>
                </a:hlinkClick>
              </a:rPr>
              <a:t>https://doi.org</a:t>
            </a:r>
            <a:r>
              <a:rPr lang="en-US" sz="1333" dirty="0">
                <a:solidFill>
                  <a:schemeClr val="bg1"/>
                </a:solidFill>
                <a:hlinkClick r:id="rId3">
                  <a:extLst>
                    <a:ext uri="{A12FA001-AC4F-418D-AE19-62706E023703}">
                      <ahyp:hlinkClr xmlns:ahyp="http://schemas.microsoft.com/office/drawing/2018/hyperlinkcolor" val="tx"/>
                    </a:ext>
                  </a:extLst>
                </a:hlinkClick>
              </a:rPr>
              <a:t>/10.1056/NEJMc2029240</a:t>
            </a:r>
            <a:r>
              <a:rPr lang="en-US" sz="1333" dirty="0">
                <a:solidFill>
                  <a:schemeClr val="bg1"/>
                </a:solidFill>
              </a:rPr>
              <a:t> </a:t>
            </a:r>
            <a:endParaRPr kumimoji="0" lang="en-US" sz="1333" b="0" i="0" u="none" strike="noStrike" kern="1200" cap="none" spc="0" normalizeH="0" baseline="0" noProof="0" dirty="0">
              <a:ln>
                <a:noFill/>
              </a:ln>
              <a:solidFill>
                <a:schemeClr val="bg1"/>
              </a:solidFill>
              <a:effectLst/>
              <a:uLnTx/>
              <a:uFillTx/>
              <a:latin typeface="Calibri"/>
            </a:endParaRP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lvl="0">
              <a:defRPr/>
            </a:pPr>
            <a:r>
              <a:rPr lang="en-GB" sz="1400" dirty="0">
                <a:solidFill>
                  <a:schemeClr val="bg1"/>
                </a:solidFill>
              </a:rPr>
              <a:t>Photo by </a:t>
            </a:r>
            <a:r>
              <a:rPr lang="en-GB" sz="1400" dirty="0">
                <a:solidFill>
                  <a:schemeClr val="bg1"/>
                </a:solidFill>
                <a:hlinkClick r:id="rId5">
                  <a:extLst>
                    <a:ext uri="{A12FA001-AC4F-418D-AE19-62706E023703}">
                      <ahyp:hlinkClr xmlns:ahyp="http://schemas.microsoft.com/office/drawing/2018/hyperlinkcolor" val="tx"/>
                    </a:ext>
                  </a:extLst>
                </a:hlinkClick>
              </a:rPr>
              <a:t>Syed Ali</a:t>
            </a:r>
            <a:r>
              <a:rPr lang="en-GB" sz="1400" dirty="0">
                <a:solidFill>
                  <a:schemeClr val="bg1"/>
                </a:solidFill>
              </a:rPr>
              <a:t> on </a:t>
            </a:r>
            <a:r>
              <a:rPr lang="en-GB" sz="1400" dirty="0">
                <a:solidFill>
                  <a:schemeClr val="bg1"/>
                </a:solidFill>
                <a:hlinkClick r:id="rId6">
                  <a:extLst>
                    <a:ext uri="{A12FA001-AC4F-418D-AE19-62706E023703}">
                      <ahyp:hlinkClr xmlns:ahyp="http://schemas.microsoft.com/office/drawing/2018/hyperlinkcolor" val="tx"/>
                    </a:ext>
                  </a:extLst>
                </a:hlinkClick>
              </a:rPr>
              <a:t>Unsplash</a:t>
            </a:r>
            <a:r>
              <a:rPr lang="en-GB" sz="1400" dirty="0">
                <a:solidFill>
                  <a:schemeClr val="bg1"/>
                </a:solidFill>
              </a:rPr>
              <a:t> </a:t>
            </a:r>
            <a:endParaRPr kumimoji="0" lang="en-US" sz="1333" b="0" i="0" u="none" strike="noStrike" kern="1200" cap="none" spc="0" normalizeH="0" baseline="0" noProof="0" dirty="0">
              <a:ln>
                <a:noFill/>
              </a:ln>
              <a:solidFill>
                <a:schemeClr val="bg1"/>
              </a:solidFill>
              <a:effectLst/>
              <a:uLnTx/>
              <a:uFillTx/>
              <a:latin typeface="Calibri"/>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algn="r">
              <a:defRPr/>
            </a:pPr>
            <a:r>
              <a:rPr lang="en-US" sz="1333" dirty="0">
                <a:solidFill>
                  <a:schemeClr val="bg1"/>
                </a:solidFill>
              </a:rPr>
              <a:t>Equity in medical devices: independent review,</a:t>
            </a:r>
            <a:r>
              <a:rPr kumimoji="0" lang="en-US" sz="1333" b="0" u="none" strike="noStrike" kern="1200" cap="none" spc="0" normalizeH="0" noProof="0" dirty="0">
                <a:ln>
                  <a:noFill/>
                </a:ln>
                <a:solidFill>
                  <a:schemeClr val="bg1"/>
                </a:solidFill>
                <a:effectLst/>
                <a:uLnTx/>
                <a:uFillTx/>
                <a:latin typeface="Calibri"/>
                <a:ea typeface="+mn-ea"/>
                <a:cs typeface="+mn-cs"/>
              </a:rPr>
              <a:t>,GOV.UK, 2024</a:t>
            </a:r>
            <a:r>
              <a:rPr lang="en-US" sz="1333" dirty="0">
                <a:solidFill>
                  <a:schemeClr val="bg1"/>
                </a:solidFill>
              </a:rPr>
              <a:t>,</a:t>
            </a:r>
          </a:p>
          <a:p>
            <a:pPr algn="r">
              <a:defRPr/>
            </a:pPr>
            <a:r>
              <a:rPr lang="en-US" sz="1333" dirty="0">
                <a:solidFill>
                  <a:schemeClr val="bg1"/>
                </a:solidFill>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lang="en-US" sz="1333" dirty="0">
                <a:solidFill>
                  <a:schemeClr val="bg1"/>
                </a:solidFill>
              </a:rPr>
              <a:t> (</a:t>
            </a:r>
            <a:r>
              <a:rPr lang="en-US" sz="1333" dirty="0">
                <a:solidFill>
                  <a:schemeClr val="bg1"/>
                </a:solidFill>
                <a:hlinkClick r:id="rId8">
                  <a:extLst>
                    <a:ext uri="{A12FA001-AC4F-418D-AE19-62706E023703}">
                      <ahyp:hlinkClr xmlns:ahyp="http://schemas.microsoft.com/office/drawing/2018/hyperlinkcolor" val="tx"/>
                    </a:ext>
                  </a:extLst>
                </a:hlinkClick>
              </a:rPr>
              <a:t>OGL 3.0</a:t>
            </a:r>
            <a:r>
              <a:rPr lang="en-US" sz="1333" dirty="0">
                <a:solidFill>
                  <a:schemeClr val="bg1"/>
                </a:solidFill>
              </a:rPr>
              <a:t>)</a:t>
            </a:r>
            <a:endParaRPr kumimoji="0" lang="en-US" sz="1333" b="0" i="0" u="none" strike="noStrike" kern="1200" cap="none" spc="0" normalizeH="0" baseline="0" noProof="0" dirty="0">
              <a:ln>
                <a:noFill/>
              </a:ln>
              <a:solidFill>
                <a:schemeClr val="bg1"/>
              </a:solidFill>
              <a:effectLst/>
              <a:uLnTx/>
              <a:uFillTx/>
              <a:latin typeface="Calibri"/>
            </a:endParaRP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a:extLst>
              <a:ext uri="{FF2B5EF4-FFF2-40B4-BE49-F238E27FC236}">
                <a16:creationId xmlns:a16="http://schemas.microsoft.com/office/drawing/2014/main" id="{C704173F-7EB1-0D8E-077D-27F782F24A5A}"/>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362054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12"/>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14"/>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36465"/>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059446B-9CE2-BB4C-2595-E250D479486A}"/>
              </a:ext>
            </a:extLst>
          </p:cNvPr>
          <p:cNvSpPr txBox="1">
            <a:spLocks/>
          </p:cNvSpPr>
          <p:nvPr/>
        </p:nvSpPr>
        <p:spPr bwMode="auto">
          <a:xfrm>
            <a:off x="110319" y="87767"/>
            <a:ext cx="11971362" cy="87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a:lstStyle>
          <a:p>
            <a:pPr algn="l"/>
            <a:r>
              <a:rPr lang="en-GB" sz="4000" dirty="0"/>
              <a:t>Tackling racial bias in pulse oximetry</a:t>
            </a:r>
            <a:endParaRPr lang="en-US" sz="4000" dirty="0"/>
          </a:p>
        </p:txBody>
      </p:sp>
      <p:sp>
        <p:nvSpPr>
          <p:cNvPr id="15" name="TextBox 14">
            <a:extLst>
              <a:ext uri="{FF2B5EF4-FFF2-40B4-BE49-F238E27FC236}">
                <a16:creationId xmlns:a16="http://schemas.microsoft.com/office/drawing/2014/main" id="{BE9C11A2-EC16-DC47-AA52-189AFDAD5335}"/>
              </a:ext>
            </a:extLst>
          </p:cNvPr>
          <p:cNvSpPr txBox="1"/>
          <p:nvPr/>
        </p:nvSpPr>
        <p:spPr>
          <a:xfrm>
            <a:off x="5024221" y="6515020"/>
            <a:ext cx="7167780" cy="307777"/>
          </a:xfrm>
          <a:prstGeom prst="rect">
            <a:avLst/>
          </a:prstGeom>
          <a:noFill/>
          <a:effectLst>
            <a:softEdge rad="50800"/>
          </a:effectLst>
        </p:spPr>
        <p:txBody>
          <a:bodyPr wrap="square" rtlCol="0">
            <a:spAutoFit/>
          </a:bodyPr>
          <a:lstStyle/>
          <a:p>
            <a:pPr lvl="0" algn="r">
              <a:defRPr/>
            </a:pPr>
            <a:r>
              <a:rPr lang="en-GB" sz="1400" dirty="0">
                <a:solidFill>
                  <a:schemeClr val="bg1"/>
                </a:solidFill>
              </a:rPr>
              <a:t>Photo by </a:t>
            </a:r>
            <a:r>
              <a:rPr lang="en-GB" sz="1400" dirty="0">
                <a:solidFill>
                  <a:schemeClr val="bg1"/>
                </a:solidFill>
                <a:hlinkClick r:id="rId4">
                  <a:extLst>
                    <a:ext uri="{A12FA001-AC4F-418D-AE19-62706E023703}">
                      <ahyp:hlinkClr xmlns:ahyp="http://schemas.microsoft.com/office/drawing/2018/hyperlinkcolor" val="tx"/>
                    </a:ext>
                  </a:extLst>
                </a:hlinkClick>
              </a:rPr>
              <a:t>Dylan Gillis</a:t>
            </a:r>
            <a:r>
              <a:rPr lang="en-GB" sz="1400" dirty="0">
                <a:solidFill>
                  <a:schemeClr val="bg1"/>
                </a:solidFill>
              </a:rPr>
              <a:t> on </a:t>
            </a:r>
            <a:r>
              <a:rPr lang="en-GB" sz="1400" dirty="0">
                <a:solidFill>
                  <a:schemeClr val="bg1"/>
                </a:solidFill>
                <a:hlinkClick r:id="rId5">
                  <a:extLst>
                    <a:ext uri="{A12FA001-AC4F-418D-AE19-62706E023703}">
                      <ahyp:hlinkClr xmlns:ahyp="http://schemas.microsoft.com/office/drawing/2018/hyperlinkcolor" val="tx"/>
                    </a:ext>
                  </a:extLst>
                </a:hlinkClick>
              </a:rPr>
              <a:t>Unsplash</a:t>
            </a:r>
            <a:r>
              <a:rPr lang="en-GB" sz="1400" dirty="0">
                <a:solidFill>
                  <a:schemeClr val="bg1"/>
                </a:solidFill>
              </a:rPr>
              <a:t> </a:t>
            </a:r>
            <a:endParaRPr kumimoji="0" lang="en-US" sz="1333" b="0" i="0" u="none" strike="noStrike" kern="1200" cap="none" spc="0" normalizeH="0" baseline="0" noProof="0" dirty="0">
              <a:ln>
                <a:noFill/>
              </a:ln>
              <a:solidFill>
                <a:schemeClr val="bg1"/>
              </a:solidFill>
              <a:effectLst/>
              <a:uLnTx/>
              <a:uFillTx/>
              <a:latin typeface="Calibri"/>
            </a:endParaRPr>
          </a:p>
        </p:txBody>
      </p:sp>
      <p:pic>
        <p:nvPicPr>
          <p:cNvPr id="4" name="Picture 3">
            <a:extLst>
              <a:ext uri="{FF2B5EF4-FFF2-40B4-BE49-F238E27FC236}">
                <a16:creationId xmlns:a16="http://schemas.microsoft.com/office/drawing/2014/main" id="{F0C97850-FCC3-9269-3988-CE531EA38AD2}"/>
              </a:ext>
            </a:extLst>
          </p:cNvPr>
          <p:cNvPicPr>
            <a:picLocks noChangeAspect="1"/>
          </p:cNvPicPr>
          <p:nvPr/>
        </p:nvPicPr>
        <p:blipFill>
          <a:blip r:embed="rId6"/>
          <a:srcRect t="10059" b="10059"/>
          <a:stretch/>
        </p:blipFill>
        <p:spPr>
          <a:xfrm>
            <a:off x="0" y="0"/>
            <a:ext cx="12192000" cy="6492875"/>
          </a:xfrm>
          <a:prstGeom prst="rect">
            <a:avLst/>
          </a:prstGeom>
        </p:spPr>
      </p:pic>
      <p:sp>
        <p:nvSpPr>
          <p:cNvPr id="2" name="TextBox 1">
            <a:extLst>
              <a:ext uri="{FF2B5EF4-FFF2-40B4-BE49-F238E27FC236}">
                <a16:creationId xmlns:a16="http://schemas.microsoft.com/office/drawing/2014/main" id="{A96017C1-D7B5-4976-F0FE-194090F4A4A2}"/>
              </a:ext>
            </a:extLst>
          </p:cNvPr>
          <p:cNvSpPr txBox="1"/>
          <p:nvPr/>
        </p:nvSpPr>
        <p:spPr>
          <a:xfrm>
            <a:off x="6845642" y="2387490"/>
            <a:ext cx="4426415" cy="830997"/>
          </a:xfrm>
          <a:prstGeom prst="rect">
            <a:avLst/>
          </a:prstGeom>
          <a:solidFill>
            <a:schemeClr val="bg1"/>
          </a:solidFill>
          <a:effectLst>
            <a:glow rad="203200">
              <a:schemeClr val="bg1"/>
            </a:glow>
          </a:effectLst>
        </p:spPr>
        <p:txBody>
          <a:bodyPr wrap="square" rtlCol="0">
            <a:spAutoFit/>
          </a:bodyPr>
          <a:lstStyle/>
          <a:p>
            <a:r>
              <a:rPr lang="en-US" sz="2400" dirty="0"/>
              <a:t>Resources: Wealth of expertise across disciplines</a:t>
            </a:r>
          </a:p>
        </p:txBody>
      </p:sp>
      <p:sp>
        <p:nvSpPr>
          <p:cNvPr id="3" name="TextBox 2">
            <a:extLst>
              <a:ext uri="{FF2B5EF4-FFF2-40B4-BE49-F238E27FC236}">
                <a16:creationId xmlns:a16="http://schemas.microsoft.com/office/drawing/2014/main" id="{283120FF-E129-CC13-2DB4-418534D210E4}"/>
              </a:ext>
            </a:extLst>
          </p:cNvPr>
          <p:cNvSpPr txBox="1"/>
          <p:nvPr/>
        </p:nvSpPr>
        <p:spPr>
          <a:xfrm>
            <a:off x="6845642" y="3840475"/>
            <a:ext cx="4426415" cy="830997"/>
          </a:xfrm>
          <a:prstGeom prst="rect">
            <a:avLst/>
          </a:prstGeom>
          <a:solidFill>
            <a:schemeClr val="bg1"/>
          </a:solidFill>
          <a:effectLst>
            <a:glow rad="203200">
              <a:schemeClr val="bg1"/>
            </a:glo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Infrastructure: NHS ecosystem for research and implementation</a:t>
            </a:r>
          </a:p>
        </p:txBody>
      </p:sp>
      <p:sp>
        <p:nvSpPr>
          <p:cNvPr id="5" name="TextBox 4">
            <a:extLst>
              <a:ext uri="{FF2B5EF4-FFF2-40B4-BE49-F238E27FC236}">
                <a16:creationId xmlns:a16="http://schemas.microsoft.com/office/drawing/2014/main" id="{AA621CF1-1654-54C0-F337-41F602144AC9}"/>
              </a:ext>
            </a:extLst>
          </p:cNvPr>
          <p:cNvSpPr txBox="1"/>
          <p:nvPr/>
        </p:nvSpPr>
        <p:spPr>
          <a:xfrm>
            <a:off x="6845642" y="5293460"/>
            <a:ext cx="4426415" cy="830997"/>
          </a:xfrm>
          <a:prstGeom prst="rect">
            <a:avLst/>
          </a:prstGeom>
          <a:solidFill>
            <a:schemeClr val="bg1"/>
          </a:solidFill>
          <a:effectLst>
            <a:glow rad="203200">
              <a:schemeClr val="bg1"/>
            </a:glo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Timeliness:</a:t>
            </a:r>
            <a:r>
              <a:rPr kumimoji="0" lang="en-US" sz="2400" b="0" i="0" u="none" strike="noStrike" kern="1200" cap="none" spc="0" normalizeH="0" noProof="0" dirty="0">
                <a:ln>
                  <a:noFill/>
                </a:ln>
                <a:solidFill>
                  <a:prstClr val="black"/>
                </a:solidFill>
                <a:effectLst/>
                <a:uLnTx/>
                <a:uFillTx/>
                <a:latin typeface="Calibri"/>
                <a:ea typeface="+mn-ea"/>
                <a:cs typeface="+mn-cs"/>
              </a:rPr>
              <a:t> Recent report and increasing use of pulse oximetry </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2673832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err="1">
                <a:ln>
                  <a:noFill/>
                </a:ln>
                <a:solidFill>
                  <a:prstClr val="white"/>
                </a:solidFill>
                <a:effectLst/>
                <a:uLnTx/>
                <a:uFillTx/>
                <a:latin typeface="Calibri"/>
                <a:ea typeface="+mn-ea"/>
                <a:cs typeface="+mn-cs"/>
              </a:rPr>
              <a:t>Sjoding</a:t>
            </a:r>
            <a:r>
              <a:rPr kumimoji="0" lang="en-US" sz="1333" b="0" i="0" u="none" strike="noStrike" kern="1200" cap="none" spc="0" normalizeH="0" baseline="0" noProof="0" dirty="0">
                <a:ln>
                  <a:noFill/>
                </a:ln>
                <a:solidFill>
                  <a:prstClr val="white"/>
                </a:solidFill>
                <a:effectLst/>
                <a:uLnTx/>
                <a:uFillTx/>
                <a:latin typeface="Calibri"/>
                <a:ea typeface="+mn-ea"/>
                <a:cs typeface="+mn-cs"/>
              </a:rPr>
              <a:t> MW </a:t>
            </a:r>
            <a:r>
              <a:rPr kumimoji="0" lang="en-US" sz="1333" b="0" i="1" u="none" strike="noStrike" kern="1200" cap="none" spc="0" normalizeH="0" baseline="0" noProof="0" dirty="0">
                <a:ln>
                  <a:noFill/>
                </a:ln>
                <a:solidFill>
                  <a:prstClr val="white"/>
                </a:solidFill>
                <a:effectLst/>
                <a:uLnTx/>
                <a:uFillTx/>
                <a:latin typeface="Calibri"/>
                <a:ea typeface="+mn-ea"/>
                <a:cs typeface="+mn-cs"/>
              </a:rPr>
              <a:t>et al.</a:t>
            </a:r>
            <a:r>
              <a:rPr kumimoji="0" lang="en-US" sz="1333" b="0" i="0" u="none" strike="noStrike" kern="1200" cap="none" spc="0" normalizeH="0" baseline="0" noProof="0" dirty="0">
                <a:ln>
                  <a:noFill/>
                </a:ln>
                <a:solidFill>
                  <a:prstClr val="white"/>
                </a:solidFill>
                <a:effectLst/>
                <a:uLnTx/>
                <a:uFillTx/>
                <a:latin typeface="Calibri"/>
                <a:ea typeface="+mn-ea"/>
                <a:cs typeface="+mn-cs"/>
              </a:rPr>
              <a:t>, NEJM, 2020,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https://doi.org/10.1056/NEJMc2029240</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Calibri"/>
                <a:ea typeface="+mn-ea"/>
                <a:cs typeface="+mn-cs"/>
              </a:rPr>
              <a:t>Photo by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5">
                  <a:extLst>
                    <a:ext uri="{A12FA001-AC4F-418D-AE19-62706E023703}">
                      <ahyp:hlinkClr xmlns:ahyp="http://schemas.microsoft.com/office/drawing/2018/hyperlinkcolor" val="tx"/>
                    </a:ext>
                  </a:extLst>
                </a:hlinkClick>
              </a:rPr>
              <a:t>Syed Ali</a:t>
            </a:r>
            <a:r>
              <a:rPr kumimoji="0" lang="en-GB" sz="1400" b="0" i="0" u="none" strike="noStrike" kern="1200" cap="none" spc="0" normalizeH="0" baseline="0" noProof="0" dirty="0">
                <a:ln>
                  <a:noFill/>
                </a:ln>
                <a:solidFill>
                  <a:prstClr val="white"/>
                </a:solidFill>
                <a:effectLst/>
                <a:uLnTx/>
                <a:uFillTx/>
                <a:latin typeface="Calibri"/>
                <a:ea typeface="+mn-ea"/>
                <a:cs typeface="+mn-cs"/>
              </a:rPr>
              <a:t> on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Unsplash</a:t>
            </a:r>
            <a:r>
              <a:rPr kumimoji="0" lang="en-GB" sz="1400" b="0" i="0" u="none" strike="noStrike" kern="1200" cap="none" spc="0" normalizeH="0" baseline="0" noProof="0" dirty="0">
                <a:ln>
                  <a:noFill/>
                </a:ln>
                <a:solidFill>
                  <a:prstClr val="white"/>
                </a:solidFill>
                <a:effectLst/>
                <a:uLnTx/>
                <a:uFillTx/>
                <a:latin typeface="Calibri"/>
                <a:ea typeface="+mn-ea"/>
                <a:cs typeface="+mn-cs"/>
              </a:rPr>
              <a:t> </a:t>
            </a:r>
            <a:endParaRPr kumimoji="0" lang="en-US" sz="1333"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8">
                  <a:extLst>
                    <a:ext uri="{A12FA001-AC4F-418D-AE19-62706E023703}">
                      <ahyp:hlinkClr xmlns:ahyp="http://schemas.microsoft.com/office/drawing/2018/hyperlinkcolor" val="tx"/>
                    </a:ext>
                  </a:extLst>
                </a:hlinkClick>
              </a:rPr>
              <a:t>OGL 3.0</a:t>
            </a:r>
            <a:r>
              <a:rPr kumimoji="0" lang="en-US" sz="1333" b="0" i="0" u="none" strike="noStrike" kern="1200" cap="none" spc="0" normalizeH="0" baseline="0" noProof="0" dirty="0">
                <a:ln>
                  <a:noFill/>
                </a:ln>
                <a:solidFill>
                  <a:prstClr val="white"/>
                </a:solidFill>
                <a:effectLst/>
                <a:uLnTx/>
                <a:uFillTx/>
                <a:latin typeface="Calibri"/>
                <a:ea typeface="+mn-ea"/>
                <a:cs typeface="+mn-cs"/>
              </a:rPr>
              <a:t>)</a:t>
            </a: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82CB7323-DF9A-1505-5597-637C89BD7184}"/>
              </a:ext>
            </a:extLst>
          </p:cNvPr>
          <p:cNvSpPr txBox="1"/>
          <p:nvPr/>
        </p:nvSpPr>
        <p:spPr>
          <a:xfrm>
            <a:off x="6521760" y="2609744"/>
            <a:ext cx="1526748" cy="461665"/>
          </a:xfrm>
          <a:prstGeom prst="rect">
            <a:avLst/>
          </a:prstGeom>
          <a:solidFill>
            <a:schemeClr val="bg1"/>
          </a:solidFill>
          <a:effectLst>
            <a:glow rad="203200">
              <a:schemeClr val="bg1"/>
            </a:glow>
          </a:effectLst>
        </p:spPr>
        <p:txBody>
          <a:bodyPr wrap="square" rtlCol="0">
            <a:spAutoFit/>
          </a:bodyPr>
          <a:lstStyle/>
          <a:p>
            <a:pPr algn="ctr"/>
            <a:r>
              <a:rPr lang="en-US" sz="2400" dirty="0"/>
              <a:t>Guidance</a:t>
            </a:r>
          </a:p>
        </p:txBody>
      </p:sp>
      <p:sp>
        <p:nvSpPr>
          <p:cNvPr id="4" name="TextBox 3">
            <a:extLst>
              <a:ext uri="{FF2B5EF4-FFF2-40B4-BE49-F238E27FC236}">
                <a16:creationId xmlns:a16="http://schemas.microsoft.com/office/drawing/2014/main" id="{1B2B0E97-E835-0DC5-90B9-14FEA0C41B5F}"/>
              </a:ext>
            </a:extLst>
          </p:cNvPr>
          <p:cNvSpPr txBox="1"/>
          <p:nvPr/>
        </p:nvSpPr>
        <p:spPr>
          <a:xfrm>
            <a:off x="8898695" y="3597222"/>
            <a:ext cx="1841905" cy="830997"/>
          </a:xfrm>
          <a:prstGeom prst="rect">
            <a:avLst/>
          </a:prstGeom>
          <a:solidFill>
            <a:schemeClr val="bg1"/>
          </a:solidFill>
          <a:effectLst>
            <a:glow rad="203200">
              <a:schemeClr val="bg1"/>
            </a:glow>
          </a:effectLst>
        </p:spPr>
        <p:txBody>
          <a:bodyPr wrap="square" rtlCol="0">
            <a:spAutoFit/>
          </a:bodyPr>
          <a:lstStyle/>
          <a:p>
            <a:pPr algn="ctr"/>
            <a:r>
              <a:rPr lang="en-US" sz="2400" dirty="0"/>
              <a:t>Device</a:t>
            </a:r>
          </a:p>
          <a:p>
            <a:pPr algn="ctr"/>
            <a:r>
              <a:rPr lang="en-US" sz="2400" dirty="0"/>
              <a:t>development</a:t>
            </a:r>
          </a:p>
        </p:txBody>
      </p:sp>
      <p:sp>
        <p:nvSpPr>
          <p:cNvPr id="5" name="TextBox 4">
            <a:extLst>
              <a:ext uri="{FF2B5EF4-FFF2-40B4-BE49-F238E27FC236}">
                <a16:creationId xmlns:a16="http://schemas.microsoft.com/office/drawing/2014/main" id="{C11951FC-A926-2B05-B3B9-59C7AB6A8EB2}"/>
              </a:ext>
            </a:extLst>
          </p:cNvPr>
          <p:cNvSpPr txBox="1"/>
          <p:nvPr/>
        </p:nvSpPr>
        <p:spPr>
          <a:xfrm>
            <a:off x="7793144" y="3254959"/>
            <a:ext cx="1518493" cy="461665"/>
          </a:xfrm>
          <a:prstGeom prst="rect">
            <a:avLst/>
          </a:prstGeom>
          <a:solidFill>
            <a:schemeClr val="bg1"/>
          </a:solidFill>
          <a:effectLst>
            <a:glow rad="203200">
              <a:schemeClr val="bg1"/>
            </a:glow>
          </a:effectLst>
        </p:spPr>
        <p:txBody>
          <a:bodyPr wrap="square" rtlCol="0">
            <a:spAutoFit/>
          </a:bodyPr>
          <a:lstStyle/>
          <a:p>
            <a:pPr algn="ctr"/>
            <a:r>
              <a:rPr lang="en-US" sz="2400" dirty="0"/>
              <a:t>Regulation</a:t>
            </a:r>
          </a:p>
        </p:txBody>
      </p:sp>
      <p:sp>
        <p:nvSpPr>
          <p:cNvPr id="13" name="TextBox 12">
            <a:extLst>
              <a:ext uri="{FF2B5EF4-FFF2-40B4-BE49-F238E27FC236}">
                <a16:creationId xmlns:a16="http://schemas.microsoft.com/office/drawing/2014/main" id="{350294F9-EC0A-DA8F-8E3F-0FF09BB75E13}"/>
              </a:ext>
            </a:extLst>
          </p:cNvPr>
          <p:cNvSpPr txBox="1"/>
          <p:nvPr/>
        </p:nvSpPr>
        <p:spPr>
          <a:xfrm>
            <a:off x="10384289" y="4543946"/>
            <a:ext cx="1405230" cy="461665"/>
          </a:xfrm>
          <a:prstGeom prst="rect">
            <a:avLst/>
          </a:prstGeom>
          <a:solidFill>
            <a:schemeClr val="bg1"/>
          </a:solidFill>
          <a:effectLst>
            <a:glow rad="203200">
              <a:schemeClr val="bg1"/>
            </a:glow>
          </a:effectLst>
        </p:spPr>
        <p:txBody>
          <a:bodyPr wrap="square" rtlCol="0">
            <a:spAutoFit/>
          </a:bodyPr>
          <a:lstStyle/>
          <a:p>
            <a:pPr algn="ctr"/>
            <a:r>
              <a:rPr lang="en-US" sz="2400" dirty="0"/>
              <a:t>Research</a:t>
            </a:r>
          </a:p>
        </p:txBody>
      </p:sp>
      <p:sp>
        <p:nvSpPr>
          <p:cNvPr id="15" name="Rounded Rectangle 14">
            <a:extLst>
              <a:ext uri="{FF2B5EF4-FFF2-40B4-BE49-F238E27FC236}">
                <a16:creationId xmlns:a16="http://schemas.microsoft.com/office/drawing/2014/main" id="{DC31786C-4F0C-81FF-4583-EB1355D289AD}"/>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127429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err="1">
                <a:ln>
                  <a:noFill/>
                </a:ln>
                <a:solidFill>
                  <a:prstClr val="white"/>
                </a:solidFill>
                <a:effectLst/>
                <a:uLnTx/>
                <a:uFillTx/>
                <a:latin typeface="Calibri"/>
                <a:ea typeface="+mn-ea"/>
                <a:cs typeface="+mn-cs"/>
              </a:rPr>
              <a:t>Sjoding</a:t>
            </a:r>
            <a:r>
              <a:rPr kumimoji="0" lang="en-US" sz="1333" b="0" i="0" u="none" strike="noStrike" kern="1200" cap="none" spc="0" normalizeH="0" baseline="0" noProof="0" dirty="0">
                <a:ln>
                  <a:noFill/>
                </a:ln>
                <a:solidFill>
                  <a:prstClr val="white"/>
                </a:solidFill>
                <a:effectLst/>
                <a:uLnTx/>
                <a:uFillTx/>
                <a:latin typeface="Calibri"/>
                <a:ea typeface="+mn-ea"/>
                <a:cs typeface="+mn-cs"/>
              </a:rPr>
              <a:t> MW </a:t>
            </a:r>
            <a:r>
              <a:rPr kumimoji="0" lang="en-US" sz="1333" b="0" i="1" u="none" strike="noStrike" kern="1200" cap="none" spc="0" normalizeH="0" baseline="0" noProof="0" dirty="0">
                <a:ln>
                  <a:noFill/>
                </a:ln>
                <a:solidFill>
                  <a:prstClr val="white"/>
                </a:solidFill>
                <a:effectLst/>
                <a:uLnTx/>
                <a:uFillTx/>
                <a:latin typeface="Calibri"/>
                <a:ea typeface="+mn-ea"/>
                <a:cs typeface="+mn-cs"/>
              </a:rPr>
              <a:t>et al.</a:t>
            </a:r>
            <a:r>
              <a:rPr kumimoji="0" lang="en-US" sz="1333" b="0" i="0" u="none" strike="noStrike" kern="1200" cap="none" spc="0" normalizeH="0" baseline="0" noProof="0" dirty="0">
                <a:ln>
                  <a:noFill/>
                </a:ln>
                <a:solidFill>
                  <a:prstClr val="white"/>
                </a:solidFill>
                <a:effectLst/>
                <a:uLnTx/>
                <a:uFillTx/>
                <a:latin typeface="Calibri"/>
                <a:ea typeface="+mn-ea"/>
                <a:cs typeface="+mn-cs"/>
              </a:rPr>
              <a:t>, NEJM, 2020,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https://doi.org/10.1056/NEJMc2029240</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Calibri"/>
                <a:ea typeface="+mn-ea"/>
                <a:cs typeface="+mn-cs"/>
              </a:rPr>
              <a:t>Photo by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5">
                  <a:extLst>
                    <a:ext uri="{A12FA001-AC4F-418D-AE19-62706E023703}">
                      <ahyp:hlinkClr xmlns:ahyp="http://schemas.microsoft.com/office/drawing/2018/hyperlinkcolor" val="tx"/>
                    </a:ext>
                  </a:extLst>
                </a:hlinkClick>
              </a:rPr>
              <a:t>Syed Ali</a:t>
            </a:r>
            <a:r>
              <a:rPr kumimoji="0" lang="en-GB" sz="1400" b="0" i="0" u="none" strike="noStrike" kern="1200" cap="none" spc="0" normalizeH="0" baseline="0" noProof="0" dirty="0">
                <a:ln>
                  <a:noFill/>
                </a:ln>
                <a:solidFill>
                  <a:prstClr val="white"/>
                </a:solidFill>
                <a:effectLst/>
                <a:uLnTx/>
                <a:uFillTx/>
                <a:latin typeface="Calibri"/>
                <a:ea typeface="+mn-ea"/>
                <a:cs typeface="+mn-cs"/>
              </a:rPr>
              <a:t> on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Unsplash</a:t>
            </a:r>
            <a:r>
              <a:rPr kumimoji="0" lang="en-GB" sz="1400" b="0" i="0" u="none" strike="noStrike" kern="1200" cap="none" spc="0" normalizeH="0" baseline="0" noProof="0" dirty="0">
                <a:ln>
                  <a:noFill/>
                </a:ln>
                <a:solidFill>
                  <a:prstClr val="white"/>
                </a:solidFill>
                <a:effectLst/>
                <a:uLnTx/>
                <a:uFillTx/>
                <a:latin typeface="Calibri"/>
                <a:ea typeface="+mn-ea"/>
                <a:cs typeface="+mn-cs"/>
              </a:rPr>
              <a:t> </a:t>
            </a:r>
            <a:endParaRPr kumimoji="0" lang="en-US" sz="1333"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8">
                  <a:extLst>
                    <a:ext uri="{A12FA001-AC4F-418D-AE19-62706E023703}">
                      <ahyp:hlinkClr xmlns:ahyp="http://schemas.microsoft.com/office/drawing/2018/hyperlinkcolor" val="tx"/>
                    </a:ext>
                  </a:extLst>
                </a:hlinkClick>
              </a:rPr>
              <a:t>OGL 3.0</a:t>
            </a:r>
            <a:r>
              <a:rPr kumimoji="0" lang="en-US" sz="1333" b="0" i="0" u="none" strike="noStrike" kern="1200" cap="none" spc="0" normalizeH="0" baseline="0" noProof="0" dirty="0">
                <a:ln>
                  <a:noFill/>
                </a:ln>
                <a:solidFill>
                  <a:prstClr val="white"/>
                </a:solidFill>
                <a:effectLst/>
                <a:uLnTx/>
                <a:uFillTx/>
                <a:latin typeface="Calibri"/>
                <a:ea typeface="+mn-ea"/>
                <a:cs typeface="+mn-cs"/>
              </a:rPr>
              <a:t>)</a:t>
            </a: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82CB7323-DF9A-1505-5597-637C89BD7184}"/>
              </a:ext>
            </a:extLst>
          </p:cNvPr>
          <p:cNvSpPr txBox="1"/>
          <p:nvPr/>
        </p:nvSpPr>
        <p:spPr>
          <a:xfrm>
            <a:off x="6521760" y="2609744"/>
            <a:ext cx="1526748" cy="461665"/>
          </a:xfrm>
          <a:prstGeom prst="rect">
            <a:avLst/>
          </a:prstGeom>
          <a:solidFill>
            <a:srgbClr val="FFB9DD"/>
          </a:solidFill>
          <a:effectLst>
            <a:glow rad="203200">
              <a:srgbClr val="FFB9DD"/>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Guidance</a:t>
            </a:r>
          </a:p>
        </p:txBody>
      </p:sp>
      <p:sp>
        <p:nvSpPr>
          <p:cNvPr id="4" name="TextBox 3">
            <a:extLst>
              <a:ext uri="{FF2B5EF4-FFF2-40B4-BE49-F238E27FC236}">
                <a16:creationId xmlns:a16="http://schemas.microsoft.com/office/drawing/2014/main" id="{1B2B0E97-E835-0DC5-90B9-14FEA0C41B5F}"/>
              </a:ext>
            </a:extLst>
          </p:cNvPr>
          <p:cNvSpPr txBox="1"/>
          <p:nvPr/>
        </p:nvSpPr>
        <p:spPr>
          <a:xfrm>
            <a:off x="8898695" y="3597222"/>
            <a:ext cx="1841905" cy="830997"/>
          </a:xfrm>
          <a:prstGeom prst="rect">
            <a:avLst/>
          </a:prstGeom>
          <a:solidFill>
            <a:srgbClr val="FFB9DD"/>
          </a:solidFill>
          <a:effectLst>
            <a:glow rad="203200">
              <a:srgbClr val="FFB9DD"/>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development</a:t>
            </a:r>
          </a:p>
        </p:txBody>
      </p:sp>
      <p:sp>
        <p:nvSpPr>
          <p:cNvPr id="5" name="TextBox 4">
            <a:extLst>
              <a:ext uri="{FF2B5EF4-FFF2-40B4-BE49-F238E27FC236}">
                <a16:creationId xmlns:a16="http://schemas.microsoft.com/office/drawing/2014/main" id="{C11951FC-A926-2B05-B3B9-59C7AB6A8EB2}"/>
              </a:ext>
            </a:extLst>
          </p:cNvPr>
          <p:cNvSpPr txBox="1"/>
          <p:nvPr/>
        </p:nvSpPr>
        <p:spPr>
          <a:xfrm>
            <a:off x="7793144" y="3254959"/>
            <a:ext cx="1518493" cy="461665"/>
          </a:xfrm>
          <a:prstGeom prst="rect">
            <a:avLst/>
          </a:prstGeom>
          <a:solidFill>
            <a:srgbClr val="FFB9DD"/>
          </a:solidFill>
          <a:effectLst>
            <a:glow rad="203200">
              <a:srgbClr val="FFB9DD"/>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Regulation</a:t>
            </a:r>
          </a:p>
        </p:txBody>
      </p:sp>
      <p:sp>
        <p:nvSpPr>
          <p:cNvPr id="13" name="TextBox 12">
            <a:extLst>
              <a:ext uri="{FF2B5EF4-FFF2-40B4-BE49-F238E27FC236}">
                <a16:creationId xmlns:a16="http://schemas.microsoft.com/office/drawing/2014/main" id="{350294F9-EC0A-DA8F-8E3F-0FF09BB75E13}"/>
              </a:ext>
            </a:extLst>
          </p:cNvPr>
          <p:cNvSpPr txBox="1"/>
          <p:nvPr/>
        </p:nvSpPr>
        <p:spPr>
          <a:xfrm>
            <a:off x="10384289" y="4543946"/>
            <a:ext cx="1405230"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Research</a:t>
            </a:r>
          </a:p>
        </p:txBody>
      </p:sp>
      <p:sp>
        <p:nvSpPr>
          <p:cNvPr id="15" name="Rounded Rectangle 14">
            <a:extLst>
              <a:ext uri="{FF2B5EF4-FFF2-40B4-BE49-F238E27FC236}">
                <a16:creationId xmlns:a16="http://schemas.microsoft.com/office/drawing/2014/main" id="{F54240C2-62EB-3B5C-1464-AAFEAD31A6FB}"/>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3766774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err="1">
                <a:ln>
                  <a:noFill/>
                </a:ln>
                <a:solidFill>
                  <a:prstClr val="white"/>
                </a:solidFill>
                <a:effectLst/>
                <a:uLnTx/>
                <a:uFillTx/>
                <a:latin typeface="Calibri"/>
                <a:ea typeface="+mn-ea"/>
                <a:cs typeface="+mn-cs"/>
              </a:rPr>
              <a:t>Sjoding</a:t>
            </a:r>
            <a:r>
              <a:rPr kumimoji="0" lang="en-US" sz="1333" b="0" i="0" u="none" strike="noStrike" kern="1200" cap="none" spc="0" normalizeH="0" baseline="0" noProof="0" dirty="0">
                <a:ln>
                  <a:noFill/>
                </a:ln>
                <a:solidFill>
                  <a:prstClr val="white"/>
                </a:solidFill>
                <a:effectLst/>
                <a:uLnTx/>
                <a:uFillTx/>
                <a:latin typeface="Calibri"/>
                <a:ea typeface="+mn-ea"/>
                <a:cs typeface="+mn-cs"/>
              </a:rPr>
              <a:t> MW </a:t>
            </a:r>
            <a:r>
              <a:rPr kumimoji="0" lang="en-US" sz="1333" b="0" i="1" u="none" strike="noStrike" kern="1200" cap="none" spc="0" normalizeH="0" baseline="0" noProof="0" dirty="0">
                <a:ln>
                  <a:noFill/>
                </a:ln>
                <a:solidFill>
                  <a:prstClr val="white"/>
                </a:solidFill>
                <a:effectLst/>
                <a:uLnTx/>
                <a:uFillTx/>
                <a:latin typeface="Calibri"/>
                <a:ea typeface="+mn-ea"/>
                <a:cs typeface="+mn-cs"/>
              </a:rPr>
              <a:t>et al.</a:t>
            </a:r>
            <a:r>
              <a:rPr kumimoji="0" lang="en-US" sz="1333" b="0" i="0" u="none" strike="noStrike" kern="1200" cap="none" spc="0" normalizeH="0" baseline="0" noProof="0" dirty="0">
                <a:ln>
                  <a:noFill/>
                </a:ln>
                <a:solidFill>
                  <a:prstClr val="white"/>
                </a:solidFill>
                <a:effectLst/>
                <a:uLnTx/>
                <a:uFillTx/>
                <a:latin typeface="Calibri"/>
                <a:ea typeface="+mn-ea"/>
                <a:cs typeface="+mn-cs"/>
              </a:rPr>
              <a:t>, NEJM, 2020,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https://doi.org/10.1056/NEJMc2029240</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Calibri"/>
                <a:ea typeface="+mn-ea"/>
                <a:cs typeface="+mn-cs"/>
              </a:rPr>
              <a:t>Photo by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5">
                  <a:extLst>
                    <a:ext uri="{A12FA001-AC4F-418D-AE19-62706E023703}">
                      <ahyp:hlinkClr xmlns:ahyp="http://schemas.microsoft.com/office/drawing/2018/hyperlinkcolor" val="tx"/>
                    </a:ext>
                  </a:extLst>
                </a:hlinkClick>
              </a:rPr>
              <a:t>Syed Ali</a:t>
            </a:r>
            <a:r>
              <a:rPr kumimoji="0" lang="en-GB" sz="1400" b="0" i="0" u="none" strike="noStrike" kern="1200" cap="none" spc="0" normalizeH="0" baseline="0" noProof="0" dirty="0">
                <a:ln>
                  <a:noFill/>
                </a:ln>
                <a:solidFill>
                  <a:prstClr val="white"/>
                </a:solidFill>
                <a:effectLst/>
                <a:uLnTx/>
                <a:uFillTx/>
                <a:latin typeface="Calibri"/>
                <a:ea typeface="+mn-ea"/>
                <a:cs typeface="+mn-cs"/>
              </a:rPr>
              <a:t> on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Unsplash</a:t>
            </a:r>
            <a:r>
              <a:rPr kumimoji="0" lang="en-GB" sz="1400" b="0" i="0" u="none" strike="noStrike" kern="1200" cap="none" spc="0" normalizeH="0" baseline="0" noProof="0" dirty="0">
                <a:ln>
                  <a:noFill/>
                </a:ln>
                <a:solidFill>
                  <a:prstClr val="white"/>
                </a:solidFill>
                <a:effectLst/>
                <a:uLnTx/>
                <a:uFillTx/>
                <a:latin typeface="Calibri"/>
                <a:ea typeface="+mn-ea"/>
                <a:cs typeface="+mn-cs"/>
              </a:rPr>
              <a:t> </a:t>
            </a:r>
            <a:endParaRPr kumimoji="0" lang="en-US" sz="1333"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8">
                  <a:extLst>
                    <a:ext uri="{A12FA001-AC4F-418D-AE19-62706E023703}">
                      <ahyp:hlinkClr xmlns:ahyp="http://schemas.microsoft.com/office/drawing/2018/hyperlinkcolor" val="tx"/>
                    </a:ext>
                  </a:extLst>
                </a:hlinkClick>
              </a:rPr>
              <a:t>OGL 3.0</a:t>
            </a:r>
            <a:r>
              <a:rPr kumimoji="0" lang="en-US" sz="1333" b="0" i="0" u="none" strike="noStrike" kern="1200" cap="none" spc="0" normalizeH="0" baseline="0" noProof="0" dirty="0">
                <a:ln>
                  <a:noFill/>
                </a:ln>
                <a:solidFill>
                  <a:prstClr val="white"/>
                </a:solidFill>
                <a:effectLst/>
                <a:uLnTx/>
                <a:uFillTx/>
                <a:latin typeface="Calibri"/>
                <a:ea typeface="+mn-ea"/>
                <a:cs typeface="+mn-cs"/>
              </a:rPr>
              <a:t>)</a:t>
            </a: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82CB7323-DF9A-1505-5597-637C89BD7184}"/>
              </a:ext>
            </a:extLst>
          </p:cNvPr>
          <p:cNvSpPr txBox="1"/>
          <p:nvPr/>
        </p:nvSpPr>
        <p:spPr>
          <a:xfrm>
            <a:off x="6521760" y="2609744"/>
            <a:ext cx="1526748"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Guidance</a:t>
            </a:r>
          </a:p>
        </p:txBody>
      </p:sp>
      <p:sp>
        <p:nvSpPr>
          <p:cNvPr id="4" name="TextBox 3">
            <a:extLst>
              <a:ext uri="{FF2B5EF4-FFF2-40B4-BE49-F238E27FC236}">
                <a16:creationId xmlns:a16="http://schemas.microsoft.com/office/drawing/2014/main" id="{1B2B0E97-E835-0DC5-90B9-14FEA0C41B5F}"/>
              </a:ext>
            </a:extLst>
          </p:cNvPr>
          <p:cNvSpPr txBox="1"/>
          <p:nvPr/>
        </p:nvSpPr>
        <p:spPr>
          <a:xfrm>
            <a:off x="8898695" y="3597222"/>
            <a:ext cx="1841905" cy="830997"/>
          </a:xfrm>
          <a:prstGeom prst="rect">
            <a:avLst/>
          </a:prstGeom>
          <a:solidFill>
            <a:schemeClr val="bg1">
              <a:lumMod val="65000"/>
            </a:schemeClr>
          </a:solidFill>
          <a:effectLst>
            <a:glow rad="203200">
              <a:schemeClr val="bg1">
                <a:lumMod val="65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development</a:t>
            </a:r>
          </a:p>
        </p:txBody>
      </p:sp>
      <p:sp>
        <p:nvSpPr>
          <p:cNvPr id="5" name="TextBox 4">
            <a:extLst>
              <a:ext uri="{FF2B5EF4-FFF2-40B4-BE49-F238E27FC236}">
                <a16:creationId xmlns:a16="http://schemas.microsoft.com/office/drawing/2014/main" id="{C11951FC-A926-2B05-B3B9-59C7AB6A8EB2}"/>
              </a:ext>
            </a:extLst>
          </p:cNvPr>
          <p:cNvSpPr txBox="1"/>
          <p:nvPr/>
        </p:nvSpPr>
        <p:spPr>
          <a:xfrm>
            <a:off x="7793144" y="3254959"/>
            <a:ext cx="1518493" cy="461665"/>
          </a:xfrm>
          <a:prstGeom prst="rect">
            <a:avLst/>
          </a:prstGeom>
          <a:solidFill>
            <a:schemeClr val="bg1">
              <a:lumMod val="65000"/>
            </a:schemeClr>
          </a:solidFill>
          <a:effectLst>
            <a:glow rad="203200">
              <a:schemeClr val="bg1">
                <a:lumMod val="65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Regulation</a:t>
            </a:r>
          </a:p>
        </p:txBody>
      </p:sp>
      <p:sp>
        <p:nvSpPr>
          <p:cNvPr id="13" name="TextBox 12">
            <a:extLst>
              <a:ext uri="{FF2B5EF4-FFF2-40B4-BE49-F238E27FC236}">
                <a16:creationId xmlns:a16="http://schemas.microsoft.com/office/drawing/2014/main" id="{350294F9-EC0A-DA8F-8E3F-0FF09BB75E13}"/>
              </a:ext>
            </a:extLst>
          </p:cNvPr>
          <p:cNvSpPr txBox="1"/>
          <p:nvPr/>
        </p:nvSpPr>
        <p:spPr>
          <a:xfrm>
            <a:off x="10384289" y="4543946"/>
            <a:ext cx="1405230" cy="461665"/>
          </a:xfrm>
          <a:prstGeom prst="rect">
            <a:avLst/>
          </a:prstGeom>
          <a:solidFill>
            <a:schemeClr val="bg1">
              <a:lumMod val="65000"/>
            </a:schemeClr>
          </a:solidFill>
          <a:effectLst>
            <a:glow rad="203200">
              <a:schemeClr val="bg1">
                <a:lumMod val="65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Research</a:t>
            </a:r>
          </a:p>
        </p:txBody>
      </p:sp>
      <p:sp>
        <p:nvSpPr>
          <p:cNvPr id="15" name="Rounded Rectangle 14">
            <a:extLst>
              <a:ext uri="{FF2B5EF4-FFF2-40B4-BE49-F238E27FC236}">
                <a16:creationId xmlns:a16="http://schemas.microsoft.com/office/drawing/2014/main" id="{40183992-A9AA-B494-17BA-866C4BA659BD}"/>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181824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Guidance</a:t>
            </a:r>
          </a:p>
        </p:txBody>
      </p:sp>
      <p:sp>
        <p:nvSpPr>
          <p:cNvPr id="5" name="Content Placeholder 4">
            <a:extLst>
              <a:ext uri="{FF2B5EF4-FFF2-40B4-BE49-F238E27FC236}">
                <a16:creationId xmlns:a16="http://schemas.microsoft.com/office/drawing/2014/main" id="{30BFFFA0-4BAB-9234-316D-FDB57548827D}"/>
              </a:ext>
            </a:extLst>
          </p:cNvPr>
          <p:cNvSpPr>
            <a:spLocks noGrp="1"/>
          </p:cNvSpPr>
          <p:nvPr>
            <p:ph idx="1"/>
          </p:nvPr>
        </p:nvSpPr>
        <p:spPr>
          <a:xfrm>
            <a:off x="609600" y="1084814"/>
            <a:ext cx="10972800" cy="594359"/>
          </a:xfrm>
        </p:spPr>
        <p:txBody>
          <a:bodyPr/>
          <a:lstStyle/>
          <a:p>
            <a:pPr marL="0" indent="0">
              <a:buNone/>
            </a:pPr>
            <a:r>
              <a:rPr lang="en-US" dirty="0">
                <a:solidFill>
                  <a:srgbClr val="832161"/>
                </a:solidFill>
              </a:rPr>
              <a:t>Recommendation 1:</a:t>
            </a:r>
          </a:p>
        </p:txBody>
      </p:sp>
      <p:sp>
        <p:nvSpPr>
          <p:cNvPr id="6" name="TextBox 5">
            <a:extLst>
              <a:ext uri="{FF2B5EF4-FFF2-40B4-BE49-F238E27FC236}">
                <a16:creationId xmlns:a16="http://schemas.microsoft.com/office/drawing/2014/main" id="{8F12254C-2C7A-882F-56AC-326B4DC6512C}"/>
              </a:ext>
            </a:extLst>
          </p:cNvPr>
          <p:cNvSpPr txBox="1"/>
          <p:nvPr/>
        </p:nvSpPr>
        <p:spPr>
          <a:xfrm>
            <a:off x="0" y="6529491"/>
            <a:ext cx="12192000" cy="276999"/>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 </a:t>
            </a:r>
            <a:r>
              <a:rPr kumimoji="0" lang="en-US" sz="1200" b="0" i="0" u="none" strike="noStrike" kern="1200" cap="none" spc="0" normalizeH="0" baseline="0" noProof="0" dirty="0">
                <a:ln>
                  <a:noFill/>
                </a:ln>
                <a:solidFill>
                  <a:prstClr val="white"/>
                </a:solidFill>
                <a:effectLst/>
                <a:uLnTx/>
                <a:uFillTx/>
                <a:latin typeface="Calibri"/>
                <a:ea typeface="+mn-ea"/>
                <a:cs typeface="+mn-cs"/>
                <a:hlinkClick r:id="rId2">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200" b="0" i="0" u="none" strike="noStrike" kern="1200" cap="none" spc="0" normalizeH="0" baseline="0" noProof="0" dirty="0">
                <a:ln>
                  <a:noFill/>
                </a:ln>
                <a:solidFill>
                  <a:prstClr val="white"/>
                </a:solidFill>
                <a:effectLst/>
                <a:uLnTx/>
                <a:uFillTx/>
                <a:latin typeface="Calibri"/>
                <a:ea typeface="+mn-ea"/>
                <a:cs typeface="+mn-cs"/>
              </a:rPr>
              <a:t> (</a:t>
            </a:r>
            <a:r>
              <a:rPr kumimoji="0" lang="en-US" sz="1200"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OGL 3.0</a:t>
            </a:r>
            <a:r>
              <a:rPr kumimoji="0" lang="en-US" sz="1200" b="0" i="0" u="none" strike="noStrike" kern="1200" cap="none" spc="0" normalizeH="0" baseline="0" noProof="0" dirty="0">
                <a:ln>
                  <a:noFill/>
                </a:ln>
                <a:solidFill>
                  <a:prstClr val="white"/>
                </a:solidFill>
                <a:effectLst/>
                <a:uLnTx/>
                <a:uFillTx/>
                <a:latin typeface="Calibri"/>
                <a:ea typeface="+mn-ea"/>
                <a:cs typeface="+mn-cs"/>
              </a:rPr>
              <a:t>)</a:t>
            </a:r>
          </a:p>
        </p:txBody>
      </p:sp>
      <p:sp>
        <p:nvSpPr>
          <p:cNvPr id="7" name="Rounded Rectangle 6">
            <a:extLst>
              <a:ext uri="{FF2B5EF4-FFF2-40B4-BE49-F238E27FC236}">
                <a16:creationId xmlns:a16="http://schemas.microsoft.com/office/drawing/2014/main" id="{22D68AC8-71CF-70B8-F3BC-E06A48AD891E}"/>
              </a:ext>
            </a:extLst>
          </p:cNvPr>
          <p:cNvSpPr/>
          <p:nvPr/>
        </p:nvSpPr>
        <p:spPr>
          <a:xfrm>
            <a:off x="1765069" y="1823169"/>
            <a:ext cx="8661861" cy="162929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“Regulators, developers, manufacturers and healthcare professionals should take immediate mitigation actions to ensure existing pulse oximeter devices in the NHS can be used safely and equitably for all patient groups across the range of skin tones.”</a:t>
            </a:r>
          </a:p>
        </p:txBody>
      </p:sp>
      <p:sp>
        <p:nvSpPr>
          <p:cNvPr id="8" name="Content Placeholder 4">
            <a:extLst>
              <a:ext uri="{FF2B5EF4-FFF2-40B4-BE49-F238E27FC236}">
                <a16:creationId xmlns:a16="http://schemas.microsoft.com/office/drawing/2014/main" id="{6672563D-C50C-1AE8-3861-4775FFC1EC7F}"/>
              </a:ext>
            </a:extLst>
          </p:cNvPr>
          <p:cNvSpPr txBox="1">
            <a:spLocks/>
          </p:cNvSpPr>
          <p:nvPr/>
        </p:nvSpPr>
        <p:spPr bwMode="auto">
          <a:xfrm>
            <a:off x="609600" y="3657447"/>
            <a:ext cx="10972800" cy="263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200" dirty="0"/>
              <a:t>Guidance for use</a:t>
            </a:r>
          </a:p>
          <a:p>
            <a:r>
              <a:rPr lang="en-US" sz="2200" dirty="0"/>
              <a:t>Looking at changes in readings</a:t>
            </a:r>
          </a:p>
          <a:p>
            <a:r>
              <a:rPr lang="en-US" sz="2200" dirty="0"/>
              <a:t>Using trends rather than thresholds to inform decisions</a:t>
            </a:r>
          </a:p>
          <a:p>
            <a:r>
              <a:rPr lang="en-US" sz="2200" dirty="0"/>
              <a:t>Educate clinicians on pulse oximeter technology</a:t>
            </a:r>
          </a:p>
          <a:p>
            <a:r>
              <a:rPr lang="en-US" sz="2200" dirty="0"/>
              <a:t>Manufacturers to update instructions for use</a:t>
            </a:r>
          </a:p>
          <a:p>
            <a:r>
              <a:rPr lang="en-US" sz="2200" dirty="0"/>
              <a:t>Developers and manufacturers to report performance across subgroups</a:t>
            </a:r>
          </a:p>
        </p:txBody>
      </p:sp>
    </p:spTree>
    <p:extLst>
      <p:ext uri="{BB962C8B-B14F-4D97-AF65-F5344CB8AC3E}">
        <p14:creationId xmlns:p14="http://schemas.microsoft.com/office/powerpoint/2010/main" val="3800312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err="1">
                <a:ln>
                  <a:noFill/>
                </a:ln>
                <a:solidFill>
                  <a:prstClr val="white"/>
                </a:solidFill>
                <a:effectLst/>
                <a:uLnTx/>
                <a:uFillTx/>
                <a:latin typeface="Calibri"/>
                <a:ea typeface="+mn-ea"/>
                <a:cs typeface="+mn-cs"/>
              </a:rPr>
              <a:t>Sjoding</a:t>
            </a:r>
            <a:r>
              <a:rPr kumimoji="0" lang="en-US" sz="1333" b="0" i="0" u="none" strike="noStrike" kern="1200" cap="none" spc="0" normalizeH="0" baseline="0" noProof="0" dirty="0">
                <a:ln>
                  <a:noFill/>
                </a:ln>
                <a:solidFill>
                  <a:prstClr val="white"/>
                </a:solidFill>
                <a:effectLst/>
                <a:uLnTx/>
                <a:uFillTx/>
                <a:latin typeface="Calibri"/>
                <a:ea typeface="+mn-ea"/>
                <a:cs typeface="+mn-cs"/>
              </a:rPr>
              <a:t> MW </a:t>
            </a:r>
            <a:r>
              <a:rPr kumimoji="0" lang="en-US" sz="1333" b="0" i="1" u="none" strike="noStrike" kern="1200" cap="none" spc="0" normalizeH="0" baseline="0" noProof="0" dirty="0">
                <a:ln>
                  <a:noFill/>
                </a:ln>
                <a:solidFill>
                  <a:prstClr val="white"/>
                </a:solidFill>
                <a:effectLst/>
                <a:uLnTx/>
                <a:uFillTx/>
                <a:latin typeface="Calibri"/>
                <a:ea typeface="+mn-ea"/>
                <a:cs typeface="+mn-cs"/>
              </a:rPr>
              <a:t>et al.</a:t>
            </a:r>
            <a:r>
              <a:rPr kumimoji="0" lang="en-US" sz="1333" b="0" i="0" u="none" strike="noStrike" kern="1200" cap="none" spc="0" normalizeH="0" baseline="0" noProof="0" dirty="0">
                <a:ln>
                  <a:noFill/>
                </a:ln>
                <a:solidFill>
                  <a:prstClr val="white"/>
                </a:solidFill>
                <a:effectLst/>
                <a:uLnTx/>
                <a:uFillTx/>
                <a:latin typeface="Calibri"/>
                <a:ea typeface="+mn-ea"/>
                <a:cs typeface="+mn-cs"/>
              </a:rPr>
              <a:t>, NEJM, 2020,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https://doi.org/10.1056/NEJMc2029240</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Calibri"/>
                <a:ea typeface="+mn-ea"/>
                <a:cs typeface="+mn-cs"/>
              </a:rPr>
              <a:t>Photo by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5">
                  <a:extLst>
                    <a:ext uri="{A12FA001-AC4F-418D-AE19-62706E023703}">
                      <ahyp:hlinkClr xmlns:ahyp="http://schemas.microsoft.com/office/drawing/2018/hyperlinkcolor" val="tx"/>
                    </a:ext>
                  </a:extLst>
                </a:hlinkClick>
              </a:rPr>
              <a:t>Syed Ali</a:t>
            </a:r>
            <a:r>
              <a:rPr kumimoji="0" lang="en-GB" sz="1400" b="0" i="0" u="none" strike="noStrike" kern="1200" cap="none" spc="0" normalizeH="0" baseline="0" noProof="0" dirty="0">
                <a:ln>
                  <a:noFill/>
                </a:ln>
                <a:solidFill>
                  <a:prstClr val="white"/>
                </a:solidFill>
                <a:effectLst/>
                <a:uLnTx/>
                <a:uFillTx/>
                <a:latin typeface="Calibri"/>
                <a:ea typeface="+mn-ea"/>
                <a:cs typeface="+mn-cs"/>
              </a:rPr>
              <a:t> on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Unsplash</a:t>
            </a:r>
            <a:r>
              <a:rPr kumimoji="0" lang="en-GB" sz="1400" b="0" i="0" u="none" strike="noStrike" kern="1200" cap="none" spc="0" normalizeH="0" baseline="0" noProof="0" dirty="0">
                <a:ln>
                  <a:noFill/>
                </a:ln>
                <a:solidFill>
                  <a:prstClr val="white"/>
                </a:solidFill>
                <a:effectLst/>
                <a:uLnTx/>
                <a:uFillTx/>
                <a:latin typeface="Calibri"/>
                <a:ea typeface="+mn-ea"/>
                <a:cs typeface="+mn-cs"/>
              </a:rPr>
              <a:t> </a:t>
            </a:r>
            <a:endParaRPr kumimoji="0" lang="en-US" sz="1333"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8">
                  <a:extLst>
                    <a:ext uri="{A12FA001-AC4F-418D-AE19-62706E023703}">
                      <ahyp:hlinkClr xmlns:ahyp="http://schemas.microsoft.com/office/drawing/2018/hyperlinkcolor" val="tx"/>
                    </a:ext>
                  </a:extLst>
                </a:hlinkClick>
              </a:rPr>
              <a:t>OGL 3.0</a:t>
            </a:r>
            <a:r>
              <a:rPr kumimoji="0" lang="en-US" sz="1333" b="0" i="0" u="none" strike="noStrike" kern="1200" cap="none" spc="0" normalizeH="0" baseline="0" noProof="0" dirty="0">
                <a:ln>
                  <a:noFill/>
                </a:ln>
                <a:solidFill>
                  <a:prstClr val="white"/>
                </a:solidFill>
                <a:effectLst/>
                <a:uLnTx/>
                <a:uFillTx/>
                <a:latin typeface="Calibri"/>
                <a:ea typeface="+mn-ea"/>
                <a:cs typeface="+mn-cs"/>
              </a:rPr>
              <a:t>)</a:t>
            </a: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solidFill>
          <a:ln>
            <a:noFill/>
          </a:ln>
          <a:effectLst>
            <a:glow>
              <a:schemeClr val="bg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82CB7323-DF9A-1505-5597-637C89BD7184}"/>
              </a:ext>
            </a:extLst>
          </p:cNvPr>
          <p:cNvSpPr txBox="1"/>
          <p:nvPr/>
        </p:nvSpPr>
        <p:spPr>
          <a:xfrm>
            <a:off x="6521760" y="2609744"/>
            <a:ext cx="1526748"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Guidance</a:t>
            </a:r>
          </a:p>
        </p:txBody>
      </p:sp>
      <p:sp>
        <p:nvSpPr>
          <p:cNvPr id="4" name="TextBox 3">
            <a:extLst>
              <a:ext uri="{FF2B5EF4-FFF2-40B4-BE49-F238E27FC236}">
                <a16:creationId xmlns:a16="http://schemas.microsoft.com/office/drawing/2014/main" id="{1B2B0E97-E835-0DC5-90B9-14FEA0C41B5F}"/>
              </a:ext>
            </a:extLst>
          </p:cNvPr>
          <p:cNvSpPr txBox="1"/>
          <p:nvPr/>
        </p:nvSpPr>
        <p:spPr>
          <a:xfrm>
            <a:off x="8898695" y="3597222"/>
            <a:ext cx="1841905" cy="830997"/>
          </a:xfrm>
          <a:prstGeom prst="rect">
            <a:avLst/>
          </a:prstGeom>
          <a:solidFill>
            <a:schemeClr val="bg1">
              <a:lumMod val="65000"/>
            </a:schemeClr>
          </a:solidFill>
          <a:effectLst>
            <a:glow rad="203200">
              <a:schemeClr val="bg1">
                <a:lumMod val="65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development</a:t>
            </a:r>
          </a:p>
        </p:txBody>
      </p:sp>
      <p:sp>
        <p:nvSpPr>
          <p:cNvPr id="5" name="TextBox 4">
            <a:extLst>
              <a:ext uri="{FF2B5EF4-FFF2-40B4-BE49-F238E27FC236}">
                <a16:creationId xmlns:a16="http://schemas.microsoft.com/office/drawing/2014/main" id="{C11951FC-A926-2B05-B3B9-59C7AB6A8EB2}"/>
              </a:ext>
            </a:extLst>
          </p:cNvPr>
          <p:cNvSpPr txBox="1"/>
          <p:nvPr/>
        </p:nvSpPr>
        <p:spPr>
          <a:xfrm>
            <a:off x="7793144" y="3254959"/>
            <a:ext cx="1518493" cy="461665"/>
          </a:xfrm>
          <a:prstGeom prst="rect">
            <a:avLst/>
          </a:prstGeom>
          <a:solidFill>
            <a:schemeClr val="bg1"/>
          </a:solidFill>
          <a:effectLst>
            <a:glow rad="1270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Regulation</a:t>
            </a:r>
          </a:p>
        </p:txBody>
      </p:sp>
      <p:sp>
        <p:nvSpPr>
          <p:cNvPr id="13" name="TextBox 12">
            <a:extLst>
              <a:ext uri="{FF2B5EF4-FFF2-40B4-BE49-F238E27FC236}">
                <a16:creationId xmlns:a16="http://schemas.microsoft.com/office/drawing/2014/main" id="{350294F9-EC0A-DA8F-8E3F-0FF09BB75E13}"/>
              </a:ext>
            </a:extLst>
          </p:cNvPr>
          <p:cNvSpPr txBox="1"/>
          <p:nvPr/>
        </p:nvSpPr>
        <p:spPr>
          <a:xfrm>
            <a:off x="10384289" y="4543946"/>
            <a:ext cx="1405230" cy="461665"/>
          </a:xfrm>
          <a:prstGeom prst="rect">
            <a:avLst/>
          </a:prstGeom>
          <a:solidFill>
            <a:schemeClr val="bg1">
              <a:lumMod val="65000"/>
            </a:schemeClr>
          </a:solidFill>
          <a:effectLst>
            <a:glow rad="203200">
              <a:schemeClr val="bg1">
                <a:lumMod val="65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Research</a:t>
            </a:r>
          </a:p>
        </p:txBody>
      </p:sp>
      <p:sp>
        <p:nvSpPr>
          <p:cNvPr id="15" name="Rounded Rectangle 14">
            <a:extLst>
              <a:ext uri="{FF2B5EF4-FFF2-40B4-BE49-F238E27FC236}">
                <a16:creationId xmlns:a16="http://schemas.microsoft.com/office/drawing/2014/main" id="{B34704DC-F0DB-19A0-7962-6CBE0CA325B8}"/>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2443316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Regulation</a:t>
            </a:r>
          </a:p>
        </p:txBody>
      </p:sp>
      <p:sp>
        <p:nvSpPr>
          <p:cNvPr id="5" name="Content Placeholder 4">
            <a:extLst>
              <a:ext uri="{FF2B5EF4-FFF2-40B4-BE49-F238E27FC236}">
                <a16:creationId xmlns:a16="http://schemas.microsoft.com/office/drawing/2014/main" id="{30BFFFA0-4BAB-9234-316D-FDB57548827D}"/>
              </a:ext>
            </a:extLst>
          </p:cNvPr>
          <p:cNvSpPr>
            <a:spLocks noGrp="1"/>
          </p:cNvSpPr>
          <p:nvPr>
            <p:ph idx="1"/>
          </p:nvPr>
        </p:nvSpPr>
        <p:spPr>
          <a:xfrm>
            <a:off x="609600" y="1084814"/>
            <a:ext cx="10972800" cy="594359"/>
          </a:xfrm>
        </p:spPr>
        <p:txBody>
          <a:bodyPr/>
          <a:lstStyle/>
          <a:p>
            <a:pPr marL="0" indent="0">
              <a:buNone/>
            </a:pPr>
            <a:r>
              <a:rPr lang="en-US" dirty="0">
                <a:solidFill>
                  <a:srgbClr val="832161"/>
                </a:solidFill>
              </a:rPr>
              <a:t>Recommendation 2:</a:t>
            </a:r>
          </a:p>
        </p:txBody>
      </p:sp>
      <p:sp>
        <p:nvSpPr>
          <p:cNvPr id="6" name="TextBox 5">
            <a:extLst>
              <a:ext uri="{FF2B5EF4-FFF2-40B4-BE49-F238E27FC236}">
                <a16:creationId xmlns:a16="http://schemas.microsoft.com/office/drawing/2014/main" id="{8F12254C-2C7A-882F-56AC-326B4DC6512C}"/>
              </a:ext>
            </a:extLst>
          </p:cNvPr>
          <p:cNvSpPr txBox="1"/>
          <p:nvPr/>
        </p:nvSpPr>
        <p:spPr>
          <a:xfrm>
            <a:off x="0" y="6529491"/>
            <a:ext cx="12192000" cy="276999"/>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 </a:t>
            </a:r>
            <a:r>
              <a:rPr kumimoji="0" lang="en-US" sz="1200" b="0" i="0" u="none" strike="noStrike" kern="1200" cap="none" spc="0" normalizeH="0" baseline="0" noProof="0" dirty="0">
                <a:ln>
                  <a:noFill/>
                </a:ln>
                <a:solidFill>
                  <a:prstClr val="white"/>
                </a:solidFill>
                <a:effectLst/>
                <a:uLnTx/>
                <a:uFillTx/>
                <a:latin typeface="Calibri"/>
                <a:ea typeface="+mn-ea"/>
                <a:cs typeface="+mn-cs"/>
                <a:hlinkClick r:id="rId2">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200" b="0" i="0" u="none" strike="noStrike" kern="1200" cap="none" spc="0" normalizeH="0" baseline="0" noProof="0" dirty="0">
                <a:ln>
                  <a:noFill/>
                </a:ln>
                <a:solidFill>
                  <a:prstClr val="white"/>
                </a:solidFill>
                <a:effectLst/>
                <a:uLnTx/>
                <a:uFillTx/>
                <a:latin typeface="Calibri"/>
                <a:ea typeface="+mn-ea"/>
                <a:cs typeface="+mn-cs"/>
              </a:rPr>
              <a:t> (</a:t>
            </a:r>
            <a:r>
              <a:rPr kumimoji="0" lang="en-US" sz="1200"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OGL 3.0</a:t>
            </a:r>
            <a:r>
              <a:rPr kumimoji="0" lang="en-US" sz="1200" b="0" i="0" u="none" strike="noStrike" kern="1200" cap="none" spc="0" normalizeH="0" baseline="0" noProof="0" dirty="0">
                <a:ln>
                  <a:noFill/>
                </a:ln>
                <a:solidFill>
                  <a:prstClr val="white"/>
                </a:solidFill>
                <a:effectLst/>
                <a:uLnTx/>
                <a:uFillTx/>
                <a:latin typeface="Calibri"/>
                <a:ea typeface="+mn-ea"/>
                <a:cs typeface="+mn-cs"/>
              </a:rPr>
              <a:t>)</a:t>
            </a:r>
          </a:p>
        </p:txBody>
      </p:sp>
      <p:sp>
        <p:nvSpPr>
          <p:cNvPr id="7" name="Rounded Rectangle 6">
            <a:extLst>
              <a:ext uri="{FF2B5EF4-FFF2-40B4-BE49-F238E27FC236}">
                <a16:creationId xmlns:a16="http://schemas.microsoft.com/office/drawing/2014/main" id="{22D68AC8-71CF-70B8-F3BC-E06A48AD891E}"/>
              </a:ext>
            </a:extLst>
          </p:cNvPr>
          <p:cNvSpPr/>
          <p:nvPr/>
        </p:nvSpPr>
        <p:spPr>
          <a:xfrm>
            <a:off x="1765069" y="1823169"/>
            <a:ext cx="8661861" cy="183427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“The MHRA and approved bodies for medical devices should strengthen the standards for approval of new pulse oximeter devices to include sufficient clinical data to demonstrate accuracy overall and in groups with darker skin tones. Greater population representativeness in testing and calibration of devices should be stipulated.”</a:t>
            </a:r>
          </a:p>
        </p:txBody>
      </p:sp>
      <p:sp>
        <p:nvSpPr>
          <p:cNvPr id="8" name="Content Placeholder 4">
            <a:extLst>
              <a:ext uri="{FF2B5EF4-FFF2-40B4-BE49-F238E27FC236}">
                <a16:creationId xmlns:a16="http://schemas.microsoft.com/office/drawing/2014/main" id="{6672563D-C50C-1AE8-3861-4775FFC1EC7F}"/>
              </a:ext>
            </a:extLst>
          </p:cNvPr>
          <p:cNvSpPr txBox="1">
            <a:spLocks/>
          </p:cNvSpPr>
          <p:nvPr/>
        </p:nvSpPr>
        <p:spPr bwMode="auto">
          <a:xfrm>
            <a:off x="609600" y="4015043"/>
            <a:ext cx="8661861" cy="2276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lang="en-US" sz="2200" dirty="0">
                <a:solidFill>
                  <a:prstClr val="black"/>
                </a:solidFill>
                <a:latin typeface="Calibri"/>
              </a:rPr>
              <a:t>E</a:t>
            </a:r>
            <a:r>
              <a:rPr kumimoji="0" lang="en-US" sz="2200" b="0" i="0" u="none" strike="noStrike" kern="1200" cap="none" spc="0" normalizeH="0" baseline="0" noProof="0" dirty="0" err="1">
                <a:ln>
                  <a:noFill/>
                </a:ln>
                <a:solidFill>
                  <a:prstClr val="black"/>
                </a:solidFill>
                <a:effectLst/>
                <a:uLnTx/>
                <a:uFillTx/>
                <a:latin typeface="Calibri"/>
                <a:ea typeface="+mn-ea"/>
                <a:cs typeface="+mn-cs"/>
              </a:rPr>
              <a:t>nsure</a:t>
            </a:r>
            <a:r>
              <a:rPr kumimoji="0" lang="en-US" sz="2200" b="0" i="0" u="none" strike="noStrike" kern="1200" cap="none" spc="0" normalizeH="0" baseline="0" noProof="0" dirty="0">
                <a:ln>
                  <a:noFill/>
                </a:ln>
                <a:solidFill>
                  <a:prstClr val="black"/>
                </a:solidFill>
                <a:effectLst/>
                <a:uLnTx/>
                <a:uFillTx/>
                <a:latin typeface="Calibri"/>
                <a:ea typeface="+mn-ea"/>
                <a:cs typeface="+mn-cs"/>
              </a:rPr>
              <a:t> diversity in validity data:</a:t>
            </a:r>
          </a:p>
          <a:p>
            <a:pPr lvl="1" indent="-342891">
              <a:buFont typeface="Arial" charset="0"/>
              <a:buChar char="•"/>
            </a:pPr>
            <a:r>
              <a:rPr kumimoji="0" lang="en-US" sz="1800" b="0" i="0" u="none" strike="noStrike" kern="1200" cap="none" spc="0" normalizeH="0" baseline="0" noProof="0" dirty="0">
                <a:ln>
                  <a:noFill/>
                </a:ln>
                <a:solidFill>
                  <a:prstClr val="black"/>
                </a:solidFill>
                <a:effectLst/>
                <a:uLnTx/>
                <a:uFillTx/>
                <a:latin typeface="Calibri"/>
                <a:ea typeface="+mn-ea"/>
                <a:cs typeface="+mn-cs"/>
              </a:rPr>
              <a:t>no. participants, range of skin tones, range of oxygenation levels</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Validate in intended use population and setting</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Comply with ISO standard</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Make healthcare equity impact assessments an essential requirement</a:t>
            </a:r>
          </a:p>
        </p:txBody>
      </p:sp>
    </p:spTree>
    <p:extLst>
      <p:ext uri="{BB962C8B-B14F-4D97-AF65-F5344CB8AC3E}">
        <p14:creationId xmlns:p14="http://schemas.microsoft.com/office/powerpoint/2010/main" val="837664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err="1">
                <a:ln>
                  <a:noFill/>
                </a:ln>
                <a:solidFill>
                  <a:prstClr val="white"/>
                </a:solidFill>
                <a:effectLst/>
                <a:uLnTx/>
                <a:uFillTx/>
                <a:latin typeface="Calibri"/>
                <a:ea typeface="+mn-ea"/>
                <a:cs typeface="+mn-cs"/>
              </a:rPr>
              <a:t>Sjoding</a:t>
            </a:r>
            <a:r>
              <a:rPr kumimoji="0" lang="en-US" sz="1333" b="0" i="0" u="none" strike="noStrike" kern="1200" cap="none" spc="0" normalizeH="0" baseline="0" noProof="0" dirty="0">
                <a:ln>
                  <a:noFill/>
                </a:ln>
                <a:solidFill>
                  <a:prstClr val="white"/>
                </a:solidFill>
                <a:effectLst/>
                <a:uLnTx/>
                <a:uFillTx/>
                <a:latin typeface="Calibri"/>
                <a:ea typeface="+mn-ea"/>
                <a:cs typeface="+mn-cs"/>
              </a:rPr>
              <a:t> MW </a:t>
            </a:r>
            <a:r>
              <a:rPr kumimoji="0" lang="en-US" sz="1333" b="0" i="1" u="none" strike="noStrike" kern="1200" cap="none" spc="0" normalizeH="0" baseline="0" noProof="0" dirty="0">
                <a:ln>
                  <a:noFill/>
                </a:ln>
                <a:solidFill>
                  <a:prstClr val="white"/>
                </a:solidFill>
                <a:effectLst/>
                <a:uLnTx/>
                <a:uFillTx/>
                <a:latin typeface="Calibri"/>
                <a:ea typeface="+mn-ea"/>
                <a:cs typeface="+mn-cs"/>
              </a:rPr>
              <a:t>et al.</a:t>
            </a:r>
            <a:r>
              <a:rPr kumimoji="0" lang="en-US" sz="1333" b="0" i="0" u="none" strike="noStrike" kern="1200" cap="none" spc="0" normalizeH="0" baseline="0" noProof="0" dirty="0">
                <a:ln>
                  <a:noFill/>
                </a:ln>
                <a:solidFill>
                  <a:prstClr val="white"/>
                </a:solidFill>
                <a:effectLst/>
                <a:uLnTx/>
                <a:uFillTx/>
                <a:latin typeface="Calibri"/>
                <a:ea typeface="+mn-ea"/>
                <a:cs typeface="+mn-cs"/>
              </a:rPr>
              <a:t>, NEJM, 2020,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https://doi.org/10.1056/NEJMc2029240</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Calibri"/>
                <a:ea typeface="+mn-ea"/>
                <a:cs typeface="+mn-cs"/>
              </a:rPr>
              <a:t>Photo by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5">
                  <a:extLst>
                    <a:ext uri="{A12FA001-AC4F-418D-AE19-62706E023703}">
                      <ahyp:hlinkClr xmlns:ahyp="http://schemas.microsoft.com/office/drawing/2018/hyperlinkcolor" val="tx"/>
                    </a:ext>
                  </a:extLst>
                </a:hlinkClick>
              </a:rPr>
              <a:t>Syed Ali</a:t>
            </a:r>
            <a:r>
              <a:rPr kumimoji="0" lang="en-GB" sz="1400" b="0" i="0" u="none" strike="noStrike" kern="1200" cap="none" spc="0" normalizeH="0" baseline="0" noProof="0" dirty="0">
                <a:ln>
                  <a:noFill/>
                </a:ln>
                <a:solidFill>
                  <a:prstClr val="white"/>
                </a:solidFill>
                <a:effectLst/>
                <a:uLnTx/>
                <a:uFillTx/>
                <a:latin typeface="Calibri"/>
                <a:ea typeface="+mn-ea"/>
                <a:cs typeface="+mn-cs"/>
              </a:rPr>
              <a:t> on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Unsplash</a:t>
            </a:r>
            <a:r>
              <a:rPr kumimoji="0" lang="en-GB" sz="1400" b="0" i="0" u="none" strike="noStrike" kern="1200" cap="none" spc="0" normalizeH="0" baseline="0" noProof="0" dirty="0">
                <a:ln>
                  <a:noFill/>
                </a:ln>
                <a:solidFill>
                  <a:prstClr val="white"/>
                </a:solidFill>
                <a:effectLst/>
                <a:uLnTx/>
                <a:uFillTx/>
                <a:latin typeface="Calibri"/>
                <a:ea typeface="+mn-ea"/>
                <a:cs typeface="+mn-cs"/>
              </a:rPr>
              <a:t> </a:t>
            </a:r>
            <a:endParaRPr kumimoji="0" lang="en-US" sz="1333"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8">
                  <a:extLst>
                    <a:ext uri="{A12FA001-AC4F-418D-AE19-62706E023703}">
                      <ahyp:hlinkClr xmlns:ahyp="http://schemas.microsoft.com/office/drawing/2018/hyperlinkcolor" val="tx"/>
                    </a:ext>
                  </a:extLst>
                </a:hlinkClick>
              </a:rPr>
              <a:t>OGL 3.0</a:t>
            </a:r>
            <a:r>
              <a:rPr kumimoji="0" lang="en-US" sz="1333" b="0" i="0" u="none" strike="noStrike" kern="1200" cap="none" spc="0" normalizeH="0" baseline="0" noProof="0" dirty="0">
                <a:ln>
                  <a:noFill/>
                </a:ln>
                <a:solidFill>
                  <a:prstClr val="white"/>
                </a:solidFill>
                <a:effectLst/>
                <a:uLnTx/>
                <a:uFillTx/>
                <a:latin typeface="Calibri"/>
                <a:ea typeface="+mn-ea"/>
                <a:cs typeface="+mn-cs"/>
              </a:rPr>
              <a:t>)</a:t>
            </a: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solidFill>
          <a:ln>
            <a:noFill/>
          </a:ln>
          <a:effectLst>
            <a:glow>
              <a:schemeClr val="bg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solidFill>
          <a:ln>
            <a:noFill/>
          </a:ln>
          <a:effectLst>
            <a:glow>
              <a:schemeClr val="bg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82CB7323-DF9A-1505-5597-637C89BD7184}"/>
              </a:ext>
            </a:extLst>
          </p:cNvPr>
          <p:cNvSpPr txBox="1"/>
          <p:nvPr/>
        </p:nvSpPr>
        <p:spPr>
          <a:xfrm>
            <a:off x="6521760" y="2609744"/>
            <a:ext cx="1526748"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Guidance</a:t>
            </a:r>
          </a:p>
        </p:txBody>
      </p:sp>
      <p:sp>
        <p:nvSpPr>
          <p:cNvPr id="4" name="TextBox 3">
            <a:extLst>
              <a:ext uri="{FF2B5EF4-FFF2-40B4-BE49-F238E27FC236}">
                <a16:creationId xmlns:a16="http://schemas.microsoft.com/office/drawing/2014/main" id="{1B2B0E97-E835-0DC5-90B9-14FEA0C41B5F}"/>
              </a:ext>
            </a:extLst>
          </p:cNvPr>
          <p:cNvSpPr txBox="1"/>
          <p:nvPr/>
        </p:nvSpPr>
        <p:spPr>
          <a:xfrm>
            <a:off x="8898695" y="3597222"/>
            <a:ext cx="1841905" cy="830997"/>
          </a:xfrm>
          <a:prstGeom prst="rect">
            <a:avLst/>
          </a:prstGeom>
          <a:solidFill>
            <a:schemeClr val="bg1"/>
          </a:solidFill>
          <a:effectLst>
            <a:glow rad="1270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development</a:t>
            </a:r>
          </a:p>
        </p:txBody>
      </p:sp>
      <p:sp>
        <p:nvSpPr>
          <p:cNvPr id="5" name="TextBox 4">
            <a:extLst>
              <a:ext uri="{FF2B5EF4-FFF2-40B4-BE49-F238E27FC236}">
                <a16:creationId xmlns:a16="http://schemas.microsoft.com/office/drawing/2014/main" id="{C11951FC-A926-2B05-B3B9-59C7AB6A8EB2}"/>
              </a:ext>
            </a:extLst>
          </p:cNvPr>
          <p:cNvSpPr txBox="1"/>
          <p:nvPr/>
        </p:nvSpPr>
        <p:spPr>
          <a:xfrm>
            <a:off x="7793144" y="3254959"/>
            <a:ext cx="1518493" cy="461665"/>
          </a:xfrm>
          <a:prstGeom prst="rect">
            <a:avLst/>
          </a:prstGeom>
          <a:solidFill>
            <a:schemeClr val="bg1"/>
          </a:solidFill>
          <a:effectLst>
            <a:glow rad="1270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Regulation</a:t>
            </a:r>
          </a:p>
        </p:txBody>
      </p:sp>
      <p:sp>
        <p:nvSpPr>
          <p:cNvPr id="13" name="TextBox 12">
            <a:extLst>
              <a:ext uri="{FF2B5EF4-FFF2-40B4-BE49-F238E27FC236}">
                <a16:creationId xmlns:a16="http://schemas.microsoft.com/office/drawing/2014/main" id="{350294F9-EC0A-DA8F-8E3F-0FF09BB75E13}"/>
              </a:ext>
            </a:extLst>
          </p:cNvPr>
          <p:cNvSpPr txBox="1"/>
          <p:nvPr/>
        </p:nvSpPr>
        <p:spPr>
          <a:xfrm>
            <a:off x="10384289" y="4543946"/>
            <a:ext cx="1405230" cy="461665"/>
          </a:xfrm>
          <a:prstGeom prst="rect">
            <a:avLst/>
          </a:prstGeom>
          <a:solidFill>
            <a:schemeClr val="bg1">
              <a:lumMod val="65000"/>
            </a:schemeClr>
          </a:solidFill>
          <a:effectLst>
            <a:glow rad="203200">
              <a:schemeClr val="bg1">
                <a:lumMod val="65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Research</a:t>
            </a:r>
          </a:p>
        </p:txBody>
      </p:sp>
      <p:sp>
        <p:nvSpPr>
          <p:cNvPr id="15" name="Rounded Rectangle 14">
            <a:extLst>
              <a:ext uri="{FF2B5EF4-FFF2-40B4-BE49-F238E27FC236}">
                <a16:creationId xmlns:a16="http://schemas.microsoft.com/office/drawing/2014/main" id="{ADB1B405-02CA-87EC-892B-2D0EFB861202}"/>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3172275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Device development</a:t>
            </a:r>
          </a:p>
        </p:txBody>
      </p:sp>
      <p:sp>
        <p:nvSpPr>
          <p:cNvPr id="5" name="Content Placeholder 4">
            <a:extLst>
              <a:ext uri="{FF2B5EF4-FFF2-40B4-BE49-F238E27FC236}">
                <a16:creationId xmlns:a16="http://schemas.microsoft.com/office/drawing/2014/main" id="{30BFFFA0-4BAB-9234-316D-FDB57548827D}"/>
              </a:ext>
            </a:extLst>
          </p:cNvPr>
          <p:cNvSpPr>
            <a:spLocks noGrp="1"/>
          </p:cNvSpPr>
          <p:nvPr>
            <p:ph idx="1"/>
          </p:nvPr>
        </p:nvSpPr>
        <p:spPr>
          <a:xfrm>
            <a:off x="609600" y="1084814"/>
            <a:ext cx="10972800" cy="594359"/>
          </a:xfrm>
        </p:spPr>
        <p:txBody>
          <a:bodyPr/>
          <a:lstStyle/>
          <a:p>
            <a:pPr marL="0" indent="0">
              <a:buNone/>
            </a:pPr>
            <a:r>
              <a:rPr lang="en-US" dirty="0">
                <a:solidFill>
                  <a:srgbClr val="832161"/>
                </a:solidFill>
              </a:rPr>
              <a:t>Recommendation 3:</a:t>
            </a:r>
          </a:p>
        </p:txBody>
      </p:sp>
      <p:sp>
        <p:nvSpPr>
          <p:cNvPr id="6" name="TextBox 5">
            <a:extLst>
              <a:ext uri="{FF2B5EF4-FFF2-40B4-BE49-F238E27FC236}">
                <a16:creationId xmlns:a16="http://schemas.microsoft.com/office/drawing/2014/main" id="{8F12254C-2C7A-882F-56AC-326B4DC6512C}"/>
              </a:ext>
            </a:extLst>
          </p:cNvPr>
          <p:cNvSpPr txBox="1"/>
          <p:nvPr/>
        </p:nvSpPr>
        <p:spPr>
          <a:xfrm>
            <a:off x="0" y="6529491"/>
            <a:ext cx="12192000" cy="276999"/>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 </a:t>
            </a:r>
            <a:r>
              <a:rPr kumimoji="0" lang="en-US" sz="1200" b="0" i="0" u="none" strike="noStrike" kern="1200" cap="none" spc="0" normalizeH="0" baseline="0" noProof="0" dirty="0">
                <a:ln>
                  <a:noFill/>
                </a:ln>
                <a:solidFill>
                  <a:prstClr val="white"/>
                </a:solidFill>
                <a:effectLst/>
                <a:uLnTx/>
                <a:uFillTx/>
                <a:latin typeface="Calibri"/>
                <a:ea typeface="+mn-ea"/>
                <a:cs typeface="+mn-cs"/>
                <a:hlinkClick r:id="rId2">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200" b="0" i="0" u="none" strike="noStrike" kern="1200" cap="none" spc="0" normalizeH="0" baseline="0" noProof="0" dirty="0">
                <a:ln>
                  <a:noFill/>
                </a:ln>
                <a:solidFill>
                  <a:prstClr val="white"/>
                </a:solidFill>
                <a:effectLst/>
                <a:uLnTx/>
                <a:uFillTx/>
                <a:latin typeface="Calibri"/>
                <a:ea typeface="+mn-ea"/>
                <a:cs typeface="+mn-cs"/>
              </a:rPr>
              <a:t> (</a:t>
            </a:r>
            <a:r>
              <a:rPr kumimoji="0" lang="en-US" sz="1200"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OGL 3.0</a:t>
            </a:r>
            <a:r>
              <a:rPr kumimoji="0" lang="en-US" sz="1200" b="0" i="0" u="none" strike="noStrike" kern="1200" cap="none" spc="0" normalizeH="0" baseline="0" noProof="0" dirty="0">
                <a:ln>
                  <a:noFill/>
                </a:ln>
                <a:solidFill>
                  <a:prstClr val="white"/>
                </a:solidFill>
                <a:effectLst/>
                <a:uLnTx/>
                <a:uFillTx/>
                <a:latin typeface="Calibri"/>
                <a:ea typeface="+mn-ea"/>
                <a:cs typeface="+mn-cs"/>
              </a:rPr>
              <a:t>)</a:t>
            </a:r>
          </a:p>
        </p:txBody>
      </p:sp>
      <p:sp>
        <p:nvSpPr>
          <p:cNvPr id="7" name="Rounded Rectangle 6">
            <a:extLst>
              <a:ext uri="{FF2B5EF4-FFF2-40B4-BE49-F238E27FC236}">
                <a16:creationId xmlns:a16="http://schemas.microsoft.com/office/drawing/2014/main" id="{22D68AC8-71CF-70B8-F3BC-E06A48AD891E}"/>
              </a:ext>
            </a:extLst>
          </p:cNvPr>
          <p:cNvSpPr/>
          <p:nvPr/>
        </p:nvSpPr>
        <p:spPr>
          <a:xfrm>
            <a:off x="2762598" y="1853663"/>
            <a:ext cx="6930044" cy="162929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“Innovators, researchers and manufacturers should cooperate with public and patient participants to design better, smarter oximeters using innovative technologies to produce devices that are not biased by skin tone.”</a:t>
            </a:r>
          </a:p>
        </p:txBody>
      </p:sp>
      <p:sp>
        <p:nvSpPr>
          <p:cNvPr id="8" name="Content Placeholder 4">
            <a:extLst>
              <a:ext uri="{FF2B5EF4-FFF2-40B4-BE49-F238E27FC236}">
                <a16:creationId xmlns:a16="http://schemas.microsoft.com/office/drawing/2014/main" id="{6672563D-C50C-1AE8-3861-4775FFC1EC7F}"/>
              </a:ext>
            </a:extLst>
          </p:cNvPr>
          <p:cNvSpPr txBox="1">
            <a:spLocks/>
          </p:cNvSpPr>
          <p:nvPr/>
        </p:nvSpPr>
        <p:spPr bwMode="auto">
          <a:xfrm>
            <a:off x="609600" y="3657447"/>
            <a:ext cx="10972800" cy="263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Enhanced algorithms to address measurement bias</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Multi-wavelength systems which measure and correct for skin pigmentation</a:t>
            </a:r>
          </a:p>
        </p:txBody>
      </p:sp>
    </p:spTree>
    <p:extLst>
      <p:ext uri="{BB962C8B-B14F-4D97-AF65-F5344CB8AC3E}">
        <p14:creationId xmlns:p14="http://schemas.microsoft.com/office/powerpoint/2010/main" val="2162797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err="1">
                <a:ln>
                  <a:noFill/>
                </a:ln>
                <a:solidFill>
                  <a:prstClr val="white"/>
                </a:solidFill>
                <a:effectLst/>
                <a:uLnTx/>
                <a:uFillTx/>
                <a:latin typeface="Calibri"/>
                <a:ea typeface="+mn-ea"/>
                <a:cs typeface="+mn-cs"/>
              </a:rPr>
              <a:t>Sjoding</a:t>
            </a:r>
            <a:r>
              <a:rPr kumimoji="0" lang="en-US" sz="1333" b="0" i="0" u="none" strike="noStrike" kern="1200" cap="none" spc="0" normalizeH="0" baseline="0" noProof="0" dirty="0">
                <a:ln>
                  <a:noFill/>
                </a:ln>
                <a:solidFill>
                  <a:prstClr val="white"/>
                </a:solidFill>
                <a:effectLst/>
                <a:uLnTx/>
                <a:uFillTx/>
                <a:latin typeface="Calibri"/>
                <a:ea typeface="+mn-ea"/>
                <a:cs typeface="+mn-cs"/>
              </a:rPr>
              <a:t> MW </a:t>
            </a:r>
            <a:r>
              <a:rPr kumimoji="0" lang="en-US" sz="1333" b="0" i="1" u="none" strike="noStrike" kern="1200" cap="none" spc="0" normalizeH="0" baseline="0" noProof="0" dirty="0">
                <a:ln>
                  <a:noFill/>
                </a:ln>
                <a:solidFill>
                  <a:prstClr val="white"/>
                </a:solidFill>
                <a:effectLst/>
                <a:uLnTx/>
                <a:uFillTx/>
                <a:latin typeface="Calibri"/>
                <a:ea typeface="+mn-ea"/>
                <a:cs typeface="+mn-cs"/>
              </a:rPr>
              <a:t>et al.</a:t>
            </a:r>
            <a:r>
              <a:rPr kumimoji="0" lang="en-US" sz="1333" b="0" i="0" u="none" strike="noStrike" kern="1200" cap="none" spc="0" normalizeH="0" baseline="0" noProof="0" dirty="0">
                <a:ln>
                  <a:noFill/>
                </a:ln>
                <a:solidFill>
                  <a:prstClr val="white"/>
                </a:solidFill>
                <a:effectLst/>
                <a:uLnTx/>
                <a:uFillTx/>
                <a:latin typeface="Calibri"/>
                <a:ea typeface="+mn-ea"/>
                <a:cs typeface="+mn-cs"/>
              </a:rPr>
              <a:t>, NEJM, 2020,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https://doi.org/10.1056/NEJMc2029240</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Calibri"/>
                <a:ea typeface="+mn-ea"/>
                <a:cs typeface="+mn-cs"/>
              </a:rPr>
              <a:t>Photo by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5">
                  <a:extLst>
                    <a:ext uri="{A12FA001-AC4F-418D-AE19-62706E023703}">
                      <ahyp:hlinkClr xmlns:ahyp="http://schemas.microsoft.com/office/drawing/2018/hyperlinkcolor" val="tx"/>
                    </a:ext>
                  </a:extLst>
                </a:hlinkClick>
              </a:rPr>
              <a:t>Syed Ali</a:t>
            </a:r>
            <a:r>
              <a:rPr kumimoji="0" lang="en-GB" sz="1400" b="0" i="0" u="none" strike="noStrike" kern="1200" cap="none" spc="0" normalizeH="0" baseline="0" noProof="0" dirty="0">
                <a:ln>
                  <a:noFill/>
                </a:ln>
                <a:solidFill>
                  <a:prstClr val="white"/>
                </a:solidFill>
                <a:effectLst/>
                <a:uLnTx/>
                <a:uFillTx/>
                <a:latin typeface="Calibri"/>
                <a:ea typeface="+mn-ea"/>
                <a:cs typeface="+mn-cs"/>
              </a:rPr>
              <a:t> on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Unsplash</a:t>
            </a:r>
            <a:r>
              <a:rPr kumimoji="0" lang="en-GB" sz="1400" b="0" i="0" u="none" strike="noStrike" kern="1200" cap="none" spc="0" normalizeH="0" baseline="0" noProof="0" dirty="0">
                <a:ln>
                  <a:noFill/>
                </a:ln>
                <a:solidFill>
                  <a:prstClr val="white"/>
                </a:solidFill>
                <a:effectLst/>
                <a:uLnTx/>
                <a:uFillTx/>
                <a:latin typeface="Calibri"/>
                <a:ea typeface="+mn-ea"/>
                <a:cs typeface="+mn-cs"/>
              </a:rPr>
              <a:t> </a:t>
            </a:r>
            <a:endParaRPr kumimoji="0" lang="en-US" sz="1333"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8">
                  <a:extLst>
                    <a:ext uri="{A12FA001-AC4F-418D-AE19-62706E023703}">
                      <ahyp:hlinkClr xmlns:ahyp="http://schemas.microsoft.com/office/drawing/2018/hyperlinkcolor" val="tx"/>
                    </a:ext>
                  </a:extLst>
                </a:hlinkClick>
              </a:rPr>
              <a:t>OGL 3.0</a:t>
            </a:r>
            <a:r>
              <a:rPr kumimoji="0" lang="en-US" sz="1333" b="0" i="0" u="none" strike="noStrike" kern="1200" cap="none" spc="0" normalizeH="0" baseline="0" noProof="0" dirty="0">
                <a:ln>
                  <a:noFill/>
                </a:ln>
                <a:solidFill>
                  <a:prstClr val="white"/>
                </a:solidFill>
                <a:effectLst/>
                <a:uLnTx/>
                <a:uFillTx/>
                <a:latin typeface="Calibri"/>
                <a:ea typeface="+mn-ea"/>
                <a:cs typeface="+mn-cs"/>
              </a:rPr>
              <a:t>)</a:t>
            </a: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82CB7323-DF9A-1505-5597-637C89BD7184}"/>
              </a:ext>
            </a:extLst>
          </p:cNvPr>
          <p:cNvSpPr txBox="1"/>
          <p:nvPr/>
        </p:nvSpPr>
        <p:spPr>
          <a:xfrm>
            <a:off x="6521760" y="2609744"/>
            <a:ext cx="1526748"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Guidance</a:t>
            </a:r>
          </a:p>
        </p:txBody>
      </p:sp>
      <p:sp>
        <p:nvSpPr>
          <p:cNvPr id="4" name="TextBox 3">
            <a:extLst>
              <a:ext uri="{FF2B5EF4-FFF2-40B4-BE49-F238E27FC236}">
                <a16:creationId xmlns:a16="http://schemas.microsoft.com/office/drawing/2014/main" id="{1B2B0E97-E835-0DC5-90B9-14FEA0C41B5F}"/>
              </a:ext>
            </a:extLst>
          </p:cNvPr>
          <p:cNvSpPr txBox="1"/>
          <p:nvPr/>
        </p:nvSpPr>
        <p:spPr>
          <a:xfrm>
            <a:off x="8898695" y="3597222"/>
            <a:ext cx="1841905" cy="830997"/>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development</a:t>
            </a:r>
          </a:p>
        </p:txBody>
      </p:sp>
      <p:sp>
        <p:nvSpPr>
          <p:cNvPr id="5" name="TextBox 4">
            <a:extLst>
              <a:ext uri="{FF2B5EF4-FFF2-40B4-BE49-F238E27FC236}">
                <a16:creationId xmlns:a16="http://schemas.microsoft.com/office/drawing/2014/main" id="{C11951FC-A926-2B05-B3B9-59C7AB6A8EB2}"/>
              </a:ext>
            </a:extLst>
          </p:cNvPr>
          <p:cNvSpPr txBox="1"/>
          <p:nvPr/>
        </p:nvSpPr>
        <p:spPr>
          <a:xfrm>
            <a:off x="7793144" y="3254959"/>
            <a:ext cx="1518493"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Regulation</a:t>
            </a:r>
          </a:p>
        </p:txBody>
      </p:sp>
      <p:sp>
        <p:nvSpPr>
          <p:cNvPr id="13" name="TextBox 12">
            <a:extLst>
              <a:ext uri="{FF2B5EF4-FFF2-40B4-BE49-F238E27FC236}">
                <a16:creationId xmlns:a16="http://schemas.microsoft.com/office/drawing/2014/main" id="{350294F9-EC0A-DA8F-8E3F-0FF09BB75E13}"/>
              </a:ext>
            </a:extLst>
          </p:cNvPr>
          <p:cNvSpPr txBox="1"/>
          <p:nvPr/>
        </p:nvSpPr>
        <p:spPr>
          <a:xfrm>
            <a:off x="10384289" y="4543946"/>
            <a:ext cx="1405230"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Research</a:t>
            </a:r>
          </a:p>
        </p:txBody>
      </p:sp>
      <p:sp>
        <p:nvSpPr>
          <p:cNvPr id="15" name="Rounded Rectangle 14">
            <a:extLst>
              <a:ext uri="{FF2B5EF4-FFF2-40B4-BE49-F238E27FC236}">
                <a16:creationId xmlns:a16="http://schemas.microsoft.com/office/drawing/2014/main" id="{8D74373C-D622-0208-7BB4-39D51B571D1D}"/>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919982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err="1">
                <a:ln>
                  <a:noFill/>
                </a:ln>
                <a:solidFill>
                  <a:prstClr val="white"/>
                </a:solidFill>
                <a:effectLst/>
                <a:uLnTx/>
                <a:uFillTx/>
                <a:latin typeface="Calibri"/>
                <a:ea typeface="+mn-ea"/>
                <a:cs typeface="+mn-cs"/>
              </a:rPr>
              <a:t>Sjoding</a:t>
            </a:r>
            <a:r>
              <a:rPr kumimoji="0" lang="en-US" sz="1333" b="0" i="0" u="none" strike="noStrike" kern="1200" cap="none" spc="0" normalizeH="0" baseline="0" noProof="0" dirty="0">
                <a:ln>
                  <a:noFill/>
                </a:ln>
                <a:solidFill>
                  <a:prstClr val="white"/>
                </a:solidFill>
                <a:effectLst/>
                <a:uLnTx/>
                <a:uFillTx/>
                <a:latin typeface="Calibri"/>
                <a:ea typeface="+mn-ea"/>
                <a:cs typeface="+mn-cs"/>
              </a:rPr>
              <a:t> MW </a:t>
            </a:r>
            <a:r>
              <a:rPr kumimoji="0" lang="en-US" sz="1333" b="0" i="1" u="none" strike="noStrike" kern="1200" cap="none" spc="0" normalizeH="0" baseline="0" noProof="0" dirty="0">
                <a:ln>
                  <a:noFill/>
                </a:ln>
                <a:solidFill>
                  <a:prstClr val="white"/>
                </a:solidFill>
                <a:effectLst/>
                <a:uLnTx/>
                <a:uFillTx/>
                <a:latin typeface="Calibri"/>
                <a:ea typeface="+mn-ea"/>
                <a:cs typeface="+mn-cs"/>
              </a:rPr>
              <a:t>et al.</a:t>
            </a:r>
            <a:r>
              <a:rPr kumimoji="0" lang="en-US" sz="1333" b="0" i="0" u="none" strike="noStrike" kern="1200" cap="none" spc="0" normalizeH="0" baseline="0" noProof="0" dirty="0">
                <a:ln>
                  <a:noFill/>
                </a:ln>
                <a:solidFill>
                  <a:prstClr val="white"/>
                </a:solidFill>
                <a:effectLst/>
                <a:uLnTx/>
                <a:uFillTx/>
                <a:latin typeface="Calibri"/>
                <a:ea typeface="+mn-ea"/>
                <a:cs typeface="+mn-cs"/>
              </a:rPr>
              <a:t>, NEJM, 2020,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https://doi.org/10.1056/NEJMc2029240</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Calibri"/>
                <a:ea typeface="+mn-ea"/>
                <a:cs typeface="+mn-cs"/>
              </a:rPr>
              <a:t>Photo by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5">
                  <a:extLst>
                    <a:ext uri="{A12FA001-AC4F-418D-AE19-62706E023703}">
                      <ahyp:hlinkClr xmlns:ahyp="http://schemas.microsoft.com/office/drawing/2018/hyperlinkcolor" val="tx"/>
                    </a:ext>
                  </a:extLst>
                </a:hlinkClick>
              </a:rPr>
              <a:t>Syed Ali</a:t>
            </a:r>
            <a:r>
              <a:rPr kumimoji="0" lang="en-GB" sz="1400" b="0" i="0" u="none" strike="noStrike" kern="1200" cap="none" spc="0" normalizeH="0" baseline="0" noProof="0" dirty="0">
                <a:ln>
                  <a:noFill/>
                </a:ln>
                <a:solidFill>
                  <a:prstClr val="white"/>
                </a:solidFill>
                <a:effectLst/>
                <a:uLnTx/>
                <a:uFillTx/>
                <a:latin typeface="Calibri"/>
                <a:ea typeface="+mn-ea"/>
                <a:cs typeface="+mn-cs"/>
              </a:rPr>
              <a:t> on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Unsplash</a:t>
            </a:r>
            <a:r>
              <a:rPr kumimoji="0" lang="en-GB" sz="1400" b="0" i="0" u="none" strike="noStrike" kern="1200" cap="none" spc="0" normalizeH="0" baseline="0" noProof="0" dirty="0">
                <a:ln>
                  <a:noFill/>
                </a:ln>
                <a:solidFill>
                  <a:prstClr val="white"/>
                </a:solidFill>
                <a:effectLst/>
                <a:uLnTx/>
                <a:uFillTx/>
                <a:latin typeface="Calibri"/>
                <a:ea typeface="+mn-ea"/>
                <a:cs typeface="+mn-cs"/>
              </a:rPr>
              <a:t> </a:t>
            </a:r>
            <a:endParaRPr kumimoji="0" lang="en-US" sz="1333"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8">
                  <a:extLst>
                    <a:ext uri="{A12FA001-AC4F-418D-AE19-62706E023703}">
                      <ahyp:hlinkClr xmlns:ahyp="http://schemas.microsoft.com/office/drawing/2018/hyperlinkcolor" val="tx"/>
                    </a:ext>
                  </a:extLst>
                </a:hlinkClick>
              </a:rPr>
              <a:t>OGL 3.0</a:t>
            </a:r>
            <a:r>
              <a:rPr kumimoji="0" lang="en-US" sz="1333" b="0" i="0" u="none" strike="noStrike" kern="1200" cap="none" spc="0" normalizeH="0" baseline="0" noProof="0" dirty="0">
                <a:ln>
                  <a:noFill/>
                </a:ln>
                <a:solidFill>
                  <a:prstClr val="white"/>
                </a:solidFill>
                <a:effectLst/>
                <a:uLnTx/>
                <a:uFillTx/>
                <a:latin typeface="Calibri"/>
                <a:ea typeface="+mn-ea"/>
                <a:cs typeface="+mn-cs"/>
              </a:rPr>
              <a:t>)</a:t>
            </a: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82CB7323-DF9A-1505-5597-637C89BD7184}"/>
              </a:ext>
            </a:extLst>
          </p:cNvPr>
          <p:cNvSpPr txBox="1"/>
          <p:nvPr/>
        </p:nvSpPr>
        <p:spPr>
          <a:xfrm>
            <a:off x="6521760" y="2609744"/>
            <a:ext cx="1526748"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Guidance</a:t>
            </a:r>
          </a:p>
        </p:txBody>
      </p:sp>
      <p:sp>
        <p:nvSpPr>
          <p:cNvPr id="4" name="TextBox 3">
            <a:extLst>
              <a:ext uri="{FF2B5EF4-FFF2-40B4-BE49-F238E27FC236}">
                <a16:creationId xmlns:a16="http://schemas.microsoft.com/office/drawing/2014/main" id="{1B2B0E97-E835-0DC5-90B9-14FEA0C41B5F}"/>
              </a:ext>
            </a:extLst>
          </p:cNvPr>
          <p:cNvSpPr txBox="1"/>
          <p:nvPr/>
        </p:nvSpPr>
        <p:spPr>
          <a:xfrm>
            <a:off x="8898695" y="3597222"/>
            <a:ext cx="1841905" cy="830997"/>
          </a:xfrm>
          <a:prstGeom prst="rect">
            <a:avLst/>
          </a:prstGeom>
          <a:solidFill>
            <a:schemeClr val="bg1">
              <a:lumMod val="65000"/>
            </a:schemeClr>
          </a:solidFill>
          <a:effectLst>
            <a:glow rad="203200">
              <a:schemeClr val="bg1">
                <a:lumMod val="65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development</a:t>
            </a:r>
          </a:p>
        </p:txBody>
      </p:sp>
      <p:sp>
        <p:nvSpPr>
          <p:cNvPr id="5" name="TextBox 4">
            <a:extLst>
              <a:ext uri="{FF2B5EF4-FFF2-40B4-BE49-F238E27FC236}">
                <a16:creationId xmlns:a16="http://schemas.microsoft.com/office/drawing/2014/main" id="{C11951FC-A926-2B05-B3B9-59C7AB6A8EB2}"/>
              </a:ext>
            </a:extLst>
          </p:cNvPr>
          <p:cNvSpPr txBox="1"/>
          <p:nvPr/>
        </p:nvSpPr>
        <p:spPr>
          <a:xfrm>
            <a:off x="7793144" y="3254959"/>
            <a:ext cx="1518493" cy="461665"/>
          </a:xfrm>
          <a:prstGeom prst="rect">
            <a:avLst/>
          </a:prstGeom>
          <a:solidFill>
            <a:schemeClr val="bg1">
              <a:lumMod val="65000"/>
            </a:schemeClr>
          </a:solidFill>
          <a:effectLst>
            <a:glow rad="203200">
              <a:schemeClr val="bg1">
                <a:lumMod val="65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Regulation</a:t>
            </a:r>
          </a:p>
        </p:txBody>
      </p:sp>
      <p:sp>
        <p:nvSpPr>
          <p:cNvPr id="13" name="TextBox 12">
            <a:extLst>
              <a:ext uri="{FF2B5EF4-FFF2-40B4-BE49-F238E27FC236}">
                <a16:creationId xmlns:a16="http://schemas.microsoft.com/office/drawing/2014/main" id="{350294F9-EC0A-DA8F-8E3F-0FF09BB75E13}"/>
              </a:ext>
            </a:extLst>
          </p:cNvPr>
          <p:cNvSpPr txBox="1"/>
          <p:nvPr/>
        </p:nvSpPr>
        <p:spPr>
          <a:xfrm>
            <a:off x="10384289" y="4543946"/>
            <a:ext cx="1405230" cy="461665"/>
          </a:xfrm>
          <a:prstGeom prst="rect">
            <a:avLst/>
          </a:prstGeom>
          <a:solidFill>
            <a:schemeClr val="bg1">
              <a:lumMod val="65000"/>
            </a:schemeClr>
          </a:solidFill>
          <a:effectLst>
            <a:glow rad="203200">
              <a:schemeClr val="bg1">
                <a:lumMod val="65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Research</a:t>
            </a:r>
          </a:p>
        </p:txBody>
      </p:sp>
      <p:sp>
        <p:nvSpPr>
          <p:cNvPr id="15" name="Rounded Rectangle 14">
            <a:extLst>
              <a:ext uri="{FF2B5EF4-FFF2-40B4-BE49-F238E27FC236}">
                <a16:creationId xmlns:a16="http://schemas.microsoft.com/office/drawing/2014/main" id="{37D5798D-9143-B2B4-1486-7BF4ABE99B86}"/>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599393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Guidance</a:t>
            </a:r>
          </a:p>
        </p:txBody>
      </p:sp>
      <p:sp>
        <p:nvSpPr>
          <p:cNvPr id="5" name="Content Placeholder 4">
            <a:extLst>
              <a:ext uri="{FF2B5EF4-FFF2-40B4-BE49-F238E27FC236}">
                <a16:creationId xmlns:a16="http://schemas.microsoft.com/office/drawing/2014/main" id="{30BFFFA0-4BAB-9234-316D-FDB57548827D}"/>
              </a:ext>
            </a:extLst>
          </p:cNvPr>
          <p:cNvSpPr>
            <a:spLocks noGrp="1"/>
          </p:cNvSpPr>
          <p:nvPr>
            <p:ph idx="1"/>
          </p:nvPr>
        </p:nvSpPr>
        <p:spPr>
          <a:xfrm>
            <a:off x="609600" y="1084814"/>
            <a:ext cx="10972800" cy="594359"/>
          </a:xfrm>
        </p:spPr>
        <p:txBody>
          <a:bodyPr/>
          <a:lstStyle/>
          <a:p>
            <a:pPr marL="0" indent="0">
              <a:buNone/>
            </a:pPr>
            <a:r>
              <a:rPr lang="en-US" dirty="0">
                <a:solidFill>
                  <a:srgbClr val="832161"/>
                </a:solidFill>
              </a:rPr>
              <a:t>Recommendation 1:</a:t>
            </a:r>
          </a:p>
        </p:txBody>
      </p:sp>
      <p:sp>
        <p:nvSpPr>
          <p:cNvPr id="6" name="TextBox 5">
            <a:extLst>
              <a:ext uri="{FF2B5EF4-FFF2-40B4-BE49-F238E27FC236}">
                <a16:creationId xmlns:a16="http://schemas.microsoft.com/office/drawing/2014/main" id="{8F12254C-2C7A-882F-56AC-326B4DC6512C}"/>
              </a:ext>
            </a:extLst>
          </p:cNvPr>
          <p:cNvSpPr txBox="1"/>
          <p:nvPr/>
        </p:nvSpPr>
        <p:spPr>
          <a:xfrm>
            <a:off x="0" y="6529491"/>
            <a:ext cx="12192000" cy="276999"/>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 </a:t>
            </a:r>
            <a:r>
              <a:rPr kumimoji="0" lang="en-US" sz="1200" b="0" i="0" u="none" strike="noStrike" kern="1200" cap="none" spc="0" normalizeH="0" baseline="0" noProof="0" dirty="0">
                <a:ln>
                  <a:noFill/>
                </a:ln>
                <a:solidFill>
                  <a:prstClr val="white"/>
                </a:solidFill>
                <a:effectLst/>
                <a:uLnTx/>
                <a:uFillTx/>
                <a:latin typeface="Calibri"/>
                <a:ea typeface="+mn-ea"/>
                <a:cs typeface="+mn-cs"/>
                <a:hlinkClick r:id="rId2">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200" b="0" i="0" u="none" strike="noStrike" kern="1200" cap="none" spc="0" normalizeH="0" baseline="0" noProof="0" dirty="0">
                <a:ln>
                  <a:noFill/>
                </a:ln>
                <a:solidFill>
                  <a:prstClr val="white"/>
                </a:solidFill>
                <a:effectLst/>
                <a:uLnTx/>
                <a:uFillTx/>
                <a:latin typeface="Calibri"/>
                <a:ea typeface="+mn-ea"/>
                <a:cs typeface="+mn-cs"/>
              </a:rPr>
              <a:t> (</a:t>
            </a:r>
            <a:r>
              <a:rPr kumimoji="0" lang="en-US" sz="1200"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OGL 3.0</a:t>
            </a:r>
            <a:r>
              <a:rPr kumimoji="0" lang="en-US" sz="1200" b="0" i="0" u="none" strike="noStrike" kern="1200" cap="none" spc="0" normalizeH="0" baseline="0" noProof="0" dirty="0">
                <a:ln>
                  <a:noFill/>
                </a:ln>
                <a:solidFill>
                  <a:prstClr val="white"/>
                </a:solidFill>
                <a:effectLst/>
                <a:uLnTx/>
                <a:uFillTx/>
                <a:latin typeface="Calibri"/>
                <a:ea typeface="+mn-ea"/>
                <a:cs typeface="+mn-cs"/>
              </a:rPr>
              <a:t>)</a:t>
            </a:r>
          </a:p>
        </p:txBody>
      </p:sp>
      <p:sp>
        <p:nvSpPr>
          <p:cNvPr id="7" name="Rounded Rectangle 6">
            <a:extLst>
              <a:ext uri="{FF2B5EF4-FFF2-40B4-BE49-F238E27FC236}">
                <a16:creationId xmlns:a16="http://schemas.microsoft.com/office/drawing/2014/main" id="{22D68AC8-71CF-70B8-F3BC-E06A48AD891E}"/>
              </a:ext>
            </a:extLst>
          </p:cNvPr>
          <p:cNvSpPr/>
          <p:nvPr/>
        </p:nvSpPr>
        <p:spPr>
          <a:xfrm>
            <a:off x="1765069" y="1823169"/>
            <a:ext cx="8661861" cy="162929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“Regulators, developers, manufacturers and healthcare professionals should take immediate mitigation actions to ensure existing pulse oximeter devices in the NHS can be used safely and equitably for all patient groups across the range of skin tones.”</a:t>
            </a:r>
          </a:p>
        </p:txBody>
      </p:sp>
      <p:sp>
        <p:nvSpPr>
          <p:cNvPr id="8" name="Content Placeholder 4">
            <a:extLst>
              <a:ext uri="{FF2B5EF4-FFF2-40B4-BE49-F238E27FC236}">
                <a16:creationId xmlns:a16="http://schemas.microsoft.com/office/drawing/2014/main" id="{6672563D-C50C-1AE8-3861-4775FFC1EC7F}"/>
              </a:ext>
            </a:extLst>
          </p:cNvPr>
          <p:cNvSpPr txBox="1">
            <a:spLocks/>
          </p:cNvSpPr>
          <p:nvPr/>
        </p:nvSpPr>
        <p:spPr bwMode="auto">
          <a:xfrm>
            <a:off x="609600" y="3657447"/>
            <a:ext cx="10972800" cy="263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Guidance for use</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Looking at changes in readings</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Using trends rather than thresholds to inform decisions</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Educate clinicians on pulse oximeter technology</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Manufacturers to update instructions for use</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Developers and manufacturers to report performance across subgroups</a:t>
            </a:r>
          </a:p>
        </p:txBody>
      </p:sp>
    </p:spTree>
    <p:extLst>
      <p:ext uri="{BB962C8B-B14F-4D97-AF65-F5344CB8AC3E}">
        <p14:creationId xmlns:p14="http://schemas.microsoft.com/office/powerpoint/2010/main" val="325909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a:xfrm>
            <a:off x="609600" y="216126"/>
            <a:ext cx="10972800" cy="1143000"/>
          </a:xfrm>
        </p:spPr>
        <p:txBody>
          <a:bodyPr/>
          <a:lstStyle/>
          <a:p>
            <a:r>
              <a:rPr lang="en-US" dirty="0"/>
              <a:t>Using trends rather than thresholds to inform decisions</a:t>
            </a:r>
          </a:p>
        </p:txBody>
      </p:sp>
      <p:pic>
        <p:nvPicPr>
          <p:cNvPr id="9" name="Picture 8" descr="A screen shot of a chart&#10;&#10;Description automatically generated">
            <a:extLst>
              <a:ext uri="{FF2B5EF4-FFF2-40B4-BE49-F238E27FC236}">
                <a16:creationId xmlns:a16="http://schemas.microsoft.com/office/drawing/2014/main" id="{6BF85DF8-2E46-9E24-EEA0-2A9A60382976}"/>
              </a:ext>
            </a:extLst>
          </p:cNvPr>
          <p:cNvPicPr>
            <a:picLocks noChangeAspect="1"/>
          </p:cNvPicPr>
          <p:nvPr/>
        </p:nvPicPr>
        <p:blipFill>
          <a:blip r:embed="rId2"/>
          <a:stretch>
            <a:fillRect/>
          </a:stretch>
        </p:blipFill>
        <p:spPr>
          <a:xfrm>
            <a:off x="2620241" y="1534288"/>
            <a:ext cx="6951518" cy="4852297"/>
          </a:xfrm>
          <a:prstGeom prst="rect">
            <a:avLst/>
          </a:prstGeom>
        </p:spPr>
      </p:pic>
      <p:sp>
        <p:nvSpPr>
          <p:cNvPr id="10" name="TextBox 9">
            <a:extLst>
              <a:ext uri="{FF2B5EF4-FFF2-40B4-BE49-F238E27FC236}">
                <a16:creationId xmlns:a16="http://schemas.microsoft.com/office/drawing/2014/main" id="{FB173F17-53F7-C72E-CE86-495DF9C6FB15}"/>
              </a:ext>
            </a:extLst>
          </p:cNvPr>
          <p:cNvSpPr txBox="1"/>
          <p:nvPr/>
        </p:nvSpPr>
        <p:spPr>
          <a:xfrm>
            <a:off x="2620241" y="6442024"/>
            <a:ext cx="9571759" cy="430887"/>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Calibri"/>
                <a:ea typeface="+mn-ea"/>
                <a:cs typeface="+mn-cs"/>
              </a:rPr>
              <a:t>Royal College of Physicians, National Early Warning Score (NEWS) 2 </a:t>
            </a:r>
            <a:r>
              <a:rPr kumimoji="0" lang="en-US" sz="1100" b="0" i="0" u="none" strike="noStrike" kern="1200" cap="none" spc="0" normalizeH="0" baseline="0" noProof="0" dirty="0" err="1">
                <a:ln>
                  <a:noFill/>
                </a:ln>
                <a:solidFill>
                  <a:schemeClr val="bg1"/>
                </a:solidFill>
                <a:effectLst/>
                <a:uLnTx/>
                <a:uFillTx/>
                <a:latin typeface="Calibri"/>
                <a:ea typeface="+mn-ea"/>
                <a:cs typeface="+mn-cs"/>
              </a:rPr>
              <a:t>Standardising</a:t>
            </a:r>
            <a:r>
              <a:rPr kumimoji="0" lang="en-US" sz="1100" b="0" i="0" u="none" strike="noStrike" kern="1200" cap="none" spc="0" normalizeH="0" baseline="0" noProof="0" dirty="0">
                <a:ln>
                  <a:noFill/>
                </a:ln>
                <a:solidFill>
                  <a:schemeClr val="bg1"/>
                </a:solidFill>
                <a:effectLst/>
                <a:uLnTx/>
                <a:uFillTx/>
                <a:latin typeface="Calibri"/>
                <a:ea typeface="+mn-ea"/>
                <a:cs typeface="+mn-cs"/>
              </a:rPr>
              <a:t> the assessment of acute-illness severity in the NHS, 2017, </a:t>
            </a:r>
            <a:r>
              <a:rPr kumimoji="0" lang="en-US" sz="1100" b="0" i="0" u="none" strike="noStrike" kern="1200" cap="none" spc="0" normalizeH="0" baseline="0" noProof="0" dirty="0">
                <a:ln>
                  <a:noFill/>
                </a:ln>
                <a:solidFill>
                  <a:schemeClr val="bg1"/>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https://www.rcp.ac.uk/improving-care/resources/national-early-warning-score-news-2/</a:t>
            </a:r>
            <a:r>
              <a:rPr kumimoji="0" lang="en-US" sz="1100" b="0" i="0" u="none" strike="noStrike" kern="1200" cap="none" spc="0" normalizeH="0" baseline="0" noProof="0" dirty="0">
                <a:ln>
                  <a:noFill/>
                </a:ln>
                <a:solidFill>
                  <a:schemeClr val="bg1"/>
                </a:solidFill>
                <a:effectLst/>
                <a:uLnTx/>
                <a:uFillTx/>
                <a:latin typeface="Calibri"/>
                <a:ea typeface="+mn-ea"/>
                <a:cs typeface="+mn-cs"/>
              </a:rPr>
              <a:t> </a:t>
            </a:r>
          </a:p>
        </p:txBody>
      </p:sp>
    </p:spTree>
    <p:extLst>
      <p:ext uri="{BB962C8B-B14F-4D97-AF65-F5344CB8AC3E}">
        <p14:creationId xmlns:p14="http://schemas.microsoft.com/office/powerpoint/2010/main" val="3521231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graph&#10;&#10;Description automatically generated with medium confidence">
            <a:extLst>
              <a:ext uri="{FF2B5EF4-FFF2-40B4-BE49-F238E27FC236}">
                <a16:creationId xmlns:a16="http://schemas.microsoft.com/office/drawing/2014/main" id="{2D1A2FF9-0E6F-F9D3-816A-093CAFD59061}"/>
              </a:ext>
            </a:extLst>
          </p:cNvPr>
          <p:cNvPicPr>
            <a:picLocks noChangeAspect="1"/>
          </p:cNvPicPr>
          <p:nvPr/>
        </p:nvPicPr>
        <p:blipFill>
          <a:blip r:embed="rId2"/>
          <a:stretch>
            <a:fillRect/>
          </a:stretch>
        </p:blipFill>
        <p:spPr>
          <a:xfrm>
            <a:off x="4958839" y="1734069"/>
            <a:ext cx="7340600" cy="4724400"/>
          </a:xfrm>
          <a:prstGeom prst="rect">
            <a:avLst/>
          </a:prstGeom>
        </p:spPr>
      </p:pic>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a:xfrm>
            <a:off x="609600" y="216126"/>
            <a:ext cx="10972800" cy="1143000"/>
          </a:xfrm>
        </p:spPr>
        <p:txBody>
          <a:bodyPr/>
          <a:lstStyle/>
          <a:p>
            <a:r>
              <a:rPr lang="en-US" dirty="0"/>
              <a:t>Using trends rather than thresholds to inform decisions</a:t>
            </a:r>
          </a:p>
        </p:txBody>
      </p:sp>
      <p:sp>
        <p:nvSpPr>
          <p:cNvPr id="8" name="Content Placeholder 4">
            <a:extLst>
              <a:ext uri="{FF2B5EF4-FFF2-40B4-BE49-F238E27FC236}">
                <a16:creationId xmlns:a16="http://schemas.microsoft.com/office/drawing/2014/main" id="{6672563D-C50C-1AE8-3861-4775FFC1EC7F}"/>
              </a:ext>
            </a:extLst>
          </p:cNvPr>
          <p:cNvSpPr txBox="1">
            <a:spLocks/>
          </p:cNvSpPr>
          <p:nvPr/>
        </p:nvSpPr>
        <p:spPr bwMode="auto">
          <a:xfrm>
            <a:off x="609600" y="1880975"/>
            <a:ext cx="4135395" cy="3688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What if you don’t have a baseline for </a:t>
            </a:r>
            <a:r>
              <a:rPr kumimoji="0" lang="en-US" sz="2200" b="0" i="0" u="none" strike="noStrike" kern="1200" cap="none" spc="0" normalizeH="0" baseline="0" noProof="0" dirty="0" err="1">
                <a:ln>
                  <a:noFill/>
                </a:ln>
                <a:solidFill>
                  <a:prstClr val="black"/>
                </a:solidFill>
                <a:effectLst/>
                <a:uLnTx/>
                <a:uFillTx/>
                <a:latin typeface="Calibri"/>
                <a:ea typeface="+mn-ea"/>
                <a:cs typeface="+mn-cs"/>
              </a:rPr>
              <a:t>th</a:t>
            </a:r>
            <a:r>
              <a:rPr kumimoji="0" lang="en-US" sz="2200" b="0" i="0" u="none" strike="noStrike" kern="1200" cap="none" spc="0" normalizeH="0" baseline="0" noProof="0" dirty="0">
                <a:ln>
                  <a:noFill/>
                </a:ln>
                <a:solidFill>
                  <a:prstClr val="black"/>
                </a:solidFill>
                <a:effectLst/>
                <a:uLnTx/>
                <a:uFillTx/>
                <a:latin typeface="Calibri"/>
                <a:ea typeface="+mn-ea"/>
                <a:cs typeface="+mn-cs"/>
              </a:rPr>
              <a:t>e trend? </a:t>
            </a:r>
            <a:r>
              <a:rPr kumimoji="0" lang="en-US" sz="2200" b="0" i="1" u="none" strike="noStrike" kern="1200" cap="none" spc="0" normalizeH="0" baseline="0" noProof="0" dirty="0">
                <a:ln>
                  <a:noFill/>
                </a:ln>
                <a:solidFill>
                  <a:prstClr val="black"/>
                </a:solidFill>
                <a:effectLst/>
                <a:uLnTx/>
                <a:uFillTx/>
                <a:latin typeface="Calibri"/>
                <a:ea typeface="+mn-ea"/>
                <a:cs typeface="+mn-cs"/>
              </a:rPr>
              <a:t>e.g.</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marL="358775" lvl="1" indent="-342900">
              <a:buFont typeface="Arial" panose="020B0604020202020204" pitchFamily="34" charset="0"/>
              <a:buChar char="•"/>
            </a:pPr>
            <a:r>
              <a:rPr kumimoji="0" lang="en-US" sz="2200" b="0" i="0" u="none" strike="noStrike" kern="1200" cap="none" spc="0" normalizeH="0" baseline="0" noProof="0" dirty="0">
                <a:ln>
                  <a:noFill/>
                </a:ln>
                <a:solidFill>
                  <a:prstClr val="black"/>
                </a:solidFill>
                <a:effectLst/>
                <a:uLnTx/>
                <a:uFillTx/>
                <a:latin typeface="Calibri"/>
                <a:ea typeface="+mn-ea"/>
                <a:cs typeface="+mn-cs"/>
              </a:rPr>
              <a:t>First measurement</a:t>
            </a:r>
          </a:p>
          <a:p>
            <a:pPr marL="358775" lvl="1" indent="-342900">
              <a:buFont typeface="Arial" panose="020B0604020202020204" pitchFamily="34" charset="0"/>
              <a:buChar char="•"/>
            </a:pPr>
            <a:r>
              <a:rPr kumimoji="0" lang="en-US" sz="2200" b="0" i="0" u="none" strike="noStrike" kern="1200" cap="none" spc="0" normalizeH="0" baseline="0" noProof="0" dirty="0">
                <a:ln>
                  <a:noFill/>
                </a:ln>
                <a:solidFill>
                  <a:prstClr val="black"/>
                </a:solidFill>
                <a:effectLst/>
                <a:uLnTx/>
                <a:uFillTx/>
                <a:latin typeface="Calibri"/>
                <a:ea typeface="+mn-ea"/>
                <a:cs typeface="+mn-cs"/>
              </a:rPr>
              <a:t>Patient is sick at first encounter</a:t>
            </a:r>
            <a:endParaRPr lang="en-US" sz="2200" dirty="0">
              <a:solidFill>
                <a:prstClr val="black"/>
              </a:solidFill>
              <a:latin typeface="Calibri"/>
            </a:endParaRPr>
          </a:p>
          <a:p>
            <a:pPr marL="15875" lvl="1" indent="0">
              <a:buNone/>
            </a:pP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marL="15875" lvl="1" indent="0">
              <a:buNone/>
            </a:pPr>
            <a:r>
              <a:rPr kumimoji="0" lang="en-US" sz="2200" b="0" i="0" u="none" strike="noStrike" kern="1200" cap="none" spc="0" normalizeH="0" baseline="0" noProof="0" dirty="0">
                <a:ln>
                  <a:noFill/>
                </a:ln>
                <a:solidFill>
                  <a:prstClr val="black"/>
                </a:solidFill>
                <a:effectLst/>
                <a:uLnTx/>
                <a:uFillTx/>
                <a:latin typeface="Calibri"/>
                <a:ea typeface="+mn-ea"/>
                <a:cs typeface="+mn-cs"/>
              </a:rPr>
              <a:t>What if pulse oximeters don’t monitor trends accurately?</a:t>
            </a:r>
          </a:p>
        </p:txBody>
      </p:sp>
      <p:sp>
        <p:nvSpPr>
          <p:cNvPr id="5" name="TextBox 4">
            <a:extLst>
              <a:ext uri="{FF2B5EF4-FFF2-40B4-BE49-F238E27FC236}">
                <a16:creationId xmlns:a16="http://schemas.microsoft.com/office/drawing/2014/main" id="{3AF7AAA1-1FC7-1C9B-969F-CC778C0405ED}"/>
              </a:ext>
            </a:extLst>
          </p:cNvPr>
          <p:cNvSpPr txBox="1"/>
          <p:nvPr/>
        </p:nvSpPr>
        <p:spPr>
          <a:xfrm>
            <a:off x="3482405" y="6507004"/>
            <a:ext cx="8817034" cy="297454"/>
          </a:xfrm>
          <a:prstGeom prst="rect">
            <a:avLst/>
          </a:prstGeom>
          <a:noFill/>
          <a:effectLst>
            <a:softEdge rad="50800"/>
          </a:effectLst>
        </p:spPr>
        <p:txBody>
          <a:bodyPr wrap="square" rtlCol="0">
            <a:spAutoFit/>
          </a:bodyPr>
          <a:lstStyle/>
          <a:p>
            <a:pPr algn="r">
              <a:defRPr/>
            </a:pPr>
            <a:r>
              <a:rPr kumimoji="0" lang="en-US" sz="1333" b="0" i="0" u="none" strike="noStrike" kern="1200" cap="none" spc="0" normalizeH="0" baseline="0" noProof="0" dirty="0">
                <a:ln>
                  <a:noFill/>
                </a:ln>
                <a:solidFill>
                  <a:schemeClr val="bg1"/>
                </a:solidFill>
                <a:effectLst/>
                <a:uLnTx/>
                <a:uFillTx/>
                <a:latin typeface="Calibri"/>
                <a:ea typeface="+mn-ea"/>
                <a:cs typeface="+mn-cs"/>
              </a:rPr>
              <a:t>Perkins GD </a:t>
            </a:r>
            <a:r>
              <a:rPr kumimoji="0" lang="en-US" sz="1333" b="0" i="1" u="none" strike="noStrike" kern="1200" cap="none" spc="0" normalizeH="0" baseline="0" noProof="0" dirty="0">
                <a:ln>
                  <a:noFill/>
                </a:ln>
                <a:solidFill>
                  <a:schemeClr val="bg1"/>
                </a:solidFill>
                <a:effectLst/>
                <a:uLnTx/>
                <a:uFillTx/>
                <a:latin typeface="Calibri"/>
                <a:ea typeface="+mn-ea"/>
                <a:cs typeface="+mn-cs"/>
              </a:rPr>
              <a:t>et al.</a:t>
            </a:r>
            <a:r>
              <a:rPr kumimoji="0" lang="en-US" sz="1333" b="0" u="none" strike="noStrike" kern="1200" cap="none" spc="0" normalizeH="0" baseline="0" noProof="0" dirty="0">
                <a:ln>
                  <a:noFill/>
                </a:ln>
                <a:solidFill>
                  <a:schemeClr val="bg1"/>
                </a:solidFill>
                <a:effectLst/>
                <a:uLnTx/>
                <a:uFillTx/>
                <a:latin typeface="Calibri"/>
                <a:ea typeface="+mn-ea"/>
                <a:cs typeface="+mn-cs"/>
              </a:rPr>
              <a:t>, </a:t>
            </a:r>
            <a:r>
              <a:rPr lang="en-US" sz="1333" baseline="0" dirty="0">
                <a:solidFill>
                  <a:schemeClr val="bg1"/>
                </a:solidFill>
                <a:latin typeface="Calibri"/>
              </a:rPr>
              <a:t>Critical Care</a:t>
            </a:r>
            <a:r>
              <a:rPr kumimoji="0" lang="en-US" sz="1333" b="0" u="none" strike="noStrike" kern="1200" cap="none" spc="0" normalizeH="0" noProof="0" dirty="0">
                <a:ln>
                  <a:noFill/>
                </a:ln>
                <a:solidFill>
                  <a:schemeClr val="bg1"/>
                </a:solidFill>
                <a:effectLst/>
                <a:uLnTx/>
                <a:uFillTx/>
                <a:latin typeface="Calibri"/>
                <a:ea typeface="+mn-ea"/>
                <a:cs typeface="+mn-cs"/>
              </a:rPr>
              <a:t>, 2003, </a:t>
            </a:r>
            <a:r>
              <a:rPr kumimoji="0" lang="en-US" sz="1333" b="0" u="none" strike="noStrike" kern="1200" cap="none" spc="0" normalizeH="0" noProof="0" dirty="0">
                <a:ln>
                  <a:noFill/>
                </a:ln>
                <a:solidFill>
                  <a:schemeClr val="bg1"/>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https://doi.org/10.1186/cc2339</a:t>
            </a:r>
            <a:r>
              <a:rPr kumimoji="0" lang="en-US" sz="1333" b="0" u="none" strike="noStrike" kern="1200" cap="none" spc="0" normalizeH="0" noProof="0" dirty="0">
                <a:ln>
                  <a:noFill/>
                </a:ln>
                <a:solidFill>
                  <a:schemeClr val="bg1"/>
                </a:solidFill>
                <a:effectLst/>
                <a:uLnTx/>
                <a:uFillTx/>
                <a:latin typeface="Calibri"/>
                <a:ea typeface="+mn-ea"/>
                <a:cs typeface="+mn-cs"/>
              </a:rPr>
              <a:t> (</a:t>
            </a:r>
            <a:r>
              <a:rPr kumimoji="0" lang="en-US" sz="1333" b="0" u="none" strike="noStrike" kern="1200" cap="none" spc="0" normalizeH="0" noProof="0" dirty="0">
                <a:ln>
                  <a:noFill/>
                </a:ln>
                <a:solidFill>
                  <a:schemeClr val="bg1"/>
                </a:solidFill>
                <a:effectLst/>
                <a:uLnTx/>
                <a:uFillTx/>
                <a:latin typeface="Calibri"/>
                <a:ea typeface="+mn-ea"/>
                <a:cs typeface="+mn-cs"/>
                <a:hlinkClick r:id="rId4">
                  <a:extLst>
                    <a:ext uri="{A12FA001-AC4F-418D-AE19-62706E023703}">
                      <ahyp:hlinkClr xmlns:ahyp="http://schemas.microsoft.com/office/drawing/2018/hyperlinkcolor" val="tx"/>
                    </a:ext>
                  </a:extLst>
                </a:hlinkClick>
              </a:rPr>
              <a:t>CC BY 4.0</a:t>
            </a:r>
            <a:r>
              <a:rPr kumimoji="0" lang="en-US" sz="1333" b="0" u="none" strike="noStrike" kern="1200" cap="none" spc="0" normalizeH="0" noProof="0" dirty="0">
                <a:ln>
                  <a:noFill/>
                </a:ln>
                <a:solidFill>
                  <a:schemeClr val="bg1"/>
                </a:solidFill>
                <a:effectLst/>
                <a:uLnTx/>
                <a:uFillTx/>
                <a:latin typeface="Calibri"/>
                <a:ea typeface="+mn-ea"/>
                <a:cs typeface="+mn-cs"/>
              </a:rPr>
              <a:t>)</a:t>
            </a:r>
            <a:endParaRPr kumimoji="0" lang="en-US" sz="1333" b="0" i="0" u="none" strike="noStrike" kern="1200" cap="none" spc="0" normalizeH="0" baseline="0" noProof="0" dirty="0">
              <a:ln>
                <a:noFill/>
              </a:ln>
              <a:solidFill>
                <a:schemeClr val="bg1"/>
              </a:solidFill>
              <a:effectLst/>
              <a:uLnTx/>
              <a:uFillTx/>
              <a:latin typeface="Calibri"/>
            </a:endParaRPr>
          </a:p>
        </p:txBody>
      </p:sp>
    </p:spTree>
    <p:extLst>
      <p:ext uri="{BB962C8B-B14F-4D97-AF65-F5344CB8AC3E}">
        <p14:creationId xmlns:p14="http://schemas.microsoft.com/office/powerpoint/2010/main" val="2342112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a:xfrm>
            <a:off x="609600" y="216126"/>
            <a:ext cx="10972800" cy="1143000"/>
          </a:xfrm>
        </p:spPr>
        <p:txBody>
          <a:bodyPr/>
          <a:lstStyle/>
          <a:p>
            <a:r>
              <a:rPr lang="en-US" dirty="0"/>
              <a:t>Using trends rather than thresholds to inform decisions</a:t>
            </a:r>
          </a:p>
        </p:txBody>
      </p:sp>
      <p:sp>
        <p:nvSpPr>
          <p:cNvPr id="8" name="Content Placeholder 4">
            <a:extLst>
              <a:ext uri="{FF2B5EF4-FFF2-40B4-BE49-F238E27FC236}">
                <a16:creationId xmlns:a16="http://schemas.microsoft.com/office/drawing/2014/main" id="{6672563D-C50C-1AE8-3861-4775FFC1EC7F}"/>
              </a:ext>
            </a:extLst>
          </p:cNvPr>
          <p:cNvSpPr txBox="1">
            <a:spLocks/>
          </p:cNvSpPr>
          <p:nvPr/>
        </p:nvSpPr>
        <p:spPr bwMode="auto">
          <a:xfrm>
            <a:off x="609600" y="1880975"/>
            <a:ext cx="10972800" cy="3688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What if you don’t have a baseline for </a:t>
            </a:r>
            <a:r>
              <a:rPr kumimoji="0" lang="en-US" sz="2200" b="0" i="0" u="none" strike="noStrike" kern="1200" cap="none" spc="0" normalizeH="0" baseline="0" noProof="0" dirty="0" err="1">
                <a:ln>
                  <a:noFill/>
                </a:ln>
                <a:solidFill>
                  <a:prstClr val="black"/>
                </a:solidFill>
                <a:effectLst/>
                <a:uLnTx/>
                <a:uFillTx/>
                <a:latin typeface="Calibri"/>
                <a:ea typeface="+mn-ea"/>
                <a:cs typeface="+mn-cs"/>
              </a:rPr>
              <a:t>th</a:t>
            </a:r>
            <a:r>
              <a:rPr kumimoji="0" lang="en-US" sz="2200" b="0" i="0" u="none" strike="noStrike" kern="1200" cap="none" spc="0" normalizeH="0" baseline="0" noProof="0" dirty="0">
                <a:ln>
                  <a:noFill/>
                </a:ln>
                <a:solidFill>
                  <a:prstClr val="black"/>
                </a:solidFill>
                <a:effectLst/>
                <a:uLnTx/>
                <a:uFillTx/>
                <a:latin typeface="Calibri"/>
                <a:ea typeface="+mn-ea"/>
                <a:cs typeface="+mn-cs"/>
              </a:rPr>
              <a:t>e trend? </a:t>
            </a:r>
            <a:r>
              <a:rPr kumimoji="0" lang="en-US" sz="2200" b="0" i="1" u="none" strike="noStrike" kern="1200" cap="none" spc="0" normalizeH="0" baseline="0" noProof="0" dirty="0">
                <a:ln>
                  <a:noFill/>
                </a:ln>
                <a:solidFill>
                  <a:prstClr val="black"/>
                </a:solidFill>
                <a:effectLst/>
                <a:uLnTx/>
                <a:uFillTx/>
                <a:latin typeface="Calibri"/>
                <a:ea typeface="+mn-ea"/>
                <a:cs typeface="+mn-cs"/>
              </a:rPr>
              <a:t>e.g.</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marL="358775" lvl="1" indent="-342900">
              <a:buFont typeface="Arial" panose="020B0604020202020204" pitchFamily="34" charset="0"/>
              <a:buChar char="•"/>
            </a:pPr>
            <a:r>
              <a:rPr kumimoji="0" lang="en-US" sz="2200" b="0" i="0" u="none" strike="noStrike" kern="1200" cap="none" spc="0" normalizeH="0" baseline="0" noProof="0" dirty="0">
                <a:ln>
                  <a:noFill/>
                </a:ln>
                <a:solidFill>
                  <a:prstClr val="black"/>
                </a:solidFill>
                <a:effectLst/>
                <a:uLnTx/>
                <a:uFillTx/>
                <a:latin typeface="Calibri"/>
                <a:ea typeface="+mn-ea"/>
                <a:cs typeface="+mn-cs"/>
              </a:rPr>
              <a:t>First measurement</a:t>
            </a:r>
          </a:p>
          <a:p>
            <a:pPr marL="358775" lvl="1" indent="-342900">
              <a:buFont typeface="Arial" panose="020B0604020202020204" pitchFamily="34" charset="0"/>
              <a:buChar char="•"/>
            </a:pPr>
            <a:r>
              <a:rPr kumimoji="0" lang="en-US" sz="2200" b="0" i="0" u="none" strike="noStrike" kern="1200" cap="none" spc="0" normalizeH="0" baseline="0" noProof="0" dirty="0">
                <a:ln>
                  <a:noFill/>
                </a:ln>
                <a:solidFill>
                  <a:prstClr val="black"/>
                </a:solidFill>
                <a:effectLst/>
                <a:uLnTx/>
                <a:uFillTx/>
                <a:latin typeface="Calibri"/>
                <a:ea typeface="+mn-ea"/>
                <a:cs typeface="+mn-cs"/>
              </a:rPr>
              <a:t>Patient is sick at first encounter</a:t>
            </a:r>
            <a:endParaRPr lang="en-US" sz="2200" dirty="0">
              <a:solidFill>
                <a:prstClr val="black"/>
              </a:solidFill>
              <a:latin typeface="Calibri"/>
            </a:endParaRPr>
          </a:p>
          <a:p>
            <a:pPr marL="15875" lvl="1" indent="0">
              <a:buNone/>
            </a:pP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a:p>
            <a:pPr marL="15875" lvl="1" indent="0">
              <a:buNone/>
            </a:pPr>
            <a:r>
              <a:rPr kumimoji="0" lang="en-US" sz="2200" b="0" i="0" u="none" strike="noStrike" kern="1200" cap="none" spc="0" normalizeH="0" baseline="0" noProof="0" dirty="0">
                <a:ln>
                  <a:noFill/>
                </a:ln>
                <a:solidFill>
                  <a:prstClr val="black"/>
                </a:solidFill>
                <a:effectLst/>
                <a:uLnTx/>
                <a:uFillTx/>
                <a:latin typeface="Calibri"/>
                <a:ea typeface="+mn-ea"/>
                <a:cs typeface="+mn-cs"/>
              </a:rPr>
              <a:t>What if pulse oximeters don’t monitor trends accurately?</a:t>
            </a:r>
          </a:p>
          <a:p>
            <a:pPr marL="15875" lvl="1" indent="0">
              <a:buNone/>
            </a:pPr>
            <a:endParaRPr lang="en-US" sz="2200" dirty="0">
              <a:solidFill>
                <a:prstClr val="black"/>
              </a:solidFill>
              <a:latin typeface="Calibri"/>
            </a:endParaRPr>
          </a:p>
          <a:p>
            <a:pPr marL="15875" lvl="1" indent="0">
              <a:buNone/>
            </a:pPr>
            <a:r>
              <a:rPr kumimoji="0" lang="en-US" sz="2200" b="0" i="0" u="none" strike="noStrike" kern="1200" cap="none" spc="0" normalizeH="0" baseline="0" noProof="0" dirty="0">
                <a:ln>
                  <a:noFill/>
                </a:ln>
                <a:solidFill>
                  <a:prstClr val="black"/>
                </a:solidFill>
                <a:effectLst/>
                <a:uLnTx/>
                <a:uFillTx/>
                <a:latin typeface="Calibri"/>
                <a:ea typeface="+mn-ea"/>
                <a:cs typeface="+mn-cs"/>
              </a:rPr>
              <a:t>What if the accuracy of trend monitoring differs with skin pigmentation?</a:t>
            </a:r>
          </a:p>
          <a:p>
            <a:pPr marL="15875" lvl="1" indent="0">
              <a:buNone/>
            </a:pP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23142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err="1">
                <a:ln>
                  <a:noFill/>
                </a:ln>
                <a:solidFill>
                  <a:prstClr val="white"/>
                </a:solidFill>
                <a:effectLst/>
                <a:uLnTx/>
                <a:uFillTx/>
                <a:latin typeface="Calibri"/>
                <a:ea typeface="+mn-ea"/>
                <a:cs typeface="+mn-cs"/>
              </a:rPr>
              <a:t>Sjoding</a:t>
            </a:r>
            <a:r>
              <a:rPr kumimoji="0" lang="en-US" sz="1333" b="0" i="0" u="none" strike="noStrike" kern="1200" cap="none" spc="0" normalizeH="0" baseline="0" noProof="0" dirty="0">
                <a:ln>
                  <a:noFill/>
                </a:ln>
                <a:solidFill>
                  <a:prstClr val="white"/>
                </a:solidFill>
                <a:effectLst/>
                <a:uLnTx/>
                <a:uFillTx/>
                <a:latin typeface="Calibri"/>
                <a:ea typeface="+mn-ea"/>
                <a:cs typeface="+mn-cs"/>
              </a:rPr>
              <a:t> MW </a:t>
            </a:r>
            <a:r>
              <a:rPr kumimoji="0" lang="en-US" sz="1333" b="0" i="1" u="none" strike="noStrike" kern="1200" cap="none" spc="0" normalizeH="0" baseline="0" noProof="0" dirty="0">
                <a:ln>
                  <a:noFill/>
                </a:ln>
                <a:solidFill>
                  <a:prstClr val="white"/>
                </a:solidFill>
                <a:effectLst/>
                <a:uLnTx/>
                <a:uFillTx/>
                <a:latin typeface="Calibri"/>
                <a:ea typeface="+mn-ea"/>
                <a:cs typeface="+mn-cs"/>
              </a:rPr>
              <a:t>et al.</a:t>
            </a:r>
            <a:r>
              <a:rPr kumimoji="0" lang="en-US" sz="1333" b="0" i="0" u="none" strike="noStrike" kern="1200" cap="none" spc="0" normalizeH="0" baseline="0" noProof="0" dirty="0">
                <a:ln>
                  <a:noFill/>
                </a:ln>
                <a:solidFill>
                  <a:prstClr val="white"/>
                </a:solidFill>
                <a:effectLst/>
                <a:uLnTx/>
                <a:uFillTx/>
                <a:latin typeface="Calibri"/>
                <a:ea typeface="+mn-ea"/>
                <a:cs typeface="+mn-cs"/>
              </a:rPr>
              <a:t>, NEJM, 2020,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https://doi.org/10.1056/NEJMc2029240</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Calibri"/>
                <a:ea typeface="+mn-ea"/>
                <a:cs typeface="+mn-cs"/>
              </a:rPr>
              <a:t>Photo by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5">
                  <a:extLst>
                    <a:ext uri="{A12FA001-AC4F-418D-AE19-62706E023703}">
                      <ahyp:hlinkClr xmlns:ahyp="http://schemas.microsoft.com/office/drawing/2018/hyperlinkcolor" val="tx"/>
                    </a:ext>
                  </a:extLst>
                </a:hlinkClick>
              </a:rPr>
              <a:t>Syed Ali</a:t>
            </a:r>
            <a:r>
              <a:rPr kumimoji="0" lang="en-GB" sz="1400" b="0" i="0" u="none" strike="noStrike" kern="1200" cap="none" spc="0" normalizeH="0" baseline="0" noProof="0" dirty="0">
                <a:ln>
                  <a:noFill/>
                </a:ln>
                <a:solidFill>
                  <a:prstClr val="white"/>
                </a:solidFill>
                <a:effectLst/>
                <a:uLnTx/>
                <a:uFillTx/>
                <a:latin typeface="Calibri"/>
                <a:ea typeface="+mn-ea"/>
                <a:cs typeface="+mn-cs"/>
              </a:rPr>
              <a:t> on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Unsplash</a:t>
            </a:r>
            <a:r>
              <a:rPr kumimoji="0" lang="en-GB" sz="1400" b="0" i="0" u="none" strike="noStrike" kern="1200" cap="none" spc="0" normalizeH="0" baseline="0" noProof="0" dirty="0">
                <a:ln>
                  <a:noFill/>
                </a:ln>
                <a:solidFill>
                  <a:prstClr val="white"/>
                </a:solidFill>
                <a:effectLst/>
                <a:uLnTx/>
                <a:uFillTx/>
                <a:latin typeface="Calibri"/>
                <a:ea typeface="+mn-ea"/>
                <a:cs typeface="+mn-cs"/>
              </a:rPr>
              <a:t> </a:t>
            </a:r>
            <a:endParaRPr kumimoji="0" lang="en-US" sz="1333"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8">
                  <a:extLst>
                    <a:ext uri="{A12FA001-AC4F-418D-AE19-62706E023703}">
                      <ahyp:hlinkClr xmlns:ahyp="http://schemas.microsoft.com/office/drawing/2018/hyperlinkcolor" val="tx"/>
                    </a:ext>
                  </a:extLst>
                </a:hlinkClick>
              </a:rPr>
              <a:t>OGL 3.0</a:t>
            </a:r>
            <a:r>
              <a:rPr kumimoji="0" lang="en-US" sz="1333" b="0" i="0" u="none" strike="noStrike" kern="1200" cap="none" spc="0" normalizeH="0" baseline="0" noProof="0" dirty="0">
                <a:ln>
                  <a:noFill/>
                </a:ln>
                <a:solidFill>
                  <a:prstClr val="white"/>
                </a:solidFill>
                <a:effectLst/>
                <a:uLnTx/>
                <a:uFillTx/>
                <a:latin typeface="Calibri"/>
                <a:ea typeface="+mn-ea"/>
                <a:cs typeface="+mn-cs"/>
              </a:rPr>
              <a:t>)</a:t>
            </a: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solidFill>
          <a:ln>
            <a:noFill/>
          </a:ln>
          <a:effectLst>
            <a:glow>
              <a:schemeClr val="bg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solidFill>
          <a:ln>
            <a:noFill/>
          </a:ln>
          <a:effectLst>
            <a:glow>
              <a:schemeClr val="bg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82CB7323-DF9A-1505-5597-637C89BD7184}"/>
              </a:ext>
            </a:extLst>
          </p:cNvPr>
          <p:cNvSpPr txBox="1"/>
          <p:nvPr/>
        </p:nvSpPr>
        <p:spPr>
          <a:xfrm>
            <a:off x="6521760" y="2609744"/>
            <a:ext cx="1526748"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Guidance</a:t>
            </a:r>
          </a:p>
        </p:txBody>
      </p:sp>
      <p:sp>
        <p:nvSpPr>
          <p:cNvPr id="4" name="TextBox 3">
            <a:extLst>
              <a:ext uri="{FF2B5EF4-FFF2-40B4-BE49-F238E27FC236}">
                <a16:creationId xmlns:a16="http://schemas.microsoft.com/office/drawing/2014/main" id="{1B2B0E97-E835-0DC5-90B9-14FEA0C41B5F}"/>
              </a:ext>
            </a:extLst>
          </p:cNvPr>
          <p:cNvSpPr txBox="1"/>
          <p:nvPr/>
        </p:nvSpPr>
        <p:spPr>
          <a:xfrm>
            <a:off x="8898695" y="3597222"/>
            <a:ext cx="1841905" cy="830997"/>
          </a:xfrm>
          <a:prstGeom prst="rect">
            <a:avLst/>
          </a:prstGeom>
          <a:solidFill>
            <a:schemeClr val="bg1"/>
          </a:solidFill>
          <a:effectLst>
            <a:glow rad="1270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development</a:t>
            </a:r>
          </a:p>
        </p:txBody>
      </p:sp>
      <p:sp>
        <p:nvSpPr>
          <p:cNvPr id="5" name="TextBox 4">
            <a:extLst>
              <a:ext uri="{FF2B5EF4-FFF2-40B4-BE49-F238E27FC236}">
                <a16:creationId xmlns:a16="http://schemas.microsoft.com/office/drawing/2014/main" id="{C11951FC-A926-2B05-B3B9-59C7AB6A8EB2}"/>
              </a:ext>
            </a:extLst>
          </p:cNvPr>
          <p:cNvSpPr txBox="1"/>
          <p:nvPr/>
        </p:nvSpPr>
        <p:spPr>
          <a:xfrm>
            <a:off x="7793144" y="3254959"/>
            <a:ext cx="1518493" cy="461665"/>
          </a:xfrm>
          <a:prstGeom prst="rect">
            <a:avLst/>
          </a:prstGeom>
          <a:solidFill>
            <a:schemeClr val="bg1"/>
          </a:solidFill>
          <a:effectLst>
            <a:glow rad="1270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Regulation</a:t>
            </a:r>
          </a:p>
        </p:txBody>
      </p:sp>
      <p:sp>
        <p:nvSpPr>
          <p:cNvPr id="13" name="TextBox 12">
            <a:extLst>
              <a:ext uri="{FF2B5EF4-FFF2-40B4-BE49-F238E27FC236}">
                <a16:creationId xmlns:a16="http://schemas.microsoft.com/office/drawing/2014/main" id="{350294F9-EC0A-DA8F-8E3F-0FF09BB75E13}"/>
              </a:ext>
            </a:extLst>
          </p:cNvPr>
          <p:cNvSpPr txBox="1"/>
          <p:nvPr/>
        </p:nvSpPr>
        <p:spPr>
          <a:xfrm>
            <a:off x="10384289" y="4543946"/>
            <a:ext cx="1405230" cy="461665"/>
          </a:xfrm>
          <a:prstGeom prst="rect">
            <a:avLst/>
          </a:prstGeom>
          <a:solidFill>
            <a:schemeClr val="bg1">
              <a:lumMod val="65000"/>
            </a:schemeClr>
          </a:solidFill>
          <a:effectLst>
            <a:glow rad="203200">
              <a:schemeClr val="bg1">
                <a:lumMod val="65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Research</a:t>
            </a:r>
          </a:p>
        </p:txBody>
      </p:sp>
      <p:sp>
        <p:nvSpPr>
          <p:cNvPr id="18" name="Rounded Rectangle 17">
            <a:extLst>
              <a:ext uri="{FF2B5EF4-FFF2-40B4-BE49-F238E27FC236}">
                <a16:creationId xmlns:a16="http://schemas.microsoft.com/office/drawing/2014/main" id="{24AEDAD2-1966-FD34-84CD-F153EE7F14B2}"/>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347025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Device development</a:t>
            </a:r>
          </a:p>
        </p:txBody>
      </p:sp>
      <p:sp>
        <p:nvSpPr>
          <p:cNvPr id="5" name="Content Placeholder 4">
            <a:extLst>
              <a:ext uri="{FF2B5EF4-FFF2-40B4-BE49-F238E27FC236}">
                <a16:creationId xmlns:a16="http://schemas.microsoft.com/office/drawing/2014/main" id="{30BFFFA0-4BAB-9234-316D-FDB57548827D}"/>
              </a:ext>
            </a:extLst>
          </p:cNvPr>
          <p:cNvSpPr>
            <a:spLocks noGrp="1"/>
          </p:cNvSpPr>
          <p:nvPr>
            <p:ph idx="1"/>
          </p:nvPr>
        </p:nvSpPr>
        <p:spPr>
          <a:xfrm>
            <a:off x="609600" y="1084814"/>
            <a:ext cx="10972800" cy="594359"/>
          </a:xfrm>
        </p:spPr>
        <p:txBody>
          <a:bodyPr/>
          <a:lstStyle/>
          <a:p>
            <a:pPr marL="0" indent="0">
              <a:buNone/>
            </a:pPr>
            <a:r>
              <a:rPr lang="en-US" dirty="0">
                <a:solidFill>
                  <a:srgbClr val="832161"/>
                </a:solidFill>
              </a:rPr>
              <a:t>Recommendation 3:</a:t>
            </a:r>
          </a:p>
        </p:txBody>
      </p:sp>
      <p:sp>
        <p:nvSpPr>
          <p:cNvPr id="6" name="TextBox 5">
            <a:extLst>
              <a:ext uri="{FF2B5EF4-FFF2-40B4-BE49-F238E27FC236}">
                <a16:creationId xmlns:a16="http://schemas.microsoft.com/office/drawing/2014/main" id="{8F12254C-2C7A-882F-56AC-326B4DC6512C}"/>
              </a:ext>
            </a:extLst>
          </p:cNvPr>
          <p:cNvSpPr txBox="1"/>
          <p:nvPr/>
        </p:nvSpPr>
        <p:spPr>
          <a:xfrm>
            <a:off x="0" y="6529491"/>
            <a:ext cx="12192000" cy="276999"/>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 </a:t>
            </a:r>
            <a:r>
              <a:rPr kumimoji="0" lang="en-US" sz="1200" b="0" i="0" u="none" strike="noStrike" kern="1200" cap="none" spc="0" normalizeH="0" baseline="0" noProof="0" dirty="0">
                <a:ln>
                  <a:noFill/>
                </a:ln>
                <a:solidFill>
                  <a:prstClr val="white"/>
                </a:solidFill>
                <a:effectLst/>
                <a:uLnTx/>
                <a:uFillTx/>
                <a:latin typeface="Calibri"/>
                <a:ea typeface="+mn-ea"/>
                <a:cs typeface="+mn-cs"/>
                <a:hlinkClick r:id="rId2">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200" b="0" i="0" u="none" strike="noStrike" kern="1200" cap="none" spc="0" normalizeH="0" baseline="0" noProof="0" dirty="0">
                <a:ln>
                  <a:noFill/>
                </a:ln>
                <a:solidFill>
                  <a:prstClr val="white"/>
                </a:solidFill>
                <a:effectLst/>
                <a:uLnTx/>
                <a:uFillTx/>
                <a:latin typeface="Calibri"/>
                <a:ea typeface="+mn-ea"/>
                <a:cs typeface="+mn-cs"/>
              </a:rPr>
              <a:t> (</a:t>
            </a:r>
            <a:r>
              <a:rPr kumimoji="0" lang="en-US" sz="1200"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OGL 3.0</a:t>
            </a:r>
            <a:r>
              <a:rPr kumimoji="0" lang="en-US" sz="1200" b="0" i="0" u="none" strike="noStrike" kern="1200" cap="none" spc="0" normalizeH="0" baseline="0" noProof="0" dirty="0">
                <a:ln>
                  <a:noFill/>
                </a:ln>
                <a:solidFill>
                  <a:prstClr val="white"/>
                </a:solidFill>
                <a:effectLst/>
                <a:uLnTx/>
                <a:uFillTx/>
                <a:latin typeface="Calibri"/>
                <a:ea typeface="+mn-ea"/>
                <a:cs typeface="+mn-cs"/>
              </a:rPr>
              <a:t>)</a:t>
            </a:r>
          </a:p>
        </p:txBody>
      </p:sp>
      <p:sp>
        <p:nvSpPr>
          <p:cNvPr id="7" name="Rounded Rectangle 6">
            <a:extLst>
              <a:ext uri="{FF2B5EF4-FFF2-40B4-BE49-F238E27FC236}">
                <a16:creationId xmlns:a16="http://schemas.microsoft.com/office/drawing/2014/main" id="{22D68AC8-71CF-70B8-F3BC-E06A48AD891E}"/>
              </a:ext>
            </a:extLst>
          </p:cNvPr>
          <p:cNvSpPr/>
          <p:nvPr/>
        </p:nvSpPr>
        <p:spPr>
          <a:xfrm>
            <a:off x="2762598" y="1853663"/>
            <a:ext cx="6930044" cy="162929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“Innovators, researchers and manufacturers should cooperate with public and patient participants to design better, smarter oximeters using innovative technologies to produce devices that are not biased by skin tone.”</a:t>
            </a:r>
          </a:p>
        </p:txBody>
      </p:sp>
      <p:sp>
        <p:nvSpPr>
          <p:cNvPr id="8" name="Content Placeholder 4">
            <a:extLst>
              <a:ext uri="{FF2B5EF4-FFF2-40B4-BE49-F238E27FC236}">
                <a16:creationId xmlns:a16="http://schemas.microsoft.com/office/drawing/2014/main" id="{6672563D-C50C-1AE8-3861-4775FFC1EC7F}"/>
              </a:ext>
            </a:extLst>
          </p:cNvPr>
          <p:cNvSpPr txBox="1">
            <a:spLocks/>
          </p:cNvSpPr>
          <p:nvPr/>
        </p:nvSpPr>
        <p:spPr bwMode="auto">
          <a:xfrm>
            <a:off x="609600" y="3657447"/>
            <a:ext cx="10972800" cy="263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Enhanced algorithms to address measurement bias</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1" i="0" u="none" strike="noStrike" kern="1200" cap="none" spc="0" normalizeH="0" baseline="0" noProof="0" dirty="0">
                <a:ln>
                  <a:noFill/>
                </a:ln>
                <a:solidFill>
                  <a:prstClr val="black"/>
                </a:solidFill>
                <a:effectLst/>
                <a:uLnTx/>
                <a:uFillTx/>
                <a:latin typeface="Calibri"/>
                <a:ea typeface="+mn-ea"/>
                <a:cs typeface="+mn-cs"/>
              </a:rPr>
              <a:t>Multi-wavelength systems which measure and correct for skin pigmentation</a:t>
            </a:r>
          </a:p>
        </p:txBody>
      </p:sp>
    </p:spTree>
    <p:extLst>
      <p:ext uri="{BB962C8B-B14F-4D97-AF65-F5344CB8AC3E}">
        <p14:creationId xmlns:p14="http://schemas.microsoft.com/office/powerpoint/2010/main" val="2049486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Pulse oximeter algorithms</a:t>
            </a:r>
          </a:p>
        </p:txBody>
      </p:sp>
      <p:cxnSp>
        <p:nvCxnSpPr>
          <p:cNvPr id="9" name="Straight Connector 8">
            <a:extLst>
              <a:ext uri="{FF2B5EF4-FFF2-40B4-BE49-F238E27FC236}">
                <a16:creationId xmlns:a16="http://schemas.microsoft.com/office/drawing/2014/main" id="{34AAEE71-1D6E-E2E4-8BF8-C64E04E6A179}"/>
              </a:ext>
            </a:extLst>
          </p:cNvPr>
          <p:cNvCxnSpPr>
            <a:cxnSpLocks/>
          </p:cNvCxnSpPr>
          <p:nvPr/>
        </p:nvCxnSpPr>
        <p:spPr>
          <a:xfrm>
            <a:off x="1379913" y="5004262"/>
            <a:ext cx="371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82D8CFB-2661-9C93-E42B-410A96CF3CA7}"/>
              </a:ext>
            </a:extLst>
          </p:cNvPr>
          <p:cNvCxnSpPr>
            <a:cxnSpLocks/>
          </p:cNvCxnSpPr>
          <p:nvPr/>
        </p:nvCxnSpPr>
        <p:spPr>
          <a:xfrm flipV="1">
            <a:off x="1532313" y="1446415"/>
            <a:ext cx="0" cy="37102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E0E3AAB-A1A2-9C9A-61F7-05AEBE09A4DF}"/>
              </a:ext>
            </a:extLst>
          </p:cNvPr>
          <p:cNvSpPr txBox="1"/>
          <p:nvPr/>
        </p:nvSpPr>
        <p:spPr>
          <a:xfrm>
            <a:off x="975863" y="5381411"/>
            <a:ext cx="4519699" cy="461665"/>
          </a:xfrm>
          <a:prstGeom prst="rect">
            <a:avLst/>
          </a:prstGeom>
          <a:noFill/>
        </p:spPr>
        <p:txBody>
          <a:bodyPr wrap="none" rtlCol="0">
            <a:spAutoFit/>
          </a:bodyPr>
          <a:lstStyle/>
          <a:p>
            <a:r>
              <a:rPr lang="en-US" sz="2400" dirty="0"/>
              <a:t>Reference blood oxygen saturation</a:t>
            </a:r>
          </a:p>
        </p:txBody>
      </p:sp>
      <p:sp>
        <p:nvSpPr>
          <p:cNvPr id="14" name="TextBox 13">
            <a:extLst>
              <a:ext uri="{FF2B5EF4-FFF2-40B4-BE49-F238E27FC236}">
                <a16:creationId xmlns:a16="http://schemas.microsoft.com/office/drawing/2014/main" id="{6D4DA3D4-3518-C35F-5C1F-0CCE84F9CC2A}"/>
              </a:ext>
            </a:extLst>
          </p:cNvPr>
          <p:cNvSpPr txBox="1"/>
          <p:nvPr/>
        </p:nvSpPr>
        <p:spPr>
          <a:xfrm>
            <a:off x="103735" y="2568353"/>
            <a:ext cx="1156407" cy="830997"/>
          </a:xfrm>
          <a:prstGeom prst="rect">
            <a:avLst/>
          </a:prstGeom>
          <a:noFill/>
        </p:spPr>
        <p:txBody>
          <a:bodyPr wrap="none" rtlCol="0">
            <a:spAutoFit/>
          </a:bodyPr>
          <a:lstStyle/>
          <a:p>
            <a:r>
              <a:rPr lang="en-US" sz="2400" dirty="0"/>
              <a:t>Ratio of</a:t>
            </a:r>
          </a:p>
          <a:p>
            <a:pPr algn="ctr"/>
            <a:r>
              <a:rPr lang="en-US" sz="2400" dirty="0"/>
              <a:t>ratios</a:t>
            </a:r>
          </a:p>
        </p:txBody>
      </p:sp>
      <p:cxnSp>
        <p:nvCxnSpPr>
          <p:cNvPr id="15" name="Straight Connector 14">
            <a:extLst>
              <a:ext uri="{FF2B5EF4-FFF2-40B4-BE49-F238E27FC236}">
                <a16:creationId xmlns:a16="http://schemas.microsoft.com/office/drawing/2014/main" id="{93093E18-2507-BD24-1509-9C8F9C8B6BFE}"/>
              </a:ext>
            </a:extLst>
          </p:cNvPr>
          <p:cNvCxnSpPr>
            <a:cxnSpLocks/>
          </p:cNvCxnSpPr>
          <p:nvPr/>
        </p:nvCxnSpPr>
        <p:spPr>
          <a:xfrm flipV="1">
            <a:off x="1767337" y="1812172"/>
            <a:ext cx="3307551" cy="296210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C04F4D9-263E-7518-5574-CD1DFC319F90}"/>
              </a:ext>
            </a:extLst>
          </p:cNvPr>
          <p:cNvCxnSpPr/>
          <p:nvPr/>
        </p:nvCxnSpPr>
        <p:spPr>
          <a:xfrm>
            <a:off x="1615438" y="2793076"/>
            <a:ext cx="2274916"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BD1AC11-E61A-4C15-7729-8FE6B97DF54A}"/>
              </a:ext>
            </a:extLst>
          </p:cNvPr>
          <p:cNvCxnSpPr>
            <a:cxnSpLocks/>
          </p:cNvCxnSpPr>
          <p:nvPr/>
        </p:nvCxnSpPr>
        <p:spPr>
          <a:xfrm>
            <a:off x="3988187" y="2983851"/>
            <a:ext cx="0" cy="1790423"/>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Content Placeholder 4">
            <a:extLst>
              <a:ext uri="{FF2B5EF4-FFF2-40B4-BE49-F238E27FC236}">
                <a16:creationId xmlns:a16="http://schemas.microsoft.com/office/drawing/2014/main" id="{C2262672-5283-86C8-A235-9807463BC97F}"/>
              </a:ext>
            </a:extLst>
          </p:cNvPr>
          <p:cNvSpPr txBox="1">
            <a:spLocks/>
          </p:cNvSpPr>
          <p:nvPr/>
        </p:nvSpPr>
        <p:spPr bwMode="auto">
          <a:xfrm>
            <a:off x="6209038" y="2370606"/>
            <a:ext cx="5717231" cy="263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20000"/>
              </a:spcBef>
              <a:spcAft>
                <a:spcPct val="0"/>
              </a:spcAft>
              <a:buClrTx/>
              <a:buSzTx/>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Suggestion 1:</a:t>
            </a:r>
          </a:p>
          <a:p>
            <a:r>
              <a:rPr lang="en-US" sz="2200" dirty="0">
                <a:solidFill>
                  <a:prstClr val="black"/>
                </a:solidFill>
                <a:latin typeface="Calibri"/>
              </a:rPr>
              <a:t>Pulse oximeters are inaccurate because their equations are derived from measurements on predominantly White individuals.</a:t>
            </a:r>
          </a:p>
          <a:p>
            <a:r>
              <a:rPr lang="en-US" sz="2200" dirty="0">
                <a:solidFill>
                  <a:prstClr val="black"/>
                </a:solidFill>
                <a:latin typeface="Calibri"/>
              </a:rPr>
              <a:t>Increasing the diversity of training data would remove bias</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59864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Pulse oximeter algorithms</a:t>
            </a:r>
          </a:p>
        </p:txBody>
      </p:sp>
      <p:cxnSp>
        <p:nvCxnSpPr>
          <p:cNvPr id="9" name="Straight Connector 8">
            <a:extLst>
              <a:ext uri="{FF2B5EF4-FFF2-40B4-BE49-F238E27FC236}">
                <a16:creationId xmlns:a16="http://schemas.microsoft.com/office/drawing/2014/main" id="{34AAEE71-1D6E-E2E4-8BF8-C64E04E6A179}"/>
              </a:ext>
            </a:extLst>
          </p:cNvPr>
          <p:cNvCxnSpPr>
            <a:cxnSpLocks/>
          </p:cNvCxnSpPr>
          <p:nvPr/>
        </p:nvCxnSpPr>
        <p:spPr>
          <a:xfrm>
            <a:off x="1379913" y="5004262"/>
            <a:ext cx="371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82D8CFB-2661-9C93-E42B-410A96CF3CA7}"/>
              </a:ext>
            </a:extLst>
          </p:cNvPr>
          <p:cNvCxnSpPr>
            <a:cxnSpLocks/>
          </p:cNvCxnSpPr>
          <p:nvPr/>
        </p:nvCxnSpPr>
        <p:spPr>
          <a:xfrm flipV="1">
            <a:off x="1532313" y="1446415"/>
            <a:ext cx="0" cy="37102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E0E3AAB-A1A2-9C9A-61F7-05AEBE09A4DF}"/>
              </a:ext>
            </a:extLst>
          </p:cNvPr>
          <p:cNvSpPr txBox="1"/>
          <p:nvPr/>
        </p:nvSpPr>
        <p:spPr>
          <a:xfrm>
            <a:off x="975863" y="5381411"/>
            <a:ext cx="451969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Reference blood oxygen saturation</a:t>
            </a:r>
          </a:p>
        </p:txBody>
      </p:sp>
      <p:sp>
        <p:nvSpPr>
          <p:cNvPr id="14" name="TextBox 13">
            <a:extLst>
              <a:ext uri="{FF2B5EF4-FFF2-40B4-BE49-F238E27FC236}">
                <a16:creationId xmlns:a16="http://schemas.microsoft.com/office/drawing/2014/main" id="{6D4DA3D4-3518-C35F-5C1F-0CCE84F9CC2A}"/>
              </a:ext>
            </a:extLst>
          </p:cNvPr>
          <p:cNvSpPr txBox="1"/>
          <p:nvPr/>
        </p:nvSpPr>
        <p:spPr>
          <a:xfrm>
            <a:off x="103735" y="2568353"/>
            <a:ext cx="1156407"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Ratio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ratios</a:t>
            </a:r>
          </a:p>
        </p:txBody>
      </p:sp>
      <p:cxnSp>
        <p:nvCxnSpPr>
          <p:cNvPr id="15" name="Straight Connector 14">
            <a:extLst>
              <a:ext uri="{FF2B5EF4-FFF2-40B4-BE49-F238E27FC236}">
                <a16:creationId xmlns:a16="http://schemas.microsoft.com/office/drawing/2014/main" id="{93093E18-2507-BD24-1509-9C8F9C8B6BFE}"/>
              </a:ext>
            </a:extLst>
          </p:cNvPr>
          <p:cNvCxnSpPr>
            <a:cxnSpLocks/>
          </p:cNvCxnSpPr>
          <p:nvPr/>
        </p:nvCxnSpPr>
        <p:spPr>
          <a:xfrm flipV="1">
            <a:off x="2000092" y="1579418"/>
            <a:ext cx="3307551" cy="296210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21" name="Content Placeholder 4">
            <a:extLst>
              <a:ext uri="{FF2B5EF4-FFF2-40B4-BE49-F238E27FC236}">
                <a16:creationId xmlns:a16="http://schemas.microsoft.com/office/drawing/2014/main" id="{C2262672-5283-86C8-A235-9807463BC97F}"/>
              </a:ext>
            </a:extLst>
          </p:cNvPr>
          <p:cNvSpPr txBox="1">
            <a:spLocks/>
          </p:cNvSpPr>
          <p:nvPr/>
        </p:nvSpPr>
        <p:spPr bwMode="auto">
          <a:xfrm>
            <a:off x="6209038" y="2370605"/>
            <a:ext cx="5717231" cy="3241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Suggestion 1:</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Pulse oximeters are inaccurate because their equations are derived from measurements on predominantly White individuals.</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Increasing the diversity of training data would remove bias</a:t>
            </a:r>
          </a:p>
          <a:p>
            <a:pPr marL="0" marR="0" lvl="0" indent="0" algn="l" defTabSz="914400" rtl="0" eaLnBrk="0" fontAlgn="base" latinLnBrk="0" hangingPunct="0">
              <a:lnSpc>
                <a:spcPct val="100000"/>
              </a:lnSpc>
              <a:spcBef>
                <a:spcPct val="20000"/>
              </a:spcBef>
              <a:spcAft>
                <a:spcPct val="0"/>
              </a:spcAft>
              <a:buClrTx/>
              <a:buSzTx/>
              <a:buNone/>
              <a:tabLst/>
              <a:defRPr/>
            </a:pPr>
            <a:endParaRPr lang="en-US" sz="2200" i="1" dirty="0">
              <a:solidFill>
                <a:prstClr val="black"/>
              </a:solidFill>
              <a:latin typeface="Calibri"/>
            </a:endParaRPr>
          </a:p>
          <a:p>
            <a:pPr marL="0" marR="0" lvl="0" indent="0" algn="l" defTabSz="914400" rtl="0" eaLnBrk="0" fontAlgn="base" latinLnBrk="0" hangingPunct="0">
              <a:lnSpc>
                <a:spcPct val="100000"/>
              </a:lnSpc>
              <a:spcBef>
                <a:spcPct val="20000"/>
              </a:spcBef>
              <a:spcAft>
                <a:spcPct val="0"/>
              </a:spcAft>
              <a:buClrTx/>
              <a:buSzTx/>
              <a:buNone/>
              <a:tabLst/>
              <a:defRPr/>
            </a:pPr>
            <a:r>
              <a:rPr lang="en-US" sz="2200" i="1" dirty="0">
                <a:solidFill>
                  <a:prstClr val="black"/>
                </a:solidFill>
                <a:latin typeface="Calibri"/>
              </a:rPr>
              <a:t>It might reduce bias, but wouldn’t eliminate it if the true relationship differs with skin tone.</a:t>
            </a:r>
            <a:endParaRPr kumimoji="0" lang="en-US" sz="2200" b="0" i="1" u="none" strike="noStrike" kern="1200" cap="none" spc="0" normalizeH="0" baseline="0" noProof="0" dirty="0">
              <a:ln>
                <a:noFill/>
              </a:ln>
              <a:solidFill>
                <a:prstClr val="black"/>
              </a:solidFill>
              <a:effectLst/>
              <a:uLnTx/>
              <a:uFillTx/>
              <a:latin typeface="Calibri"/>
              <a:ea typeface="+mn-ea"/>
              <a:cs typeface="+mn-cs"/>
            </a:endParaRPr>
          </a:p>
        </p:txBody>
      </p:sp>
      <p:cxnSp>
        <p:nvCxnSpPr>
          <p:cNvPr id="2" name="Straight Connector 1">
            <a:extLst>
              <a:ext uri="{FF2B5EF4-FFF2-40B4-BE49-F238E27FC236}">
                <a16:creationId xmlns:a16="http://schemas.microsoft.com/office/drawing/2014/main" id="{BB30E96E-C487-B9BF-DFBF-B14786F34CC2}"/>
              </a:ext>
            </a:extLst>
          </p:cNvPr>
          <p:cNvCxnSpPr>
            <a:cxnSpLocks/>
          </p:cNvCxnSpPr>
          <p:nvPr/>
        </p:nvCxnSpPr>
        <p:spPr>
          <a:xfrm flipV="1">
            <a:off x="2334412" y="1918299"/>
            <a:ext cx="3307551" cy="296210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00347C10-EA1C-AA28-7E73-6FB65CB09939}"/>
              </a:ext>
            </a:extLst>
          </p:cNvPr>
          <p:cNvCxnSpPr>
            <a:cxnSpLocks/>
          </p:cNvCxnSpPr>
          <p:nvPr/>
        </p:nvCxnSpPr>
        <p:spPr>
          <a:xfrm flipV="1">
            <a:off x="1707226" y="1231884"/>
            <a:ext cx="3307551" cy="296210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C81CDA5-362A-38F6-C21A-5EBFDF65A24D}"/>
              </a:ext>
            </a:extLst>
          </p:cNvPr>
          <p:cNvSpPr txBox="1"/>
          <p:nvPr/>
        </p:nvSpPr>
        <p:spPr>
          <a:xfrm>
            <a:off x="5495562" y="1246360"/>
            <a:ext cx="2220929" cy="400110"/>
          </a:xfrm>
          <a:prstGeom prst="rect">
            <a:avLst/>
          </a:prstGeom>
          <a:noFill/>
        </p:spPr>
        <p:txBody>
          <a:bodyPr wrap="none" rtlCol="0">
            <a:spAutoFit/>
          </a:bodyPr>
          <a:lstStyle/>
          <a:p>
            <a:r>
              <a:rPr lang="en-US" sz="2000" dirty="0">
                <a:solidFill>
                  <a:srgbClr val="0000FF"/>
                </a:solidFill>
              </a:rPr>
              <a:t>Different skin tones</a:t>
            </a:r>
          </a:p>
        </p:txBody>
      </p:sp>
    </p:spTree>
    <p:extLst>
      <p:ext uri="{BB962C8B-B14F-4D97-AF65-F5344CB8AC3E}">
        <p14:creationId xmlns:p14="http://schemas.microsoft.com/office/powerpoint/2010/main" val="1771466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Pulse oximeter algorithms</a:t>
            </a:r>
          </a:p>
        </p:txBody>
      </p:sp>
      <p:cxnSp>
        <p:nvCxnSpPr>
          <p:cNvPr id="9" name="Straight Connector 8">
            <a:extLst>
              <a:ext uri="{FF2B5EF4-FFF2-40B4-BE49-F238E27FC236}">
                <a16:creationId xmlns:a16="http://schemas.microsoft.com/office/drawing/2014/main" id="{34AAEE71-1D6E-E2E4-8BF8-C64E04E6A179}"/>
              </a:ext>
            </a:extLst>
          </p:cNvPr>
          <p:cNvCxnSpPr>
            <a:cxnSpLocks/>
          </p:cNvCxnSpPr>
          <p:nvPr/>
        </p:nvCxnSpPr>
        <p:spPr>
          <a:xfrm>
            <a:off x="1379913" y="5004262"/>
            <a:ext cx="371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82D8CFB-2661-9C93-E42B-410A96CF3CA7}"/>
              </a:ext>
            </a:extLst>
          </p:cNvPr>
          <p:cNvCxnSpPr>
            <a:cxnSpLocks/>
          </p:cNvCxnSpPr>
          <p:nvPr/>
        </p:nvCxnSpPr>
        <p:spPr>
          <a:xfrm flipV="1">
            <a:off x="1532313" y="1446415"/>
            <a:ext cx="0" cy="37102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E0E3AAB-A1A2-9C9A-61F7-05AEBE09A4DF}"/>
              </a:ext>
            </a:extLst>
          </p:cNvPr>
          <p:cNvSpPr txBox="1"/>
          <p:nvPr/>
        </p:nvSpPr>
        <p:spPr>
          <a:xfrm>
            <a:off x="975863" y="5381411"/>
            <a:ext cx="451969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Reference blood oxygen saturation</a:t>
            </a:r>
          </a:p>
        </p:txBody>
      </p:sp>
      <p:sp>
        <p:nvSpPr>
          <p:cNvPr id="14" name="TextBox 13">
            <a:extLst>
              <a:ext uri="{FF2B5EF4-FFF2-40B4-BE49-F238E27FC236}">
                <a16:creationId xmlns:a16="http://schemas.microsoft.com/office/drawing/2014/main" id="{6D4DA3D4-3518-C35F-5C1F-0CCE84F9CC2A}"/>
              </a:ext>
            </a:extLst>
          </p:cNvPr>
          <p:cNvSpPr txBox="1"/>
          <p:nvPr/>
        </p:nvSpPr>
        <p:spPr>
          <a:xfrm>
            <a:off x="103735" y="2568353"/>
            <a:ext cx="1156407"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Ratio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ratios</a:t>
            </a:r>
          </a:p>
        </p:txBody>
      </p:sp>
      <p:cxnSp>
        <p:nvCxnSpPr>
          <p:cNvPr id="15" name="Straight Connector 14">
            <a:extLst>
              <a:ext uri="{FF2B5EF4-FFF2-40B4-BE49-F238E27FC236}">
                <a16:creationId xmlns:a16="http://schemas.microsoft.com/office/drawing/2014/main" id="{93093E18-2507-BD24-1509-9C8F9C8B6BFE}"/>
              </a:ext>
            </a:extLst>
          </p:cNvPr>
          <p:cNvCxnSpPr>
            <a:cxnSpLocks/>
          </p:cNvCxnSpPr>
          <p:nvPr/>
        </p:nvCxnSpPr>
        <p:spPr>
          <a:xfrm flipV="1">
            <a:off x="2000092" y="1579418"/>
            <a:ext cx="3307551" cy="296210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21" name="Content Placeholder 4">
            <a:extLst>
              <a:ext uri="{FF2B5EF4-FFF2-40B4-BE49-F238E27FC236}">
                <a16:creationId xmlns:a16="http://schemas.microsoft.com/office/drawing/2014/main" id="{C2262672-5283-86C8-A235-9807463BC97F}"/>
              </a:ext>
            </a:extLst>
          </p:cNvPr>
          <p:cNvSpPr txBox="1">
            <a:spLocks/>
          </p:cNvSpPr>
          <p:nvPr/>
        </p:nvSpPr>
        <p:spPr bwMode="auto">
          <a:xfrm>
            <a:off x="6209038" y="2370605"/>
            <a:ext cx="5717231" cy="3241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Suggestion 2:</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lang="en-US" sz="2200" dirty="0">
                <a:solidFill>
                  <a:prstClr val="black"/>
                </a:solidFill>
                <a:latin typeface="Calibri"/>
              </a:rPr>
              <a:t>The relationships differ between skin tones.</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We need to learn the different relationships, and have a way of identifying skin tone to select the appropriate relationship to use </a:t>
            </a:r>
            <a:r>
              <a:rPr kumimoji="0" lang="en-US" sz="2200" b="0" i="1" u="none" strike="noStrike" kern="1200" cap="none" spc="0" normalizeH="0" baseline="0" noProof="0" dirty="0">
                <a:ln>
                  <a:noFill/>
                </a:ln>
                <a:solidFill>
                  <a:prstClr val="black"/>
                </a:solidFill>
                <a:effectLst/>
                <a:uLnTx/>
                <a:uFillTx/>
                <a:latin typeface="Calibri"/>
                <a:ea typeface="+mn-ea"/>
                <a:cs typeface="+mn-cs"/>
              </a:rPr>
              <a:t>(e.g. </a:t>
            </a:r>
            <a:r>
              <a:rPr kumimoji="0" lang="en-US" sz="2200" b="0" u="none" strike="noStrike" kern="1200" cap="none" spc="0" normalizeH="0" baseline="0" noProof="0" dirty="0">
                <a:ln>
                  <a:noFill/>
                </a:ln>
                <a:solidFill>
                  <a:prstClr val="black"/>
                </a:solidFill>
                <a:effectLst/>
                <a:uLnTx/>
                <a:uFillTx/>
                <a:latin typeface="Calibri"/>
                <a:ea typeface="+mn-ea"/>
                <a:cs typeface="+mn-cs"/>
              </a:rPr>
              <a:t>multiwavelength PPG)</a:t>
            </a:r>
            <a:r>
              <a:rPr kumimoji="0" lang="en-US" sz="2200" b="0" i="1"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200" b="0" i="1"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200" b="0" i="1" u="none" strike="noStrike" kern="1200" cap="none" spc="0" normalizeH="0" baseline="0" noProof="0" dirty="0">
                <a:ln>
                  <a:noFill/>
                </a:ln>
                <a:solidFill>
                  <a:prstClr val="black"/>
                </a:solidFill>
                <a:effectLst/>
                <a:uLnTx/>
                <a:uFillTx/>
                <a:latin typeface="Calibri"/>
                <a:ea typeface="+mn-ea"/>
                <a:cs typeface="+mn-cs"/>
              </a:rPr>
              <a:t>Perhaps.</a:t>
            </a:r>
          </a:p>
        </p:txBody>
      </p:sp>
      <p:cxnSp>
        <p:nvCxnSpPr>
          <p:cNvPr id="2" name="Straight Connector 1">
            <a:extLst>
              <a:ext uri="{FF2B5EF4-FFF2-40B4-BE49-F238E27FC236}">
                <a16:creationId xmlns:a16="http://schemas.microsoft.com/office/drawing/2014/main" id="{BB30E96E-C487-B9BF-DFBF-B14786F34CC2}"/>
              </a:ext>
            </a:extLst>
          </p:cNvPr>
          <p:cNvCxnSpPr>
            <a:cxnSpLocks/>
          </p:cNvCxnSpPr>
          <p:nvPr/>
        </p:nvCxnSpPr>
        <p:spPr>
          <a:xfrm flipV="1">
            <a:off x="2334412" y="1918299"/>
            <a:ext cx="3307551" cy="296210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00347C10-EA1C-AA28-7E73-6FB65CB09939}"/>
              </a:ext>
            </a:extLst>
          </p:cNvPr>
          <p:cNvCxnSpPr>
            <a:cxnSpLocks/>
          </p:cNvCxnSpPr>
          <p:nvPr/>
        </p:nvCxnSpPr>
        <p:spPr>
          <a:xfrm flipV="1">
            <a:off x="1707226" y="1231884"/>
            <a:ext cx="3307551" cy="296210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C81CDA5-362A-38F6-C21A-5EBFDF65A24D}"/>
              </a:ext>
            </a:extLst>
          </p:cNvPr>
          <p:cNvSpPr txBox="1"/>
          <p:nvPr/>
        </p:nvSpPr>
        <p:spPr>
          <a:xfrm>
            <a:off x="5495562" y="1246360"/>
            <a:ext cx="222092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FF"/>
                </a:solidFill>
                <a:effectLst/>
                <a:uLnTx/>
                <a:uFillTx/>
                <a:latin typeface="Calibri"/>
                <a:ea typeface="+mn-ea"/>
                <a:cs typeface="+mn-cs"/>
              </a:rPr>
              <a:t>Different skin tones</a:t>
            </a:r>
          </a:p>
        </p:txBody>
      </p:sp>
    </p:spTree>
    <p:extLst>
      <p:ext uri="{BB962C8B-B14F-4D97-AF65-F5344CB8AC3E}">
        <p14:creationId xmlns:p14="http://schemas.microsoft.com/office/powerpoint/2010/main" val="4177279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Pulse oximeter algorithms</a:t>
            </a:r>
          </a:p>
        </p:txBody>
      </p:sp>
      <p:cxnSp>
        <p:nvCxnSpPr>
          <p:cNvPr id="9" name="Straight Connector 8">
            <a:extLst>
              <a:ext uri="{FF2B5EF4-FFF2-40B4-BE49-F238E27FC236}">
                <a16:creationId xmlns:a16="http://schemas.microsoft.com/office/drawing/2014/main" id="{34AAEE71-1D6E-E2E4-8BF8-C64E04E6A179}"/>
              </a:ext>
            </a:extLst>
          </p:cNvPr>
          <p:cNvCxnSpPr>
            <a:cxnSpLocks/>
          </p:cNvCxnSpPr>
          <p:nvPr/>
        </p:nvCxnSpPr>
        <p:spPr>
          <a:xfrm>
            <a:off x="1379913" y="5004262"/>
            <a:ext cx="3711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82D8CFB-2661-9C93-E42B-410A96CF3CA7}"/>
              </a:ext>
            </a:extLst>
          </p:cNvPr>
          <p:cNvCxnSpPr>
            <a:cxnSpLocks/>
          </p:cNvCxnSpPr>
          <p:nvPr/>
        </p:nvCxnSpPr>
        <p:spPr>
          <a:xfrm flipV="1">
            <a:off x="1532313" y="1446415"/>
            <a:ext cx="0" cy="37102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E0E3AAB-A1A2-9C9A-61F7-05AEBE09A4DF}"/>
              </a:ext>
            </a:extLst>
          </p:cNvPr>
          <p:cNvSpPr txBox="1"/>
          <p:nvPr/>
        </p:nvSpPr>
        <p:spPr>
          <a:xfrm>
            <a:off x="975863" y="5381411"/>
            <a:ext cx="451969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Reference blood oxygen saturation</a:t>
            </a:r>
          </a:p>
        </p:txBody>
      </p:sp>
      <p:sp>
        <p:nvSpPr>
          <p:cNvPr id="14" name="TextBox 13">
            <a:extLst>
              <a:ext uri="{FF2B5EF4-FFF2-40B4-BE49-F238E27FC236}">
                <a16:creationId xmlns:a16="http://schemas.microsoft.com/office/drawing/2014/main" id="{6D4DA3D4-3518-C35F-5C1F-0CCE84F9CC2A}"/>
              </a:ext>
            </a:extLst>
          </p:cNvPr>
          <p:cNvSpPr txBox="1"/>
          <p:nvPr/>
        </p:nvSpPr>
        <p:spPr>
          <a:xfrm>
            <a:off x="103735" y="2568353"/>
            <a:ext cx="1156407"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Ratio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ratios</a:t>
            </a:r>
          </a:p>
        </p:txBody>
      </p:sp>
      <p:cxnSp>
        <p:nvCxnSpPr>
          <p:cNvPr id="15" name="Straight Connector 14">
            <a:extLst>
              <a:ext uri="{FF2B5EF4-FFF2-40B4-BE49-F238E27FC236}">
                <a16:creationId xmlns:a16="http://schemas.microsoft.com/office/drawing/2014/main" id="{93093E18-2507-BD24-1509-9C8F9C8B6BFE}"/>
              </a:ext>
            </a:extLst>
          </p:cNvPr>
          <p:cNvCxnSpPr>
            <a:cxnSpLocks/>
          </p:cNvCxnSpPr>
          <p:nvPr/>
        </p:nvCxnSpPr>
        <p:spPr>
          <a:xfrm flipV="1">
            <a:off x="2000092" y="1579418"/>
            <a:ext cx="3307551" cy="2962102"/>
          </a:xfrm>
          <a:prstGeom prst="line">
            <a:avLst/>
          </a:prstGeom>
          <a:ln w="28575">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21" name="Content Placeholder 4">
            <a:extLst>
              <a:ext uri="{FF2B5EF4-FFF2-40B4-BE49-F238E27FC236}">
                <a16:creationId xmlns:a16="http://schemas.microsoft.com/office/drawing/2014/main" id="{C2262672-5283-86C8-A235-9807463BC97F}"/>
              </a:ext>
            </a:extLst>
          </p:cNvPr>
          <p:cNvSpPr txBox="1">
            <a:spLocks/>
          </p:cNvSpPr>
          <p:nvPr/>
        </p:nvSpPr>
        <p:spPr bwMode="auto">
          <a:xfrm>
            <a:off x="6209038" y="2370605"/>
            <a:ext cx="5717231" cy="3241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Suggestion 3:</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The relationship(s) are less strong for some skin tones when using traditional pulse oximetry sensing.</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We need to identify improved sensing techniques (e.g. multiwavelength PPG).</a:t>
            </a:r>
          </a:p>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200" b="0" i="1"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charset="0"/>
              <a:buNone/>
              <a:tabLst/>
              <a:defRPr/>
            </a:pPr>
            <a:r>
              <a:rPr kumimoji="0" lang="en-US" sz="2200" b="0" i="1" u="none" strike="noStrike" kern="1200" cap="none" spc="0" normalizeH="0" baseline="0" noProof="0" dirty="0">
                <a:ln>
                  <a:noFill/>
                </a:ln>
                <a:solidFill>
                  <a:prstClr val="black"/>
                </a:solidFill>
                <a:effectLst/>
                <a:uLnTx/>
                <a:uFillTx/>
                <a:latin typeface="Calibri"/>
                <a:ea typeface="+mn-ea"/>
                <a:cs typeface="+mn-cs"/>
              </a:rPr>
              <a:t>Perhaps.</a:t>
            </a:r>
          </a:p>
        </p:txBody>
      </p:sp>
      <p:cxnSp>
        <p:nvCxnSpPr>
          <p:cNvPr id="2" name="Straight Connector 1">
            <a:extLst>
              <a:ext uri="{FF2B5EF4-FFF2-40B4-BE49-F238E27FC236}">
                <a16:creationId xmlns:a16="http://schemas.microsoft.com/office/drawing/2014/main" id="{BB30E96E-C487-B9BF-DFBF-B14786F34CC2}"/>
              </a:ext>
            </a:extLst>
          </p:cNvPr>
          <p:cNvCxnSpPr>
            <a:cxnSpLocks/>
          </p:cNvCxnSpPr>
          <p:nvPr/>
        </p:nvCxnSpPr>
        <p:spPr>
          <a:xfrm flipV="1">
            <a:off x="2334412" y="1918299"/>
            <a:ext cx="3307551" cy="2962102"/>
          </a:xfrm>
          <a:prstGeom prst="line">
            <a:avLst/>
          </a:prstGeom>
          <a:ln w="28575">
            <a:solidFill>
              <a:srgbClr val="0000FF"/>
            </a:solidFill>
            <a:prstDash val="sysDot"/>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00347C10-EA1C-AA28-7E73-6FB65CB09939}"/>
              </a:ext>
            </a:extLst>
          </p:cNvPr>
          <p:cNvCxnSpPr>
            <a:cxnSpLocks/>
          </p:cNvCxnSpPr>
          <p:nvPr/>
        </p:nvCxnSpPr>
        <p:spPr>
          <a:xfrm flipV="1">
            <a:off x="1707226" y="1231884"/>
            <a:ext cx="3307551" cy="296210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C81CDA5-362A-38F6-C21A-5EBFDF65A24D}"/>
              </a:ext>
            </a:extLst>
          </p:cNvPr>
          <p:cNvSpPr txBox="1"/>
          <p:nvPr/>
        </p:nvSpPr>
        <p:spPr>
          <a:xfrm>
            <a:off x="5495562" y="1246360"/>
            <a:ext cx="222092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FF"/>
                </a:solidFill>
                <a:effectLst/>
                <a:uLnTx/>
                <a:uFillTx/>
                <a:latin typeface="Calibri"/>
                <a:ea typeface="+mn-ea"/>
                <a:cs typeface="+mn-cs"/>
              </a:rPr>
              <a:t>Different skin tones</a:t>
            </a:r>
          </a:p>
        </p:txBody>
      </p:sp>
    </p:spTree>
    <p:extLst>
      <p:ext uri="{BB962C8B-B14F-4D97-AF65-F5344CB8AC3E}">
        <p14:creationId xmlns:p14="http://schemas.microsoft.com/office/powerpoint/2010/main" val="1429212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err="1">
                <a:ln>
                  <a:noFill/>
                </a:ln>
                <a:solidFill>
                  <a:prstClr val="white"/>
                </a:solidFill>
                <a:effectLst/>
                <a:uLnTx/>
                <a:uFillTx/>
                <a:latin typeface="Calibri"/>
                <a:ea typeface="+mn-ea"/>
                <a:cs typeface="+mn-cs"/>
              </a:rPr>
              <a:t>Sjoding</a:t>
            </a:r>
            <a:r>
              <a:rPr kumimoji="0" lang="en-US" sz="1333" b="0" i="0" u="none" strike="noStrike" kern="1200" cap="none" spc="0" normalizeH="0" baseline="0" noProof="0" dirty="0">
                <a:ln>
                  <a:noFill/>
                </a:ln>
                <a:solidFill>
                  <a:prstClr val="white"/>
                </a:solidFill>
                <a:effectLst/>
                <a:uLnTx/>
                <a:uFillTx/>
                <a:latin typeface="Calibri"/>
                <a:ea typeface="+mn-ea"/>
                <a:cs typeface="+mn-cs"/>
              </a:rPr>
              <a:t> MW </a:t>
            </a:r>
            <a:r>
              <a:rPr kumimoji="0" lang="en-US" sz="1333" b="0" i="1" u="none" strike="noStrike" kern="1200" cap="none" spc="0" normalizeH="0" baseline="0" noProof="0" dirty="0">
                <a:ln>
                  <a:noFill/>
                </a:ln>
                <a:solidFill>
                  <a:prstClr val="white"/>
                </a:solidFill>
                <a:effectLst/>
                <a:uLnTx/>
                <a:uFillTx/>
                <a:latin typeface="Calibri"/>
                <a:ea typeface="+mn-ea"/>
                <a:cs typeface="+mn-cs"/>
              </a:rPr>
              <a:t>et al.</a:t>
            </a:r>
            <a:r>
              <a:rPr kumimoji="0" lang="en-US" sz="1333" b="0" i="0" u="none" strike="noStrike" kern="1200" cap="none" spc="0" normalizeH="0" baseline="0" noProof="0" dirty="0">
                <a:ln>
                  <a:noFill/>
                </a:ln>
                <a:solidFill>
                  <a:prstClr val="white"/>
                </a:solidFill>
                <a:effectLst/>
                <a:uLnTx/>
                <a:uFillTx/>
                <a:latin typeface="Calibri"/>
                <a:ea typeface="+mn-ea"/>
                <a:cs typeface="+mn-cs"/>
              </a:rPr>
              <a:t>, NEJM, 2020,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https://doi.org/10.1056/NEJMc2029240</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Calibri"/>
                <a:ea typeface="+mn-ea"/>
                <a:cs typeface="+mn-cs"/>
              </a:rPr>
              <a:t>Photo by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5">
                  <a:extLst>
                    <a:ext uri="{A12FA001-AC4F-418D-AE19-62706E023703}">
                      <ahyp:hlinkClr xmlns:ahyp="http://schemas.microsoft.com/office/drawing/2018/hyperlinkcolor" val="tx"/>
                    </a:ext>
                  </a:extLst>
                </a:hlinkClick>
              </a:rPr>
              <a:t>Syed Ali</a:t>
            </a:r>
            <a:r>
              <a:rPr kumimoji="0" lang="en-GB" sz="1400" b="0" i="0" u="none" strike="noStrike" kern="1200" cap="none" spc="0" normalizeH="0" baseline="0" noProof="0" dirty="0">
                <a:ln>
                  <a:noFill/>
                </a:ln>
                <a:solidFill>
                  <a:prstClr val="white"/>
                </a:solidFill>
                <a:effectLst/>
                <a:uLnTx/>
                <a:uFillTx/>
                <a:latin typeface="Calibri"/>
                <a:ea typeface="+mn-ea"/>
                <a:cs typeface="+mn-cs"/>
              </a:rPr>
              <a:t> on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Unsplash</a:t>
            </a:r>
            <a:r>
              <a:rPr kumimoji="0" lang="en-GB" sz="1400" b="0" i="0" u="none" strike="noStrike" kern="1200" cap="none" spc="0" normalizeH="0" baseline="0" noProof="0" dirty="0">
                <a:ln>
                  <a:noFill/>
                </a:ln>
                <a:solidFill>
                  <a:prstClr val="white"/>
                </a:solidFill>
                <a:effectLst/>
                <a:uLnTx/>
                <a:uFillTx/>
                <a:latin typeface="Calibri"/>
                <a:ea typeface="+mn-ea"/>
                <a:cs typeface="+mn-cs"/>
              </a:rPr>
              <a:t> </a:t>
            </a:r>
            <a:endParaRPr kumimoji="0" lang="en-US" sz="1333"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8">
                  <a:extLst>
                    <a:ext uri="{A12FA001-AC4F-418D-AE19-62706E023703}">
                      <ahyp:hlinkClr xmlns:ahyp="http://schemas.microsoft.com/office/drawing/2018/hyperlinkcolor" val="tx"/>
                    </a:ext>
                  </a:extLst>
                </a:hlinkClick>
              </a:rPr>
              <a:t>OGL 3.0</a:t>
            </a:r>
            <a:r>
              <a:rPr kumimoji="0" lang="en-US" sz="1333" b="0" i="0" u="none" strike="noStrike" kern="1200" cap="none" spc="0" normalizeH="0" baseline="0" noProof="0" dirty="0">
                <a:ln>
                  <a:noFill/>
                </a:ln>
                <a:solidFill>
                  <a:prstClr val="white"/>
                </a:solidFill>
                <a:effectLst/>
                <a:uLnTx/>
                <a:uFillTx/>
                <a:latin typeface="Calibri"/>
                <a:ea typeface="+mn-ea"/>
                <a:cs typeface="+mn-cs"/>
              </a:rPr>
              <a:t>)</a:t>
            </a: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82CB7323-DF9A-1505-5597-637C89BD7184}"/>
              </a:ext>
            </a:extLst>
          </p:cNvPr>
          <p:cNvSpPr txBox="1"/>
          <p:nvPr/>
        </p:nvSpPr>
        <p:spPr>
          <a:xfrm>
            <a:off x="6521760" y="2609744"/>
            <a:ext cx="1526748"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Guidance</a:t>
            </a:r>
          </a:p>
        </p:txBody>
      </p:sp>
      <p:sp>
        <p:nvSpPr>
          <p:cNvPr id="4" name="TextBox 3">
            <a:extLst>
              <a:ext uri="{FF2B5EF4-FFF2-40B4-BE49-F238E27FC236}">
                <a16:creationId xmlns:a16="http://schemas.microsoft.com/office/drawing/2014/main" id="{1B2B0E97-E835-0DC5-90B9-14FEA0C41B5F}"/>
              </a:ext>
            </a:extLst>
          </p:cNvPr>
          <p:cNvSpPr txBox="1"/>
          <p:nvPr/>
        </p:nvSpPr>
        <p:spPr>
          <a:xfrm>
            <a:off x="8898695" y="3597222"/>
            <a:ext cx="1841905" cy="830997"/>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development</a:t>
            </a:r>
          </a:p>
        </p:txBody>
      </p:sp>
      <p:sp>
        <p:nvSpPr>
          <p:cNvPr id="5" name="TextBox 4">
            <a:extLst>
              <a:ext uri="{FF2B5EF4-FFF2-40B4-BE49-F238E27FC236}">
                <a16:creationId xmlns:a16="http://schemas.microsoft.com/office/drawing/2014/main" id="{C11951FC-A926-2B05-B3B9-59C7AB6A8EB2}"/>
              </a:ext>
            </a:extLst>
          </p:cNvPr>
          <p:cNvSpPr txBox="1"/>
          <p:nvPr/>
        </p:nvSpPr>
        <p:spPr>
          <a:xfrm>
            <a:off x="7793144" y="3254959"/>
            <a:ext cx="1518493"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Regulation</a:t>
            </a:r>
          </a:p>
        </p:txBody>
      </p:sp>
      <p:sp>
        <p:nvSpPr>
          <p:cNvPr id="13" name="TextBox 12">
            <a:extLst>
              <a:ext uri="{FF2B5EF4-FFF2-40B4-BE49-F238E27FC236}">
                <a16:creationId xmlns:a16="http://schemas.microsoft.com/office/drawing/2014/main" id="{350294F9-EC0A-DA8F-8E3F-0FF09BB75E13}"/>
              </a:ext>
            </a:extLst>
          </p:cNvPr>
          <p:cNvSpPr txBox="1"/>
          <p:nvPr/>
        </p:nvSpPr>
        <p:spPr>
          <a:xfrm>
            <a:off x="10384289" y="4543946"/>
            <a:ext cx="1405230"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Research</a:t>
            </a:r>
          </a:p>
        </p:txBody>
      </p:sp>
      <p:sp>
        <p:nvSpPr>
          <p:cNvPr id="15" name="Rounded Rectangle 14">
            <a:extLst>
              <a:ext uri="{FF2B5EF4-FFF2-40B4-BE49-F238E27FC236}">
                <a16:creationId xmlns:a16="http://schemas.microsoft.com/office/drawing/2014/main" id="{B072C4EF-4670-2D50-3B3E-795BA28B2617}"/>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4118500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Potential research directions</a:t>
            </a:r>
          </a:p>
        </p:txBody>
      </p:sp>
      <p:sp>
        <p:nvSpPr>
          <p:cNvPr id="2" name="Content Placeholder 4">
            <a:extLst>
              <a:ext uri="{FF2B5EF4-FFF2-40B4-BE49-F238E27FC236}">
                <a16:creationId xmlns:a16="http://schemas.microsoft.com/office/drawing/2014/main" id="{493A0BAC-7F26-7B21-EF6C-92B911A47C13}"/>
              </a:ext>
            </a:extLst>
          </p:cNvPr>
          <p:cNvSpPr txBox="1">
            <a:spLocks/>
          </p:cNvSpPr>
          <p:nvPr/>
        </p:nvSpPr>
        <p:spPr bwMode="auto">
          <a:xfrm>
            <a:off x="609600" y="1143000"/>
            <a:ext cx="10972800" cy="266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kumimoji="0" lang="en-US" sz="2200" b="0" i="0" u="none" strike="noStrike" kern="1200" cap="none" spc="0" normalizeH="0" baseline="0" noProof="0" dirty="0">
                <a:ln>
                  <a:noFill/>
                </a:ln>
                <a:solidFill>
                  <a:prstClr val="black"/>
                </a:solidFill>
                <a:effectLst/>
                <a:uLnTx/>
                <a:uFillTx/>
                <a:latin typeface="Calibri"/>
                <a:ea typeface="+mn-ea"/>
                <a:cs typeface="+mn-cs"/>
              </a:rPr>
              <a:t>Understanding current practice in the NHS</a:t>
            </a:r>
          </a:p>
          <a:p>
            <a:pPr lvl="1">
              <a:buFont typeface="Arial" panose="020B0604020202020204" pitchFamily="34" charset="0"/>
              <a:buChar char="•"/>
            </a:pPr>
            <a:r>
              <a:rPr kumimoji="0" lang="en-US" sz="1800" b="0" i="0" u="none" strike="noStrike" kern="1200" cap="none" spc="0" normalizeH="0" baseline="0" noProof="0" dirty="0">
                <a:ln>
                  <a:noFill/>
                </a:ln>
                <a:solidFill>
                  <a:prstClr val="black"/>
                </a:solidFill>
                <a:effectLst/>
                <a:uLnTx/>
                <a:uFillTx/>
                <a:latin typeface="Calibri"/>
                <a:ea typeface="+mn-ea"/>
                <a:cs typeface="+mn-cs"/>
              </a:rPr>
              <a:t>What pulse oximeters are being used?</a:t>
            </a:r>
          </a:p>
          <a:p>
            <a:pPr lvl="1">
              <a:buFont typeface="Arial" panose="020B0604020202020204" pitchFamily="34" charset="0"/>
              <a:buChar char="•"/>
            </a:pPr>
            <a:r>
              <a:rPr lang="en-US" sz="1800" dirty="0">
                <a:solidFill>
                  <a:prstClr val="black"/>
                </a:solidFill>
                <a:latin typeface="Calibri"/>
              </a:rPr>
              <a:t>How do they inform decision making?</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i="0" u="none" strike="noStrike" kern="1200" cap="none" spc="0" normalizeH="0" baseline="0" noProof="0" dirty="0">
                <a:ln>
                  <a:noFill/>
                </a:ln>
                <a:solidFill>
                  <a:prstClr val="black"/>
                </a:solidFill>
                <a:effectLst/>
                <a:uLnTx/>
                <a:uFillTx/>
                <a:latin typeface="Calibri"/>
                <a:ea typeface="+mn-ea"/>
                <a:cs typeface="+mn-cs"/>
              </a:rPr>
              <a:t>Level of inaccuracy in pulse oximeters in UK</a:t>
            </a:r>
          </a:p>
          <a:p>
            <a:pPr lvl="1" indent="-342891">
              <a:buFont typeface="Arial" charset="0"/>
              <a:buChar char="•"/>
            </a:pPr>
            <a:r>
              <a:rPr lang="en-US" sz="1800" dirty="0">
                <a:solidFill>
                  <a:prstClr val="black"/>
                </a:solidFill>
                <a:latin typeface="Calibri"/>
              </a:rPr>
              <a:t>Retrospective study using routine blood gas measurements as reference.</a:t>
            </a:r>
          </a:p>
          <a:p>
            <a:pPr lvl="1" indent="-342891">
              <a:buFont typeface="Arial" charset="0"/>
              <a:buChar char="•"/>
            </a:pPr>
            <a:r>
              <a:rPr lang="en-US" sz="1800" dirty="0">
                <a:solidFill>
                  <a:prstClr val="black"/>
                </a:solidFill>
                <a:latin typeface="Calibri"/>
              </a:rPr>
              <a:t>Consider not only differences in accuracy between skin tones, but also overall accuracy and precision.</a:t>
            </a:r>
          </a:p>
        </p:txBody>
      </p:sp>
      <p:sp>
        <p:nvSpPr>
          <p:cNvPr id="5" name="TextBox 4">
            <a:extLst>
              <a:ext uri="{FF2B5EF4-FFF2-40B4-BE49-F238E27FC236}">
                <a16:creationId xmlns:a16="http://schemas.microsoft.com/office/drawing/2014/main" id="{DBAD5EF7-0E06-7ADD-665C-5EB7246088C5}"/>
              </a:ext>
            </a:extLst>
          </p:cNvPr>
          <p:cNvSpPr txBox="1"/>
          <p:nvPr/>
        </p:nvSpPr>
        <p:spPr>
          <a:xfrm>
            <a:off x="2568146" y="4151870"/>
            <a:ext cx="7055708" cy="923330"/>
          </a:xfrm>
          <a:prstGeom prst="rect">
            <a:avLst/>
          </a:prstGeom>
          <a:noFill/>
        </p:spPr>
        <p:txBody>
          <a:bodyPr wrap="square" rtlCol="0">
            <a:spAutoFit/>
          </a:bodyPr>
          <a:lstStyle/>
          <a:p>
            <a:pPr algn="ctr"/>
            <a:r>
              <a:rPr lang="en-US" i="1" dirty="0"/>
              <a:t>Estimates of precision vary between studies, methodologies, and devices.</a:t>
            </a:r>
          </a:p>
          <a:p>
            <a:pPr algn="ctr"/>
            <a:endParaRPr lang="en-US" i="1" dirty="0"/>
          </a:p>
          <a:p>
            <a:pPr algn="ctr"/>
            <a:r>
              <a:rPr lang="en-US" i="1" dirty="0"/>
              <a:t>e.g. Limits of agreement of +/- 4%</a:t>
            </a:r>
          </a:p>
        </p:txBody>
      </p:sp>
      <p:sp>
        <p:nvSpPr>
          <p:cNvPr id="6" name="TextBox 5">
            <a:extLst>
              <a:ext uri="{FF2B5EF4-FFF2-40B4-BE49-F238E27FC236}">
                <a16:creationId xmlns:a16="http://schemas.microsoft.com/office/drawing/2014/main" id="{3272623F-8096-9BF3-D5E1-BF7EE36F6843}"/>
              </a:ext>
            </a:extLst>
          </p:cNvPr>
          <p:cNvSpPr txBox="1"/>
          <p:nvPr/>
        </p:nvSpPr>
        <p:spPr>
          <a:xfrm>
            <a:off x="3432977" y="6507004"/>
            <a:ext cx="8817034" cy="307777"/>
          </a:xfrm>
          <a:prstGeom prst="rect">
            <a:avLst/>
          </a:prstGeom>
          <a:noFill/>
          <a:effectLst>
            <a:softEdge rad="50800"/>
          </a:effectLst>
        </p:spPr>
        <p:txBody>
          <a:bodyPr wrap="square" rtlCol="0">
            <a:spAutoFit/>
          </a:bodyPr>
          <a:lstStyle/>
          <a:p>
            <a:pPr algn="r">
              <a:defRPr/>
            </a:pPr>
            <a:r>
              <a:rPr kumimoji="0" lang="en-US" sz="1333" b="0" i="0" u="none" strike="noStrike" kern="1200" cap="none" spc="0" normalizeH="0" baseline="0" noProof="0" dirty="0">
                <a:ln>
                  <a:noFill/>
                </a:ln>
                <a:solidFill>
                  <a:schemeClr val="bg1"/>
                </a:solidFill>
                <a:effectLst/>
                <a:uLnTx/>
                <a:uFillTx/>
                <a:latin typeface="Calibri"/>
                <a:ea typeface="+mn-ea"/>
                <a:cs typeface="+mn-cs"/>
              </a:rPr>
              <a:t>Blanchet M-A </a:t>
            </a:r>
            <a:r>
              <a:rPr kumimoji="0" lang="en-US" sz="1333" b="0" i="1" u="none" strike="noStrike" kern="1200" cap="none" spc="0" normalizeH="0" baseline="0" noProof="0" dirty="0">
                <a:ln>
                  <a:noFill/>
                </a:ln>
                <a:solidFill>
                  <a:schemeClr val="bg1"/>
                </a:solidFill>
                <a:effectLst/>
                <a:uLnTx/>
                <a:uFillTx/>
                <a:latin typeface="Calibri"/>
                <a:ea typeface="+mn-ea"/>
                <a:cs typeface="+mn-cs"/>
              </a:rPr>
              <a:t>et al.</a:t>
            </a:r>
            <a:r>
              <a:rPr kumimoji="0" lang="en-US" sz="1333" b="0" u="none" strike="noStrike" kern="1200" cap="none" spc="0" normalizeH="0" baseline="0" noProof="0" dirty="0">
                <a:ln>
                  <a:noFill/>
                </a:ln>
                <a:solidFill>
                  <a:schemeClr val="bg1"/>
                </a:solidFill>
                <a:effectLst/>
                <a:uLnTx/>
                <a:uFillTx/>
                <a:latin typeface="Calibri"/>
                <a:ea typeface="+mn-ea"/>
                <a:cs typeface="+mn-cs"/>
              </a:rPr>
              <a:t>, </a:t>
            </a:r>
            <a:r>
              <a:rPr lang="en-US" sz="1333" baseline="0" dirty="0">
                <a:solidFill>
                  <a:schemeClr val="bg1"/>
                </a:solidFill>
                <a:latin typeface="Calibri"/>
              </a:rPr>
              <a:t>Respiratory Care</a:t>
            </a:r>
            <a:r>
              <a:rPr kumimoji="0" lang="en-US" sz="1333" b="0" u="none" strike="noStrike" kern="1200" cap="none" spc="0" normalizeH="0" noProof="0" dirty="0">
                <a:ln>
                  <a:noFill/>
                </a:ln>
                <a:solidFill>
                  <a:schemeClr val="bg1"/>
                </a:solidFill>
                <a:effectLst/>
                <a:uLnTx/>
                <a:uFillTx/>
                <a:latin typeface="Calibri"/>
                <a:ea typeface="+mn-ea"/>
                <a:cs typeface="+mn-cs"/>
              </a:rPr>
              <a:t>, 2023, </a:t>
            </a:r>
            <a:r>
              <a:rPr kumimoji="0" lang="en-US" sz="1333" b="0" u="none" strike="noStrike" kern="1200" cap="none" spc="0" normalizeH="0" noProof="0" dirty="0">
                <a:ln>
                  <a:noFill/>
                </a:ln>
                <a:solidFill>
                  <a:schemeClr val="bg1"/>
                </a:solidFill>
                <a:effectLst/>
                <a:uLnTx/>
                <a:uFillTx/>
                <a:latin typeface="Calibri"/>
                <a:ea typeface="+mn-ea"/>
                <a:cs typeface="+mn-cs"/>
                <a:hlinkClick r:id="rId2">
                  <a:extLst>
                    <a:ext uri="{A12FA001-AC4F-418D-AE19-62706E023703}">
                      <ahyp:hlinkClr xmlns:ahyp="http://schemas.microsoft.com/office/drawing/2018/hyperlinkcolor" val="tx"/>
                    </a:ext>
                  </a:extLst>
                </a:hlinkClick>
              </a:rPr>
              <a:t>https://doi.org/10.4187/respcare.10582</a:t>
            </a:r>
            <a:endParaRPr kumimoji="0" lang="en-US" sz="1333" b="0" i="0" u="none" strike="noStrike" kern="1200" cap="none" spc="0" normalizeH="0" baseline="0" noProof="0" dirty="0">
              <a:ln>
                <a:noFill/>
              </a:ln>
              <a:solidFill>
                <a:schemeClr val="bg1"/>
              </a:solidFill>
              <a:effectLst/>
              <a:uLnTx/>
              <a:uFillTx/>
              <a:latin typeface="Calibri"/>
            </a:endParaRPr>
          </a:p>
        </p:txBody>
      </p:sp>
    </p:spTree>
    <p:extLst>
      <p:ext uri="{BB962C8B-B14F-4D97-AF65-F5344CB8AC3E}">
        <p14:creationId xmlns:p14="http://schemas.microsoft.com/office/powerpoint/2010/main" val="120665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Potential research directions</a:t>
            </a:r>
          </a:p>
        </p:txBody>
      </p:sp>
      <p:sp>
        <p:nvSpPr>
          <p:cNvPr id="2" name="Content Placeholder 4">
            <a:extLst>
              <a:ext uri="{FF2B5EF4-FFF2-40B4-BE49-F238E27FC236}">
                <a16:creationId xmlns:a16="http://schemas.microsoft.com/office/drawing/2014/main" id="{493A0BAC-7F26-7B21-EF6C-92B911A47C13}"/>
              </a:ext>
            </a:extLst>
          </p:cNvPr>
          <p:cNvSpPr txBox="1">
            <a:spLocks/>
          </p:cNvSpPr>
          <p:nvPr/>
        </p:nvSpPr>
        <p:spPr bwMode="auto">
          <a:xfrm>
            <a:off x="609600" y="1143000"/>
            <a:ext cx="10972800" cy="266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kumimoji="0" lang="en-US" sz="2200" b="0" i="0" u="none" strike="noStrike" kern="1200" cap="none" spc="0" normalizeH="0" baseline="0" noProof="0" dirty="0">
                <a:ln>
                  <a:noFill/>
                </a:ln>
                <a:solidFill>
                  <a:prstClr val="black"/>
                </a:solidFill>
                <a:effectLst/>
                <a:uLnTx/>
                <a:uFillTx/>
                <a:latin typeface="Calibri"/>
                <a:ea typeface="+mn-ea"/>
                <a:cs typeface="+mn-cs"/>
              </a:rPr>
              <a:t>Understanding current practice in the NHS</a:t>
            </a:r>
          </a:p>
          <a:p>
            <a:pPr lvl="1">
              <a:buFont typeface="Arial" panose="020B0604020202020204" pitchFamily="34" charset="0"/>
              <a:buChar char="•"/>
            </a:pPr>
            <a:r>
              <a:rPr kumimoji="0" lang="en-US" sz="1800" b="0" i="0" u="none" strike="noStrike" kern="1200" cap="none" spc="0" normalizeH="0" baseline="0" noProof="0" dirty="0">
                <a:ln>
                  <a:noFill/>
                </a:ln>
                <a:solidFill>
                  <a:prstClr val="black"/>
                </a:solidFill>
                <a:effectLst/>
                <a:uLnTx/>
                <a:uFillTx/>
                <a:latin typeface="Calibri"/>
                <a:ea typeface="+mn-ea"/>
                <a:cs typeface="+mn-cs"/>
              </a:rPr>
              <a:t>What pulse oximeters are being used?</a:t>
            </a:r>
          </a:p>
          <a:p>
            <a:pPr lvl="1">
              <a:buFont typeface="Arial" panose="020B0604020202020204" pitchFamily="34" charset="0"/>
              <a:buChar char="•"/>
            </a:pPr>
            <a:r>
              <a:rPr lang="en-US" sz="1800" dirty="0">
                <a:solidFill>
                  <a:prstClr val="black"/>
                </a:solidFill>
                <a:latin typeface="Calibri"/>
              </a:rPr>
              <a:t>How do they inform decision making?</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i="0" u="none" strike="noStrike" kern="1200" cap="none" spc="0" normalizeH="0" baseline="0" noProof="0" dirty="0">
                <a:ln>
                  <a:noFill/>
                </a:ln>
                <a:solidFill>
                  <a:prstClr val="black"/>
                </a:solidFill>
                <a:effectLst/>
                <a:uLnTx/>
                <a:uFillTx/>
                <a:latin typeface="Calibri"/>
                <a:ea typeface="+mn-ea"/>
                <a:cs typeface="+mn-cs"/>
              </a:rPr>
              <a:t>Level of inaccuracy in pulse oximeters in UK</a:t>
            </a:r>
          </a:p>
          <a:p>
            <a:pPr lvl="1" indent="-342891">
              <a:buFont typeface="Arial" charset="0"/>
              <a:buChar char="•"/>
            </a:pPr>
            <a:r>
              <a:rPr lang="en-US" sz="1800" dirty="0">
                <a:solidFill>
                  <a:prstClr val="black"/>
                </a:solidFill>
                <a:latin typeface="Calibri"/>
              </a:rPr>
              <a:t>Retrospective study using routine blood gas measurements as reference.</a:t>
            </a:r>
          </a:p>
          <a:p>
            <a:pPr lvl="1" indent="-342891">
              <a:buFont typeface="Arial" charset="0"/>
              <a:buChar char="•"/>
            </a:pPr>
            <a:r>
              <a:rPr lang="en-US" sz="1800" dirty="0">
                <a:solidFill>
                  <a:prstClr val="black"/>
                </a:solidFill>
                <a:latin typeface="Calibri"/>
              </a:rPr>
              <a:t>Consider not only differences in accuracy between skin tones, but also overall accuracy and precision.</a:t>
            </a:r>
          </a:p>
          <a:p>
            <a:pPr lvl="1" indent="-342891">
              <a:buFont typeface="Arial" charset="0"/>
              <a:buChar char="•"/>
            </a:pPr>
            <a:r>
              <a:rPr lang="en-US" sz="1800" dirty="0">
                <a:solidFill>
                  <a:prstClr val="black"/>
                </a:solidFill>
                <a:latin typeface="Calibri"/>
              </a:rPr>
              <a:t>Consider differences between devices</a:t>
            </a:r>
          </a:p>
        </p:txBody>
      </p:sp>
      <p:sp>
        <p:nvSpPr>
          <p:cNvPr id="5" name="TextBox 4">
            <a:extLst>
              <a:ext uri="{FF2B5EF4-FFF2-40B4-BE49-F238E27FC236}">
                <a16:creationId xmlns:a16="http://schemas.microsoft.com/office/drawing/2014/main" id="{DBAD5EF7-0E06-7ADD-665C-5EB7246088C5}"/>
              </a:ext>
            </a:extLst>
          </p:cNvPr>
          <p:cNvSpPr txBox="1"/>
          <p:nvPr/>
        </p:nvSpPr>
        <p:spPr>
          <a:xfrm>
            <a:off x="2568146" y="4151870"/>
            <a:ext cx="7055708" cy="646331"/>
          </a:xfrm>
          <a:prstGeom prst="rect">
            <a:avLst/>
          </a:prstGeom>
          <a:noFill/>
        </p:spPr>
        <p:txBody>
          <a:bodyPr wrap="square" rtlCol="0">
            <a:spAutoFit/>
          </a:bodyPr>
          <a:lstStyle/>
          <a:p>
            <a:pPr algn="ctr"/>
            <a:r>
              <a:rPr lang="en-US" i="1" dirty="0"/>
              <a:t>“One oximeter overestimated SaO2 (Philips, +0.9%), whereas the 3 others underestimated SaO2 (</a:t>
            </a:r>
            <a:r>
              <a:rPr lang="en-US" i="1" dirty="0" err="1"/>
              <a:t>Nonin</a:t>
            </a:r>
            <a:r>
              <a:rPr lang="en-US" i="1" dirty="0"/>
              <a:t> −3.1%, </a:t>
            </a:r>
            <a:r>
              <a:rPr lang="en-US" i="1" dirty="0" err="1"/>
              <a:t>Nellcor</a:t>
            </a:r>
            <a:r>
              <a:rPr lang="en-US" i="1" dirty="0"/>
              <a:t> −0.3%, Masimo −0.2%).”</a:t>
            </a:r>
          </a:p>
        </p:txBody>
      </p:sp>
      <p:sp>
        <p:nvSpPr>
          <p:cNvPr id="6" name="TextBox 5">
            <a:extLst>
              <a:ext uri="{FF2B5EF4-FFF2-40B4-BE49-F238E27FC236}">
                <a16:creationId xmlns:a16="http://schemas.microsoft.com/office/drawing/2014/main" id="{3272623F-8096-9BF3-D5E1-BF7EE36F6843}"/>
              </a:ext>
            </a:extLst>
          </p:cNvPr>
          <p:cNvSpPr txBox="1"/>
          <p:nvPr/>
        </p:nvSpPr>
        <p:spPr>
          <a:xfrm>
            <a:off x="3432977" y="6507004"/>
            <a:ext cx="8817034" cy="307777"/>
          </a:xfrm>
          <a:prstGeom prst="rect">
            <a:avLst/>
          </a:prstGeom>
          <a:noFill/>
          <a:effectLst>
            <a:softEdge rad="50800"/>
          </a:effectLst>
        </p:spPr>
        <p:txBody>
          <a:bodyPr wrap="square" rtlCol="0">
            <a:spAutoFit/>
          </a:bodyPr>
          <a:lstStyle/>
          <a:p>
            <a:pPr algn="r">
              <a:defRPr/>
            </a:pPr>
            <a:r>
              <a:rPr kumimoji="0" lang="en-US" sz="1333" b="0" i="0" u="none" strike="noStrike" kern="1200" cap="none" spc="0" normalizeH="0" baseline="0" noProof="0" dirty="0">
                <a:ln>
                  <a:noFill/>
                </a:ln>
                <a:solidFill>
                  <a:schemeClr val="bg1"/>
                </a:solidFill>
                <a:effectLst/>
                <a:uLnTx/>
                <a:uFillTx/>
                <a:latin typeface="Calibri"/>
                <a:ea typeface="+mn-ea"/>
                <a:cs typeface="+mn-cs"/>
              </a:rPr>
              <a:t>Blanchet M-A </a:t>
            </a:r>
            <a:r>
              <a:rPr kumimoji="0" lang="en-US" sz="1333" b="0" i="1" u="none" strike="noStrike" kern="1200" cap="none" spc="0" normalizeH="0" baseline="0" noProof="0" dirty="0">
                <a:ln>
                  <a:noFill/>
                </a:ln>
                <a:solidFill>
                  <a:schemeClr val="bg1"/>
                </a:solidFill>
                <a:effectLst/>
                <a:uLnTx/>
                <a:uFillTx/>
                <a:latin typeface="Calibri"/>
                <a:ea typeface="+mn-ea"/>
                <a:cs typeface="+mn-cs"/>
              </a:rPr>
              <a:t>et al.</a:t>
            </a:r>
            <a:r>
              <a:rPr kumimoji="0" lang="en-US" sz="1333" b="0" u="none" strike="noStrike" kern="1200" cap="none" spc="0" normalizeH="0" baseline="0" noProof="0" dirty="0">
                <a:ln>
                  <a:noFill/>
                </a:ln>
                <a:solidFill>
                  <a:schemeClr val="bg1"/>
                </a:solidFill>
                <a:effectLst/>
                <a:uLnTx/>
                <a:uFillTx/>
                <a:latin typeface="Calibri"/>
                <a:ea typeface="+mn-ea"/>
                <a:cs typeface="+mn-cs"/>
              </a:rPr>
              <a:t>, </a:t>
            </a:r>
            <a:r>
              <a:rPr lang="en-US" sz="1333" baseline="0" dirty="0">
                <a:solidFill>
                  <a:schemeClr val="bg1"/>
                </a:solidFill>
                <a:latin typeface="Calibri"/>
              </a:rPr>
              <a:t>Respiratory Care</a:t>
            </a:r>
            <a:r>
              <a:rPr kumimoji="0" lang="en-US" sz="1333" b="0" u="none" strike="noStrike" kern="1200" cap="none" spc="0" normalizeH="0" noProof="0" dirty="0">
                <a:ln>
                  <a:noFill/>
                </a:ln>
                <a:solidFill>
                  <a:schemeClr val="bg1"/>
                </a:solidFill>
                <a:effectLst/>
                <a:uLnTx/>
                <a:uFillTx/>
                <a:latin typeface="Calibri"/>
                <a:ea typeface="+mn-ea"/>
                <a:cs typeface="+mn-cs"/>
              </a:rPr>
              <a:t>, 2023, </a:t>
            </a:r>
            <a:r>
              <a:rPr kumimoji="0" lang="en-US" sz="1333" b="0" u="none" strike="noStrike" kern="1200" cap="none" spc="0" normalizeH="0" noProof="0" dirty="0">
                <a:ln>
                  <a:noFill/>
                </a:ln>
                <a:solidFill>
                  <a:schemeClr val="bg1"/>
                </a:solidFill>
                <a:effectLst/>
                <a:uLnTx/>
                <a:uFillTx/>
                <a:latin typeface="Calibri"/>
                <a:ea typeface="+mn-ea"/>
                <a:cs typeface="+mn-cs"/>
                <a:hlinkClick r:id="rId2">
                  <a:extLst>
                    <a:ext uri="{A12FA001-AC4F-418D-AE19-62706E023703}">
                      <ahyp:hlinkClr xmlns:ahyp="http://schemas.microsoft.com/office/drawing/2018/hyperlinkcolor" val="tx"/>
                    </a:ext>
                  </a:extLst>
                </a:hlinkClick>
              </a:rPr>
              <a:t>https://doi.org/10.4187/respcare.10582</a:t>
            </a:r>
            <a:endParaRPr kumimoji="0" lang="en-US" sz="1333" b="0" i="0" u="none" strike="noStrike" kern="1200" cap="none" spc="0" normalizeH="0" baseline="0" noProof="0" dirty="0">
              <a:ln>
                <a:noFill/>
              </a:ln>
              <a:solidFill>
                <a:schemeClr val="bg1"/>
              </a:solidFill>
              <a:effectLst/>
              <a:uLnTx/>
              <a:uFillTx/>
              <a:latin typeface="Calibri"/>
            </a:endParaRPr>
          </a:p>
        </p:txBody>
      </p:sp>
    </p:spTree>
    <p:extLst>
      <p:ext uri="{BB962C8B-B14F-4D97-AF65-F5344CB8AC3E}">
        <p14:creationId xmlns:p14="http://schemas.microsoft.com/office/powerpoint/2010/main" val="2777090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E9E06-0EAF-C8ED-A919-7B271182A555}"/>
              </a:ext>
            </a:extLst>
          </p:cNvPr>
          <p:cNvSpPr>
            <a:spLocks noGrp="1"/>
          </p:cNvSpPr>
          <p:nvPr>
            <p:ph type="title"/>
          </p:nvPr>
        </p:nvSpPr>
        <p:spPr/>
        <p:txBody>
          <a:bodyPr/>
          <a:lstStyle/>
          <a:p>
            <a:r>
              <a:rPr lang="en-US" dirty="0"/>
              <a:t>Potential research directions</a:t>
            </a:r>
          </a:p>
        </p:txBody>
      </p:sp>
      <p:sp>
        <p:nvSpPr>
          <p:cNvPr id="2" name="Content Placeholder 4">
            <a:extLst>
              <a:ext uri="{FF2B5EF4-FFF2-40B4-BE49-F238E27FC236}">
                <a16:creationId xmlns:a16="http://schemas.microsoft.com/office/drawing/2014/main" id="{493A0BAC-7F26-7B21-EF6C-92B911A47C13}"/>
              </a:ext>
            </a:extLst>
          </p:cNvPr>
          <p:cNvSpPr txBox="1">
            <a:spLocks/>
          </p:cNvSpPr>
          <p:nvPr/>
        </p:nvSpPr>
        <p:spPr bwMode="auto">
          <a:xfrm>
            <a:off x="609600" y="1143000"/>
            <a:ext cx="10972800" cy="4595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kumimoji="0" lang="en-US" sz="2200" b="0" i="0" u="none" strike="noStrike" kern="1200" cap="none" spc="0" normalizeH="0" baseline="0" noProof="0" dirty="0">
                <a:ln>
                  <a:noFill/>
                </a:ln>
                <a:solidFill>
                  <a:prstClr val="black"/>
                </a:solidFill>
                <a:effectLst/>
                <a:uLnTx/>
                <a:uFillTx/>
                <a:latin typeface="Calibri"/>
                <a:ea typeface="+mn-ea"/>
                <a:cs typeface="+mn-cs"/>
              </a:rPr>
              <a:t>Understanding current practice in the NHS</a:t>
            </a:r>
          </a:p>
          <a:p>
            <a:pPr lvl="1">
              <a:buFont typeface="Arial" panose="020B0604020202020204" pitchFamily="34" charset="0"/>
              <a:buChar char="•"/>
            </a:pPr>
            <a:r>
              <a:rPr kumimoji="0" lang="en-US" sz="1800" b="0" i="0" u="none" strike="noStrike" kern="1200" cap="none" spc="0" normalizeH="0" baseline="0" noProof="0" dirty="0">
                <a:ln>
                  <a:noFill/>
                </a:ln>
                <a:solidFill>
                  <a:prstClr val="black"/>
                </a:solidFill>
                <a:effectLst/>
                <a:uLnTx/>
                <a:uFillTx/>
                <a:latin typeface="Calibri"/>
                <a:ea typeface="+mn-ea"/>
                <a:cs typeface="+mn-cs"/>
              </a:rPr>
              <a:t>What pulse oximeters are being used?</a:t>
            </a:r>
          </a:p>
          <a:p>
            <a:pPr lvl="1">
              <a:buFont typeface="Arial" panose="020B0604020202020204" pitchFamily="34" charset="0"/>
              <a:buChar char="•"/>
            </a:pPr>
            <a:r>
              <a:rPr lang="en-US" sz="1800" dirty="0">
                <a:solidFill>
                  <a:prstClr val="black"/>
                </a:solidFill>
                <a:latin typeface="Calibri"/>
              </a:rPr>
              <a:t>How do they inform decision making?</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i="0" u="none" strike="noStrike" kern="1200" cap="none" spc="0" normalizeH="0" baseline="0" noProof="0" dirty="0">
                <a:ln>
                  <a:noFill/>
                </a:ln>
                <a:solidFill>
                  <a:prstClr val="black"/>
                </a:solidFill>
                <a:effectLst/>
                <a:uLnTx/>
                <a:uFillTx/>
                <a:latin typeface="Calibri"/>
                <a:ea typeface="+mn-ea"/>
                <a:cs typeface="+mn-cs"/>
              </a:rPr>
              <a:t>Level of inaccuracy in pulse oximeters in UK</a:t>
            </a:r>
          </a:p>
          <a:p>
            <a:pPr lvl="1" indent="-342891">
              <a:buFont typeface="Arial" charset="0"/>
              <a:buChar char="•"/>
            </a:pPr>
            <a:r>
              <a:rPr lang="en-US" sz="1800" dirty="0">
                <a:solidFill>
                  <a:prstClr val="black"/>
                </a:solidFill>
                <a:latin typeface="Calibri"/>
              </a:rPr>
              <a:t>Retrospective study using routine blood gas measurements as reference.</a:t>
            </a:r>
          </a:p>
          <a:p>
            <a:pPr lvl="1" indent="-342891">
              <a:buFont typeface="Arial" charset="0"/>
              <a:buChar char="•"/>
            </a:pPr>
            <a:r>
              <a:rPr lang="en-US" sz="1800" dirty="0">
                <a:solidFill>
                  <a:prstClr val="black"/>
                </a:solidFill>
                <a:latin typeface="Calibri"/>
              </a:rPr>
              <a:t>Consider not only differences in accuracy between skin tones, but also overall accuracy and precision.</a:t>
            </a:r>
          </a:p>
          <a:p>
            <a:pPr lvl="1" indent="-342891">
              <a:buFont typeface="Arial" charset="0"/>
              <a:buChar char="•"/>
            </a:pPr>
            <a:r>
              <a:rPr lang="en-US" sz="1800" dirty="0">
                <a:solidFill>
                  <a:prstClr val="black"/>
                </a:solidFill>
                <a:latin typeface="Calibri"/>
              </a:rPr>
              <a:t>Consider differences between devices</a:t>
            </a:r>
          </a:p>
          <a:p>
            <a:pPr lvl="1" indent="-342891">
              <a:buFont typeface="Arial" charset="0"/>
              <a:buChar char="•"/>
            </a:pPr>
            <a:r>
              <a:rPr kumimoji="0" lang="en-US" sz="1800" i="0" u="none" strike="noStrike" kern="1200" cap="none" spc="0" normalizeH="0" baseline="0" noProof="0" dirty="0">
                <a:ln>
                  <a:noFill/>
                </a:ln>
                <a:solidFill>
                  <a:prstClr val="black"/>
                </a:solidFill>
                <a:effectLst/>
                <a:uLnTx/>
                <a:uFillTx/>
                <a:latin typeface="Calibri"/>
                <a:ea typeface="+mn-ea"/>
                <a:cs typeface="+mn-cs"/>
              </a:rPr>
              <a:t>Consider additional populations (e.g. neonates)</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i="0" u="none" strike="noStrike" kern="1200" cap="none" spc="0" normalizeH="0" baseline="0" noProof="0" dirty="0">
                <a:ln>
                  <a:noFill/>
                </a:ln>
                <a:solidFill>
                  <a:prstClr val="black"/>
                </a:solidFill>
                <a:effectLst/>
                <a:uLnTx/>
                <a:uFillTx/>
                <a:latin typeface="Calibri"/>
                <a:ea typeface="+mn-ea"/>
                <a:cs typeface="+mn-cs"/>
              </a:rPr>
              <a:t>Impact of inaccuracies in pulse oximetry </a:t>
            </a:r>
            <a:r>
              <a:rPr lang="en-US" sz="2200" dirty="0">
                <a:solidFill>
                  <a:prstClr val="black"/>
                </a:solidFill>
                <a:latin typeface="Calibri"/>
              </a:rPr>
              <a:t>on outcomes</a:t>
            </a:r>
          </a:p>
          <a:p>
            <a:pPr lvl="1" indent="-342891">
              <a:buFont typeface="Arial" charset="0"/>
              <a:buChar char="•"/>
            </a:pPr>
            <a:r>
              <a:rPr kumimoji="0" lang="en-US" sz="1800" i="0" u="none" strike="noStrike" kern="1200" cap="none" spc="0" normalizeH="0" baseline="0" noProof="0" dirty="0">
                <a:ln>
                  <a:noFill/>
                </a:ln>
                <a:solidFill>
                  <a:prstClr val="black"/>
                </a:solidFill>
                <a:effectLst/>
                <a:uLnTx/>
                <a:uFillTx/>
                <a:latin typeface="Calibri"/>
                <a:ea typeface="+mn-ea"/>
                <a:cs typeface="+mn-cs"/>
              </a:rPr>
              <a:t>Assessing the scale of the problem in the UK</a:t>
            </a:r>
          </a:p>
          <a:p>
            <a:pPr lvl="1" indent="-342891">
              <a:buFont typeface="Arial" charset="0"/>
              <a:buChar char="•"/>
            </a:pPr>
            <a:r>
              <a:rPr lang="en-US" sz="1800" dirty="0">
                <a:solidFill>
                  <a:prstClr val="black"/>
                </a:solidFill>
                <a:latin typeface="Calibri"/>
              </a:rPr>
              <a:t>Retrospective study (e.g. using ICNARC) on occult </a:t>
            </a:r>
            <a:r>
              <a:rPr lang="en-US" sz="1800" dirty="0" err="1">
                <a:solidFill>
                  <a:prstClr val="black"/>
                </a:solidFill>
                <a:latin typeface="Calibri"/>
              </a:rPr>
              <a:t>hypoxaemia</a:t>
            </a:r>
            <a:r>
              <a:rPr lang="en-US" sz="1800" dirty="0">
                <a:solidFill>
                  <a:prstClr val="black"/>
                </a:solidFill>
                <a:latin typeface="Calibri"/>
              </a:rPr>
              <a:t>, or morbidity and mortality</a:t>
            </a:r>
          </a:p>
          <a:p>
            <a:pPr lvl="1" indent="-342891">
              <a:buFont typeface="Arial" charset="0"/>
              <a:buChar char="•"/>
            </a:pPr>
            <a:r>
              <a:rPr lang="en-US" sz="1800" dirty="0">
                <a:solidFill>
                  <a:prstClr val="black"/>
                </a:solidFill>
                <a:latin typeface="Calibri"/>
              </a:rPr>
              <a:t>Prospective study using objective quantification of skin tone</a:t>
            </a:r>
          </a:p>
          <a:p>
            <a:pPr marL="342891" marR="0" lvl="0" indent="-342891"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200" b="0" i="0" u="none" strike="noStrike" kern="1200" cap="none" spc="0" normalizeH="0" baseline="0" noProof="0" dirty="0">
                <a:ln>
                  <a:noFill/>
                </a:ln>
                <a:solidFill>
                  <a:prstClr val="black"/>
                </a:solidFill>
                <a:effectLst/>
                <a:uLnTx/>
                <a:uFillTx/>
                <a:latin typeface="Calibri"/>
                <a:ea typeface="+mn-ea"/>
                <a:cs typeface="+mn-cs"/>
              </a:rPr>
              <a:t>Mitigation of differential bias with existing devices</a:t>
            </a:r>
          </a:p>
          <a:p>
            <a:pPr lvl="1" indent="-342891">
              <a:buFont typeface="Arial" charset="0"/>
              <a:buChar char="•"/>
              <a:defRPr/>
            </a:pPr>
            <a:r>
              <a:rPr lang="en-US" sz="1800" dirty="0">
                <a:solidFill>
                  <a:prstClr val="black"/>
                </a:solidFill>
                <a:latin typeface="Calibri"/>
              </a:rPr>
              <a:t>Learn appropriate corrections</a:t>
            </a:r>
          </a:p>
          <a:p>
            <a:pPr lvl="1" indent="-342891">
              <a:buFont typeface="Arial" charset="0"/>
              <a:buChar char="•"/>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(somehow) apply these in practice (e.g. based on self-reported ethnicity)</a:t>
            </a:r>
          </a:p>
          <a:p>
            <a:pPr marL="400041" lvl="1" indent="0">
              <a:buNone/>
            </a:pPr>
            <a:endParaRPr kumimoji="0" lang="en-US" sz="180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39648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7E285B3E-9EA5-4946-A1FA-19E08F608AEA}"/>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rcRect l="7117" t="18151" b="15765"/>
          <a:stretch/>
        </p:blipFill>
        <p:spPr bwMode="auto">
          <a:xfrm>
            <a:off x="-2" y="-1"/>
            <a:ext cx="6842214" cy="64908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1BDF03E-538B-604B-ADBC-71122B1497B6}"/>
              </a:ext>
            </a:extLst>
          </p:cNvPr>
          <p:cNvSpPr/>
          <p:nvPr/>
        </p:nvSpPr>
        <p:spPr>
          <a:xfrm>
            <a:off x="-2" y="0"/>
            <a:ext cx="12192000" cy="6498000"/>
          </a:xfrm>
          <a:prstGeom prst="rect">
            <a:avLst/>
          </a:prstGeom>
          <a:solidFill>
            <a:schemeClr val="bg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46EB624A-4164-9745-8022-9C012739EB06}"/>
              </a:ext>
            </a:extLst>
          </p:cNvPr>
          <p:cNvSpPr txBox="1"/>
          <p:nvPr/>
        </p:nvSpPr>
        <p:spPr>
          <a:xfrm>
            <a:off x="78033" y="6560546"/>
            <a:ext cx="7457884" cy="292388"/>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Calibri"/>
                <a:ea typeface="+mn-ea"/>
                <a:cs typeface="+mn-cs"/>
              </a:rPr>
              <a:t>Sonia Sevilla, </a:t>
            </a:r>
            <a:r>
              <a:rPr kumimoji="0" lang="en-US" sz="13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https://commons.wikimedia.org/wiki/File:Kamar_Zard_Buzhan_-_Nishapur_1.jpg</a:t>
            </a:r>
            <a:r>
              <a:rPr kumimoji="0" lang="en-US" sz="1300" b="0" i="0" u="none" strike="noStrike" kern="1200" cap="none" spc="0" normalizeH="0" baseline="0" noProof="0" dirty="0">
                <a:ln>
                  <a:noFill/>
                </a:ln>
                <a:solidFill>
                  <a:prstClr val="white"/>
                </a:solidFill>
                <a:effectLst/>
                <a:uLnTx/>
                <a:uFillTx/>
                <a:latin typeface="Calibri"/>
                <a:ea typeface="+mn-ea"/>
                <a:cs typeface="+mn-cs"/>
              </a:rPr>
              <a:t> (</a:t>
            </a:r>
            <a:r>
              <a:rPr kumimoji="0" lang="en-US" sz="1300"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CC0 1.0</a:t>
            </a:r>
            <a:r>
              <a:rPr kumimoji="0" lang="en-US" sz="1300" b="0" i="0" u="none" strike="noStrike" kern="1200" cap="none" spc="0" normalizeH="0" baseline="0" noProof="0" dirty="0">
                <a:ln>
                  <a:noFill/>
                </a:ln>
                <a:solidFill>
                  <a:prstClr val="white"/>
                </a:solidFill>
                <a:effectLst/>
                <a:uLnTx/>
                <a:uFillTx/>
                <a:latin typeface="Calibri"/>
                <a:ea typeface="+mn-ea"/>
                <a:cs typeface="+mn-cs"/>
              </a:rPr>
              <a:t>)</a:t>
            </a:r>
          </a:p>
        </p:txBody>
      </p:sp>
      <p:sp>
        <p:nvSpPr>
          <p:cNvPr id="3" name="TextBox 2">
            <a:extLst>
              <a:ext uri="{FF2B5EF4-FFF2-40B4-BE49-F238E27FC236}">
                <a16:creationId xmlns:a16="http://schemas.microsoft.com/office/drawing/2014/main" id="{EA6E9817-B82B-C845-B1DB-D55CF861F1D0}"/>
              </a:ext>
            </a:extLst>
          </p:cNvPr>
          <p:cNvSpPr txBox="1"/>
          <p:nvPr/>
        </p:nvSpPr>
        <p:spPr>
          <a:xfrm>
            <a:off x="5360414" y="480507"/>
            <a:ext cx="5738510" cy="830997"/>
          </a:xfrm>
          <a:prstGeom prst="rect">
            <a:avLst/>
          </a:prstGeom>
          <a:solidFill>
            <a:schemeClr val="bg1"/>
          </a:solidFill>
          <a:effectLst>
            <a:glow rad="203200">
              <a:schemeClr val="bg1"/>
            </a:glo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Much work has been done to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recognise</a:t>
            </a:r>
            <a:r>
              <a:rPr kumimoji="0" lang="en-US" sz="2400" b="0" i="0" u="none" strike="noStrike" kern="1200" cap="none" spc="0" normalizeH="0" noProof="0" dirty="0">
                <a:ln>
                  <a:noFill/>
                </a:ln>
                <a:solidFill>
                  <a:prstClr val="black"/>
                </a:solidFill>
                <a:effectLst/>
                <a:uLnTx/>
                <a:uFillTx/>
                <a:latin typeface="Calibri"/>
                <a:ea typeface="+mn-ea"/>
                <a:cs typeface="+mn-cs"/>
              </a:rPr>
              <a:t> the problem of racial bias in pulse oximetry.</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Box 4">
            <a:extLst>
              <a:ext uri="{FF2B5EF4-FFF2-40B4-BE49-F238E27FC236}">
                <a16:creationId xmlns:a16="http://schemas.microsoft.com/office/drawing/2014/main" id="{2CE14166-53EA-D945-A68A-35BBF1C29890}"/>
              </a:ext>
            </a:extLst>
          </p:cNvPr>
          <p:cNvSpPr txBox="1"/>
          <p:nvPr/>
        </p:nvSpPr>
        <p:spPr>
          <a:xfrm>
            <a:off x="5360414" y="1904273"/>
            <a:ext cx="5738510" cy="2677656"/>
          </a:xfrm>
          <a:prstGeom prst="rect">
            <a:avLst/>
          </a:prstGeom>
          <a:solidFill>
            <a:schemeClr val="bg1"/>
          </a:solidFill>
          <a:effectLst>
            <a:glow rad="203200">
              <a:schemeClr val="bg1"/>
            </a:glow>
          </a:effectLst>
        </p:spPr>
        <p:txBody>
          <a:bodyPr wrap="square" rtlCol="0">
            <a:spAutoFit/>
          </a:bodyPr>
          <a:lstStyle/>
          <a:p>
            <a:pPr lvl="0">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There is much work to be done to mitigate against and overcome this </a:t>
            </a:r>
            <a:r>
              <a:rPr lang="en-US" sz="2400" dirty="0">
                <a:solidFill>
                  <a:prstClr val="black"/>
                </a:solidFill>
              </a:rPr>
              <a:t>problem. Areas for interdisciplinary work include:</a:t>
            </a:r>
          </a:p>
          <a:p>
            <a:pPr marL="342900" lvl="0" indent="-342900">
              <a:buFont typeface="Arial" panose="020B0604020202020204" pitchFamily="34" charset="0"/>
              <a:buChar char="•"/>
              <a:defRPr/>
            </a:pPr>
            <a:r>
              <a:rPr lang="en-US" sz="2400" dirty="0">
                <a:solidFill>
                  <a:prstClr val="black"/>
                </a:solidFill>
              </a:rPr>
              <a:t>Providing guidance</a:t>
            </a:r>
          </a:p>
          <a:p>
            <a:pPr marL="342900" lvl="0" indent="-342900">
              <a:buFont typeface="Arial" panose="020B0604020202020204" pitchFamily="34" charset="0"/>
              <a:buChar char="•"/>
              <a:defRPr/>
            </a:pPr>
            <a:r>
              <a:rPr lang="en-US" sz="2400" dirty="0">
                <a:solidFill>
                  <a:prstClr val="black"/>
                </a:solidFill>
              </a:rPr>
              <a:t>Enhancing regulation</a:t>
            </a:r>
          </a:p>
          <a:p>
            <a:pPr marL="342900" lvl="0" indent="-342900">
              <a:buFont typeface="Arial" panose="020B0604020202020204" pitchFamily="34" charset="0"/>
              <a:buChar char="•"/>
              <a:defRPr/>
            </a:pPr>
            <a:r>
              <a:rPr lang="en-US" sz="2400" dirty="0">
                <a:solidFill>
                  <a:prstClr val="black"/>
                </a:solidFill>
              </a:rPr>
              <a:t>Device development</a:t>
            </a:r>
          </a:p>
          <a:p>
            <a:pPr marL="342900" lvl="0" indent="-342900">
              <a:buFont typeface="Arial" panose="020B0604020202020204" pitchFamily="34" charset="0"/>
              <a:buChar char="•"/>
              <a:defRPr/>
            </a:pPr>
            <a:r>
              <a:rPr lang="en-US" sz="2400" dirty="0">
                <a:solidFill>
                  <a:prstClr val="black"/>
                </a:solidFill>
              </a:rPr>
              <a:t>Research</a:t>
            </a:r>
          </a:p>
        </p:txBody>
      </p:sp>
      <p:sp>
        <p:nvSpPr>
          <p:cNvPr id="6" name="TextBox 5">
            <a:extLst>
              <a:ext uri="{FF2B5EF4-FFF2-40B4-BE49-F238E27FC236}">
                <a16:creationId xmlns:a16="http://schemas.microsoft.com/office/drawing/2014/main" id="{0652A66A-D68A-C940-885E-45389A5C0695}"/>
              </a:ext>
            </a:extLst>
          </p:cNvPr>
          <p:cNvSpPr txBox="1"/>
          <p:nvPr/>
        </p:nvSpPr>
        <p:spPr>
          <a:xfrm>
            <a:off x="5360414" y="5174698"/>
            <a:ext cx="5738510" cy="830997"/>
          </a:xfrm>
          <a:prstGeom prst="rect">
            <a:avLst/>
          </a:prstGeom>
          <a:solidFill>
            <a:schemeClr val="bg1"/>
          </a:solidFill>
          <a:effectLst>
            <a:glow rad="203200">
              <a:schemeClr val="bg1"/>
            </a:glo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Today</a:t>
            </a:r>
            <a:r>
              <a:rPr kumimoji="0" lang="en-US" sz="2400" b="0" i="0" u="none" strike="noStrike" kern="1200" cap="none" spc="0" normalizeH="0" noProof="0" dirty="0">
                <a:ln>
                  <a:noFill/>
                </a:ln>
                <a:solidFill>
                  <a:prstClr val="black"/>
                </a:solidFill>
                <a:effectLst/>
                <a:uLnTx/>
                <a:uFillTx/>
                <a:latin typeface="Calibri"/>
                <a:ea typeface="+mn-ea"/>
                <a:cs typeface="+mn-cs"/>
              </a:rPr>
              <a:t> we have a valuable opportunity to </a:t>
            </a:r>
            <a:r>
              <a:rPr kumimoji="0" lang="en-US" sz="2400" b="0" i="0" u="none" strike="noStrike" kern="1200" cap="none" spc="0" normalizeH="0" noProof="0" dirty="0" err="1">
                <a:ln>
                  <a:noFill/>
                </a:ln>
                <a:solidFill>
                  <a:prstClr val="black"/>
                </a:solidFill>
                <a:effectLst/>
                <a:uLnTx/>
                <a:uFillTx/>
                <a:latin typeface="Calibri"/>
                <a:ea typeface="+mn-ea"/>
                <a:cs typeface="+mn-cs"/>
              </a:rPr>
              <a:t>catalyse</a:t>
            </a:r>
            <a:r>
              <a:rPr kumimoji="0" lang="en-US" sz="2400" b="0" i="0" u="none" strike="noStrike" kern="1200" cap="none" spc="0" normalizeH="0" noProof="0" dirty="0">
                <a:ln>
                  <a:noFill/>
                </a:ln>
                <a:solidFill>
                  <a:prstClr val="black"/>
                </a:solidFill>
                <a:effectLst/>
                <a:uLnTx/>
                <a:uFillTx/>
                <a:latin typeface="Calibri"/>
                <a:ea typeface="+mn-ea"/>
                <a:cs typeface="+mn-cs"/>
              </a:rPr>
              <a:t> such work.</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custDataLst>
      <p:tags r:id="rId1"/>
    </p:custDataLst>
    <p:extLst>
      <p:ext uri="{BB962C8B-B14F-4D97-AF65-F5344CB8AC3E}">
        <p14:creationId xmlns:p14="http://schemas.microsoft.com/office/powerpoint/2010/main" val="114938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3" grpId="0" animBg="1"/>
      <p:bldP spid="5"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CEDD17-CAC3-8F06-DC0F-92B2B20710F1}"/>
              </a:ext>
            </a:extLst>
          </p:cNvPr>
          <p:cNvSpPr txBox="1"/>
          <p:nvPr/>
        </p:nvSpPr>
        <p:spPr>
          <a:xfrm>
            <a:off x="58189" y="6296737"/>
            <a:ext cx="8817034" cy="297454"/>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err="1">
                <a:ln>
                  <a:noFill/>
                </a:ln>
                <a:solidFill>
                  <a:prstClr val="white"/>
                </a:solidFill>
                <a:effectLst/>
                <a:uLnTx/>
                <a:uFillTx/>
                <a:latin typeface="Calibri"/>
                <a:ea typeface="+mn-ea"/>
                <a:cs typeface="+mn-cs"/>
              </a:rPr>
              <a:t>Sjoding</a:t>
            </a:r>
            <a:r>
              <a:rPr kumimoji="0" lang="en-US" sz="1333" b="0" i="0" u="none" strike="noStrike" kern="1200" cap="none" spc="0" normalizeH="0" baseline="0" noProof="0" dirty="0">
                <a:ln>
                  <a:noFill/>
                </a:ln>
                <a:solidFill>
                  <a:prstClr val="white"/>
                </a:solidFill>
                <a:effectLst/>
                <a:uLnTx/>
                <a:uFillTx/>
                <a:latin typeface="Calibri"/>
                <a:ea typeface="+mn-ea"/>
                <a:cs typeface="+mn-cs"/>
              </a:rPr>
              <a:t> MW </a:t>
            </a:r>
            <a:r>
              <a:rPr kumimoji="0" lang="en-US" sz="1333" b="0" i="1" u="none" strike="noStrike" kern="1200" cap="none" spc="0" normalizeH="0" baseline="0" noProof="0" dirty="0">
                <a:ln>
                  <a:noFill/>
                </a:ln>
                <a:solidFill>
                  <a:prstClr val="white"/>
                </a:solidFill>
                <a:effectLst/>
                <a:uLnTx/>
                <a:uFillTx/>
                <a:latin typeface="Calibri"/>
                <a:ea typeface="+mn-ea"/>
                <a:cs typeface="+mn-cs"/>
              </a:rPr>
              <a:t>et al.</a:t>
            </a:r>
            <a:r>
              <a:rPr kumimoji="0" lang="en-US" sz="1333" b="0" i="0" u="none" strike="noStrike" kern="1200" cap="none" spc="0" normalizeH="0" baseline="0" noProof="0" dirty="0">
                <a:ln>
                  <a:noFill/>
                </a:ln>
                <a:solidFill>
                  <a:prstClr val="white"/>
                </a:solidFill>
                <a:effectLst/>
                <a:uLnTx/>
                <a:uFillTx/>
                <a:latin typeface="Calibri"/>
                <a:ea typeface="+mn-ea"/>
                <a:cs typeface="+mn-cs"/>
              </a:rPr>
              <a:t>, NEJM, 2020,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https://doi.org/10.1056/NEJMc2029240</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p>
        </p:txBody>
      </p:sp>
      <p:pic>
        <p:nvPicPr>
          <p:cNvPr id="6" name="Picture 5">
            <a:extLst>
              <a:ext uri="{FF2B5EF4-FFF2-40B4-BE49-F238E27FC236}">
                <a16:creationId xmlns:a16="http://schemas.microsoft.com/office/drawing/2014/main" id="{0FA9DAFE-D691-E46E-9D58-D24A388244AE}"/>
              </a:ext>
            </a:extLst>
          </p:cNvPr>
          <p:cNvPicPr>
            <a:picLocks noChangeAspect="1"/>
          </p:cNvPicPr>
          <p:nvPr/>
        </p:nvPicPr>
        <p:blipFill>
          <a:blip r:embed="rId4"/>
          <a:srcRect t="8680" b="8680"/>
          <a:stretch/>
        </p:blipFill>
        <p:spPr>
          <a:xfrm>
            <a:off x="201275" y="34454"/>
            <a:ext cx="2985156" cy="1843773"/>
          </a:xfrm>
          <a:prstGeom prst="rect">
            <a:avLst/>
          </a:prstGeom>
          <a:effectLst>
            <a:softEdge rad="222179"/>
          </a:effectLst>
        </p:spPr>
      </p:pic>
      <p:sp>
        <p:nvSpPr>
          <p:cNvPr id="9" name="TextBox 8">
            <a:extLst>
              <a:ext uri="{FF2B5EF4-FFF2-40B4-BE49-F238E27FC236}">
                <a16:creationId xmlns:a16="http://schemas.microsoft.com/office/drawing/2014/main" id="{D5121326-F768-F37D-49BB-AFFDEC3018AD}"/>
              </a:ext>
            </a:extLst>
          </p:cNvPr>
          <p:cNvSpPr txBox="1"/>
          <p:nvPr/>
        </p:nvSpPr>
        <p:spPr>
          <a:xfrm>
            <a:off x="0" y="6515021"/>
            <a:ext cx="3241964" cy="307777"/>
          </a:xfrm>
          <a:prstGeom prst="rect">
            <a:avLst/>
          </a:prstGeom>
          <a:noFill/>
          <a:effectLst>
            <a:softEdge rad="50800"/>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white"/>
                </a:solidFill>
                <a:effectLst/>
                <a:uLnTx/>
                <a:uFillTx/>
                <a:latin typeface="Calibri"/>
                <a:ea typeface="+mn-ea"/>
                <a:cs typeface="+mn-cs"/>
              </a:rPr>
              <a:t>Photo by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5">
                  <a:extLst>
                    <a:ext uri="{A12FA001-AC4F-418D-AE19-62706E023703}">
                      <ahyp:hlinkClr xmlns:ahyp="http://schemas.microsoft.com/office/drawing/2018/hyperlinkcolor" val="tx"/>
                    </a:ext>
                  </a:extLst>
                </a:hlinkClick>
              </a:rPr>
              <a:t>Syed Ali</a:t>
            </a:r>
            <a:r>
              <a:rPr kumimoji="0" lang="en-GB" sz="1400" b="0" i="0" u="none" strike="noStrike" kern="1200" cap="none" spc="0" normalizeH="0" baseline="0" noProof="0" dirty="0">
                <a:ln>
                  <a:noFill/>
                </a:ln>
                <a:solidFill>
                  <a:prstClr val="white"/>
                </a:solidFill>
                <a:effectLst/>
                <a:uLnTx/>
                <a:uFillTx/>
                <a:latin typeface="Calibri"/>
                <a:ea typeface="+mn-ea"/>
                <a:cs typeface="+mn-cs"/>
              </a:rPr>
              <a:t> on </a:t>
            </a:r>
            <a:r>
              <a:rPr kumimoji="0" lang="en-GB" sz="1400" b="0" i="0" u="none" strike="noStrike" kern="1200" cap="none" spc="0" normalizeH="0" baseline="0" noProof="0" dirty="0">
                <a:ln>
                  <a:noFill/>
                </a:ln>
                <a:solidFill>
                  <a:prstClr val="white"/>
                </a:solidFill>
                <a:effectLst/>
                <a:uLnTx/>
                <a:uFillTx/>
                <a:latin typeface="Calibri"/>
                <a:ea typeface="+mn-ea"/>
                <a:cs typeface="+mn-cs"/>
                <a:hlinkClick r:id="rId6">
                  <a:extLst>
                    <a:ext uri="{A12FA001-AC4F-418D-AE19-62706E023703}">
                      <ahyp:hlinkClr xmlns:ahyp="http://schemas.microsoft.com/office/drawing/2018/hyperlinkcolor" val="tx"/>
                    </a:ext>
                  </a:extLst>
                </a:hlinkClick>
              </a:rPr>
              <a:t>Unsplash</a:t>
            </a:r>
            <a:r>
              <a:rPr kumimoji="0" lang="en-GB" sz="1400" b="0" i="0" u="none" strike="noStrike" kern="1200" cap="none" spc="0" normalizeH="0" baseline="0" noProof="0" dirty="0">
                <a:ln>
                  <a:noFill/>
                </a:ln>
                <a:solidFill>
                  <a:prstClr val="white"/>
                </a:solidFill>
                <a:effectLst/>
                <a:uLnTx/>
                <a:uFillTx/>
                <a:latin typeface="Calibri"/>
                <a:ea typeface="+mn-ea"/>
                <a:cs typeface="+mn-cs"/>
              </a:rPr>
              <a:t> </a:t>
            </a:r>
            <a:endParaRPr kumimoji="0" lang="en-US" sz="1333"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CEB2F50F-5228-A502-D143-7E7CE8F5EEFF}"/>
              </a:ext>
            </a:extLst>
          </p:cNvPr>
          <p:cNvSpPr txBox="1"/>
          <p:nvPr/>
        </p:nvSpPr>
        <p:spPr>
          <a:xfrm>
            <a:off x="3773978" y="6296737"/>
            <a:ext cx="8418022" cy="502573"/>
          </a:xfrm>
          <a:prstGeom prst="rect">
            <a:avLst/>
          </a:prstGeom>
          <a:noFill/>
          <a:effectLst>
            <a:softEdge rad="50800"/>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rPr>
              <a:t>Equity in medical devices: independent review,,GOV.UK, 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7">
                  <a:extLst>
                    <a:ext uri="{A12FA001-AC4F-418D-AE19-62706E023703}">
                      <ahyp:hlinkClr xmlns:ahyp="http://schemas.microsoft.com/office/drawing/2018/hyperlinkcolor" val="tx"/>
                    </a:ext>
                  </a:extLst>
                </a:hlinkClick>
              </a:rPr>
              <a:t>https://www.gov.uk/government/publications/equity-in-medical-devices-independent-review-final-report</a:t>
            </a:r>
            <a:r>
              <a:rPr kumimoji="0" lang="en-US" sz="1333" b="0" i="0" u="none" strike="noStrike" kern="1200" cap="none" spc="0" normalizeH="0" baseline="0" noProof="0" dirty="0">
                <a:ln>
                  <a:noFill/>
                </a:ln>
                <a:solidFill>
                  <a:prstClr val="white"/>
                </a:solidFill>
                <a:effectLst/>
                <a:uLnTx/>
                <a:uFillTx/>
                <a:latin typeface="Calibri"/>
                <a:ea typeface="+mn-ea"/>
                <a:cs typeface="+mn-cs"/>
              </a:rPr>
              <a:t> (</a:t>
            </a:r>
            <a:r>
              <a:rPr kumimoji="0" lang="en-US" sz="1333" b="0" i="0" u="none" strike="noStrike" kern="1200" cap="none" spc="0" normalizeH="0" baseline="0" noProof="0" dirty="0">
                <a:ln>
                  <a:noFill/>
                </a:ln>
                <a:solidFill>
                  <a:prstClr val="white"/>
                </a:solidFill>
                <a:effectLst/>
                <a:uLnTx/>
                <a:uFillTx/>
                <a:latin typeface="Calibri"/>
                <a:ea typeface="+mn-ea"/>
                <a:cs typeface="+mn-cs"/>
                <a:hlinkClick r:id="rId8">
                  <a:extLst>
                    <a:ext uri="{A12FA001-AC4F-418D-AE19-62706E023703}">
                      <ahyp:hlinkClr xmlns:ahyp="http://schemas.microsoft.com/office/drawing/2018/hyperlinkcolor" val="tx"/>
                    </a:ext>
                  </a:extLst>
                </a:hlinkClick>
              </a:rPr>
              <a:t>OGL 3.0</a:t>
            </a:r>
            <a:r>
              <a:rPr kumimoji="0" lang="en-US" sz="1333" b="0" i="0" u="none" strike="noStrike" kern="1200" cap="none" spc="0" normalizeH="0" baseline="0" noProof="0" dirty="0">
                <a:ln>
                  <a:noFill/>
                </a:ln>
                <a:solidFill>
                  <a:prstClr val="white"/>
                </a:solidFill>
                <a:effectLst/>
                <a:uLnTx/>
                <a:uFillTx/>
                <a:latin typeface="Calibri"/>
                <a:ea typeface="+mn-ea"/>
                <a:cs typeface="+mn-cs"/>
              </a:rPr>
              <a:t>)</a:t>
            </a:r>
          </a:p>
        </p:txBody>
      </p:sp>
      <p:sp>
        <p:nvSpPr>
          <p:cNvPr id="11" name="Oval 10">
            <a:extLst>
              <a:ext uri="{FF2B5EF4-FFF2-40B4-BE49-F238E27FC236}">
                <a16:creationId xmlns:a16="http://schemas.microsoft.com/office/drawing/2014/main" id="{652E1710-B375-30BE-029F-3636732CD156}"/>
              </a:ext>
            </a:extLst>
          </p:cNvPr>
          <p:cNvSpPr>
            <a:spLocks noChangeAspect="1"/>
          </p:cNvSpPr>
          <p:nvPr/>
        </p:nvSpPr>
        <p:spPr>
          <a:xfrm>
            <a:off x="7105134" y="3300016"/>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a:extLst>
              <a:ext uri="{FF2B5EF4-FFF2-40B4-BE49-F238E27FC236}">
                <a16:creationId xmlns:a16="http://schemas.microsoft.com/office/drawing/2014/main" id="{AF1F5148-1581-9D93-4B1A-8F01524FBE3E}"/>
              </a:ext>
            </a:extLst>
          </p:cNvPr>
          <p:cNvSpPr>
            <a:spLocks noChangeAspect="1"/>
          </p:cNvSpPr>
          <p:nvPr/>
        </p:nvSpPr>
        <p:spPr>
          <a:xfrm>
            <a:off x="8372391" y="3970028"/>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a:extLst>
              <a:ext uri="{FF2B5EF4-FFF2-40B4-BE49-F238E27FC236}">
                <a16:creationId xmlns:a16="http://schemas.microsoft.com/office/drawing/2014/main" id="{7010758B-19BE-B1E9-AEF6-E9986E349A07}"/>
              </a:ext>
            </a:extLst>
          </p:cNvPr>
          <p:cNvSpPr>
            <a:spLocks noChangeAspect="1"/>
          </p:cNvSpPr>
          <p:nvPr/>
        </p:nvSpPr>
        <p:spPr>
          <a:xfrm>
            <a:off x="9639648" y="4640040"/>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a:extLst>
              <a:ext uri="{FF2B5EF4-FFF2-40B4-BE49-F238E27FC236}">
                <a16:creationId xmlns:a16="http://schemas.microsoft.com/office/drawing/2014/main" id="{CA1DF951-5820-5AD3-0994-ED3D95506B29}"/>
              </a:ext>
            </a:extLst>
          </p:cNvPr>
          <p:cNvSpPr>
            <a:spLocks noChangeAspect="1"/>
          </p:cNvSpPr>
          <p:nvPr/>
        </p:nvSpPr>
        <p:spPr>
          <a:xfrm>
            <a:off x="10906904" y="5310051"/>
            <a:ext cx="360000" cy="36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extBox 1">
            <a:extLst>
              <a:ext uri="{FF2B5EF4-FFF2-40B4-BE49-F238E27FC236}">
                <a16:creationId xmlns:a16="http://schemas.microsoft.com/office/drawing/2014/main" id="{82CB7323-DF9A-1505-5597-637C89BD7184}"/>
              </a:ext>
            </a:extLst>
          </p:cNvPr>
          <p:cNvSpPr txBox="1"/>
          <p:nvPr/>
        </p:nvSpPr>
        <p:spPr>
          <a:xfrm>
            <a:off x="6521760" y="2609744"/>
            <a:ext cx="1526748"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Guidance</a:t>
            </a:r>
          </a:p>
        </p:txBody>
      </p:sp>
      <p:sp>
        <p:nvSpPr>
          <p:cNvPr id="4" name="TextBox 3">
            <a:extLst>
              <a:ext uri="{FF2B5EF4-FFF2-40B4-BE49-F238E27FC236}">
                <a16:creationId xmlns:a16="http://schemas.microsoft.com/office/drawing/2014/main" id="{1B2B0E97-E835-0DC5-90B9-14FEA0C41B5F}"/>
              </a:ext>
            </a:extLst>
          </p:cNvPr>
          <p:cNvSpPr txBox="1"/>
          <p:nvPr/>
        </p:nvSpPr>
        <p:spPr>
          <a:xfrm>
            <a:off x="8898695" y="3597222"/>
            <a:ext cx="1841905" cy="830997"/>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development</a:t>
            </a:r>
          </a:p>
        </p:txBody>
      </p:sp>
      <p:sp>
        <p:nvSpPr>
          <p:cNvPr id="5" name="TextBox 4">
            <a:extLst>
              <a:ext uri="{FF2B5EF4-FFF2-40B4-BE49-F238E27FC236}">
                <a16:creationId xmlns:a16="http://schemas.microsoft.com/office/drawing/2014/main" id="{C11951FC-A926-2B05-B3B9-59C7AB6A8EB2}"/>
              </a:ext>
            </a:extLst>
          </p:cNvPr>
          <p:cNvSpPr txBox="1"/>
          <p:nvPr/>
        </p:nvSpPr>
        <p:spPr>
          <a:xfrm>
            <a:off x="7793144" y="3254959"/>
            <a:ext cx="1518493"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Regulation</a:t>
            </a:r>
          </a:p>
        </p:txBody>
      </p:sp>
      <p:sp>
        <p:nvSpPr>
          <p:cNvPr id="13" name="TextBox 12">
            <a:extLst>
              <a:ext uri="{FF2B5EF4-FFF2-40B4-BE49-F238E27FC236}">
                <a16:creationId xmlns:a16="http://schemas.microsoft.com/office/drawing/2014/main" id="{350294F9-EC0A-DA8F-8E3F-0FF09BB75E13}"/>
              </a:ext>
            </a:extLst>
          </p:cNvPr>
          <p:cNvSpPr txBox="1"/>
          <p:nvPr/>
        </p:nvSpPr>
        <p:spPr>
          <a:xfrm>
            <a:off x="10384289" y="4543946"/>
            <a:ext cx="1405230" cy="461665"/>
          </a:xfrm>
          <a:prstGeom prst="rect">
            <a:avLst/>
          </a:prstGeom>
          <a:solidFill>
            <a:schemeClr val="bg1"/>
          </a:solidFill>
          <a:effectLst>
            <a:glow rad="203200">
              <a:schemeClr val="bg1"/>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Research</a:t>
            </a:r>
          </a:p>
        </p:txBody>
      </p:sp>
      <p:sp>
        <p:nvSpPr>
          <p:cNvPr id="15" name="Rounded Rectangle 14">
            <a:extLst>
              <a:ext uri="{FF2B5EF4-FFF2-40B4-BE49-F238E27FC236}">
                <a16:creationId xmlns:a16="http://schemas.microsoft.com/office/drawing/2014/main" id="{46902995-A162-D4B2-F3AE-1CA0083085DC}"/>
              </a:ext>
            </a:extLst>
          </p:cNvPr>
          <p:cNvSpPr/>
          <p:nvPr/>
        </p:nvSpPr>
        <p:spPr>
          <a:xfrm>
            <a:off x="1693853" y="1328829"/>
            <a:ext cx="3786713" cy="107294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New England Journal of Medicine</a:t>
            </a:r>
          </a:p>
          <a:p>
            <a:pPr algn="ctr"/>
            <a:r>
              <a:rPr lang="en-US" dirty="0">
                <a:solidFill>
                  <a:schemeClr val="tx1"/>
                </a:solidFill>
              </a:rPr>
              <a:t>Racial bias in pulse oximetry measurement</a:t>
            </a:r>
          </a:p>
        </p:txBody>
      </p:sp>
      <p:pic>
        <p:nvPicPr>
          <p:cNvPr id="8" name="Picture 7">
            <a:extLst>
              <a:ext uri="{FF2B5EF4-FFF2-40B4-BE49-F238E27FC236}">
                <a16:creationId xmlns:a16="http://schemas.microsoft.com/office/drawing/2014/main" id="{5E4B0F3D-F7D0-9E94-DAF8-EE507DC99FCF}"/>
              </a:ext>
            </a:extLst>
          </p:cNvPr>
          <p:cNvPicPr>
            <a:picLocks noChangeAspect="1"/>
          </p:cNvPicPr>
          <p:nvPr/>
        </p:nvPicPr>
        <p:blipFill rotWithShape="1">
          <a:blip r:embed="rId9"/>
          <a:srcRect t="734" b="133"/>
          <a:stretch/>
        </p:blipFill>
        <p:spPr>
          <a:xfrm>
            <a:off x="4768960" y="1865304"/>
            <a:ext cx="1841905" cy="2562915"/>
          </a:xfrm>
          <a:prstGeom prst="rect">
            <a:avLst/>
          </a:prstGeom>
          <a:effectLst>
            <a:softEdge rad="76200"/>
          </a:effectLst>
        </p:spPr>
      </p:pic>
    </p:spTree>
    <p:extLst>
      <p:ext uri="{BB962C8B-B14F-4D97-AF65-F5344CB8AC3E}">
        <p14:creationId xmlns:p14="http://schemas.microsoft.com/office/powerpoint/2010/main" val="1005485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9|1.1|0.6"/>
</p:tagLst>
</file>

<file path=ppt/tags/tag2.xml><?xml version="1.0" encoding="utf-8"?>
<p:tagLst xmlns:a="http://schemas.openxmlformats.org/drawingml/2006/main" xmlns:r="http://schemas.openxmlformats.org/officeDocument/2006/relationships" xmlns:p="http://schemas.openxmlformats.org/presentationml/2006/main">
  <p:tag name="TIMING" val="|2.3|12|11.9"/>
</p:tagLst>
</file>

<file path=ppt/theme/theme1.xml><?xml version="1.0" encoding="utf-8"?>
<a:theme xmlns:a="http://schemas.openxmlformats.org/drawingml/2006/main" name="1_Tit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Tit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it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Tit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Title">
  <a:themeElements>
    <a:clrScheme name="Custom 9">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0432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5_Title">
  <a:themeElements>
    <a:clrScheme name="Custom 9">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0432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Tit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5587</TotalTime>
  <Words>2283</Words>
  <Application>Microsoft Macintosh PowerPoint</Application>
  <PresentationFormat>Widescreen</PresentationFormat>
  <Paragraphs>289</Paragraphs>
  <Slides>29</Slides>
  <Notes>14</Notes>
  <HiddenSlides>0</HiddenSlides>
  <MMClips>0</MMClips>
  <ScaleCrop>false</ScaleCrop>
  <HeadingPairs>
    <vt:vector size="6" baseType="variant">
      <vt:variant>
        <vt:lpstr>Fonts Used</vt:lpstr>
      </vt:variant>
      <vt:variant>
        <vt:i4>3</vt:i4>
      </vt:variant>
      <vt:variant>
        <vt:lpstr>Theme</vt:lpstr>
      </vt:variant>
      <vt:variant>
        <vt:i4>8</vt:i4>
      </vt:variant>
      <vt:variant>
        <vt:lpstr>Slide Titles</vt:lpstr>
      </vt:variant>
      <vt:variant>
        <vt:i4>29</vt:i4>
      </vt:variant>
    </vt:vector>
  </HeadingPairs>
  <TitlesOfParts>
    <vt:vector size="40" baseType="lpstr">
      <vt:lpstr>Arial</vt:lpstr>
      <vt:lpstr>Calibri</vt:lpstr>
      <vt:lpstr>Calibri Light</vt:lpstr>
      <vt:lpstr>1_Title</vt:lpstr>
      <vt:lpstr>2_Title</vt:lpstr>
      <vt:lpstr>Custom Design</vt:lpstr>
      <vt:lpstr>Title</vt:lpstr>
      <vt:lpstr>3_Title</vt:lpstr>
      <vt:lpstr>4_Title</vt:lpstr>
      <vt:lpstr>5_Title</vt:lpstr>
      <vt:lpstr>6_Title</vt:lpstr>
      <vt:lpstr>Racial bias in pulse oximetry: next steps</vt:lpstr>
      <vt:lpstr>PowerPoint Presentation</vt:lpstr>
      <vt:lpstr>PowerPoint Presentation</vt:lpstr>
      <vt:lpstr>PowerPoint Presentation</vt:lpstr>
      <vt:lpstr>PowerPoint Presentation</vt:lpstr>
      <vt:lpstr>PowerPoint Presentation</vt:lpstr>
      <vt:lpstr>Guidance</vt:lpstr>
      <vt:lpstr>PowerPoint Presentation</vt:lpstr>
      <vt:lpstr>Regulation</vt:lpstr>
      <vt:lpstr>PowerPoint Presentation</vt:lpstr>
      <vt:lpstr>Device development</vt:lpstr>
      <vt:lpstr>PowerPoint Presentation</vt:lpstr>
      <vt:lpstr>PowerPoint Presentation</vt:lpstr>
      <vt:lpstr>Guidance</vt:lpstr>
      <vt:lpstr>Using trends rather than thresholds to inform decisions</vt:lpstr>
      <vt:lpstr>Using trends rather than thresholds to inform decisions</vt:lpstr>
      <vt:lpstr>Using trends rather than thresholds to inform decisions</vt:lpstr>
      <vt:lpstr>PowerPoint Presentation</vt:lpstr>
      <vt:lpstr>Device development</vt:lpstr>
      <vt:lpstr>Pulse oximeter algorithms</vt:lpstr>
      <vt:lpstr>Pulse oximeter algorithms</vt:lpstr>
      <vt:lpstr>Pulse oximeter algorithms</vt:lpstr>
      <vt:lpstr>Pulse oximeter algorithms</vt:lpstr>
      <vt:lpstr>PowerPoint Presentation</vt:lpstr>
      <vt:lpstr>Potential research directions</vt:lpstr>
      <vt:lpstr>Potential research directions</vt:lpstr>
      <vt:lpstr>Potential research directions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Screening for atrial fibrillation: questions and potential answers</dc:title>
  <dc:creator>Charlton, Peter</dc:creator>
  <cp:lastModifiedBy>Peter H. Charlton</cp:lastModifiedBy>
  <cp:revision>140</cp:revision>
  <dcterms:created xsi:type="dcterms:W3CDTF">2021-09-20T22:10:45Z</dcterms:created>
  <dcterms:modified xsi:type="dcterms:W3CDTF">2024-05-23T20:26:45Z</dcterms:modified>
</cp:coreProperties>
</file>