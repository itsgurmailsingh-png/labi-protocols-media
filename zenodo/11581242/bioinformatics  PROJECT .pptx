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1" r:id="rId2"/>
    <p:sldId id="338" r:id="rId3"/>
    <p:sldId id="280" r:id="rId4"/>
    <p:sldId id="307" r:id="rId5"/>
    <p:sldId id="306" r:id="rId6"/>
    <p:sldId id="305" r:id="rId7"/>
    <p:sldId id="281" r:id="rId8"/>
    <p:sldId id="283" r:id="rId9"/>
    <p:sldId id="285" r:id="rId10"/>
    <p:sldId id="286" r:id="rId11"/>
    <p:sldId id="284" r:id="rId12"/>
    <p:sldId id="292" r:id="rId13"/>
    <p:sldId id="293" r:id="rId14"/>
    <p:sldId id="294" r:id="rId15"/>
    <p:sldId id="323" r:id="rId16"/>
    <p:sldId id="295" r:id="rId17"/>
    <p:sldId id="331" r:id="rId18"/>
    <p:sldId id="340" r:id="rId19"/>
    <p:sldId id="289" r:id="rId20"/>
    <p:sldId id="297" r:id="rId21"/>
    <p:sldId id="298" r:id="rId22"/>
    <p:sldId id="299" r:id="rId23"/>
    <p:sldId id="287" r:id="rId24"/>
    <p:sldId id="288" r:id="rId25"/>
    <p:sldId id="300" r:id="rId26"/>
    <p:sldId id="301" r:id="rId27"/>
    <p:sldId id="302" r:id="rId28"/>
    <p:sldId id="303" r:id="rId29"/>
    <p:sldId id="304" r:id="rId30"/>
    <p:sldId id="325" r:id="rId31"/>
    <p:sldId id="308" r:id="rId32"/>
    <p:sldId id="310" r:id="rId33"/>
    <p:sldId id="311" r:id="rId34"/>
    <p:sldId id="312" r:id="rId35"/>
    <p:sldId id="313" r:id="rId36"/>
    <p:sldId id="314" r:id="rId37"/>
    <p:sldId id="327" r:id="rId38"/>
    <p:sldId id="315" r:id="rId39"/>
    <p:sldId id="316" r:id="rId40"/>
    <p:sldId id="317" r:id="rId41"/>
    <p:sldId id="318" r:id="rId42"/>
    <p:sldId id="319" r:id="rId43"/>
    <p:sldId id="320" r:id="rId44"/>
    <p:sldId id="329" r:id="rId45"/>
    <p:sldId id="330" r:id="rId46"/>
    <p:sldId id="332" r:id="rId47"/>
    <p:sldId id="333" r:id="rId48"/>
    <p:sldId id="334" r:id="rId49"/>
    <p:sldId id="336" r:id="rId50"/>
    <p:sldId id="337" r:id="rId51"/>
    <p:sldId id="341" r:id="rId52"/>
    <p:sldId id="342" r:id="rId53"/>
    <p:sldId id="343" r:id="rId54"/>
    <p:sldId id="344" r:id="rId55"/>
    <p:sldId id="345" r:id="rId56"/>
    <p:sldId id="339"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53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113" d="100"/>
          <a:sy n="113" d="100"/>
        </p:scale>
        <p:origin x="39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9DC4A-9C01-489A-9C85-96165DF293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0E06B9-6D7D-4930-AC72-2FDCAB5E86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A415FE-FDB6-4B9C-8A32-63C1297C7C68}"/>
              </a:ext>
            </a:extLst>
          </p:cNvPr>
          <p:cNvSpPr>
            <a:spLocks noGrp="1"/>
          </p:cNvSpPr>
          <p:nvPr>
            <p:ph type="dt" sz="half" idx="10"/>
          </p:nvPr>
        </p:nvSpPr>
        <p:spPr/>
        <p:txBody>
          <a:bodyPr/>
          <a:lstStyle/>
          <a:p>
            <a:fld id="{D296A06C-C0AF-4706-A86F-47A37311710D}" type="datetimeFigureOut">
              <a:rPr lang="en-US" smtClean="0"/>
              <a:t>1/8/2024</a:t>
            </a:fld>
            <a:endParaRPr lang="en-US"/>
          </a:p>
        </p:txBody>
      </p:sp>
      <p:sp>
        <p:nvSpPr>
          <p:cNvPr id="5" name="Footer Placeholder 4">
            <a:extLst>
              <a:ext uri="{FF2B5EF4-FFF2-40B4-BE49-F238E27FC236}">
                <a16:creationId xmlns:a16="http://schemas.microsoft.com/office/drawing/2014/main" id="{C9C1AF5F-0E0A-4ED3-B16C-15A8DAE598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24D170-2845-4667-BF6D-387750CEE521}"/>
              </a:ext>
            </a:extLst>
          </p:cNvPr>
          <p:cNvSpPr>
            <a:spLocks noGrp="1"/>
          </p:cNvSpPr>
          <p:nvPr>
            <p:ph type="sldNum" sz="quarter" idx="12"/>
          </p:nvPr>
        </p:nvSpPr>
        <p:spPr/>
        <p:txBody>
          <a:bodyPr/>
          <a:lstStyle/>
          <a:p>
            <a:fld id="{8DD0CD00-9D67-46A1-A3D8-DF486A6CF800}" type="slidenum">
              <a:rPr lang="en-US" smtClean="0"/>
              <a:t>‹#›</a:t>
            </a:fld>
            <a:endParaRPr lang="en-US"/>
          </a:p>
        </p:txBody>
      </p:sp>
    </p:spTree>
    <p:extLst>
      <p:ext uri="{BB962C8B-B14F-4D97-AF65-F5344CB8AC3E}">
        <p14:creationId xmlns:p14="http://schemas.microsoft.com/office/powerpoint/2010/main" val="1021343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62FFD-8317-43D9-9413-8107C94AE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D45320-85FE-476D-88E8-3C6C4E1AEE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2EA8BB-5E32-404F-88D9-0A33199BCA0B}"/>
              </a:ext>
            </a:extLst>
          </p:cNvPr>
          <p:cNvSpPr>
            <a:spLocks noGrp="1"/>
          </p:cNvSpPr>
          <p:nvPr>
            <p:ph type="dt" sz="half" idx="10"/>
          </p:nvPr>
        </p:nvSpPr>
        <p:spPr/>
        <p:txBody>
          <a:bodyPr/>
          <a:lstStyle/>
          <a:p>
            <a:fld id="{D296A06C-C0AF-4706-A86F-47A37311710D}" type="datetimeFigureOut">
              <a:rPr lang="en-US" smtClean="0"/>
              <a:t>1/8/2024</a:t>
            </a:fld>
            <a:endParaRPr lang="en-US"/>
          </a:p>
        </p:txBody>
      </p:sp>
      <p:sp>
        <p:nvSpPr>
          <p:cNvPr id="5" name="Footer Placeholder 4">
            <a:extLst>
              <a:ext uri="{FF2B5EF4-FFF2-40B4-BE49-F238E27FC236}">
                <a16:creationId xmlns:a16="http://schemas.microsoft.com/office/drawing/2014/main" id="{43EB4CA2-E274-4CBA-B5D2-274D6253E2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934215-DF91-4CCB-B71D-AFC8F70F71CF}"/>
              </a:ext>
            </a:extLst>
          </p:cNvPr>
          <p:cNvSpPr>
            <a:spLocks noGrp="1"/>
          </p:cNvSpPr>
          <p:nvPr>
            <p:ph type="sldNum" sz="quarter" idx="12"/>
          </p:nvPr>
        </p:nvSpPr>
        <p:spPr/>
        <p:txBody>
          <a:bodyPr/>
          <a:lstStyle/>
          <a:p>
            <a:fld id="{8DD0CD00-9D67-46A1-A3D8-DF486A6CF800}" type="slidenum">
              <a:rPr lang="en-US" smtClean="0"/>
              <a:t>‹#›</a:t>
            </a:fld>
            <a:endParaRPr lang="en-US"/>
          </a:p>
        </p:txBody>
      </p:sp>
    </p:spTree>
    <p:extLst>
      <p:ext uri="{BB962C8B-B14F-4D97-AF65-F5344CB8AC3E}">
        <p14:creationId xmlns:p14="http://schemas.microsoft.com/office/powerpoint/2010/main" val="2604157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F0E0C-EF5E-4541-9606-4A7F244DFB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EFAE19-6645-4C24-90D9-A6A3542423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4E429-D21C-4996-B15B-9485B9584F0A}"/>
              </a:ext>
            </a:extLst>
          </p:cNvPr>
          <p:cNvSpPr>
            <a:spLocks noGrp="1"/>
          </p:cNvSpPr>
          <p:nvPr>
            <p:ph type="dt" sz="half" idx="10"/>
          </p:nvPr>
        </p:nvSpPr>
        <p:spPr/>
        <p:txBody>
          <a:bodyPr/>
          <a:lstStyle/>
          <a:p>
            <a:fld id="{D296A06C-C0AF-4706-A86F-47A37311710D}" type="datetimeFigureOut">
              <a:rPr lang="en-US" smtClean="0"/>
              <a:t>1/8/2024</a:t>
            </a:fld>
            <a:endParaRPr lang="en-US"/>
          </a:p>
        </p:txBody>
      </p:sp>
      <p:sp>
        <p:nvSpPr>
          <p:cNvPr id="5" name="Footer Placeholder 4">
            <a:extLst>
              <a:ext uri="{FF2B5EF4-FFF2-40B4-BE49-F238E27FC236}">
                <a16:creationId xmlns:a16="http://schemas.microsoft.com/office/drawing/2014/main" id="{E2E90F69-6E61-4A43-9126-84CF8B8818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7F6041-B2C8-4E77-BE0D-BF371B9C8181}"/>
              </a:ext>
            </a:extLst>
          </p:cNvPr>
          <p:cNvSpPr>
            <a:spLocks noGrp="1"/>
          </p:cNvSpPr>
          <p:nvPr>
            <p:ph type="sldNum" sz="quarter" idx="12"/>
          </p:nvPr>
        </p:nvSpPr>
        <p:spPr/>
        <p:txBody>
          <a:bodyPr/>
          <a:lstStyle/>
          <a:p>
            <a:fld id="{8DD0CD00-9D67-46A1-A3D8-DF486A6CF800}" type="slidenum">
              <a:rPr lang="en-US" smtClean="0"/>
              <a:t>‹#›</a:t>
            </a:fld>
            <a:endParaRPr lang="en-US"/>
          </a:p>
        </p:txBody>
      </p:sp>
    </p:spTree>
    <p:extLst>
      <p:ext uri="{BB962C8B-B14F-4D97-AF65-F5344CB8AC3E}">
        <p14:creationId xmlns:p14="http://schemas.microsoft.com/office/powerpoint/2010/main" val="3018866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6819E-5175-4663-9018-1F5C1E7346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23116C-34BB-4515-9746-11F90A6862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949E7F-814B-4352-A85D-C51FF90291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B10DD2-5BFD-4DCA-8509-1A7B127861D1}"/>
              </a:ext>
            </a:extLst>
          </p:cNvPr>
          <p:cNvSpPr>
            <a:spLocks noGrp="1"/>
          </p:cNvSpPr>
          <p:nvPr>
            <p:ph type="dt" sz="half" idx="10"/>
          </p:nvPr>
        </p:nvSpPr>
        <p:spPr/>
        <p:txBody>
          <a:bodyPr/>
          <a:lstStyle/>
          <a:p>
            <a:fld id="{D296A06C-C0AF-4706-A86F-47A37311710D}" type="datetimeFigureOut">
              <a:rPr lang="en-US" smtClean="0"/>
              <a:t>1/8/2024</a:t>
            </a:fld>
            <a:endParaRPr lang="en-US"/>
          </a:p>
        </p:txBody>
      </p:sp>
      <p:sp>
        <p:nvSpPr>
          <p:cNvPr id="6" name="Footer Placeholder 5">
            <a:extLst>
              <a:ext uri="{FF2B5EF4-FFF2-40B4-BE49-F238E27FC236}">
                <a16:creationId xmlns:a16="http://schemas.microsoft.com/office/drawing/2014/main" id="{A83FF432-A78A-4F4C-97C6-3D128D3206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D41D75-F148-4352-BA8D-D77D290D3ED9}"/>
              </a:ext>
            </a:extLst>
          </p:cNvPr>
          <p:cNvSpPr>
            <a:spLocks noGrp="1"/>
          </p:cNvSpPr>
          <p:nvPr>
            <p:ph type="sldNum" sz="quarter" idx="12"/>
          </p:nvPr>
        </p:nvSpPr>
        <p:spPr/>
        <p:txBody>
          <a:bodyPr/>
          <a:lstStyle/>
          <a:p>
            <a:fld id="{8DD0CD00-9D67-46A1-A3D8-DF486A6CF800}" type="slidenum">
              <a:rPr lang="en-US" smtClean="0"/>
              <a:t>‹#›</a:t>
            </a:fld>
            <a:endParaRPr lang="en-US"/>
          </a:p>
        </p:txBody>
      </p:sp>
    </p:spTree>
    <p:extLst>
      <p:ext uri="{BB962C8B-B14F-4D97-AF65-F5344CB8AC3E}">
        <p14:creationId xmlns:p14="http://schemas.microsoft.com/office/powerpoint/2010/main" val="37566975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21F20-4F6A-4433-8286-B895678E1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C81083-0C7F-48E5-A59A-A66E53D2C5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A2F3D9-FEC4-4683-9112-556C7CAE58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E84C0A-556D-4C32-B9DF-E9AFD2618D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863F42-DC75-4680-A6E9-CACEE9151D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7F3E8-5676-48A6-B9BA-8CE97C15C58F}"/>
              </a:ext>
            </a:extLst>
          </p:cNvPr>
          <p:cNvSpPr>
            <a:spLocks noGrp="1"/>
          </p:cNvSpPr>
          <p:nvPr>
            <p:ph type="dt" sz="half" idx="10"/>
          </p:nvPr>
        </p:nvSpPr>
        <p:spPr/>
        <p:txBody>
          <a:bodyPr/>
          <a:lstStyle/>
          <a:p>
            <a:fld id="{D296A06C-C0AF-4706-A86F-47A37311710D}" type="datetimeFigureOut">
              <a:rPr lang="en-US" smtClean="0"/>
              <a:t>1/8/2024</a:t>
            </a:fld>
            <a:endParaRPr lang="en-US"/>
          </a:p>
        </p:txBody>
      </p:sp>
      <p:sp>
        <p:nvSpPr>
          <p:cNvPr id="8" name="Footer Placeholder 7">
            <a:extLst>
              <a:ext uri="{FF2B5EF4-FFF2-40B4-BE49-F238E27FC236}">
                <a16:creationId xmlns:a16="http://schemas.microsoft.com/office/drawing/2014/main" id="{D2D65406-1D04-4D72-A729-7CC96E69E7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48DEB-FC9A-4604-9AF5-0F7C14F4DFFB}"/>
              </a:ext>
            </a:extLst>
          </p:cNvPr>
          <p:cNvSpPr>
            <a:spLocks noGrp="1"/>
          </p:cNvSpPr>
          <p:nvPr>
            <p:ph type="sldNum" sz="quarter" idx="12"/>
          </p:nvPr>
        </p:nvSpPr>
        <p:spPr/>
        <p:txBody>
          <a:bodyPr/>
          <a:lstStyle/>
          <a:p>
            <a:fld id="{8DD0CD00-9D67-46A1-A3D8-DF486A6CF800}" type="slidenum">
              <a:rPr lang="en-US" smtClean="0"/>
              <a:t>‹#›</a:t>
            </a:fld>
            <a:endParaRPr lang="en-US"/>
          </a:p>
        </p:txBody>
      </p:sp>
    </p:spTree>
    <p:extLst>
      <p:ext uri="{BB962C8B-B14F-4D97-AF65-F5344CB8AC3E}">
        <p14:creationId xmlns:p14="http://schemas.microsoft.com/office/powerpoint/2010/main" val="1094193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379CB-82AA-4D37-BEF9-76AC711C5E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ADDC01E-5C41-4080-94B7-06AD536240F4}"/>
              </a:ext>
            </a:extLst>
          </p:cNvPr>
          <p:cNvSpPr>
            <a:spLocks noGrp="1"/>
          </p:cNvSpPr>
          <p:nvPr>
            <p:ph type="dt" sz="half" idx="10"/>
          </p:nvPr>
        </p:nvSpPr>
        <p:spPr/>
        <p:txBody>
          <a:bodyPr/>
          <a:lstStyle/>
          <a:p>
            <a:fld id="{D296A06C-C0AF-4706-A86F-47A37311710D}" type="datetimeFigureOut">
              <a:rPr lang="en-US" smtClean="0"/>
              <a:t>1/8/2024</a:t>
            </a:fld>
            <a:endParaRPr lang="en-US"/>
          </a:p>
        </p:txBody>
      </p:sp>
      <p:sp>
        <p:nvSpPr>
          <p:cNvPr id="4" name="Footer Placeholder 3">
            <a:extLst>
              <a:ext uri="{FF2B5EF4-FFF2-40B4-BE49-F238E27FC236}">
                <a16:creationId xmlns:a16="http://schemas.microsoft.com/office/drawing/2014/main" id="{712356D4-8270-4AAC-8FF5-387994FF0C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9338A9-BF66-4EFA-BDAD-BB1B9519BA9B}"/>
              </a:ext>
            </a:extLst>
          </p:cNvPr>
          <p:cNvSpPr>
            <a:spLocks noGrp="1"/>
          </p:cNvSpPr>
          <p:nvPr>
            <p:ph type="sldNum" sz="quarter" idx="12"/>
          </p:nvPr>
        </p:nvSpPr>
        <p:spPr/>
        <p:txBody>
          <a:bodyPr/>
          <a:lstStyle/>
          <a:p>
            <a:fld id="{8DD0CD00-9D67-46A1-A3D8-DF486A6CF800}" type="slidenum">
              <a:rPr lang="en-US" smtClean="0"/>
              <a:t>‹#›</a:t>
            </a:fld>
            <a:endParaRPr lang="en-US"/>
          </a:p>
        </p:txBody>
      </p:sp>
    </p:spTree>
    <p:extLst>
      <p:ext uri="{BB962C8B-B14F-4D97-AF65-F5344CB8AC3E}">
        <p14:creationId xmlns:p14="http://schemas.microsoft.com/office/powerpoint/2010/main" val="4218430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6B86C7-2820-4A0E-9C89-F2D88957A65B}"/>
              </a:ext>
            </a:extLst>
          </p:cNvPr>
          <p:cNvSpPr>
            <a:spLocks noGrp="1"/>
          </p:cNvSpPr>
          <p:nvPr>
            <p:ph type="dt" sz="half" idx="10"/>
          </p:nvPr>
        </p:nvSpPr>
        <p:spPr/>
        <p:txBody>
          <a:bodyPr/>
          <a:lstStyle/>
          <a:p>
            <a:fld id="{D296A06C-C0AF-4706-A86F-47A37311710D}" type="datetimeFigureOut">
              <a:rPr lang="en-US" smtClean="0"/>
              <a:t>1/8/2024</a:t>
            </a:fld>
            <a:endParaRPr lang="en-US"/>
          </a:p>
        </p:txBody>
      </p:sp>
      <p:sp>
        <p:nvSpPr>
          <p:cNvPr id="3" name="Footer Placeholder 2">
            <a:extLst>
              <a:ext uri="{FF2B5EF4-FFF2-40B4-BE49-F238E27FC236}">
                <a16:creationId xmlns:a16="http://schemas.microsoft.com/office/drawing/2014/main" id="{8DD7D41F-C31D-4F49-9FFD-9159777925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52DF6AF-519A-46D9-B244-8283935D3CD5}"/>
              </a:ext>
            </a:extLst>
          </p:cNvPr>
          <p:cNvSpPr>
            <a:spLocks noGrp="1"/>
          </p:cNvSpPr>
          <p:nvPr>
            <p:ph type="sldNum" sz="quarter" idx="12"/>
          </p:nvPr>
        </p:nvSpPr>
        <p:spPr/>
        <p:txBody>
          <a:bodyPr/>
          <a:lstStyle/>
          <a:p>
            <a:fld id="{8DD0CD00-9D67-46A1-A3D8-DF486A6CF800}" type="slidenum">
              <a:rPr lang="en-US" smtClean="0"/>
              <a:t>‹#›</a:t>
            </a:fld>
            <a:endParaRPr lang="en-US"/>
          </a:p>
        </p:txBody>
      </p:sp>
    </p:spTree>
    <p:extLst>
      <p:ext uri="{BB962C8B-B14F-4D97-AF65-F5344CB8AC3E}">
        <p14:creationId xmlns:p14="http://schemas.microsoft.com/office/powerpoint/2010/main" val="3208106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E9DDB-2DC1-40F3-9F67-E0FB9F95AF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B96D33-4916-460F-BBD9-630EBA6B38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EFB7BB8-CE1B-4029-A413-5078EB64A4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9A0C15-F841-4343-BD2A-8F977FAD91D0}"/>
              </a:ext>
            </a:extLst>
          </p:cNvPr>
          <p:cNvSpPr>
            <a:spLocks noGrp="1"/>
          </p:cNvSpPr>
          <p:nvPr>
            <p:ph type="dt" sz="half" idx="10"/>
          </p:nvPr>
        </p:nvSpPr>
        <p:spPr/>
        <p:txBody>
          <a:bodyPr/>
          <a:lstStyle/>
          <a:p>
            <a:fld id="{D296A06C-C0AF-4706-A86F-47A37311710D}" type="datetimeFigureOut">
              <a:rPr lang="en-US" smtClean="0"/>
              <a:t>1/8/2024</a:t>
            </a:fld>
            <a:endParaRPr lang="en-US"/>
          </a:p>
        </p:txBody>
      </p:sp>
      <p:sp>
        <p:nvSpPr>
          <p:cNvPr id="6" name="Footer Placeholder 5">
            <a:extLst>
              <a:ext uri="{FF2B5EF4-FFF2-40B4-BE49-F238E27FC236}">
                <a16:creationId xmlns:a16="http://schemas.microsoft.com/office/drawing/2014/main" id="{6D06AA07-8BDC-43CF-BF4C-7A251E1047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496E3A-438A-40BC-83C6-438DC014CD55}"/>
              </a:ext>
            </a:extLst>
          </p:cNvPr>
          <p:cNvSpPr>
            <a:spLocks noGrp="1"/>
          </p:cNvSpPr>
          <p:nvPr>
            <p:ph type="sldNum" sz="quarter" idx="12"/>
          </p:nvPr>
        </p:nvSpPr>
        <p:spPr/>
        <p:txBody>
          <a:bodyPr/>
          <a:lstStyle/>
          <a:p>
            <a:fld id="{8DD0CD00-9D67-46A1-A3D8-DF486A6CF800}" type="slidenum">
              <a:rPr lang="en-US" smtClean="0"/>
              <a:t>‹#›</a:t>
            </a:fld>
            <a:endParaRPr lang="en-US"/>
          </a:p>
        </p:txBody>
      </p:sp>
    </p:spTree>
    <p:extLst>
      <p:ext uri="{BB962C8B-B14F-4D97-AF65-F5344CB8AC3E}">
        <p14:creationId xmlns:p14="http://schemas.microsoft.com/office/powerpoint/2010/main" val="3669314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C350D-24B9-4EF8-9519-3F5AF284CF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20C0AD-F285-4473-BB07-51D41CEAEB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6E847B-1ECF-47FA-A3A0-B44DD5BA08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9729BA-4879-412A-94DE-9F32E7913C91}"/>
              </a:ext>
            </a:extLst>
          </p:cNvPr>
          <p:cNvSpPr>
            <a:spLocks noGrp="1"/>
          </p:cNvSpPr>
          <p:nvPr>
            <p:ph type="dt" sz="half" idx="10"/>
          </p:nvPr>
        </p:nvSpPr>
        <p:spPr/>
        <p:txBody>
          <a:bodyPr/>
          <a:lstStyle/>
          <a:p>
            <a:fld id="{D296A06C-C0AF-4706-A86F-47A37311710D}" type="datetimeFigureOut">
              <a:rPr lang="en-US" smtClean="0"/>
              <a:t>1/8/2024</a:t>
            </a:fld>
            <a:endParaRPr lang="en-US"/>
          </a:p>
        </p:txBody>
      </p:sp>
      <p:sp>
        <p:nvSpPr>
          <p:cNvPr id="6" name="Footer Placeholder 5">
            <a:extLst>
              <a:ext uri="{FF2B5EF4-FFF2-40B4-BE49-F238E27FC236}">
                <a16:creationId xmlns:a16="http://schemas.microsoft.com/office/drawing/2014/main" id="{738FF85F-E969-4E6D-BA72-60FC4DE6E7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9A8DEF-7DFB-4859-BA37-761F7A178219}"/>
              </a:ext>
            </a:extLst>
          </p:cNvPr>
          <p:cNvSpPr>
            <a:spLocks noGrp="1"/>
          </p:cNvSpPr>
          <p:nvPr>
            <p:ph type="sldNum" sz="quarter" idx="12"/>
          </p:nvPr>
        </p:nvSpPr>
        <p:spPr/>
        <p:txBody>
          <a:bodyPr/>
          <a:lstStyle/>
          <a:p>
            <a:fld id="{8DD0CD00-9D67-46A1-A3D8-DF486A6CF800}" type="slidenum">
              <a:rPr lang="en-US" smtClean="0"/>
              <a:t>‹#›</a:t>
            </a:fld>
            <a:endParaRPr lang="en-US"/>
          </a:p>
        </p:txBody>
      </p:sp>
    </p:spTree>
    <p:extLst>
      <p:ext uri="{BB962C8B-B14F-4D97-AF65-F5344CB8AC3E}">
        <p14:creationId xmlns:p14="http://schemas.microsoft.com/office/powerpoint/2010/main" val="72398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D3FB2-5D2B-4C54-BBD6-615B744B37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654CCDB-D209-46F9-B9AD-5597E85383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9FEF8D-E7DA-4F85-8599-ABE29E2D9F6F}"/>
              </a:ext>
            </a:extLst>
          </p:cNvPr>
          <p:cNvSpPr>
            <a:spLocks noGrp="1"/>
          </p:cNvSpPr>
          <p:nvPr>
            <p:ph type="dt" sz="half" idx="10"/>
          </p:nvPr>
        </p:nvSpPr>
        <p:spPr/>
        <p:txBody>
          <a:bodyPr/>
          <a:lstStyle/>
          <a:p>
            <a:fld id="{D296A06C-C0AF-4706-A86F-47A37311710D}" type="datetimeFigureOut">
              <a:rPr lang="en-US" smtClean="0"/>
              <a:t>1/8/2024</a:t>
            </a:fld>
            <a:endParaRPr lang="en-US"/>
          </a:p>
        </p:txBody>
      </p:sp>
      <p:sp>
        <p:nvSpPr>
          <p:cNvPr id="5" name="Footer Placeholder 4">
            <a:extLst>
              <a:ext uri="{FF2B5EF4-FFF2-40B4-BE49-F238E27FC236}">
                <a16:creationId xmlns:a16="http://schemas.microsoft.com/office/drawing/2014/main" id="{8E4355CA-30C2-4E24-8972-64D20E6337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70FA22-109B-4835-B053-6AEC9D8A8605}"/>
              </a:ext>
            </a:extLst>
          </p:cNvPr>
          <p:cNvSpPr>
            <a:spLocks noGrp="1"/>
          </p:cNvSpPr>
          <p:nvPr>
            <p:ph type="sldNum" sz="quarter" idx="12"/>
          </p:nvPr>
        </p:nvSpPr>
        <p:spPr/>
        <p:txBody>
          <a:bodyPr/>
          <a:lstStyle/>
          <a:p>
            <a:fld id="{8DD0CD00-9D67-46A1-A3D8-DF486A6CF800}" type="slidenum">
              <a:rPr lang="en-US" smtClean="0"/>
              <a:t>‹#›</a:t>
            </a:fld>
            <a:endParaRPr lang="en-US"/>
          </a:p>
        </p:txBody>
      </p:sp>
    </p:spTree>
    <p:extLst>
      <p:ext uri="{BB962C8B-B14F-4D97-AF65-F5344CB8AC3E}">
        <p14:creationId xmlns:p14="http://schemas.microsoft.com/office/powerpoint/2010/main" val="2795034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BAB89B-0A07-4F26-9A24-10510B8987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3FE19B6-CA0E-4356-BC54-F14F44439B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65CC52-68AA-47E9-BF6E-364E05C591AA}"/>
              </a:ext>
            </a:extLst>
          </p:cNvPr>
          <p:cNvSpPr>
            <a:spLocks noGrp="1"/>
          </p:cNvSpPr>
          <p:nvPr>
            <p:ph type="dt" sz="half" idx="10"/>
          </p:nvPr>
        </p:nvSpPr>
        <p:spPr/>
        <p:txBody>
          <a:bodyPr/>
          <a:lstStyle/>
          <a:p>
            <a:fld id="{D296A06C-C0AF-4706-A86F-47A37311710D}" type="datetimeFigureOut">
              <a:rPr lang="en-US" smtClean="0"/>
              <a:t>1/8/2024</a:t>
            </a:fld>
            <a:endParaRPr lang="en-US"/>
          </a:p>
        </p:txBody>
      </p:sp>
      <p:sp>
        <p:nvSpPr>
          <p:cNvPr id="5" name="Footer Placeholder 4">
            <a:extLst>
              <a:ext uri="{FF2B5EF4-FFF2-40B4-BE49-F238E27FC236}">
                <a16:creationId xmlns:a16="http://schemas.microsoft.com/office/drawing/2014/main" id="{0376C5E0-6652-4DE7-B67C-57BB67D427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499F9-E15F-4D01-B7EA-C5E52CF17C85}"/>
              </a:ext>
            </a:extLst>
          </p:cNvPr>
          <p:cNvSpPr>
            <a:spLocks noGrp="1"/>
          </p:cNvSpPr>
          <p:nvPr>
            <p:ph type="sldNum" sz="quarter" idx="12"/>
          </p:nvPr>
        </p:nvSpPr>
        <p:spPr/>
        <p:txBody>
          <a:bodyPr/>
          <a:lstStyle/>
          <a:p>
            <a:fld id="{8DD0CD00-9D67-46A1-A3D8-DF486A6CF800}" type="slidenum">
              <a:rPr lang="en-US" smtClean="0"/>
              <a:t>‹#›</a:t>
            </a:fld>
            <a:endParaRPr lang="en-US"/>
          </a:p>
        </p:txBody>
      </p:sp>
    </p:spTree>
    <p:extLst>
      <p:ext uri="{BB962C8B-B14F-4D97-AF65-F5344CB8AC3E}">
        <p14:creationId xmlns:p14="http://schemas.microsoft.com/office/powerpoint/2010/main" val="2227745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4600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907991-47D3-4726-8545-3302D192C8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BC43259-5CEE-4C7C-A38C-0AF495F485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9DDE2E-6863-43A7-AA39-5F21072816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96A06C-C0AF-4706-A86F-47A37311710D}" type="datetimeFigureOut">
              <a:rPr lang="en-US" smtClean="0"/>
              <a:t>1/8/2024</a:t>
            </a:fld>
            <a:endParaRPr lang="en-US"/>
          </a:p>
        </p:txBody>
      </p:sp>
      <p:sp>
        <p:nvSpPr>
          <p:cNvPr id="5" name="Footer Placeholder 4">
            <a:extLst>
              <a:ext uri="{FF2B5EF4-FFF2-40B4-BE49-F238E27FC236}">
                <a16:creationId xmlns:a16="http://schemas.microsoft.com/office/drawing/2014/main" id="{B238A091-FF63-43D3-83E2-0E6012D3A7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EB5344-199B-454E-ADCF-16FC4CEB0A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D0CD00-9D67-46A1-A3D8-DF486A6CF800}" type="slidenum">
              <a:rPr lang="en-US" smtClean="0"/>
              <a:t>‹#›</a:t>
            </a:fld>
            <a:endParaRPr lang="en-US"/>
          </a:p>
        </p:txBody>
      </p:sp>
    </p:spTree>
    <p:extLst>
      <p:ext uri="{BB962C8B-B14F-4D97-AF65-F5344CB8AC3E}">
        <p14:creationId xmlns:p14="http://schemas.microsoft.com/office/powerpoint/2010/main" val="19448468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D6A35-54AC-4AE3-8555-4DEF1464DC30}"/>
              </a:ext>
            </a:extLst>
          </p:cNvPr>
          <p:cNvSpPr>
            <a:spLocks noGrp="1"/>
          </p:cNvSpPr>
          <p:nvPr>
            <p:ph type="ctrTitle"/>
          </p:nvPr>
        </p:nvSpPr>
        <p:spPr>
          <a:xfrm>
            <a:off x="568036" y="1955271"/>
            <a:ext cx="11055928" cy="2947458"/>
          </a:xfrm>
        </p:spPr>
        <p:txBody>
          <a:bodyPr>
            <a:noAutofit/>
          </a:bodyPr>
          <a:lstStyle/>
          <a:p>
            <a:pPr marL="0" marR="0" lvl="0" indent="0" defTabSz="914400" rtl="0" eaLnBrk="1" fontAlgn="auto" latinLnBrk="0" hangingPunct="1">
              <a:lnSpc>
                <a:spcPct val="90000"/>
              </a:lnSpc>
              <a:spcBef>
                <a:spcPct val="0"/>
              </a:spcBef>
              <a:spcAft>
                <a:spcPts val="0"/>
              </a:spcAft>
              <a:buClrTx/>
              <a:buSzTx/>
              <a:buFontTx/>
              <a:buNone/>
              <a:tabLst/>
              <a:defRPr/>
            </a:pPr>
            <a:r>
              <a:rPr lang="en-US" sz="4000" b="1" dirty="0">
                <a:latin typeface="Calibri" panose="020F0502020204030204" pitchFamily="34" charset="0"/>
                <a:ea typeface="+mn-ea"/>
                <a:cs typeface="Calibri" panose="020F0502020204030204" pitchFamily="34" charset="0"/>
                <a:sym typeface="Graphik Semibold"/>
              </a:rPr>
              <a:t>A temporal and spatial bioinformatics study to analyze the genetic variability among SARS-CoV-2 genomes and design series of nested PCR primers for sensitive diagnosis</a:t>
            </a:r>
            <a:br>
              <a:rPr kumimoji="0" lang="en-US" sz="4000" b="0" i="0" u="none" strike="noStrike" kern="1200" cap="none" spc="0" normalizeH="0" baseline="0" noProof="0" dirty="0">
                <a:ln>
                  <a:noFill/>
                </a:ln>
                <a:effectLst>
                  <a:outerShdw blurRad="50800" dist="38100" dir="2700000" algn="tl" rotWithShape="0">
                    <a:prstClr val="black"/>
                  </a:outerShdw>
                </a:effectLst>
                <a:uLnTx/>
                <a:uFillTx/>
                <a:latin typeface="Calibri" panose="020F0502020204030204"/>
                <a:ea typeface="+mj-ea"/>
                <a:cs typeface="+mj-cs"/>
                <a:sym typeface="Graphik Semibold"/>
              </a:rPr>
            </a:br>
            <a:endParaRPr kumimoji="0" lang="en-US" sz="4000" b="0" i="0" u="none" strike="noStrike" kern="1200" cap="none" spc="0" normalizeH="0" baseline="0" noProof="0" dirty="0">
              <a:ln>
                <a:noFill/>
              </a:ln>
              <a:effectLst>
                <a:outerShdw blurRad="50800" dist="38100" dir="2700000" algn="tl" rotWithShape="0">
                  <a:prstClr val="black"/>
                </a:outerShdw>
              </a:effectLst>
              <a:uLnTx/>
              <a:uFillTx/>
              <a:latin typeface="Calibri" panose="020F0502020204030204"/>
              <a:ea typeface="+mj-ea"/>
              <a:cs typeface="+mj-cs"/>
              <a:sym typeface="Graphik Semibold"/>
            </a:endParaRPr>
          </a:p>
        </p:txBody>
      </p:sp>
    </p:spTree>
    <p:extLst>
      <p:ext uri="{BB962C8B-B14F-4D97-AF65-F5344CB8AC3E}">
        <p14:creationId xmlns:p14="http://schemas.microsoft.com/office/powerpoint/2010/main" val="2618878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D6A35-54AC-4AE3-8555-4DEF1464DC30}"/>
              </a:ext>
            </a:extLst>
          </p:cNvPr>
          <p:cNvSpPr>
            <a:spLocks noGrp="1"/>
          </p:cNvSpPr>
          <p:nvPr>
            <p:ph type="ctrTitle"/>
          </p:nvPr>
        </p:nvSpPr>
        <p:spPr>
          <a:xfrm>
            <a:off x="1524000" y="2968434"/>
            <a:ext cx="9144000" cy="921133"/>
          </a:xfrm>
        </p:spPr>
        <p:txBody>
          <a:bodyPr>
            <a:normAutofit/>
          </a:bodyPr>
          <a:lstStyle/>
          <a:p>
            <a:r>
              <a:rPr lang="en-US" b="1" dirty="0"/>
              <a:t>INTRODUCTION</a:t>
            </a:r>
            <a:endParaRPr lang="en-US" dirty="0"/>
          </a:p>
        </p:txBody>
      </p:sp>
    </p:spTree>
    <p:extLst>
      <p:ext uri="{BB962C8B-B14F-4D97-AF65-F5344CB8AC3E}">
        <p14:creationId xmlns:p14="http://schemas.microsoft.com/office/powerpoint/2010/main" val="4235708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normAutofit/>
          </a:bodyPr>
          <a:lstStyle/>
          <a:p>
            <a:r>
              <a:rPr lang="en-US" sz="4800" b="1" dirty="0"/>
              <a:t>Introduction</a:t>
            </a:r>
          </a:p>
        </p:txBody>
      </p:sp>
      <p:sp>
        <p:nvSpPr>
          <p:cNvPr id="3" name="Content Placeholder 2">
            <a:extLst>
              <a:ext uri="{FF2B5EF4-FFF2-40B4-BE49-F238E27FC236}">
                <a16:creationId xmlns:a16="http://schemas.microsoft.com/office/drawing/2014/main" id="{12CA33F8-F6E9-4905-BAF1-417CC3F1B0F4}"/>
              </a:ext>
            </a:extLst>
          </p:cNvPr>
          <p:cNvSpPr>
            <a:spLocks noGrp="1"/>
          </p:cNvSpPr>
          <p:nvPr>
            <p:ph idx="1"/>
          </p:nvPr>
        </p:nvSpPr>
        <p:spPr>
          <a:xfrm>
            <a:off x="319489" y="1825624"/>
            <a:ext cx="11435509" cy="4784495"/>
          </a:xfrm>
        </p:spPr>
        <p:txBody>
          <a:bodyPr>
            <a:normAutofit/>
          </a:bodyPr>
          <a:lstStyle/>
          <a:p>
            <a:r>
              <a:rPr lang="en-US" dirty="0"/>
              <a:t>COVID-19 pandemic in early 2020</a:t>
            </a:r>
          </a:p>
          <a:p>
            <a:r>
              <a:rPr lang="en-US" dirty="0"/>
              <a:t>SARS-CoV-2 has the ability to transmit from</a:t>
            </a:r>
            <a:br>
              <a:rPr lang="en-US" dirty="0"/>
            </a:br>
            <a:r>
              <a:rPr lang="en-US" dirty="0"/>
              <a:t>animals to humans but also has the ability</a:t>
            </a:r>
            <a:br>
              <a:rPr lang="en-US" dirty="0"/>
            </a:br>
            <a:r>
              <a:rPr lang="en-US" dirty="0"/>
              <a:t>to transmit among humans</a:t>
            </a:r>
          </a:p>
          <a:p>
            <a:r>
              <a:rPr lang="en-US" dirty="0"/>
              <a:t>SARS-CoV-2 is a positive sense enveloped</a:t>
            </a:r>
            <a:br>
              <a:rPr lang="en-US" dirty="0"/>
            </a:br>
            <a:r>
              <a:rPr lang="en-US" dirty="0"/>
              <a:t>RNA virus</a:t>
            </a:r>
          </a:p>
          <a:p>
            <a:r>
              <a:rPr lang="en-US" dirty="0"/>
              <a:t>Health organizations like CDC and WHO</a:t>
            </a:r>
            <a:br>
              <a:rPr lang="en-US" dirty="0"/>
            </a:br>
            <a:r>
              <a:rPr lang="en-US" dirty="0"/>
              <a:t>emphasized the importance of developing</a:t>
            </a:r>
            <a:br>
              <a:rPr lang="en-US" dirty="0"/>
            </a:br>
            <a:r>
              <a:rPr lang="en-US" dirty="0"/>
              <a:t>rapid testing on large scales with convenient</a:t>
            </a:r>
            <a:br>
              <a:rPr lang="en-US" dirty="0"/>
            </a:br>
            <a:r>
              <a:rPr lang="en-US" dirty="0"/>
              <a:t>specimen and accurate tests such as the PCR</a:t>
            </a:r>
          </a:p>
          <a:p>
            <a:endParaRPr lang="en-US" sz="1600" dirty="0"/>
          </a:p>
        </p:txBody>
      </p:sp>
      <p:pic>
        <p:nvPicPr>
          <p:cNvPr id="1026" name="Picture 2">
            <a:extLst>
              <a:ext uri="{FF2B5EF4-FFF2-40B4-BE49-F238E27FC236}">
                <a16:creationId xmlns:a16="http://schemas.microsoft.com/office/drawing/2014/main" id="{A49CED06-6B9F-4BA4-B732-46C5A0913C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4513" y="2588170"/>
            <a:ext cx="4510485" cy="325940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701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D6A35-54AC-4AE3-8555-4DEF1464DC30}"/>
              </a:ext>
            </a:extLst>
          </p:cNvPr>
          <p:cNvSpPr>
            <a:spLocks noGrp="1"/>
          </p:cNvSpPr>
          <p:nvPr>
            <p:ph type="ctrTitle"/>
          </p:nvPr>
        </p:nvSpPr>
        <p:spPr>
          <a:xfrm>
            <a:off x="1524000" y="2968434"/>
            <a:ext cx="9144000" cy="921133"/>
          </a:xfrm>
        </p:spPr>
        <p:txBody>
          <a:bodyPr>
            <a:normAutofit/>
          </a:bodyPr>
          <a:lstStyle/>
          <a:p>
            <a:r>
              <a:rPr lang="en-US" b="1" dirty="0"/>
              <a:t>METHODS</a:t>
            </a:r>
            <a:endParaRPr lang="en-US" dirty="0"/>
          </a:p>
        </p:txBody>
      </p:sp>
    </p:spTree>
    <p:extLst>
      <p:ext uri="{BB962C8B-B14F-4D97-AF65-F5344CB8AC3E}">
        <p14:creationId xmlns:p14="http://schemas.microsoft.com/office/powerpoint/2010/main" val="2032349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D6A35-54AC-4AE3-8555-4DEF1464DC30}"/>
              </a:ext>
            </a:extLst>
          </p:cNvPr>
          <p:cNvSpPr>
            <a:spLocks noGrp="1"/>
          </p:cNvSpPr>
          <p:nvPr>
            <p:ph type="ctrTitle"/>
          </p:nvPr>
        </p:nvSpPr>
        <p:spPr>
          <a:xfrm>
            <a:off x="1524000" y="2235200"/>
            <a:ext cx="9144000" cy="2387600"/>
          </a:xfrm>
        </p:spPr>
        <p:txBody>
          <a:bodyPr>
            <a:normAutofit fontScale="90000"/>
          </a:bodyPr>
          <a:lstStyle/>
          <a:p>
            <a:r>
              <a:rPr lang="en-US" b="1" dirty="0"/>
              <a:t>A. Countries-based analysis of the genomic variability among SARS-CoV-2 strains:</a:t>
            </a:r>
            <a:endParaRPr lang="en-US" dirty="0"/>
          </a:p>
        </p:txBody>
      </p:sp>
    </p:spTree>
    <p:extLst>
      <p:ext uri="{BB962C8B-B14F-4D97-AF65-F5344CB8AC3E}">
        <p14:creationId xmlns:p14="http://schemas.microsoft.com/office/powerpoint/2010/main" val="3583028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1. Retrieving sequences: SARS-CoV-2 Wuhan Seq</a:t>
            </a:r>
          </a:p>
        </p:txBody>
      </p:sp>
      <p:sp>
        <p:nvSpPr>
          <p:cNvPr id="3" name="Content Placeholder 2">
            <a:extLst>
              <a:ext uri="{FF2B5EF4-FFF2-40B4-BE49-F238E27FC236}">
                <a16:creationId xmlns:a16="http://schemas.microsoft.com/office/drawing/2014/main" id="{12CA33F8-F6E9-4905-BAF1-417CC3F1B0F4}"/>
              </a:ext>
            </a:extLst>
          </p:cNvPr>
          <p:cNvSpPr>
            <a:spLocks noGrp="1"/>
          </p:cNvSpPr>
          <p:nvPr>
            <p:ph idx="1"/>
          </p:nvPr>
        </p:nvSpPr>
        <p:spPr>
          <a:xfrm>
            <a:off x="319489" y="1825624"/>
            <a:ext cx="11435509" cy="4784495"/>
          </a:xfrm>
        </p:spPr>
        <p:txBody>
          <a:bodyPr>
            <a:normAutofit/>
          </a:bodyPr>
          <a:lstStyle/>
          <a:p>
            <a:r>
              <a:rPr lang="en-US" sz="3200" dirty="0"/>
              <a:t>NCBI Entrez Programming Utilities:</a:t>
            </a:r>
          </a:p>
          <a:p>
            <a:pPr marL="0" indent="0">
              <a:buNone/>
            </a:pPr>
            <a:endParaRPr lang="en-US" sz="3200" dirty="0"/>
          </a:p>
          <a:p>
            <a:pPr marL="0" indent="0">
              <a:buNone/>
            </a:pPr>
            <a:r>
              <a:rPr lang="en-US" sz="2400" b="0" i="0" u="none" strike="noStrike" baseline="0" dirty="0">
                <a:solidFill>
                  <a:srgbClr val="000000"/>
                </a:solidFill>
                <a:highlight>
                  <a:srgbClr val="FFFF00"/>
                </a:highlight>
                <a:latin typeface="Calibri" panose="020F0502020204030204" pitchFamily="34" charset="0"/>
              </a:rPr>
              <a:t>$ esearch -db nuccore -query "(severe acute respiratory syndrome coronavirus 2 [ORGN]) (refseq [FILT])" | efetch -format fasta &gt; WuhanRefseq.fasta </a:t>
            </a:r>
            <a:endParaRPr lang="en-US" sz="4000" dirty="0">
              <a:highlight>
                <a:srgbClr val="FFFF00"/>
              </a:highlight>
            </a:endParaRPr>
          </a:p>
        </p:txBody>
      </p:sp>
    </p:spTree>
    <p:extLst>
      <p:ext uri="{BB962C8B-B14F-4D97-AF65-F5344CB8AC3E}">
        <p14:creationId xmlns:p14="http://schemas.microsoft.com/office/powerpoint/2010/main" val="24450640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1. Retrieving sequences: SARS-CoV-2 Countries</a:t>
            </a:r>
          </a:p>
        </p:txBody>
      </p:sp>
      <p:pic>
        <p:nvPicPr>
          <p:cNvPr id="5" name="Content Placeholder 4">
            <a:extLst>
              <a:ext uri="{FF2B5EF4-FFF2-40B4-BE49-F238E27FC236}">
                <a16:creationId xmlns:a16="http://schemas.microsoft.com/office/drawing/2014/main" id="{288DCB53-18E3-44B1-AEC5-5415651506A9}"/>
              </a:ext>
            </a:extLst>
          </p:cNvPr>
          <p:cNvPicPr>
            <a:picLocks noGrp="1" noChangeAspect="1"/>
          </p:cNvPicPr>
          <p:nvPr>
            <p:ph idx="1"/>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9489" y="1767528"/>
            <a:ext cx="11435509" cy="4900933"/>
          </a:xfrm>
        </p:spPr>
      </p:pic>
      <p:sp>
        <p:nvSpPr>
          <p:cNvPr id="6" name="Rectangle 5">
            <a:extLst>
              <a:ext uri="{FF2B5EF4-FFF2-40B4-BE49-F238E27FC236}">
                <a16:creationId xmlns:a16="http://schemas.microsoft.com/office/drawing/2014/main" id="{DF265D0C-288B-418D-BC16-C93C22ED5F7D}"/>
              </a:ext>
            </a:extLst>
          </p:cNvPr>
          <p:cNvSpPr/>
          <p:nvPr/>
        </p:nvSpPr>
        <p:spPr>
          <a:xfrm>
            <a:off x="418641" y="1847294"/>
            <a:ext cx="528809" cy="1325563"/>
          </a:xfrm>
          <a:prstGeom prst="rect">
            <a:avLst/>
          </a:prstGeom>
          <a:solidFill>
            <a:srgbClr val="5353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1967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1. Retrieving sequences: SARS-CoV-2 Countries</a:t>
            </a:r>
          </a:p>
        </p:txBody>
      </p:sp>
      <p:pic>
        <p:nvPicPr>
          <p:cNvPr id="5" name="Content Placeholder 4">
            <a:extLst>
              <a:ext uri="{FF2B5EF4-FFF2-40B4-BE49-F238E27FC236}">
                <a16:creationId xmlns:a16="http://schemas.microsoft.com/office/drawing/2014/main" id="{8C45ACD6-7A65-45C6-B234-D319135D26D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66668" y="3143575"/>
            <a:ext cx="1503886" cy="1857300"/>
          </a:xfrm>
        </p:spPr>
      </p:pic>
      <p:sp>
        <p:nvSpPr>
          <p:cNvPr id="7" name="Rectangle 6">
            <a:extLst>
              <a:ext uri="{FF2B5EF4-FFF2-40B4-BE49-F238E27FC236}">
                <a16:creationId xmlns:a16="http://schemas.microsoft.com/office/drawing/2014/main" id="{2E838E46-9841-47C6-978B-60642ACA0FE6}"/>
              </a:ext>
            </a:extLst>
          </p:cNvPr>
          <p:cNvSpPr/>
          <p:nvPr/>
        </p:nvSpPr>
        <p:spPr>
          <a:xfrm>
            <a:off x="7121448" y="3143575"/>
            <a:ext cx="1503886" cy="18573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4B777789-A84E-4FB5-9B61-985CB436A7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98085" y="3396919"/>
            <a:ext cx="1350611" cy="1350611"/>
          </a:xfrm>
          <a:prstGeom prst="rect">
            <a:avLst/>
          </a:prstGeom>
        </p:spPr>
      </p:pic>
      <p:sp>
        <p:nvSpPr>
          <p:cNvPr id="10" name="TextBox 9">
            <a:extLst>
              <a:ext uri="{FF2B5EF4-FFF2-40B4-BE49-F238E27FC236}">
                <a16:creationId xmlns:a16="http://schemas.microsoft.com/office/drawing/2014/main" id="{9E8C0011-CBBF-4C3D-9A98-7104D258B259}"/>
              </a:ext>
            </a:extLst>
          </p:cNvPr>
          <p:cNvSpPr txBox="1"/>
          <p:nvPr/>
        </p:nvSpPr>
        <p:spPr>
          <a:xfrm>
            <a:off x="5644571" y="3610559"/>
            <a:ext cx="785343" cy="923330"/>
          </a:xfrm>
          <a:prstGeom prst="rect">
            <a:avLst/>
          </a:prstGeom>
          <a:noFill/>
        </p:spPr>
        <p:txBody>
          <a:bodyPr wrap="none" rtlCol="0">
            <a:spAutoFit/>
          </a:bodyPr>
          <a:lstStyle/>
          <a:p>
            <a:r>
              <a:rPr lang="en-US" sz="5400" i="1" dirty="0"/>
              <a:t>vs</a:t>
            </a:r>
          </a:p>
        </p:txBody>
      </p:sp>
    </p:spTree>
    <p:extLst>
      <p:ext uri="{BB962C8B-B14F-4D97-AF65-F5344CB8AC3E}">
        <p14:creationId xmlns:p14="http://schemas.microsoft.com/office/powerpoint/2010/main" val="862672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1. Retrieving sequences: SARS-CoV-2 Countries</a:t>
            </a:r>
          </a:p>
        </p:txBody>
      </p:sp>
      <p:pic>
        <p:nvPicPr>
          <p:cNvPr id="8" name="Content Placeholder 7">
            <a:extLst>
              <a:ext uri="{FF2B5EF4-FFF2-40B4-BE49-F238E27FC236}">
                <a16:creationId xmlns:a16="http://schemas.microsoft.com/office/drawing/2014/main" id="{EC306261-1496-46F3-A185-A8B1CF201337}"/>
              </a:ext>
            </a:extLst>
          </p:cNvPr>
          <p:cNvPicPr>
            <a:picLocks noGrp="1" noChangeAspect="1"/>
          </p:cNvPicPr>
          <p:nvPr>
            <p:ph idx="1"/>
          </p:nvPr>
        </p:nvPicPr>
        <p:blipFill rotWithShape="1">
          <a:blip r:embed="rId2"/>
          <a:srcRect t="8934" r="1256" b="21374"/>
          <a:stretch/>
        </p:blipFill>
        <p:spPr>
          <a:xfrm>
            <a:off x="319489" y="1821318"/>
            <a:ext cx="11435509" cy="4876127"/>
          </a:xfrm>
          <a:ln>
            <a:solidFill>
              <a:schemeClr val="tx1"/>
            </a:solidFill>
          </a:ln>
        </p:spPr>
      </p:pic>
    </p:spTree>
    <p:extLst>
      <p:ext uri="{BB962C8B-B14F-4D97-AF65-F5344CB8AC3E}">
        <p14:creationId xmlns:p14="http://schemas.microsoft.com/office/powerpoint/2010/main" val="2177823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1. Retrieving sequences: SARS-CoV-2 Countries</a:t>
            </a:r>
          </a:p>
        </p:txBody>
      </p:sp>
      <p:pic>
        <p:nvPicPr>
          <p:cNvPr id="9" name="Content Placeholder 8">
            <a:extLst>
              <a:ext uri="{FF2B5EF4-FFF2-40B4-BE49-F238E27FC236}">
                <a16:creationId xmlns:a16="http://schemas.microsoft.com/office/drawing/2014/main" id="{8C4899B0-EF66-499D-A8F3-EBDB50215E46}"/>
              </a:ext>
            </a:extLst>
          </p:cNvPr>
          <p:cNvPicPr>
            <a:picLocks noGrp="1" noChangeAspect="1"/>
          </p:cNvPicPr>
          <p:nvPr>
            <p:ph idx="1"/>
          </p:nvPr>
        </p:nvPicPr>
        <p:blipFill rotWithShape="1">
          <a:blip r:embed="rId2"/>
          <a:srcRect l="15532" t="9440" r="15633" b="42265"/>
          <a:stretch/>
        </p:blipFill>
        <p:spPr>
          <a:xfrm>
            <a:off x="319489" y="1817782"/>
            <a:ext cx="11435509" cy="4847422"/>
          </a:xfrm>
          <a:prstGeom prst="rect">
            <a:avLst/>
          </a:prstGeom>
          <a:ln>
            <a:solidFill>
              <a:schemeClr val="tx1"/>
            </a:solidFill>
          </a:ln>
        </p:spPr>
      </p:pic>
    </p:spTree>
    <p:extLst>
      <p:ext uri="{BB962C8B-B14F-4D97-AF65-F5344CB8AC3E}">
        <p14:creationId xmlns:p14="http://schemas.microsoft.com/office/powerpoint/2010/main" val="990960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1. Retrieving sequences: SARS-CoV-2 Countries</a:t>
            </a:r>
          </a:p>
        </p:txBody>
      </p:sp>
      <p:sp>
        <p:nvSpPr>
          <p:cNvPr id="3" name="Content Placeholder 2">
            <a:extLst>
              <a:ext uri="{FF2B5EF4-FFF2-40B4-BE49-F238E27FC236}">
                <a16:creationId xmlns:a16="http://schemas.microsoft.com/office/drawing/2014/main" id="{12CA33F8-F6E9-4905-BAF1-417CC3F1B0F4}"/>
              </a:ext>
            </a:extLst>
          </p:cNvPr>
          <p:cNvSpPr>
            <a:spLocks noGrp="1"/>
          </p:cNvSpPr>
          <p:nvPr>
            <p:ph idx="1"/>
          </p:nvPr>
        </p:nvSpPr>
        <p:spPr>
          <a:xfrm>
            <a:off x="319489" y="1825624"/>
            <a:ext cx="11435509" cy="4784495"/>
          </a:xfrm>
        </p:spPr>
        <p:txBody>
          <a:bodyPr>
            <a:normAutofit/>
          </a:bodyPr>
          <a:lstStyle/>
          <a:p>
            <a:r>
              <a:rPr lang="en-US" sz="3600" b="1" dirty="0"/>
              <a:t>Criteria of Selection:</a:t>
            </a:r>
          </a:p>
          <a:p>
            <a:r>
              <a:rPr lang="en-US" sz="3200" dirty="0"/>
              <a:t>Complete genome.</a:t>
            </a:r>
          </a:p>
          <a:p>
            <a:r>
              <a:rPr lang="en-US" sz="3200" dirty="0"/>
              <a:t>Only unambiguous DNA letters as possible.</a:t>
            </a:r>
          </a:p>
          <a:p>
            <a:r>
              <a:rPr lang="en-US" sz="3200" dirty="0"/>
              <a:t>1</a:t>
            </a:r>
            <a:r>
              <a:rPr lang="en-US" sz="3200" baseline="30000" dirty="0"/>
              <a:t>st</a:t>
            </a:r>
            <a:r>
              <a:rPr lang="en-US" sz="3200" dirty="0"/>
              <a:t> and 2</a:t>
            </a:r>
            <a:r>
              <a:rPr lang="en-US" sz="3200" baseline="30000" dirty="0"/>
              <a:t>nd</a:t>
            </a:r>
            <a:r>
              <a:rPr lang="en-US" sz="3200" dirty="0"/>
              <a:t> generation DNA sequencers.</a:t>
            </a:r>
          </a:p>
        </p:txBody>
      </p:sp>
    </p:spTree>
    <p:extLst>
      <p:ext uri="{BB962C8B-B14F-4D97-AF65-F5344CB8AC3E}">
        <p14:creationId xmlns:p14="http://schemas.microsoft.com/office/powerpoint/2010/main" val="408831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2. Multiple Sequence alignment</a:t>
            </a:r>
          </a:p>
        </p:txBody>
      </p:sp>
      <p:sp>
        <p:nvSpPr>
          <p:cNvPr id="7" name="Content Placeholder 6">
            <a:extLst>
              <a:ext uri="{FF2B5EF4-FFF2-40B4-BE49-F238E27FC236}">
                <a16:creationId xmlns:a16="http://schemas.microsoft.com/office/drawing/2014/main" id="{14CFB394-05FC-4DDC-BAF2-9CCF8608D707}"/>
              </a:ext>
            </a:extLst>
          </p:cNvPr>
          <p:cNvSpPr>
            <a:spLocks noGrp="1"/>
          </p:cNvSpPr>
          <p:nvPr>
            <p:ph idx="1"/>
          </p:nvPr>
        </p:nvSpPr>
        <p:spPr>
          <a:xfrm>
            <a:off x="319489" y="1825625"/>
            <a:ext cx="10515600" cy="4351338"/>
          </a:xfrm>
        </p:spPr>
        <p:txBody>
          <a:bodyPr>
            <a:normAutofit/>
          </a:bodyPr>
          <a:lstStyle/>
          <a:p>
            <a:pPr marL="0" indent="0">
              <a:buNone/>
            </a:pPr>
            <a:r>
              <a:rPr lang="en-US" sz="3200" dirty="0"/>
              <a:t>“For the alignment of large viral genomes,</a:t>
            </a:r>
          </a:p>
          <a:p>
            <a:pPr marL="0" indent="0">
              <a:buNone/>
            </a:pPr>
            <a:r>
              <a:rPr lang="en-US" sz="3200" dirty="0"/>
              <a:t>  MAFFT is the tool of choice”</a:t>
            </a:r>
          </a:p>
        </p:txBody>
      </p:sp>
      <p:pic>
        <p:nvPicPr>
          <p:cNvPr id="9" name="Picture 8">
            <a:extLst>
              <a:ext uri="{FF2B5EF4-FFF2-40B4-BE49-F238E27FC236}">
                <a16:creationId xmlns:a16="http://schemas.microsoft.com/office/drawing/2014/main" id="{B541FB51-E7C5-49D7-9975-A0DDB270BCA8}"/>
              </a:ext>
            </a:extLst>
          </p:cNvPr>
          <p:cNvPicPr>
            <a:picLocks noChangeAspect="1"/>
          </p:cNvPicPr>
          <p:nvPr/>
        </p:nvPicPr>
        <p:blipFill rotWithShape="1">
          <a:blip r:embed="rId2">
            <a:extLst>
              <a:ext uri="{28A0092B-C50C-407E-A947-70E740481C1C}">
                <a14:useLocalDpi xmlns:a14="http://schemas.microsoft.com/office/drawing/2010/main" val="0"/>
              </a:ext>
            </a:extLst>
          </a:blip>
          <a:srcRect t="5324" r="-333" b="3935"/>
          <a:stretch/>
        </p:blipFill>
        <p:spPr>
          <a:xfrm>
            <a:off x="7922861" y="1825625"/>
            <a:ext cx="3832137" cy="4916698"/>
          </a:xfrm>
          <a:prstGeom prst="rect">
            <a:avLst/>
          </a:prstGeom>
          <a:ln>
            <a:solidFill>
              <a:schemeClr val="tx1"/>
            </a:solidFill>
          </a:ln>
        </p:spPr>
      </p:pic>
    </p:spTree>
    <p:extLst>
      <p:ext uri="{BB962C8B-B14F-4D97-AF65-F5344CB8AC3E}">
        <p14:creationId xmlns:p14="http://schemas.microsoft.com/office/powerpoint/2010/main" val="1546994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2. Multiple Sequence alignment</a:t>
            </a:r>
          </a:p>
        </p:txBody>
      </p:sp>
      <p:sp>
        <p:nvSpPr>
          <p:cNvPr id="7" name="Content Placeholder 6">
            <a:extLst>
              <a:ext uri="{FF2B5EF4-FFF2-40B4-BE49-F238E27FC236}">
                <a16:creationId xmlns:a16="http://schemas.microsoft.com/office/drawing/2014/main" id="{14CFB394-05FC-4DDC-BAF2-9CCF8608D707}"/>
              </a:ext>
            </a:extLst>
          </p:cNvPr>
          <p:cNvSpPr>
            <a:spLocks noGrp="1"/>
          </p:cNvSpPr>
          <p:nvPr>
            <p:ph idx="1"/>
          </p:nvPr>
        </p:nvSpPr>
        <p:spPr>
          <a:xfrm>
            <a:off x="319489" y="1825625"/>
            <a:ext cx="11435508" cy="4351338"/>
          </a:xfrm>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esearch -db nuccore -query "(severe acute respiratory syndrome coronavirus [ORGN]) (complete genome [TITL]) (refseq [FILT])" | efetch -format fasta &gt; SARS-CoV-1.fasta</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400" dirty="0">
              <a:solidFill>
                <a:srgbClr val="000000"/>
              </a:solidFill>
              <a:highlight>
                <a:srgbClr val="FFFF00"/>
              </a:highlight>
              <a:latin typeface="Calibri" panose="020F050202020403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mafft</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retree</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2 --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inputorder</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clustalout</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addfragments</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All_Countries.fasta</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WuhanRefseq.fasta &gt;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All_Countries_Wuhan.clw</a:t>
            </a:r>
            <a:endParaRPr kumimoji="0" lang="en-US" sz="40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p:txBody>
      </p:sp>
    </p:spTree>
    <p:extLst>
      <p:ext uri="{BB962C8B-B14F-4D97-AF65-F5344CB8AC3E}">
        <p14:creationId xmlns:p14="http://schemas.microsoft.com/office/powerpoint/2010/main" val="582411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3. Conserved regions</a:t>
            </a:r>
          </a:p>
        </p:txBody>
      </p:sp>
      <p:sp>
        <p:nvSpPr>
          <p:cNvPr id="7" name="Content Placeholder 6">
            <a:extLst>
              <a:ext uri="{FF2B5EF4-FFF2-40B4-BE49-F238E27FC236}">
                <a16:creationId xmlns:a16="http://schemas.microsoft.com/office/drawing/2014/main" id="{14CFB394-05FC-4DDC-BAF2-9CCF8608D707}"/>
              </a:ext>
            </a:extLst>
          </p:cNvPr>
          <p:cNvSpPr>
            <a:spLocks noGrp="1"/>
          </p:cNvSpPr>
          <p:nvPr>
            <p:ph idx="1"/>
          </p:nvPr>
        </p:nvSpPr>
        <p:spPr>
          <a:xfrm>
            <a:off x="319489" y="1825625"/>
            <a:ext cx="11435508" cy="4351338"/>
          </a:xfrm>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Gblocks</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All_Countries_Wuhan.aln</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-t=d -p=y</a:t>
            </a:r>
            <a:endParaRPr lang="en-US" sz="2400" dirty="0">
              <a:solidFill>
                <a:srgbClr val="000000"/>
              </a:solidFill>
              <a:highlight>
                <a:srgbClr val="FFFF00"/>
              </a:highlight>
              <a:latin typeface="Calibri" panose="020F050202020403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rm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All_Countries_Wuhan.aln-gb</a:t>
            </a:r>
            <a:endParaRPr kumimoji="0" lang="en-US" sz="40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p:txBody>
      </p:sp>
    </p:spTree>
    <p:extLst>
      <p:ext uri="{BB962C8B-B14F-4D97-AF65-F5344CB8AC3E}">
        <p14:creationId xmlns:p14="http://schemas.microsoft.com/office/powerpoint/2010/main" val="2499610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3. Conserved regions</a:t>
            </a:r>
          </a:p>
        </p:txBody>
      </p:sp>
      <p:pic>
        <p:nvPicPr>
          <p:cNvPr id="6" name="Content Placeholder 5">
            <a:extLst>
              <a:ext uri="{FF2B5EF4-FFF2-40B4-BE49-F238E27FC236}">
                <a16:creationId xmlns:a16="http://schemas.microsoft.com/office/drawing/2014/main" id="{AEBB20E3-206D-4B31-8FED-49DFF8D17A53}"/>
              </a:ext>
            </a:extLst>
          </p:cNvPr>
          <p:cNvPicPr>
            <a:picLocks noGrp="1" noChangeAspect="1"/>
          </p:cNvPicPr>
          <p:nvPr>
            <p:ph idx="1"/>
          </p:nvPr>
        </p:nvPicPr>
        <p:blipFill rotWithShape="1">
          <a:blip r:embed="rId2"/>
          <a:srcRect t="47880" r="27664" b="3460"/>
          <a:stretch/>
        </p:blipFill>
        <p:spPr>
          <a:xfrm>
            <a:off x="319489" y="1841424"/>
            <a:ext cx="11444932" cy="4651451"/>
          </a:xfrm>
          <a:prstGeom prst="rect">
            <a:avLst/>
          </a:prstGeom>
        </p:spPr>
      </p:pic>
    </p:spTree>
    <p:extLst>
      <p:ext uri="{BB962C8B-B14F-4D97-AF65-F5344CB8AC3E}">
        <p14:creationId xmlns:p14="http://schemas.microsoft.com/office/powerpoint/2010/main" val="1347797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4. Phylogenetic Tree Construction</a:t>
            </a:r>
          </a:p>
        </p:txBody>
      </p:sp>
      <p:sp>
        <p:nvSpPr>
          <p:cNvPr id="7" name="Content Placeholder 6">
            <a:extLst>
              <a:ext uri="{FF2B5EF4-FFF2-40B4-BE49-F238E27FC236}">
                <a16:creationId xmlns:a16="http://schemas.microsoft.com/office/drawing/2014/main" id="{14CFB394-05FC-4DDC-BAF2-9CCF8608D707}"/>
              </a:ext>
            </a:extLst>
          </p:cNvPr>
          <p:cNvSpPr>
            <a:spLocks noGrp="1"/>
          </p:cNvSpPr>
          <p:nvPr>
            <p:ph idx="1"/>
          </p:nvPr>
        </p:nvSpPr>
        <p:spPr>
          <a:xfrm>
            <a:off x="319489" y="1825625"/>
            <a:ext cx="11435508" cy="4351338"/>
          </a:xfrm>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FastTree</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gtr</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-gamma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nt</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&lt;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All_Countries_Wuhan.aln</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&gt;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All_Countries_Wuhan.tree</a:t>
            </a:r>
            <a:endPar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plottree</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All_Countries_Wuhan.tree</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-w 40 -l 80 -s 15 -o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All_Countries_Wuhan</a:t>
            </a:r>
            <a:endParaRPr kumimoji="0" lang="en-US" sz="40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p:txBody>
      </p:sp>
    </p:spTree>
    <p:extLst>
      <p:ext uri="{BB962C8B-B14F-4D97-AF65-F5344CB8AC3E}">
        <p14:creationId xmlns:p14="http://schemas.microsoft.com/office/powerpoint/2010/main" val="165518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0FDCFA7-BD9A-411B-8CD6-83EDC93DEA40}"/>
              </a:ext>
            </a:extLst>
          </p:cNvPr>
          <p:cNvPicPr>
            <a:picLocks noChangeAspect="1"/>
          </p:cNvPicPr>
          <p:nvPr/>
        </p:nvPicPr>
        <p:blipFill rotWithShape="1">
          <a:blip r:embed="rId2"/>
          <a:srcRect t="17510" b="5703"/>
          <a:stretch/>
        </p:blipFill>
        <p:spPr>
          <a:xfrm>
            <a:off x="0" y="795968"/>
            <a:ext cx="11351172" cy="5266063"/>
          </a:xfrm>
          <a:prstGeom prst="rect">
            <a:avLst/>
          </a:prstGeom>
        </p:spPr>
      </p:pic>
      <p:sp>
        <p:nvSpPr>
          <p:cNvPr id="7" name="Rectangle 6">
            <a:extLst>
              <a:ext uri="{FF2B5EF4-FFF2-40B4-BE49-F238E27FC236}">
                <a16:creationId xmlns:a16="http://schemas.microsoft.com/office/drawing/2014/main" id="{BD3CA92D-A709-4C72-8384-843854B2164F}"/>
              </a:ext>
            </a:extLst>
          </p:cNvPr>
          <p:cNvSpPr/>
          <p:nvPr/>
        </p:nvSpPr>
        <p:spPr>
          <a:xfrm>
            <a:off x="1172399" y="2248534"/>
            <a:ext cx="991518" cy="27432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7042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D6A35-54AC-4AE3-8555-4DEF1464DC30}"/>
              </a:ext>
            </a:extLst>
          </p:cNvPr>
          <p:cNvSpPr>
            <a:spLocks noGrp="1"/>
          </p:cNvSpPr>
          <p:nvPr>
            <p:ph type="ctrTitle"/>
          </p:nvPr>
        </p:nvSpPr>
        <p:spPr>
          <a:xfrm>
            <a:off x="1524000" y="2235200"/>
            <a:ext cx="9144000" cy="2387600"/>
          </a:xfrm>
        </p:spPr>
        <p:txBody>
          <a:bodyPr>
            <a:normAutofit fontScale="90000"/>
          </a:bodyPr>
          <a:lstStyle/>
          <a:p>
            <a:r>
              <a:rPr lang="en-US" b="1" dirty="0"/>
              <a:t>B. Analyzing the genomic variability among SARS-CoV-1 and SARS-CoV-2:</a:t>
            </a:r>
            <a:endParaRPr lang="en-US" dirty="0"/>
          </a:p>
        </p:txBody>
      </p:sp>
    </p:spTree>
    <p:extLst>
      <p:ext uri="{BB962C8B-B14F-4D97-AF65-F5344CB8AC3E}">
        <p14:creationId xmlns:p14="http://schemas.microsoft.com/office/powerpoint/2010/main" val="1444614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1. Retrieving sequences: SARS-CoV-1 Seq</a:t>
            </a:r>
          </a:p>
        </p:txBody>
      </p:sp>
      <p:sp>
        <p:nvSpPr>
          <p:cNvPr id="3" name="Content Placeholder 2">
            <a:extLst>
              <a:ext uri="{FF2B5EF4-FFF2-40B4-BE49-F238E27FC236}">
                <a16:creationId xmlns:a16="http://schemas.microsoft.com/office/drawing/2014/main" id="{12CA33F8-F6E9-4905-BAF1-417CC3F1B0F4}"/>
              </a:ext>
            </a:extLst>
          </p:cNvPr>
          <p:cNvSpPr>
            <a:spLocks noGrp="1"/>
          </p:cNvSpPr>
          <p:nvPr>
            <p:ph idx="1"/>
          </p:nvPr>
        </p:nvSpPr>
        <p:spPr>
          <a:xfrm>
            <a:off x="319489" y="1825624"/>
            <a:ext cx="11435509" cy="4784495"/>
          </a:xfrm>
        </p:spPr>
        <p:txBody>
          <a:bodyPr>
            <a:normAutofit/>
          </a:bodyPr>
          <a:lstStyle/>
          <a:p>
            <a:r>
              <a:rPr lang="en-US" sz="3200" dirty="0"/>
              <a:t>NCBI Entrez Programming Utilities:</a:t>
            </a:r>
          </a:p>
          <a:p>
            <a:pPr marL="0" indent="0">
              <a:buNone/>
            </a:pPr>
            <a:endParaRPr lang="en-US" sz="3200" dirty="0"/>
          </a:p>
          <a:p>
            <a:pPr marL="0" indent="0">
              <a:buNone/>
            </a:pPr>
            <a:r>
              <a:rPr lang="en-US" sz="2400" b="0" i="0" u="none" strike="noStrike" baseline="0" dirty="0">
                <a:solidFill>
                  <a:srgbClr val="000000"/>
                </a:solidFill>
                <a:highlight>
                  <a:srgbClr val="FFFF00"/>
                </a:highlight>
                <a:latin typeface="Calibri" panose="020F0502020204030204" pitchFamily="34" charset="0"/>
              </a:rPr>
              <a:t>$ esearch -db nuccore -query "(severe acute respiratory syndrome coronavirus [ORGN]) (complete genome [TITL]) (refseq [FILT])" | efetch -format fasta &gt; SARS-CoV-1.fasta</a:t>
            </a:r>
            <a:endParaRPr lang="en-US" sz="4000" dirty="0">
              <a:highlight>
                <a:srgbClr val="FFFF00"/>
              </a:highlight>
            </a:endParaRPr>
          </a:p>
        </p:txBody>
      </p:sp>
    </p:spTree>
    <p:extLst>
      <p:ext uri="{BB962C8B-B14F-4D97-AF65-F5344CB8AC3E}">
        <p14:creationId xmlns:p14="http://schemas.microsoft.com/office/powerpoint/2010/main" val="1923976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2. Multiple Sequence alignment</a:t>
            </a:r>
          </a:p>
        </p:txBody>
      </p:sp>
      <p:sp>
        <p:nvSpPr>
          <p:cNvPr id="3" name="Content Placeholder 2">
            <a:extLst>
              <a:ext uri="{FF2B5EF4-FFF2-40B4-BE49-F238E27FC236}">
                <a16:creationId xmlns:a16="http://schemas.microsoft.com/office/drawing/2014/main" id="{12CA33F8-F6E9-4905-BAF1-417CC3F1B0F4}"/>
              </a:ext>
            </a:extLst>
          </p:cNvPr>
          <p:cNvSpPr>
            <a:spLocks noGrp="1"/>
          </p:cNvSpPr>
          <p:nvPr>
            <p:ph idx="1"/>
          </p:nvPr>
        </p:nvSpPr>
        <p:spPr>
          <a:xfrm>
            <a:off x="319489" y="1825624"/>
            <a:ext cx="11435509" cy="4784495"/>
          </a:xfrm>
        </p:spPr>
        <p:txBody>
          <a:bodyPr>
            <a:normAutofit/>
          </a:bodyPr>
          <a:lstStyle/>
          <a:p>
            <a:pPr marL="0" indent="0">
              <a:buNone/>
            </a:pP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mafft</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retree</a:t>
            </a:r>
            <a:r>
              <a:rPr lang="en-US" sz="2400" b="0" i="0" u="none" strike="noStrike" baseline="0" dirty="0">
                <a:solidFill>
                  <a:srgbClr val="000000"/>
                </a:solidFill>
                <a:highlight>
                  <a:srgbClr val="FFFF00"/>
                </a:highlight>
                <a:latin typeface="Calibri" panose="020F0502020204030204" pitchFamily="34" charset="0"/>
              </a:rPr>
              <a:t> 2 --</a:t>
            </a:r>
            <a:r>
              <a:rPr lang="en-US" sz="2400" b="0" i="0" u="none" strike="noStrike" baseline="0" dirty="0" err="1">
                <a:solidFill>
                  <a:srgbClr val="000000"/>
                </a:solidFill>
                <a:highlight>
                  <a:srgbClr val="FFFF00"/>
                </a:highlight>
                <a:latin typeface="Calibri" panose="020F0502020204030204" pitchFamily="34" charset="0"/>
              </a:rPr>
              <a:t>inputorder</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addfragments</a:t>
            </a:r>
            <a:r>
              <a:rPr lang="en-US" sz="2400" b="0" i="0" u="none" strike="noStrike" baseline="0" dirty="0">
                <a:solidFill>
                  <a:srgbClr val="000000"/>
                </a:solidFill>
                <a:highlight>
                  <a:srgbClr val="FFFF00"/>
                </a:highlight>
                <a:latin typeface="Calibri" panose="020F0502020204030204" pitchFamily="34" charset="0"/>
              </a:rPr>
              <a:t> SARS-CoV-1.fasta WuhanRefseq.fasta &gt; SARS-</a:t>
            </a:r>
            <a:r>
              <a:rPr lang="en-US" sz="2400" b="0" i="0" u="none" strike="noStrike" baseline="0" dirty="0" err="1">
                <a:solidFill>
                  <a:srgbClr val="000000"/>
                </a:solidFill>
                <a:highlight>
                  <a:srgbClr val="FFFF00"/>
                </a:highlight>
                <a:latin typeface="Calibri" panose="020F0502020204030204" pitchFamily="34" charset="0"/>
              </a:rPr>
              <a:t>CoV.aln</a:t>
            </a:r>
            <a:endParaRPr lang="en-US" sz="2400" b="0" i="0" u="none" strike="noStrike" baseline="0" dirty="0">
              <a:solidFill>
                <a:srgbClr val="000000"/>
              </a:solidFill>
              <a:highlight>
                <a:srgbClr val="FFFF00"/>
              </a:highlight>
              <a:latin typeface="Calibri" panose="020F050202020403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mafft</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retree</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2 --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inputorder</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clustalout</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addfragments</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SARS-CoV-1.fasta WuhanRefseq.fasta &gt; SARS-</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CoV.clw</a:t>
            </a:r>
            <a:endPar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4000" dirty="0">
              <a:highlight>
                <a:srgbClr val="FFFF00"/>
              </a:highlight>
            </a:endParaRPr>
          </a:p>
        </p:txBody>
      </p:sp>
    </p:spTree>
    <p:extLst>
      <p:ext uri="{BB962C8B-B14F-4D97-AF65-F5344CB8AC3E}">
        <p14:creationId xmlns:p14="http://schemas.microsoft.com/office/powerpoint/2010/main" val="106406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3. Conserved regions</a:t>
            </a:r>
          </a:p>
        </p:txBody>
      </p:sp>
      <p:sp>
        <p:nvSpPr>
          <p:cNvPr id="7" name="Content Placeholder 6">
            <a:extLst>
              <a:ext uri="{FF2B5EF4-FFF2-40B4-BE49-F238E27FC236}">
                <a16:creationId xmlns:a16="http://schemas.microsoft.com/office/drawing/2014/main" id="{14CFB394-05FC-4DDC-BAF2-9CCF8608D707}"/>
              </a:ext>
            </a:extLst>
          </p:cNvPr>
          <p:cNvSpPr>
            <a:spLocks noGrp="1"/>
          </p:cNvSpPr>
          <p:nvPr>
            <p:ph idx="1"/>
          </p:nvPr>
        </p:nvSpPr>
        <p:spPr>
          <a:xfrm>
            <a:off x="319489" y="1825625"/>
            <a:ext cx="11435508" cy="4351338"/>
          </a:xfrm>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fr-FR"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Gblocks</a:t>
            </a:r>
            <a:r>
              <a:rPr kumimoji="0" lang="fr-FR"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SARS-</a:t>
            </a:r>
            <a:r>
              <a:rPr kumimoji="0" lang="fr-FR"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CoV.aln</a:t>
            </a:r>
            <a:r>
              <a:rPr kumimoji="0" lang="fr-FR"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-t=d -p=y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rm SARS-</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CoV.aln</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gb</a:t>
            </a:r>
            <a:endParaRPr kumimoji="0" lang="en-US" sz="40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p:txBody>
      </p:sp>
    </p:spTree>
    <p:extLst>
      <p:ext uri="{BB962C8B-B14F-4D97-AF65-F5344CB8AC3E}">
        <p14:creationId xmlns:p14="http://schemas.microsoft.com/office/powerpoint/2010/main" val="3886079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D6A35-54AC-4AE3-8555-4DEF1464DC30}"/>
              </a:ext>
            </a:extLst>
          </p:cNvPr>
          <p:cNvSpPr>
            <a:spLocks noGrp="1"/>
          </p:cNvSpPr>
          <p:nvPr>
            <p:ph type="ctrTitle"/>
          </p:nvPr>
        </p:nvSpPr>
        <p:spPr>
          <a:xfrm>
            <a:off x="1524000" y="2235200"/>
            <a:ext cx="9144000" cy="2387600"/>
          </a:xfrm>
        </p:spPr>
        <p:txBody>
          <a:bodyPr>
            <a:normAutofit fontScale="90000"/>
          </a:bodyPr>
          <a:lstStyle/>
          <a:p>
            <a:r>
              <a:rPr lang="en-US" b="1" dirty="0"/>
              <a:t>C. Analyzing the genomic variability among fecal and oropharyngeal isolates of</a:t>
            </a:r>
            <a:br>
              <a:rPr lang="en-US" b="1" dirty="0"/>
            </a:br>
            <a:r>
              <a:rPr lang="en-US" b="1" dirty="0"/>
              <a:t>SARS-CoV-2:</a:t>
            </a:r>
            <a:endParaRPr lang="en-US" dirty="0"/>
          </a:p>
        </p:txBody>
      </p:sp>
    </p:spTree>
    <p:extLst>
      <p:ext uri="{BB962C8B-B14F-4D97-AF65-F5344CB8AC3E}">
        <p14:creationId xmlns:p14="http://schemas.microsoft.com/office/powerpoint/2010/main" val="2347132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1. Retrieving sequences: SARS-CoV-2 fecal seqs</a:t>
            </a:r>
          </a:p>
        </p:txBody>
      </p:sp>
      <p:pic>
        <p:nvPicPr>
          <p:cNvPr id="5" name="Content Placeholder 4">
            <a:extLst>
              <a:ext uri="{FF2B5EF4-FFF2-40B4-BE49-F238E27FC236}">
                <a16:creationId xmlns:a16="http://schemas.microsoft.com/office/drawing/2014/main" id="{82771AEF-16F2-41B4-A499-29E705E021FD}"/>
              </a:ext>
            </a:extLst>
          </p:cNvPr>
          <p:cNvPicPr>
            <a:picLocks noGrp="1" noChangeAspect="1"/>
          </p:cNvPicPr>
          <p:nvPr>
            <p:ph idx="1"/>
          </p:nvPr>
        </p:nvPicPr>
        <p:blipFill rotWithShape="1">
          <a:blip r:embed="rId2"/>
          <a:srcRect t="41742" b="5991"/>
          <a:stretch/>
        </p:blipFill>
        <p:spPr>
          <a:xfrm>
            <a:off x="333817" y="2038120"/>
            <a:ext cx="11443215" cy="3613532"/>
          </a:xfrm>
          <a:ln>
            <a:solidFill>
              <a:schemeClr val="tx1"/>
            </a:solidFill>
          </a:ln>
        </p:spPr>
      </p:pic>
    </p:spTree>
    <p:extLst>
      <p:ext uri="{BB962C8B-B14F-4D97-AF65-F5344CB8AC3E}">
        <p14:creationId xmlns:p14="http://schemas.microsoft.com/office/powerpoint/2010/main" val="11477092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1. Retrieving sequences: SARS-CoV-2 pharynx seqs</a:t>
            </a:r>
          </a:p>
        </p:txBody>
      </p:sp>
      <p:pic>
        <p:nvPicPr>
          <p:cNvPr id="7" name="Content Placeholder 6">
            <a:extLst>
              <a:ext uri="{FF2B5EF4-FFF2-40B4-BE49-F238E27FC236}">
                <a16:creationId xmlns:a16="http://schemas.microsoft.com/office/drawing/2014/main" id="{A3725393-8261-4C70-9737-26F7C0F20A10}"/>
              </a:ext>
            </a:extLst>
          </p:cNvPr>
          <p:cNvPicPr>
            <a:picLocks noGrp="1" noChangeAspect="1"/>
          </p:cNvPicPr>
          <p:nvPr>
            <p:ph idx="1"/>
          </p:nvPr>
        </p:nvPicPr>
        <p:blipFill rotWithShape="1">
          <a:blip r:embed="rId2"/>
          <a:srcRect t="29948" b="11566"/>
          <a:stretch/>
        </p:blipFill>
        <p:spPr>
          <a:xfrm>
            <a:off x="319489" y="2060154"/>
            <a:ext cx="11435509" cy="4040730"/>
          </a:xfrm>
          <a:ln>
            <a:solidFill>
              <a:schemeClr val="tx1"/>
            </a:solidFill>
          </a:ln>
        </p:spPr>
      </p:pic>
    </p:spTree>
    <p:extLst>
      <p:ext uri="{BB962C8B-B14F-4D97-AF65-F5344CB8AC3E}">
        <p14:creationId xmlns:p14="http://schemas.microsoft.com/office/powerpoint/2010/main" val="7884679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2. Multiple Sequence alignment</a:t>
            </a:r>
          </a:p>
        </p:txBody>
      </p:sp>
      <p:sp>
        <p:nvSpPr>
          <p:cNvPr id="3" name="Content Placeholder 2">
            <a:extLst>
              <a:ext uri="{FF2B5EF4-FFF2-40B4-BE49-F238E27FC236}">
                <a16:creationId xmlns:a16="http://schemas.microsoft.com/office/drawing/2014/main" id="{12CA33F8-F6E9-4905-BAF1-417CC3F1B0F4}"/>
              </a:ext>
            </a:extLst>
          </p:cNvPr>
          <p:cNvSpPr>
            <a:spLocks noGrp="1"/>
          </p:cNvSpPr>
          <p:nvPr>
            <p:ph idx="1"/>
          </p:nvPr>
        </p:nvSpPr>
        <p:spPr>
          <a:xfrm>
            <a:off x="319489" y="1825624"/>
            <a:ext cx="11435509" cy="4784495"/>
          </a:xfrm>
        </p:spPr>
        <p:txBody>
          <a:bodyPr>
            <a:normAutofit/>
          </a:bodyPr>
          <a:lstStyle/>
          <a:p>
            <a:pPr marL="0" indent="0">
              <a:buNone/>
            </a:pP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mafft</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retree</a:t>
            </a:r>
            <a:r>
              <a:rPr lang="en-US" sz="2400" b="0" i="0" u="none" strike="noStrike" baseline="0" dirty="0">
                <a:solidFill>
                  <a:srgbClr val="000000"/>
                </a:solidFill>
                <a:highlight>
                  <a:srgbClr val="FFFF00"/>
                </a:highlight>
                <a:latin typeface="Calibri" panose="020F0502020204030204" pitchFamily="34" charset="0"/>
              </a:rPr>
              <a:t> 2 --</a:t>
            </a:r>
            <a:r>
              <a:rPr lang="en-US" sz="2400" b="0" i="0" u="none" strike="noStrike" baseline="0" dirty="0" err="1">
                <a:solidFill>
                  <a:srgbClr val="000000"/>
                </a:solidFill>
                <a:highlight>
                  <a:srgbClr val="FFFF00"/>
                </a:highlight>
                <a:latin typeface="Calibri" panose="020F0502020204030204" pitchFamily="34" charset="0"/>
              </a:rPr>
              <a:t>inputorder</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respiratory_CA.fasta</a:t>
            </a:r>
            <a:r>
              <a:rPr lang="en-US" sz="2400" b="0" i="0" u="none" strike="noStrike" baseline="0" dirty="0">
                <a:solidFill>
                  <a:srgbClr val="000000"/>
                </a:solidFill>
                <a:highlight>
                  <a:srgbClr val="FFFF00"/>
                </a:highlight>
                <a:latin typeface="Calibri" panose="020F0502020204030204" pitchFamily="34" charset="0"/>
              </a:rPr>
              <a:t> &gt; </a:t>
            </a:r>
            <a:r>
              <a:rPr lang="en-US" sz="2400" b="0" i="0" u="none" strike="noStrike" baseline="0" dirty="0" err="1">
                <a:solidFill>
                  <a:srgbClr val="000000"/>
                </a:solidFill>
                <a:highlight>
                  <a:srgbClr val="FFFF00"/>
                </a:highlight>
                <a:latin typeface="Calibri" panose="020F0502020204030204" pitchFamily="34" charset="0"/>
              </a:rPr>
              <a:t>respiratory_CA.aln</a:t>
            </a:r>
            <a:endParaRPr lang="en-US" sz="2400" b="0" i="0" u="none" strike="noStrike" baseline="0" dirty="0">
              <a:solidFill>
                <a:srgbClr val="000000"/>
              </a:solidFill>
              <a:highlight>
                <a:srgbClr val="FFFF00"/>
              </a:highlight>
              <a:latin typeface="Calibri" panose="020F0502020204030204" pitchFamily="34" charset="0"/>
            </a:endParaRPr>
          </a:p>
        </p:txBody>
      </p:sp>
    </p:spTree>
    <p:extLst>
      <p:ext uri="{BB962C8B-B14F-4D97-AF65-F5344CB8AC3E}">
        <p14:creationId xmlns:p14="http://schemas.microsoft.com/office/powerpoint/2010/main" val="8527605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3. Consensus Sequence</a:t>
            </a:r>
          </a:p>
        </p:txBody>
      </p:sp>
      <p:sp>
        <p:nvSpPr>
          <p:cNvPr id="3" name="Content Placeholder 2">
            <a:extLst>
              <a:ext uri="{FF2B5EF4-FFF2-40B4-BE49-F238E27FC236}">
                <a16:creationId xmlns:a16="http://schemas.microsoft.com/office/drawing/2014/main" id="{12CA33F8-F6E9-4905-BAF1-417CC3F1B0F4}"/>
              </a:ext>
            </a:extLst>
          </p:cNvPr>
          <p:cNvSpPr>
            <a:spLocks noGrp="1"/>
          </p:cNvSpPr>
          <p:nvPr>
            <p:ph idx="1"/>
          </p:nvPr>
        </p:nvSpPr>
        <p:spPr>
          <a:xfrm>
            <a:off x="319489" y="1825624"/>
            <a:ext cx="11435509" cy="4784495"/>
          </a:xfrm>
        </p:spPr>
        <p:txBody>
          <a:bodyPr>
            <a:normAutofit/>
          </a:bodyPr>
          <a:lstStyle/>
          <a:p>
            <a:pPr marL="0" indent="0">
              <a:buNone/>
            </a:pPr>
            <a:r>
              <a:rPr lang="en-US" sz="2400" b="0" i="0" u="none" strike="noStrike" baseline="0" dirty="0">
                <a:solidFill>
                  <a:srgbClr val="000000"/>
                </a:solidFill>
                <a:highlight>
                  <a:srgbClr val="FFFF00"/>
                </a:highlight>
                <a:latin typeface="Calibri" panose="020F0502020204030204" pitchFamily="34" charset="0"/>
              </a:rPr>
              <a:t>Cons </a:t>
            </a:r>
            <a:r>
              <a:rPr lang="en-US" sz="2400" b="0" i="0" u="none" strike="noStrike" baseline="0" dirty="0" err="1">
                <a:solidFill>
                  <a:srgbClr val="000000"/>
                </a:solidFill>
                <a:highlight>
                  <a:srgbClr val="FFFF00"/>
                </a:highlight>
                <a:latin typeface="Calibri" panose="020F0502020204030204" pitchFamily="34" charset="0"/>
              </a:rPr>
              <a:t>respiratory_CA.aln</a:t>
            </a:r>
            <a:r>
              <a:rPr lang="en-US" sz="2400" b="0" i="0" u="none" strike="noStrike" baseline="0" dirty="0">
                <a:solidFill>
                  <a:srgbClr val="000000"/>
                </a:solidFill>
                <a:highlight>
                  <a:srgbClr val="FFFF00"/>
                </a:highlight>
                <a:latin typeface="Calibri" panose="020F0502020204030204" pitchFamily="34" charset="0"/>
              </a:rPr>
              <a:t> -auto</a:t>
            </a:r>
          </a:p>
        </p:txBody>
      </p:sp>
    </p:spTree>
    <p:extLst>
      <p:ext uri="{BB962C8B-B14F-4D97-AF65-F5344CB8AC3E}">
        <p14:creationId xmlns:p14="http://schemas.microsoft.com/office/powerpoint/2010/main" val="21081072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4. Multiple Sequence alignment</a:t>
            </a:r>
          </a:p>
        </p:txBody>
      </p:sp>
      <p:sp>
        <p:nvSpPr>
          <p:cNvPr id="3" name="Content Placeholder 2">
            <a:extLst>
              <a:ext uri="{FF2B5EF4-FFF2-40B4-BE49-F238E27FC236}">
                <a16:creationId xmlns:a16="http://schemas.microsoft.com/office/drawing/2014/main" id="{12CA33F8-F6E9-4905-BAF1-417CC3F1B0F4}"/>
              </a:ext>
            </a:extLst>
          </p:cNvPr>
          <p:cNvSpPr>
            <a:spLocks noGrp="1"/>
          </p:cNvSpPr>
          <p:nvPr>
            <p:ph idx="1"/>
          </p:nvPr>
        </p:nvSpPr>
        <p:spPr>
          <a:xfrm>
            <a:off x="319489" y="1825624"/>
            <a:ext cx="11435509" cy="4784495"/>
          </a:xfrm>
        </p:spPr>
        <p:txBody>
          <a:bodyPr>
            <a:normAutofit/>
          </a:bodyPr>
          <a:lstStyle/>
          <a:p>
            <a:pPr marL="0" indent="0">
              <a:buNone/>
            </a:pP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mafft</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retree</a:t>
            </a:r>
            <a:r>
              <a:rPr lang="en-US" sz="2400" b="0" i="0" u="none" strike="noStrike" baseline="0" dirty="0">
                <a:solidFill>
                  <a:srgbClr val="000000"/>
                </a:solidFill>
                <a:highlight>
                  <a:srgbClr val="FFFF00"/>
                </a:highlight>
                <a:latin typeface="Calibri" panose="020F0502020204030204" pitchFamily="34" charset="0"/>
              </a:rPr>
              <a:t> 2 --</a:t>
            </a:r>
            <a:r>
              <a:rPr lang="en-US" sz="2400" b="0" i="0" u="none" strike="noStrike" baseline="0" dirty="0" err="1">
                <a:solidFill>
                  <a:srgbClr val="000000"/>
                </a:solidFill>
                <a:highlight>
                  <a:srgbClr val="FFFF00"/>
                </a:highlight>
                <a:latin typeface="Calibri" panose="020F0502020204030204" pitchFamily="34" charset="0"/>
              </a:rPr>
              <a:t>inputorder</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addfragments</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feces.fasta</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respiratory_ca.fasta</a:t>
            </a:r>
            <a:r>
              <a:rPr lang="en-US" sz="2400" b="0" i="0" u="none" strike="noStrike" baseline="0" dirty="0">
                <a:solidFill>
                  <a:srgbClr val="000000"/>
                </a:solidFill>
                <a:highlight>
                  <a:srgbClr val="FFFF00"/>
                </a:highlight>
                <a:latin typeface="Calibri" panose="020F0502020204030204" pitchFamily="34" charset="0"/>
              </a:rPr>
              <a:t> &gt; </a:t>
            </a:r>
            <a:r>
              <a:rPr lang="en-US" sz="2400" b="0" i="0" u="none" strike="noStrike" baseline="0" dirty="0" err="1">
                <a:solidFill>
                  <a:srgbClr val="000000"/>
                </a:solidFill>
                <a:highlight>
                  <a:srgbClr val="FFFF00"/>
                </a:highlight>
                <a:latin typeface="Calibri" panose="020F0502020204030204" pitchFamily="34" charset="0"/>
              </a:rPr>
              <a:t>fecal_respiratory.aln</a:t>
            </a:r>
            <a:endParaRPr lang="en-US" sz="2400" b="0" i="0" u="none" strike="noStrike" baseline="0" dirty="0">
              <a:solidFill>
                <a:srgbClr val="000000"/>
              </a:solidFill>
              <a:highlight>
                <a:srgbClr val="FFFF00"/>
              </a:highlight>
              <a:latin typeface="Calibri" panose="020F0502020204030204" pitchFamily="34" charset="0"/>
            </a:endParaRPr>
          </a:p>
          <a:p>
            <a:pPr marL="0" indent="0">
              <a:buNone/>
            </a:pP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mafft</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retree</a:t>
            </a:r>
            <a:r>
              <a:rPr lang="en-US" sz="2400" b="0" i="0" u="none" strike="noStrike" baseline="0" dirty="0">
                <a:solidFill>
                  <a:srgbClr val="000000"/>
                </a:solidFill>
                <a:highlight>
                  <a:srgbClr val="FFFF00"/>
                </a:highlight>
                <a:latin typeface="Calibri" panose="020F0502020204030204" pitchFamily="34" charset="0"/>
              </a:rPr>
              <a:t> 2 --</a:t>
            </a:r>
            <a:r>
              <a:rPr lang="en-US" sz="2400" b="0" i="0" u="none" strike="noStrike" baseline="0" dirty="0" err="1">
                <a:solidFill>
                  <a:srgbClr val="000000"/>
                </a:solidFill>
                <a:highlight>
                  <a:srgbClr val="FFFF00"/>
                </a:highlight>
                <a:latin typeface="Calibri" panose="020F0502020204030204" pitchFamily="34" charset="0"/>
              </a:rPr>
              <a:t>inputorder</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clustalout</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addfragments</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feces.fasta</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respiratory_ca.fasta</a:t>
            </a:r>
            <a:r>
              <a:rPr lang="en-US" sz="2400" b="0" i="0" u="none" strike="noStrike" baseline="0" dirty="0">
                <a:solidFill>
                  <a:srgbClr val="000000"/>
                </a:solidFill>
                <a:highlight>
                  <a:srgbClr val="FFFF00"/>
                </a:highlight>
                <a:latin typeface="Calibri" panose="020F0502020204030204" pitchFamily="34" charset="0"/>
              </a:rPr>
              <a:t> &gt; </a:t>
            </a:r>
            <a:r>
              <a:rPr lang="en-US" sz="2400" b="0" i="0" u="none" strike="noStrike" baseline="0" dirty="0" err="1">
                <a:solidFill>
                  <a:srgbClr val="000000"/>
                </a:solidFill>
                <a:highlight>
                  <a:srgbClr val="FFFF00"/>
                </a:highlight>
                <a:latin typeface="Calibri" panose="020F0502020204030204" pitchFamily="34" charset="0"/>
              </a:rPr>
              <a:t>fecal_respiratory.clw</a:t>
            </a:r>
            <a:endParaRPr lang="en-US" sz="2400" b="0" i="0" u="none" strike="noStrike" baseline="0" dirty="0">
              <a:solidFill>
                <a:srgbClr val="000000"/>
              </a:solidFill>
              <a:highlight>
                <a:srgbClr val="FFFF00"/>
              </a:highlight>
              <a:latin typeface="Calibri" panose="020F0502020204030204" pitchFamily="34" charset="0"/>
            </a:endParaRPr>
          </a:p>
        </p:txBody>
      </p:sp>
    </p:spTree>
    <p:extLst>
      <p:ext uri="{BB962C8B-B14F-4D97-AF65-F5344CB8AC3E}">
        <p14:creationId xmlns:p14="http://schemas.microsoft.com/office/powerpoint/2010/main" val="3803869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5. Conserved regions</a:t>
            </a:r>
          </a:p>
        </p:txBody>
      </p:sp>
      <p:sp>
        <p:nvSpPr>
          <p:cNvPr id="7" name="Content Placeholder 6">
            <a:extLst>
              <a:ext uri="{FF2B5EF4-FFF2-40B4-BE49-F238E27FC236}">
                <a16:creationId xmlns:a16="http://schemas.microsoft.com/office/drawing/2014/main" id="{14CFB394-05FC-4DDC-BAF2-9CCF8608D707}"/>
              </a:ext>
            </a:extLst>
          </p:cNvPr>
          <p:cNvSpPr>
            <a:spLocks noGrp="1"/>
          </p:cNvSpPr>
          <p:nvPr>
            <p:ph idx="1"/>
          </p:nvPr>
        </p:nvSpPr>
        <p:spPr>
          <a:xfrm>
            <a:off x="319489" y="1825625"/>
            <a:ext cx="11435508" cy="4351338"/>
          </a:xfrm>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fr-FR"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fr-FR"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Gblocks</a:t>
            </a:r>
            <a:r>
              <a:rPr kumimoji="0" lang="fr-FR"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fr-FR"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fecal_respiratory.aln</a:t>
            </a:r>
            <a:r>
              <a:rPr kumimoji="0" lang="fr-FR"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-t=d -p=y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rm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fecal_respiratory.aln-gb</a:t>
            </a:r>
            <a:endParaRPr kumimoji="0" lang="en-US" sz="40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p:txBody>
      </p:sp>
    </p:spTree>
    <p:extLst>
      <p:ext uri="{BB962C8B-B14F-4D97-AF65-F5344CB8AC3E}">
        <p14:creationId xmlns:p14="http://schemas.microsoft.com/office/powerpoint/2010/main" val="18781599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6. Phylogenetic Tree Construction</a:t>
            </a:r>
          </a:p>
        </p:txBody>
      </p:sp>
      <p:sp>
        <p:nvSpPr>
          <p:cNvPr id="7" name="Content Placeholder 6">
            <a:extLst>
              <a:ext uri="{FF2B5EF4-FFF2-40B4-BE49-F238E27FC236}">
                <a16:creationId xmlns:a16="http://schemas.microsoft.com/office/drawing/2014/main" id="{14CFB394-05FC-4DDC-BAF2-9CCF8608D707}"/>
              </a:ext>
            </a:extLst>
          </p:cNvPr>
          <p:cNvSpPr>
            <a:spLocks noGrp="1"/>
          </p:cNvSpPr>
          <p:nvPr>
            <p:ph idx="1"/>
          </p:nvPr>
        </p:nvSpPr>
        <p:spPr>
          <a:xfrm>
            <a:off x="319489" y="1825625"/>
            <a:ext cx="11435508" cy="4351338"/>
          </a:xfrm>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FastTree</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gtr</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-gamma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nt</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&lt;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fecal_respiratory.aln</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&gt;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fecal_respiratory.tree</a:t>
            </a:r>
            <a:endPar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plottree</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fecal_respiratory.tree</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-o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fecal_respiratory</a:t>
            </a:r>
            <a:endParaRPr kumimoji="0" lang="en-US" sz="40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p:txBody>
      </p:sp>
    </p:spTree>
    <p:extLst>
      <p:ext uri="{BB962C8B-B14F-4D97-AF65-F5344CB8AC3E}">
        <p14:creationId xmlns:p14="http://schemas.microsoft.com/office/powerpoint/2010/main" val="36087692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303E901-8104-4ED6-85EA-1C2BE5021E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1593" y="643195"/>
            <a:ext cx="7428813" cy="5571610"/>
          </a:xfrm>
          <a:prstGeom prst="rect">
            <a:avLst/>
          </a:prstGeom>
        </p:spPr>
      </p:pic>
      <p:sp>
        <p:nvSpPr>
          <p:cNvPr id="7" name="Rectangle 6">
            <a:extLst>
              <a:ext uri="{FF2B5EF4-FFF2-40B4-BE49-F238E27FC236}">
                <a16:creationId xmlns:a16="http://schemas.microsoft.com/office/drawing/2014/main" id="{0E6B5E8F-5BC2-418C-B4EA-27E2047E863B}"/>
              </a:ext>
            </a:extLst>
          </p:cNvPr>
          <p:cNvSpPr/>
          <p:nvPr/>
        </p:nvSpPr>
        <p:spPr>
          <a:xfrm>
            <a:off x="5816906" y="4694278"/>
            <a:ext cx="1106298" cy="27432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71019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D6A35-54AC-4AE3-8555-4DEF1464DC30}"/>
              </a:ext>
            </a:extLst>
          </p:cNvPr>
          <p:cNvSpPr>
            <a:spLocks noGrp="1"/>
          </p:cNvSpPr>
          <p:nvPr>
            <p:ph type="ctrTitle"/>
          </p:nvPr>
        </p:nvSpPr>
        <p:spPr>
          <a:xfrm>
            <a:off x="1524000" y="2235200"/>
            <a:ext cx="9144000" cy="2387600"/>
          </a:xfrm>
        </p:spPr>
        <p:txBody>
          <a:bodyPr>
            <a:normAutofit fontScale="90000"/>
          </a:bodyPr>
          <a:lstStyle/>
          <a:p>
            <a:r>
              <a:rPr lang="en-US" b="1" dirty="0"/>
              <a:t>D. Evolutionary study of SARS-CoV-2 with other related viral strains:</a:t>
            </a:r>
            <a:endParaRPr lang="en-US" dirty="0"/>
          </a:p>
        </p:txBody>
      </p:sp>
    </p:spTree>
    <p:extLst>
      <p:ext uri="{BB962C8B-B14F-4D97-AF65-F5344CB8AC3E}">
        <p14:creationId xmlns:p14="http://schemas.microsoft.com/office/powerpoint/2010/main" val="382839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1. Retrieving sequences: </a:t>
            </a:r>
            <a:r>
              <a:rPr lang="en-US" b="1" dirty="0" err="1"/>
              <a:t>Orthocoronavirinae</a:t>
            </a:r>
            <a:endParaRPr lang="en-US" b="1" dirty="0"/>
          </a:p>
        </p:txBody>
      </p:sp>
      <p:sp>
        <p:nvSpPr>
          <p:cNvPr id="3" name="Content Placeholder 2">
            <a:extLst>
              <a:ext uri="{FF2B5EF4-FFF2-40B4-BE49-F238E27FC236}">
                <a16:creationId xmlns:a16="http://schemas.microsoft.com/office/drawing/2014/main" id="{12CA33F8-F6E9-4905-BAF1-417CC3F1B0F4}"/>
              </a:ext>
            </a:extLst>
          </p:cNvPr>
          <p:cNvSpPr>
            <a:spLocks noGrp="1"/>
          </p:cNvSpPr>
          <p:nvPr>
            <p:ph idx="1"/>
          </p:nvPr>
        </p:nvSpPr>
        <p:spPr>
          <a:xfrm>
            <a:off x="319489" y="1825624"/>
            <a:ext cx="11435509" cy="4784495"/>
          </a:xfrm>
        </p:spPr>
        <p:txBody>
          <a:bodyPr>
            <a:normAutofit/>
          </a:bodyPr>
          <a:lstStyle/>
          <a:p>
            <a:r>
              <a:rPr lang="en-US" sz="3200" dirty="0"/>
              <a:t>NCBI Entrez Programming Utilities:</a:t>
            </a:r>
          </a:p>
          <a:p>
            <a:pPr marL="0" indent="0">
              <a:buNone/>
            </a:pPr>
            <a:endParaRPr lang="en-US" sz="3200" dirty="0"/>
          </a:p>
          <a:p>
            <a:pPr marL="0" indent="0">
              <a:buNone/>
            </a:pPr>
            <a:r>
              <a:rPr lang="en-US" sz="2400" b="0" i="0" u="none" strike="noStrike" baseline="0" dirty="0">
                <a:solidFill>
                  <a:srgbClr val="000000"/>
                </a:solidFill>
                <a:highlight>
                  <a:srgbClr val="FFFF00"/>
                </a:highlight>
                <a:latin typeface="Calibri" panose="020F0502020204030204" pitchFamily="34" charset="0"/>
              </a:rPr>
              <a:t>$ esearch -db nuccore -query "(alphacoronavirus [ORGN]) (complete genome [TITL]) " | efetch -format fasta &gt; </a:t>
            </a:r>
            <a:r>
              <a:rPr lang="en-US" sz="2400" b="0" i="0" u="none" strike="noStrike" baseline="0" dirty="0" err="1">
                <a:solidFill>
                  <a:srgbClr val="000000"/>
                </a:solidFill>
                <a:highlight>
                  <a:srgbClr val="FFFF00"/>
                </a:highlight>
                <a:latin typeface="Calibri" panose="020F0502020204030204" pitchFamily="34" charset="0"/>
              </a:rPr>
              <a:t>alphacoronavirus.fasta</a:t>
            </a:r>
            <a:endParaRPr lang="en-US" sz="2400" b="0" i="0" u="none" strike="noStrike" baseline="0" dirty="0">
              <a:solidFill>
                <a:srgbClr val="000000"/>
              </a:solidFill>
              <a:highlight>
                <a:srgbClr val="FFFF00"/>
              </a:highlight>
              <a:latin typeface="Calibri" panose="020F050202020403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esearch -db nuccore -query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betacoronavirus</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[ORGN]) (complete genome [TITL]) (refseq [FILT])" | efetch -format fasta &gt;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betacoronavirus.fasta</a:t>
            </a:r>
            <a:endPar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esearch -db nuccore -query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gammacoronavirus</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[ORGN]) (complete genome [TITL]) (refseq [FILT])" | efetch -format fasta &gt;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gammacoronavirus.fasta</a:t>
            </a:r>
            <a:endPar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esearch -db nuccore -query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deltacoronavirus</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[ORGN]) (complete genome [TITL]) (refseq [FILT])" | efetch -format fasta &gt;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deltacoronavirus.fasta</a:t>
            </a:r>
            <a:endParaRPr lang="en-US" sz="4000" dirty="0">
              <a:highlight>
                <a:srgbClr val="FFFF00"/>
              </a:highlight>
            </a:endParaRPr>
          </a:p>
        </p:txBody>
      </p:sp>
    </p:spTree>
    <p:extLst>
      <p:ext uri="{BB962C8B-B14F-4D97-AF65-F5344CB8AC3E}">
        <p14:creationId xmlns:p14="http://schemas.microsoft.com/office/powerpoint/2010/main" val="14598934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2. Indexing databases</a:t>
            </a:r>
          </a:p>
        </p:txBody>
      </p:sp>
      <p:sp>
        <p:nvSpPr>
          <p:cNvPr id="3" name="Content Placeholder 2">
            <a:extLst>
              <a:ext uri="{FF2B5EF4-FFF2-40B4-BE49-F238E27FC236}">
                <a16:creationId xmlns:a16="http://schemas.microsoft.com/office/drawing/2014/main" id="{12CA33F8-F6E9-4905-BAF1-417CC3F1B0F4}"/>
              </a:ext>
            </a:extLst>
          </p:cNvPr>
          <p:cNvSpPr>
            <a:spLocks noGrp="1"/>
          </p:cNvSpPr>
          <p:nvPr>
            <p:ph idx="1"/>
          </p:nvPr>
        </p:nvSpPr>
        <p:spPr>
          <a:xfrm>
            <a:off x="319489" y="1825624"/>
            <a:ext cx="11435509" cy="4784495"/>
          </a:xfrm>
        </p:spPr>
        <p:txBody>
          <a:bodyPr>
            <a:normAutofit/>
          </a:bodyPr>
          <a:lstStyle/>
          <a:p>
            <a:pPr marL="0" indent="0">
              <a:buNone/>
            </a:pP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makeblastdb</a:t>
            </a:r>
            <a:r>
              <a:rPr lang="en-US" sz="2400" b="0" i="0" u="none" strike="noStrike" baseline="0" dirty="0">
                <a:solidFill>
                  <a:srgbClr val="000000"/>
                </a:solidFill>
                <a:highlight>
                  <a:srgbClr val="FFFF00"/>
                </a:highlight>
                <a:latin typeface="Calibri" panose="020F0502020204030204" pitchFamily="34" charset="0"/>
              </a:rPr>
              <a:t> -in </a:t>
            </a:r>
            <a:r>
              <a:rPr lang="en-US" sz="2400" b="0" i="0" u="none" strike="noStrike" baseline="0" dirty="0" err="1">
                <a:solidFill>
                  <a:srgbClr val="000000"/>
                </a:solidFill>
                <a:highlight>
                  <a:srgbClr val="FFFF00"/>
                </a:highlight>
                <a:latin typeface="Calibri" panose="020F0502020204030204" pitchFamily="34" charset="0"/>
              </a:rPr>
              <a:t>alphacoronavirus.fasta</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dbtype</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nucl</a:t>
            </a:r>
            <a:endParaRPr lang="en-US" sz="2400" b="0" i="0" u="none" strike="noStrike" baseline="0" dirty="0">
              <a:solidFill>
                <a:srgbClr val="000000"/>
              </a:solidFill>
              <a:highlight>
                <a:srgbClr val="FFFF00"/>
              </a:highlight>
              <a:latin typeface="Calibri" panose="020F0502020204030204" pitchFamily="34" charset="0"/>
            </a:endParaRPr>
          </a:p>
          <a:p>
            <a:pPr marL="0" indent="0">
              <a:buNone/>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makeblastdb</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-in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betacoronavirus.fasta</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dbtype</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nucl</a:t>
            </a:r>
            <a:endPar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endParaRPr>
          </a:p>
          <a:p>
            <a:pPr marL="0" indent="0">
              <a:buNone/>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makeblastdb</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-in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gammacoronavirus.fasta</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dbtype</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nucl</a:t>
            </a:r>
            <a:endPar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endParaRPr>
          </a:p>
          <a:p>
            <a:pPr marL="0" indent="0">
              <a:buNone/>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makeblastdb</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-in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deltacoronavirus.fasta</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dbtype</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nucl</a:t>
            </a:r>
            <a:endParaRPr lang="en-US" sz="4000" dirty="0">
              <a:highlight>
                <a:srgbClr val="FFFF00"/>
              </a:highlight>
            </a:endParaRPr>
          </a:p>
        </p:txBody>
      </p:sp>
    </p:spTree>
    <p:extLst>
      <p:ext uri="{BB962C8B-B14F-4D97-AF65-F5344CB8AC3E}">
        <p14:creationId xmlns:p14="http://schemas.microsoft.com/office/powerpoint/2010/main" val="36239221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3. Applying </a:t>
            </a:r>
            <a:r>
              <a:rPr lang="en-US" b="1" dirty="0" err="1"/>
              <a:t>BLASTn</a:t>
            </a:r>
            <a:endParaRPr lang="en-US" b="1" dirty="0"/>
          </a:p>
        </p:txBody>
      </p:sp>
      <p:sp>
        <p:nvSpPr>
          <p:cNvPr id="3" name="Content Placeholder 2">
            <a:extLst>
              <a:ext uri="{FF2B5EF4-FFF2-40B4-BE49-F238E27FC236}">
                <a16:creationId xmlns:a16="http://schemas.microsoft.com/office/drawing/2014/main" id="{12CA33F8-F6E9-4905-BAF1-417CC3F1B0F4}"/>
              </a:ext>
            </a:extLst>
          </p:cNvPr>
          <p:cNvSpPr>
            <a:spLocks noGrp="1"/>
          </p:cNvSpPr>
          <p:nvPr>
            <p:ph idx="1"/>
          </p:nvPr>
        </p:nvSpPr>
        <p:spPr>
          <a:xfrm>
            <a:off x="319489" y="1825624"/>
            <a:ext cx="11435509" cy="4784495"/>
          </a:xfrm>
        </p:spPr>
        <p:txBody>
          <a:bodyPr>
            <a:normAutofit/>
          </a:bodyPr>
          <a:lstStyle/>
          <a:p>
            <a:pPr marL="0" indent="0">
              <a:buNone/>
            </a:pP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blastn</a:t>
            </a:r>
            <a:r>
              <a:rPr lang="en-US" sz="2400" b="0" i="0" u="none" strike="noStrike" baseline="0" dirty="0">
                <a:solidFill>
                  <a:srgbClr val="000000"/>
                </a:solidFill>
                <a:highlight>
                  <a:srgbClr val="FFFF00"/>
                </a:highlight>
                <a:latin typeface="Calibri" panose="020F0502020204030204" pitchFamily="34" charset="0"/>
              </a:rPr>
              <a:t> -query WuhanRefseq.fasta -db </a:t>
            </a:r>
            <a:r>
              <a:rPr lang="en-US" sz="2400" b="0" i="0" u="none" strike="noStrike" baseline="0" dirty="0" err="1">
                <a:solidFill>
                  <a:srgbClr val="000000"/>
                </a:solidFill>
                <a:highlight>
                  <a:srgbClr val="FFFF00"/>
                </a:highlight>
                <a:latin typeface="Calibri" panose="020F0502020204030204" pitchFamily="34" charset="0"/>
              </a:rPr>
              <a:t>alphacoronavirus.fasta</a:t>
            </a:r>
            <a:r>
              <a:rPr lang="en-US" sz="2400" b="0" i="0" u="none" strike="noStrike" baseline="0" dirty="0">
                <a:solidFill>
                  <a:srgbClr val="000000"/>
                </a:solidFill>
                <a:highlight>
                  <a:srgbClr val="FFFF00"/>
                </a:highlight>
                <a:latin typeface="Calibri" panose="020F0502020204030204" pitchFamily="34" charset="0"/>
              </a:rPr>
              <a:t> -out alphacoronavirus_blast_report.txt</a:t>
            </a:r>
          </a:p>
          <a:p>
            <a:pPr marL="0" indent="0">
              <a:buNone/>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blastn</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-query WuhanRefseq.fasta -db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betacoronavirus.fasta</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-out betacoronavirus_blast_report.txt</a:t>
            </a:r>
          </a:p>
          <a:p>
            <a:pPr marL="0" indent="0">
              <a:buNone/>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blastn</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-query WuhanRefseq.fasta -db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gammacoronavirus.fasta</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-out gammacoronavirus_blast_report.txt</a:t>
            </a:r>
          </a:p>
          <a:p>
            <a:pPr marL="0" indent="0">
              <a:buNone/>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blastn</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-query WuhanRefseq.fasta -db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deltacoronavirus.fasta</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-out deltacoronavirus_blast_report.txt</a:t>
            </a:r>
            <a:endParaRPr lang="en-US" sz="4000" dirty="0">
              <a:highlight>
                <a:srgbClr val="FFFF00"/>
              </a:highlight>
            </a:endParaRPr>
          </a:p>
        </p:txBody>
      </p:sp>
    </p:spTree>
    <p:extLst>
      <p:ext uri="{BB962C8B-B14F-4D97-AF65-F5344CB8AC3E}">
        <p14:creationId xmlns:p14="http://schemas.microsoft.com/office/powerpoint/2010/main" val="12752566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4. Multiple Sequence alignment</a:t>
            </a:r>
          </a:p>
        </p:txBody>
      </p:sp>
      <p:sp>
        <p:nvSpPr>
          <p:cNvPr id="3" name="Content Placeholder 2">
            <a:extLst>
              <a:ext uri="{FF2B5EF4-FFF2-40B4-BE49-F238E27FC236}">
                <a16:creationId xmlns:a16="http://schemas.microsoft.com/office/drawing/2014/main" id="{12CA33F8-F6E9-4905-BAF1-417CC3F1B0F4}"/>
              </a:ext>
            </a:extLst>
          </p:cNvPr>
          <p:cNvSpPr>
            <a:spLocks noGrp="1"/>
          </p:cNvSpPr>
          <p:nvPr>
            <p:ph idx="1"/>
          </p:nvPr>
        </p:nvSpPr>
        <p:spPr>
          <a:xfrm>
            <a:off x="319489" y="1825624"/>
            <a:ext cx="11435509" cy="4784495"/>
          </a:xfrm>
        </p:spPr>
        <p:txBody>
          <a:bodyPr>
            <a:normAutofit/>
          </a:bodyPr>
          <a:lstStyle/>
          <a:p>
            <a:pPr marL="0" indent="0">
              <a:buNone/>
            </a:pP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mafft</a:t>
            </a:r>
            <a:r>
              <a:rPr lang="en-US" sz="2400" b="0" i="0" u="none" strike="noStrike" baseline="0" dirty="0">
                <a:solidFill>
                  <a:srgbClr val="000000"/>
                </a:solidFill>
                <a:highlight>
                  <a:srgbClr val="FFFF00"/>
                </a:highlight>
                <a:latin typeface="Calibri" panose="020F0502020204030204" pitchFamily="34" charset="0"/>
              </a:rPr>
              <a:t> --auto --</a:t>
            </a:r>
            <a:r>
              <a:rPr lang="en-US" sz="2400" b="0" i="0" u="none" strike="noStrike" baseline="0" dirty="0" err="1">
                <a:solidFill>
                  <a:srgbClr val="000000"/>
                </a:solidFill>
                <a:highlight>
                  <a:srgbClr val="FFFF00"/>
                </a:highlight>
                <a:latin typeface="Calibri" panose="020F0502020204030204" pitchFamily="34" charset="0"/>
              </a:rPr>
              <a:t>inputorder</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addfragments</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blastn.fasta</a:t>
            </a:r>
            <a:r>
              <a:rPr lang="en-US" sz="2400" b="0" i="0" u="none" strike="noStrike" baseline="0" dirty="0">
                <a:solidFill>
                  <a:srgbClr val="000000"/>
                </a:solidFill>
                <a:highlight>
                  <a:srgbClr val="FFFF00"/>
                </a:highlight>
                <a:latin typeface="Calibri" panose="020F0502020204030204" pitchFamily="34" charset="0"/>
              </a:rPr>
              <a:t> WuhanRefseq.fasta &gt; </a:t>
            </a:r>
            <a:r>
              <a:rPr lang="en-US" sz="2400" b="0" i="0" u="none" strike="noStrike" baseline="0" dirty="0" err="1">
                <a:solidFill>
                  <a:srgbClr val="000000"/>
                </a:solidFill>
                <a:highlight>
                  <a:srgbClr val="FFFF00"/>
                </a:highlight>
                <a:latin typeface="Calibri" panose="020F0502020204030204" pitchFamily="34" charset="0"/>
              </a:rPr>
              <a:t>blastn.aln</a:t>
            </a:r>
            <a:endParaRPr lang="en-US" sz="2400" b="0" i="0" u="none" strike="noStrike" baseline="0" dirty="0">
              <a:solidFill>
                <a:srgbClr val="000000"/>
              </a:solidFill>
              <a:highlight>
                <a:srgbClr val="FFFF00"/>
              </a:highlight>
              <a:latin typeface="Calibri" panose="020F0502020204030204" pitchFamily="34" charset="0"/>
            </a:endParaRPr>
          </a:p>
        </p:txBody>
      </p:sp>
    </p:spTree>
    <p:extLst>
      <p:ext uri="{BB962C8B-B14F-4D97-AF65-F5344CB8AC3E}">
        <p14:creationId xmlns:p14="http://schemas.microsoft.com/office/powerpoint/2010/main" val="16617107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5. Phylogenetic Tree Construction</a:t>
            </a:r>
          </a:p>
        </p:txBody>
      </p:sp>
      <p:sp>
        <p:nvSpPr>
          <p:cNvPr id="7" name="Content Placeholder 6">
            <a:extLst>
              <a:ext uri="{FF2B5EF4-FFF2-40B4-BE49-F238E27FC236}">
                <a16:creationId xmlns:a16="http://schemas.microsoft.com/office/drawing/2014/main" id="{14CFB394-05FC-4DDC-BAF2-9CCF8608D707}"/>
              </a:ext>
            </a:extLst>
          </p:cNvPr>
          <p:cNvSpPr>
            <a:spLocks noGrp="1"/>
          </p:cNvSpPr>
          <p:nvPr>
            <p:ph idx="1"/>
          </p:nvPr>
        </p:nvSpPr>
        <p:spPr>
          <a:xfrm>
            <a:off x="319489" y="1825625"/>
            <a:ext cx="11435508" cy="4351338"/>
          </a:xfrm>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FastTree</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gtr</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-gamma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nt</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&lt;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blastn.aln</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&gt;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blastn.tree</a:t>
            </a:r>
            <a:endPar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plottree</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blastn.tree</a:t>
            </a:r>
            <a:r>
              <a:rPr kumimoji="0" lang="en-US" sz="2400" b="0" i="0" u="none" strike="noStrike" kern="1200" cap="none" spc="0" normalizeH="0" baseline="0" noProof="0" dirty="0">
                <a:ln>
                  <a:noFill/>
                </a:ln>
                <a:solidFill>
                  <a:srgbClr val="000000"/>
                </a:solidFill>
                <a:effectLst/>
                <a:highlight>
                  <a:srgbClr val="FFFF00"/>
                </a:highlight>
                <a:uLnTx/>
                <a:uFillTx/>
                <a:latin typeface="Calibri" panose="020F0502020204030204" pitchFamily="34" charset="0"/>
                <a:ea typeface="+mn-ea"/>
                <a:cs typeface="+mn-cs"/>
              </a:rPr>
              <a:t>  -o </a:t>
            </a:r>
            <a:r>
              <a:rPr kumimoji="0" lang="en-US" sz="2400" b="0" i="0" u="none" strike="noStrike" kern="1200" cap="none" spc="0" normalizeH="0" baseline="0" noProof="0" dirty="0" err="1">
                <a:ln>
                  <a:noFill/>
                </a:ln>
                <a:solidFill>
                  <a:srgbClr val="000000"/>
                </a:solidFill>
                <a:effectLst/>
                <a:highlight>
                  <a:srgbClr val="FFFF00"/>
                </a:highlight>
                <a:uLnTx/>
                <a:uFillTx/>
                <a:latin typeface="Calibri" panose="020F0502020204030204" pitchFamily="34" charset="0"/>
                <a:ea typeface="+mn-ea"/>
                <a:cs typeface="+mn-cs"/>
              </a:rPr>
              <a:t>blastn</a:t>
            </a:r>
            <a:endParaRPr kumimoji="0" lang="en-US" sz="40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p:txBody>
      </p:sp>
    </p:spTree>
    <p:extLst>
      <p:ext uri="{BB962C8B-B14F-4D97-AF65-F5344CB8AC3E}">
        <p14:creationId xmlns:p14="http://schemas.microsoft.com/office/powerpoint/2010/main" val="41382571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F3156C-EB3B-489D-9928-5A9E02026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21" y="870879"/>
            <a:ext cx="5852172" cy="4389129"/>
          </a:xfrm>
          <a:prstGeom prst="rect">
            <a:avLst/>
          </a:prstGeom>
        </p:spPr>
      </p:pic>
      <p:sp>
        <p:nvSpPr>
          <p:cNvPr id="4" name="Rectangle 3">
            <a:extLst>
              <a:ext uri="{FF2B5EF4-FFF2-40B4-BE49-F238E27FC236}">
                <a16:creationId xmlns:a16="http://schemas.microsoft.com/office/drawing/2014/main" id="{A06FC12F-562B-4751-8E91-C5BF6800307B}"/>
              </a:ext>
            </a:extLst>
          </p:cNvPr>
          <p:cNvSpPr/>
          <p:nvPr/>
        </p:nvSpPr>
        <p:spPr>
          <a:xfrm>
            <a:off x="2397108" y="1322024"/>
            <a:ext cx="991518" cy="517793"/>
          </a:xfrm>
          <a:prstGeom prst="rect">
            <a:avLst/>
          </a:prstGeom>
          <a:no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11688EB-4441-4F7F-AC53-37D3BFE320B1}"/>
              </a:ext>
            </a:extLst>
          </p:cNvPr>
          <p:cNvSpPr txBox="1"/>
          <p:nvPr/>
        </p:nvSpPr>
        <p:spPr>
          <a:xfrm>
            <a:off x="3388626" y="1413326"/>
            <a:ext cx="1909305" cy="369332"/>
          </a:xfrm>
          <a:prstGeom prst="rect">
            <a:avLst/>
          </a:prstGeom>
          <a:noFill/>
        </p:spPr>
        <p:txBody>
          <a:bodyPr wrap="none" rtlCol="0">
            <a:spAutoFit/>
          </a:bodyPr>
          <a:lstStyle/>
          <a:p>
            <a:r>
              <a:rPr lang="en-US" dirty="0">
                <a:solidFill>
                  <a:schemeClr val="accent1">
                    <a:lumMod val="75000"/>
                  </a:schemeClr>
                </a:solidFill>
              </a:rPr>
              <a:t>Bat Coronaviruses</a:t>
            </a:r>
          </a:p>
        </p:txBody>
      </p:sp>
      <p:sp>
        <p:nvSpPr>
          <p:cNvPr id="7" name="Rectangle 6">
            <a:extLst>
              <a:ext uri="{FF2B5EF4-FFF2-40B4-BE49-F238E27FC236}">
                <a16:creationId xmlns:a16="http://schemas.microsoft.com/office/drawing/2014/main" id="{9B9C70EF-9376-49BB-B4CC-04F54D8CC94E}"/>
              </a:ext>
            </a:extLst>
          </p:cNvPr>
          <p:cNvSpPr/>
          <p:nvPr/>
        </p:nvSpPr>
        <p:spPr>
          <a:xfrm>
            <a:off x="2703744" y="1884977"/>
            <a:ext cx="991518" cy="27432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0FE8E88-C4E8-4516-B6B6-DF65B05AEEF9}"/>
              </a:ext>
            </a:extLst>
          </p:cNvPr>
          <p:cNvSpPr txBox="1"/>
          <p:nvPr/>
        </p:nvSpPr>
        <p:spPr>
          <a:xfrm>
            <a:off x="3695262" y="1851926"/>
            <a:ext cx="1284454" cy="369332"/>
          </a:xfrm>
          <a:prstGeom prst="rect">
            <a:avLst/>
          </a:prstGeom>
          <a:noFill/>
        </p:spPr>
        <p:txBody>
          <a:bodyPr wrap="none" rtlCol="0">
            <a:spAutoFit/>
          </a:bodyPr>
          <a:lstStyle/>
          <a:p>
            <a:r>
              <a:rPr lang="en-US" dirty="0">
                <a:solidFill>
                  <a:srgbClr val="FF0000"/>
                </a:solidFill>
              </a:rPr>
              <a:t>SARS-CoV-2</a:t>
            </a:r>
          </a:p>
        </p:txBody>
      </p:sp>
      <p:sp>
        <p:nvSpPr>
          <p:cNvPr id="9" name="Rectangle 8">
            <a:extLst>
              <a:ext uri="{FF2B5EF4-FFF2-40B4-BE49-F238E27FC236}">
                <a16:creationId xmlns:a16="http://schemas.microsoft.com/office/drawing/2014/main" id="{BAD05882-C979-4BEF-B564-23AA7E05941D}"/>
              </a:ext>
            </a:extLst>
          </p:cNvPr>
          <p:cNvSpPr/>
          <p:nvPr/>
        </p:nvSpPr>
        <p:spPr>
          <a:xfrm>
            <a:off x="2536655" y="2203484"/>
            <a:ext cx="991518" cy="274329"/>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F7416CE-7318-4FC9-B58A-A5381A82801F}"/>
              </a:ext>
            </a:extLst>
          </p:cNvPr>
          <p:cNvSpPr txBox="1"/>
          <p:nvPr/>
        </p:nvSpPr>
        <p:spPr>
          <a:xfrm>
            <a:off x="3528173" y="2170323"/>
            <a:ext cx="1284454" cy="369332"/>
          </a:xfrm>
          <a:prstGeom prst="rect">
            <a:avLst/>
          </a:prstGeom>
          <a:noFill/>
        </p:spPr>
        <p:txBody>
          <a:bodyPr wrap="none" rtlCol="0">
            <a:spAutoFit/>
          </a:bodyPr>
          <a:lstStyle/>
          <a:p>
            <a:r>
              <a:rPr lang="en-US" dirty="0">
                <a:solidFill>
                  <a:srgbClr val="00B050"/>
                </a:solidFill>
              </a:rPr>
              <a:t>SARS-CoV-1</a:t>
            </a:r>
          </a:p>
        </p:txBody>
      </p:sp>
      <p:sp>
        <p:nvSpPr>
          <p:cNvPr id="11" name="Rectangle 10">
            <a:extLst>
              <a:ext uri="{FF2B5EF4-FFF2-40B4-BE49-F238E27FC236}">
                <a16:creationId xmlns:a16="http://schemas.microsoft.com/office/drawing/2014/main" id="{42A0E047-BCB7-49E6-833A-F1FD09A752F2}"/>
              </a:ext>
            </a:extLst>
          </p:cNvPr>
          <p:cNvSpPr/>
          <p:nvPr/>
        </p:nvSpPr>
        <p:spPr>
          <a:xfrm>
            <a:off x="2703744" y="2534526"/>
            <a:ext cx="991518" cy="164608"/>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0E04E78-466E-4284-98B7-AEDD2007C530}"/>
              </a:ext>
            </a:extLst>
          </p:cNvPr>
          <p:cNvSpPr txBox="1"/>
          <p:nvPr/>
        </p:nvSpPr>
        <p:spPr>
          <a:xfrm>
            <a:off x="3673228" y="2434729"/>
            <a:ext cx="2645340" cy="369332"/>
          </a:xfrm>
          <a:prstGeom prst="rect">
            <a:avLst/>
          </a:prstGeom>
          <a:noFill/>
        </p:spPr>
        <p:txBody>
          <a:bodyPr wrap="none" rtlCol="0">
            <a:spAutoFit/>
          </a:bodyPr>
          <a:lstStyle/>
          <a:p>
            <a:r>
              <a:rPr lang="en-US" dirty="0">
                <a:solidFill>
                  <a:srgbClr val="00B050"/>
                </a:solidFill>
              </a:rPr>
              <a:t>Human coronavirus HKU 1</a:t>
            </a:r>
          </a:p>
        </p:txBody>
      </p:sp>
      <p:sp>
        <p:nvSpPr>
          <p:cNvPr id="13" name="Rectangle 12">
            <a:extLst>
              <a:ext uri="{FF2B5EF4-FFF2-40B4-BE49-F238E27FC236}">
                <a16:creationId xmlns:a16="http://schemas.microsoft.com/office/drawing/2014/main" id="{A54699DB-A955-4185-BF9E-C38392202EEA}"/>
              </a:ext>
            </a:extLst>
          </p:cNvPr>
          <p:cNvSpPr/>
          <p:nvPr/>
        </p:nvSpPr>
        <p:spPr>
          <a:xfrm>
            <a:off x="3795402" y="3109422"/>
            <a:ext cx="991518" cy="164608"/>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07B2A1B-5668-4C4A-B627-5E6D73DC6CDB}"/>
              </a:ext>
            </a:extLst>
          </p:cNvPr>
          <p:cNvSpPr txBox="1"/>
          <p:nvPr/>
        </p:nvSpPr>
        <p:spPr>
          <a:xfrm>
            <a:off x="4742718" y="3051664"/>
            <a:ext cx="2060885" cy="307777"/>
          </a:xfrm>
          <a:prstGeom prst="rect">
            <a:avLst/>
          </a:prstGeom>
          <a:noFill/>
        </p:spPr>
        <p:txBody>
          <a:bodyPr wrap="none" rtlCol="0">
            <a:spAutoFit/>
          </a:bodyPr>
          <a:lstStyle/>
          <a:p>
            <a:r>
              <a:rPr lang="en-US" sz="1400" dirty="0">
                <a:solidFill>
                  <a:srgbClr val="00B050"/>
                </a:solidFill>
              </a:rPr>
              <a:t>Human coronavirus NL6 3</a:t>
            </a:r>
          </a:p>
        </p:txBody>
      </p:sp>
      <p:graphicFrame>
        <p:nvGraphicFramePr>
          <p:cNvPr id="15" name="Table 14">
            <a:extLst>
              <a:ext uri="{FF2B5EF4-FFF2-40B4-BE49-F238E27FC236}">
                <a16:creationId xmlns:a16="http://schemas.microsoft.com/office/drawing/2014/main" id="{5EDCBB6E-C816-4BB4-9BE3-4ECE4EA19CFF}"/>
              </a:ext>
            </a:extLst>
          </p:cNvPr>
          <p:cNvGraphicFramePr>
            <a:graphicFrameLocks noGrp="1"/>
          </p:cNvGraphicFramePr>
          <p:nvPr/>
        </p:nvGraphicFramePr>
        <p:xfrm>
          <a:off x="6864465" y="152618"/>
          <a:ext cx="5167701" cy="6634880"/>
        </p:xfrm>
        <a:graphic>
          <a:graphicData uri="http://schemas.openxmlformats.org/drawingml/2006/table">
            <a:tbl>
              <a:tblPr/>
              <a:tblGrid>
                <a:gridCol w="1658409">
                  <a:extLst>
                    <a:ext uri="{9D8B030D-6E8A-4147-A177-3AD203B41FA5}">
                      <a16:colId xmlns:a16="http://schemas.microsoft.com/office/drawing/2014/main" val="2899679124"/>
                    </a:ext>
                  </a:extLst>
                </a:gridCol>
                <a:gridCol w="3509292">
                  <a:extLst>
                    <a:ext uri="{9D8B030D-6E8A-4147-A177-3AD203B41FA5}">
                      <a16:colId xmlns:a16="http://schemas.microsoft.com/office/drawing/2014/main" val="3488598855"/>
                    </a:ext>
                  </a:extLst>
                </a:gridCol>
              </a:tblGrid>
              <a:tr h="242017">
                <a:tc>
                  <a:txBody>
                    <a:bodyPr/>
                    <a:lstStyle/>
                    <a:p>
                      <a:pPr rtl="0" fontAlgn="t">
                        <a:spcBef>
                          <a:spcPts val="0"/>
                        </a:spcBef>
                        <a:spcAft>
                          <a:spcPts val="0"/>
                        </a:spcAft>
                      </a:pPr>
                      <a:r>
                        <a:rPr lang="en-US" sz="1200" b="1" i="0" u="none" strike="noStrike">
                          <a:solidFill>
                            <a:srgbClr val="FFFFFF"/>
                          </a:solidFill>
                          <a:effectLst/>
                          <a:latin typeface="+mn-lt"/>
                        </a:rPr>
                        <a:t>Accession number</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31166"/>
                    </a:solidFill>
                  </a:tcPr>
                </a:tc>
                <a:tc>
                  <a:txBody>
                    <a:bodyPr/>
                    <a:lstStyle/>
                    <a:p>
                      <a:pPr rtl="0" fontAlgn="t">
                        <a:spcBef>
                          <a:spcPts val="0"/>
                        </a:spcBef>
                        <a:spcAft>
                          <a:spcPts val="0"/>
                        </a:spcAft>
                      </a:pPr>
                      <a:r>
                        <a:rPr lang="en-US" sz="1200" b="1" i="0" u="none" strike="noStrike">
                          <a:solidFill>
                            <a:srgbClr val="FFFFFF"/>
                          </a:solidFill>
                          <a:effectLst/>
                          <a:latin typeface="+mn-lt"/>
                        </a:rPr>
                        <a:t>Name of strain</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31166"/>
                    </a:solidFill>
                  </a:tcPr>
                </a:tc>
                <a:extLst>
                  <a:ext uri="{0D108BD9-81ED-4DB2-BD59-A6C34878D82A}">
                    <a16:rowId xmlns:a16="http://schemas.microsoft.com/office/drawing/2014/main" val="2716777202"/>
                  </a:ext>
                </a:extLst>
              </a:tr>
              <a:tr h="380312">
                <a:tc>
                  <a:txBody>
                    <a:bodyPr/>
                    <a:lstStyle/>
                    <a:p>
                      <a:pPr rtl="0" fontAlgn="t">
                        <a:spcBef>
                          <a:spcPts val="0"/>
                        </a:spcBef>
                        <a:spcAft>
                          <a:spcPts val="0"/>
                        </a:spcAft>
                      </a:pPr>
                      <a:r>
                        <a:rPr lang="en-US" sz="1200" b="1" i="0" u="none" strike="noStrike" dirty="0">
                          <a:solidFill>
                            <a:srgbClr val="FFFFFF"/>
                          </a:solidFill>
                          <a:effectLst/>
                          <a:latin typeface="+mn-lt"/>
                        </a:rPr>
                        <a:t>NC_016991.1</a:t>
                      </a:r>
                      <a:endParaRPr lang="en-US" sz="1200" b="1" dirty="0">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B31166"/>
                    </a:solidFill>
                  </a:tcPr>
                </a:tc>
                <a:tc>
                  <a:txBody>
                    <a:bodyPr/>
                    <a:lstStyle/>
                    <a:p>
                      <a:pPr rtl="0" fontAlgn="t">
                        <a:spcBef>
                          <a:spcPts val="0"/>
                        </a:spcBef>
                        <a:spcAft>
                          <a:spcPts val="0"/>
                        </a:spcAft>
                      </a:pPr>
                      <a:r>
                        <a:rPr lang="en-US" sz="1200" b="1" i="0" u="none" strike="noStrike">
                          <a:solidFill>
                            <a:srgbClr val="000000"/>
                          </a:solidFill>
                          <a:effectLst/>
                          <a:latin typeface="+mn-lt"/>
                        </a:rPr>
                        <a:t>White-eye coronavirus HKU16, complete genome</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4CAD2"/>
                    </a:solidFill>
                  </a:tcPr>
                </a:tc>
                <a:extLst>
                  <a:ext uri="{0D108BD9-81ED-4DB2-BD59-A6C34878D82A}">
                    <a16:rowId xmlns:a16="http://schemas.microsoft.com/office/drawing/2014/main" val="3582584239"/>
                  </a:ext>
                </a:extLst>
              </a:tr>
              <a:tr h="380312">
                <a:tc>
                  <a:txBody>
                    <a:bodyPr/>
                    <a:lstStyle/>
                    <a:p>
                      <a:pPr rtl="0" fontAlgn="t">
                        <a:spcBef>
                          <a:spcPts val="0"/>
                        </a:spcBef>
                        <a:spcAft>
                          <a:spcPts val="0"/>
                        </a:spcAft>
                      </a:pPr>
                      <a:r>
                        <a:rPr lang="en-US" sz="1200" b="1" i="0" u="none" strike="noStrike">
                          <a:solidFill>
                            <a:srgbClr val="FFFFFF"/>
                          </a:solidFill>
                          <a:effectLst/>
                          <a:latin typeface="+mn-lt"/>
                        </a:rPr>
                        <a:t>NC_048214.1</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B31166"/>
                    </a:solidFill>
                  </a:tcPr>
                </a:tc>
                <a:tc>
                  <a:txBody>
                    <a:bodyPr/>
                    <a:lstStyle/>
                    <a:p>
                      <a:pPr rtl="0" fontAlgn="t">
                        <a:spcBef>
                          <a:spcPts val="0"/>
                        </a:spcBef>
                        <a:spcAft>
                          <a:spcPts val="0"/>
                        </a:spcAft>
                      </a:pPr>
                      <a:r>
                        <a:rPr lang="en-US" sz="1200" b="1" i="0" u="none" strike="noStrike">
                          <a:solidFill>
                            <a:srgbClr val="000000"/>
                          </a:solidFill>
                          <a:effectLst/>
                          <a:latin typeface="+mn-lt"/>
                        </a:rPr>
                        <a:t>Duck coronavirus isolate DK/GD/27/2014, complete</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F2E6EA"/>
                    </a:solidFill>
                  </a:tcPr>
                </a:tc>
                <a:extLst>
                  <a:ext uri="{0D108BD9-81ED-4DB2-BD59-A6C34878D82A}">
                    <a16:rowId xmlns:a16="http://schemas.microsoft.com/office/drawing/2014/main" val="1847164358"/>
                  </a:ext>
                </a:extLst>
              </a:tr>
              <a:tr h="380312">
                <a:tc>
                  <a:txBody>
                    <a:bodyPr/>
                    <a:lstStyle/>
                    <a:p>
                      <a:pPr rtl="0" fontAlgn="t">
                        <a:spcBef>
                          <a:spcPts val="0"/>
                        </a:spcBef>
                        <a:spcAft>
                          <a:spcPts val="0"/>
                        </a:spcAft>
                      </a:pPr>
                      <a:r>
                        <a:rPr lang="en-US" sz="1200" b="1" i="0" u="none" strike="noStrike">
                          <a:solidFill>
                            <a:srgbClr val="FFFFFF"/>
                          </a:solidFill>
                          <a:effectLst/>
                          <a:latin typeface="+mn-lt"/>
                        </a:rPr>
                        <a:t>NC_045512.2</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B31166"/>
                    </a:solidFill>
                  </a:tcPr>
                </a:tc>
                <a:tc>
                  <a:txBody>
                    <a:bodyPr/>
                    <a:lstStyle/>
                    <a:p>
                      <a:pPr rtl="0" fontAlgn="t">
                        <a:spcBef>
                          <a:spcPts val="0"/>
                        </a:spcBef>
                        <a:spcAft>
                          <a:spcPts val="0"/>
                        </a:spcAft>
                      </a:pPr>
                      <a:r>
                        <a:rPr lang="en-US" sz="1200" b="1" i="0" u="none" strike="noStrike">
                          <a:solidFill>
                            <a:srgbClr val="000000"/>
                          </a:solidFill>
                          <a:effectLst/>
                          <a:latin typeface="+mn-lt"/>
                        </a:rPr>
                        <a:t>Severe acute respiratory syndrome coronavirus 2</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4CAD2"/>
                    </a:solidFill>
                  </a:tcPr>
                </a:tc>
                <a:extLst>
                  <a:ext uri="{0D108BD9-81ED-4DB2-BD59-A6C34878D82A}">
                    <a16:rowId xmlns:a16="http://schemas.microsoft.com/office/drawing/2014/main" val="1910831409"/>
                  </a:ext>
                </a:extLst>
              </a:tr>
              <a:tr h="380312">
                <a:tc>
                  <a:txBody>
                    <a:bodyPr/>
                    <a:lstStyle/>
                    <a:p>
                      <a:pPr rtl="0" fontAlgn="t">
                        <a:spcBef>
                          <a:spcPts val="0"/>
                        </a:spcBef>
                        <a:spcAft>
                          <a:spcPts val="0"/>
                        </a:spcAft>
                      </a:pPr>
                      <a:r>
                        <a:rPr lang="en-US" sz="1200" b="1" i="0" u="none" strike="noStrike">
                          <a:solidFill>
                            <a:srgbClr val="FFFFFF"/>
                          </a:solidFill>
                          <a:effectLst/>
                          <a:latin typeface="+mn-lt"/>
                        </a:rPr>
                        <a:t>NC_004718.3</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B31166"/>
                    </a:solidFill>
                  </a:tcPr>
                </a:tc>
                <a:tc>
                  <a:txBody>
                    <a:bodyPr/>
                    <a:lstStyle/>
                    <a:p>
                      <a:pPr rtl="0" fontAlgn="t">
                        <a:spcBef>
                          <a:spcPts val="0"/>
                        </a:spcBef>
                        <a:spcAft>
                          <a:spcPts val="0"/>
                        </a:spcAft>
                      </a:pPr>
                      <a:r>
                        <a:rPr lang="en-US" sz="1200" b="1" i="0" u="none" strike="noStrike">
                          <a:solidFill>
                            <a:srgbClr val="000000"/>
                          </a:solidFill>
                          <a:effectLst/>
                          <a:latin typeface="+mn-lt"/>
                        </a:rPr>
                        <a:t>SARS coronavirus Tor2, complete genome</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F2E6EA"/>
                    </a:solidFill>
                  </a:tcPr>
                </a:tc>
                <a:extLst>
                  <a:ext uri="{0D108BD9-81ED-4DB2-BD59-A6C34878D82A}">
                    <a16:rowId xmlns:a16="http://schemas.microsoft.com/office/drawing/2014/main" val="881085672"/>
                  </a:ext>
                </a:extLst>
              </a:tr>
              <a:tr h="380312">
                <a:tc>
                  <a:txBody>
                    <a:bodyPr/>
                    <a:lstStyle/>
                    <a:p>
                      <a:pPr algn="l" rtl="1" fontAlgn="t">
                        <a:spcBef>
                          <a:spcPts val="0"/>
                        </a:spcBef>
                        <a:spcAft>
                          <a:spcPts val="0"/>
                        </a:spcAft>
                      </a:pPr>
                      <a:r>
                        <a:rPr lang="en-US" sz="1200" b="1" i="0" u="none" strike="noStrike">
                          <a:solidFill>
                            <a:srgbClr val="FFFFFF"/>
                          </a:solidFill>
                          <a:effectLst/>
                          <a:latin typeface="+mn-lt"/>
                        </a:rPr>
                        <a:t>NC_014470.1 </a:t>
                      </a:r>
                      <a:endParaRPr lang="en-US" sz="1200" b="1">
                        <a:effectLst/>
                        <a:latin typeface="+mn-lt"/>
                      </a:endParaRPr>
                    </a:p>
                    <a:p>
                      <a:pPr rtl="0" fontAlgn="t">
                        <a:spcBef>
                          <a:spcPts val="0"/>
                        </a:spcBef>
                        <a:spcAft>
                          <a:spcPts val="0"/>
                        </a:spcAft>
                      </a:pPr>
                      <a:r>
                        <a:rPr lang="en-US" sz="1200" b="1" i="0" u="none" strike="noStrike">
                          <a:solidFill>
                            <a:srgbClr val="FFFFFF"/>
                          </a:solidFill>
                          <a:effectLst/>
                          <a:latin typeface="+mn-lt"/>
                        </a:rPr>
                        <a:t> </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B31166"/>
                    </a:solidFill>
                  </a:tcPr>
                </a:tc>
                <a:tc>
                  <a:txBody>
                    <a:bodyPr/>
                    <a:lstStyle/>
                    <a:p>
                      <a:pPr rtl="0" fontAlgn="t">
                        <a:spcBef>
                          <a:spcPts val="0"/>
                        </a:spcBef>
                        <a:spcAft>
                          <a:spcPts val="0"/>
                        </a:spcAft>
                      </a:pPr>
                      <a:r>
                        <a:rPr lang="en-US" sz="1200" b="1" i="0" u="none" strike="noStrike" dirty="0">
                          <a:solidFill>
                            <a:srgbClr val="000000"/>
                          </a:solidFill>
                          <a:effectLst/>
                          <a:latin typeface="+mn-lt"/>
                        </a:rPr>
                        <a:t>Bat coronavirus BM48-31/BGR/2008, complete genome</a:t>
                      </a:r>
                      <a:endParaRPr lang="en-US" sz="1200" b="1" dirty="0">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4CAD2"/>
                    </a:solidFill>
                  </a:tcPr>
                </a:tc>
                <a:extLst>
                  <a:ext uri="{0D108BD9-81ED-4DB2-BD59-A6C34878D82A}">
                    <a16:rowId xmlns:a16="http://schemas.microsoft.com/office/drawing/2014/main" val="4006298897"/>
                  </a:ext>
                </a:extLst>
              </a:tr>
              <a:tr h="518607">
                <a:tc>
                  <a:txBody>
                    <a:bodyPr/>
                    <a:lstStyle/>
                    <a:p>
                      <a:pPr rtl="0" fontAlgn="t">
                        <a:spcBef>
                          <a:spcPts val="0"/>
                        </a:spcBef>
                        <a:spcAft>
                          <a:spcPts val="0"/>
                        </a:spcAft>
                      </a:pPr>
                      <a:r>
                        <a:rPr lang="en-US" sz="1200" b="1" i="0" u="none" strike="noStrike">
                          <a:solidFill>
                            <a:srgbClr val="FFFFFF"/>
                          </a:solidFill>
                          <a:effectLst/>
                          <a:latin typeface="+mn-lt"/>
                        </a:rPr>
                        <a:t>NC_025217.1</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B31166"/>
                    </a:solidFill>
                  </a:tcPr>
                </a:tc>
                <a:tc>
                  <a:txBody>
                    <a:bodyPr/>
                    <a:lstStyle/>
                    <a:p>
                      <a:pPr rtl="0" fontAlgn="t">
                        <a:spcBef>
                          <a:spcPts val="0"/>
                        </a:spcBef>
                        <a:spcAft>
                          <a:spcPts val="0"/>
                        </a:spcAft>
                      </a:pPr>
                      <a:r>
                        <a:rPr lang="en-US" sz="1200" b="1" i="0" u="none" strike="noStrike">
                          <a:solidFill>
                            <a:srgbClr val="000000"/>
                          </a:solidFill>
                          <a:effectLst/>
                          <a:latin typeface="+mn-lt"/>
                        </a:rPr>
                        <a:t>Bat Hp-betacoronavirus/Zhejiang2013, complete genome</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F2E6EA"/>
                    </a:solidFill>
                  </a:tcPr>
                </a:tc>
                <a:extLst>
                  <a:ext uri="{0D108BD9-81ED-4DB2-BD59-A6C34878D82A}">
                    <a16:rowId xmlns:a16="http://schemas.microsoft.com/office/drawing/2014/main" val="1389667318"/>
                  </a:ext>
                </a:extLst>
              </a:tr>
              <a:tr h="380312">
                <a:tc>
                  <a:txBody>
                    <a:bodyPr/>
                    <a:lstStyle/>
                    <a:p>
                      <a:pPr rtl="0" fontAlgn="t">
                        <a:spcBef>
                          <a:spcPts val="0"/>
                        </a:spcBef>
                        <a:spcAft>
                          <a:spcPts val="0"/>
                        </a:spcAft>
                      </a:pPr>
                      <a:r>
                        <a:rPr lang="en-US" sz="1200" b="1" i="0" u="none" strike="noStrike" dirty="0">
                          <a:solidFill>
                            <a:srgbClr val="FFFFFF"/>
                          </a:solidFill>
                          <a:effectLst/>
                          <a:latin typeface="+mn-lt"/>
                        </a:rPr>
                        <a:t>NC_006577.2</a:t>
                      </a:r>
                      <a:endParaRPr lang="en-US" sz="1200" b="1" dirty="0">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B31166"/>
                    </a:solidFill>
                  </a:tcPr>
                </a:tc>
                <a:tc>
                  <a:txBody>
                    <a:bodyPr/>
                    <a:lstStyle/>
                    <a:p>
                      <a:pPr rtl="0" fontAlgn="t">
                        <a:spcBef>
                          <a:spcPts val="0"/>
                        </a:spcBef>
                        <a:spcAft>
                          <a:spcPts val="0"/>
                        </a:spcAft>
                      </a:pPr>
                      <a:r>
                        <a:rPr lang="en-US" sz="1200" b="1" i="0" u="none" strike="noStrike">
                          <a:solidFill>
                            <a:srgbClr val="000000"/>
                          </a:solidFill>
                          <a:effectLst/>
                          <a:latin typeface="+mn-lt"/>
                        </a:rPr>
                        <a:t>Human coronavirus HKU1, complete genome</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4CAD2"/>
                    </a:solidFill>
                  </a:tcPr>
                </a:tc>
                <a:extLst>
                  <a:ext uri="{0D108BD9-81ED-4DB2-BD59-A6C34878D82A}">
                    <a16:rowId xmlns:a16="http://schemas.microsoft.com/office/drawing/2014/main" val="292017206"/>
                  </a:ext>
                </a:extLst>
              </a:tr>
              <a:tr h="380312">
                <a:tc>
                  <a:txBody>
                    <a:bodyPr/>
                    <a:lstStyle/>
                    <a:p>
                      <a:pPr rtl="0" fontAlgn="t">
                        <a:spcBef>
                          <a:spcPts val="0"/>
                        </a:spcBef>
                        <a:spcAft>
                          <a:spcPts val="0"/>
                        </a:spcAft>
                      </a:pPr>
                      <a:r>
                        <a:rPr lang="en-US" sz="1200" b="1" i="0" u="none" strike="noStrike">
                          <a:solidFill>
                            <a:srgbClr val="FFFFFF"/>
                          </a:solidFill>
                          <a:effectLst/>
                          <a:latin typeface="+mn-lt"/>
                        </a:rPr>
                        <a:t>KF530105.1</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B31166"/>
                    </a:solidFill>
                  </a:tcPr>
                </a:tc>
                <a:tc>
                  <a:txBody>
                    <a:bodyPr/>
                    <a:lstStyle/>
                    <a:p>
                      <a:pPr rtl="0" fontAlgn="t">
                        <a:spcBef>
                          <a:spcPts val="0"/>
                        </a:spcBef>
                        <a:spcAft>
                          <a:spcPts val="0"/>
                        </a:spcAft>
                      </a:pPr>
                      <a:r>
                        <a:rPr lang="en-US" sz="1200" b="1" i="0" u="none" strike="noStrike">
                          <a:solidFill>
                            <a:srgbClr val="000000"/>
                          </a:solidFill>
                          <a:effectLst/>
                          <a:latin typeface="+mn-lt"/>
                        </a:rPr>
                        <a:t>Human coronavirus NL63 strain NL63/human/USA/012-31/200</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F2E6EA"/>
                    </a:solidFill>
                  </a:tcPr>
                </a:tc>
                <a:extLst>
                  <a:ext uri="{0D108BD9-81ED-4DB2-BD59-A6C34878D82A}">
                    <a16:rowId xmlns:a16="http://schemas.microsoft.com/office/drawing/2014/main" val="2892577537"/>
                  </a:ext>
                </a:extLst>
              </a:tr>
              <a:tr h="518607">
                <a:tc>
                  <a:txBody>
                    <a:bodyPr/>
                    <a:lstStyle/>
                    <a:p>
                      <a:pPr rtl="0" fontAlgn="t">
                        <a:spcBef>
                          <a:spcPts val="0"/>
                        </a:spcBef>
                        <a:spcAft>
                          <a:spcPts val="0"/>
                        </a:spcAft>
                      </a:pPr>
                      <a:r>
                        <a:rPr lang="en-US" sz="1200" b="1" i="0" u="none" strike="noStrike">
                          <a:solidFill>
                            <a:srgbClr val="FFFFFF"/>
                          </a:solidFill>
                          <a:effectLst/>
                          <a:latin typeface="+mn-lt"/>
                        </a:rPr>
                        <a:t>GQ152141.1</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B31166"/>
                    </a:solidFill>
                  </a:tcPr>
                </a:tc>
                <a:tc>
                  <a:txBody>
                    <a:bodyPr/>
                    <a:lstStyle/>
                    <a:p>
                      <a:pPr algn="l" rtl="1" fontAlgn="t">
                        <a:spcBef>
                          <a:spcPts val="0"/>
                        </a:spcBef>
                        <a:spcAft>
                          <a:spcPts val="0"/>
                        </a:spcAft>
                      </a:pPr>
                      <a:r>
                        <a:rPr lang="en-US" sz="1200" b="1" i="0" u="none" strike="noStrike">
                          <a:solidFill>
                            <a:srgbClr val="000000"/>
                          </a:solidFill>
                          <a:effectLst/>
                          <a:latin typeface="+mn-lt"/>
                        </a:rPr>
                        <a:t>Feline coronavirus strain FCoV/NTU156/P/2007, complete </a:t>
                      </a:r>
                      <a:endParaRPr lang="en-US" sz="1200" b="1">
                        <a:effectLst/>
                        <a:latin typeface="+mn-lt"/>
                      </a:endParaRPr>
                    </a:p>
                    <a:p>
                      <a:pPr rtl="0" fontAlgn="t">
                        <a:spcBef>
                          <a:spcPts val="0"/>
                        </a:spcBef>
                        <a:spcAft>
                          <a:spcPts val="0"/>
                        </a:spcAft>
                      </a:pPr>
                      <a:r>
                        <a:rPr lang="en-US" sz="1200" b="1" i="0" u="none" strike="noStrike">
                          <a:solidFill>
                            <a:srgbClr val="000000"/>
                          </a:solidFill>
                          <a:effectLst/>
                          <a:latin typeface="+mn-lt"/>
                        </a:rPr>
                        <a:t> </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4CAD2"/>
                    </a:solidFill>
                  </a:tcPr>
                </a:tc>
                <a:extLst>
                  <a:ext uri="{0D108BD9-81ED-4DB2-BD59-A6C34878D82A}">
                    <a16:rowId xmlns:a16="http://schemas.microsoft.com/office/drawing/2014/main" val="1053399678"/>
                  </a:ext>
                </a:extLst>
              </a:tr>
              <a:tr h="380312">
                <a:tc>
                  <a:txBody>
                    <a:bodyPr/>
                    <a:lstStyle/>
                    <a:p>
                      <a:pPr rtl="0" fontAlgn="t">
                        <a:spcBef>
                          <a:spcPts val="0"/>
                        </a:spcBef>
                        <a:spcAft>
                          <a:spcPts val="0"/>
                        </a:spcAft>
                      </a:pPr>
                      <a:r>
                        <a:rPr lang="en-US" sz="1200" b="1" i="0" u="none" strike="noStrike">
                          <a:solidFill>
                            <a:srgbClr val="FFFFFF"/>
                          </a:solidFill>
                          <a:effectLst/>
                          <a:latin typeface="+mn-lt"/>
                        </a:rPr>
                        <a:t>FJ938056.1</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B31166"/>
                    </a:solidFill>
                  </a:tcPr>
                </a:tc>
                <a:tc>
                  <a:txBody>
                    <a:bodyPr/>
                    <a:lstStyle/>
                    <a:p>
                      <a:pPr rtl="0" fontAlgn="t">
                        <a:spcBef>
                          <a:spcPts val="0"/>
                        </a:spcBef>
                        <a:spcAft>
                          <a:spcPts val="0"/>
                        </a:spcAft>
                      </a:pPr>
                      <a:r>
                        <a:rPr lang="it-IT" sz="1200" b="1" i="0" u="none" strike="noStrike">
                          <a:solidFill>
                            <a:srgbClr val="000000"/>
                          </a:solidFill>
                          <a:effectLst/>
                          <a:latin typeface="+mn-lt"/>
                        </a:rPr>
                        <a:t>Feline coronavirus UU5, complete genome</a:t>
                      </a:r>
                      <a:endParaRPr lang="it-IT"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F2E6EA"/>
                    </a:solidFill>
                  </a:tcPr>
                </a:tc>
                <a:extLst>
                  <a:ext uri="{0D108BD9-81ED-4DB2-BD59-A6C34878D82A}">
                    <a16:rowId xmlns:a16="http://schemas.microsoft.com/office/drawing/2014/main" val="946835243"/>
                  </a:ext>
                </a:extLst>
              </a:tr>
              <a:tr h="380312">
                <a:tc>
                  <a:txBody>
                    <a:bodyPr/>
                    <a:lstStyle/>
                    <a:p>
                      <a:pPr rtl="0" fontAlgn="t">
                        <a:spcBef>
                          <a:spcPts val="0"/>
                        </a:spcBef>
                        <a:spcAft>
                          <a:spcPts val="0"/>
                        </a:spcAft>
                      </a:pPr>
                      <a:r>
                        <a:rPr lang="en-US" sz="1200" b="1" i="0" u="none" strike="noStrike">
                          <a:solidFill>
                            <a:srgbClr val="FFFFFF"/>
                          </a:solidFill>
                          <a:effectLst/>
                          <a:latin typeface="+mn-lt"/>
                        </a:rPr>
                        <a:t>MN535736.1</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B31166"/>
                    </a:solidFill>
                  </a:tcPr>
                </a:tc>
                <a:tc>
                  <a:txBody>
                    <a:bodyPr/>
                    <a:lstStyle/>
                    <a:p>
                      <a:pPr algn="l" rtl="1" fontAlgn="t">
                        <a:spcBef>
                          <a:spcPts val="0"/>
                        </a:spcBef>
                        <a:spcAft>
                          <a:spcPts val="0"/>
                        </a:spcAft>
                      </a:pPr>
                      <a:r>
                        <a:rPr lang="en-US" sz="1200" b="1" i="0" u="none" strike="noStrike">
                          <a:solidFill>
                            <a:srgbClr val="000000"/>
                          </a:solidFill>
                          <a:effectLst/>
                          <a:latin typeface="+mn-lt"/>
                        </a:rPr>
                        <a:t>Mink coronavirus 1 strain MCoV1/11917-2/DK/2015</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4CAD2"/>
                    </a:solidFill>
                  </a:tcPr>
                </a:tc>
                <a:extLst>
                  <a:ext uri="{0D108BD9-81ED-4DB2-BD59-A6C34878D82A}">
                    <a16:rowId xmlns:a16="http://schemas.microsoft.com/office/drawing/2014/main" val="3326810610"/>
                  </a:ext>
                </a:extLst>
              </a:tr>
              <a:tr h="518607">
                <a:tc>
                  <a:txBody>
                    <a:bodyPr/>
                    <a:lstStyle/>
                    <a:p>
                      <a:pPr rtl="0" fontAlgn="t">
                        <a:spcBef>
                          <a:spcPts val="0"/>
                        </a:spcBef>
                        <a:spcAft>
                          <a:spcPts val="0"/>
                        </a:spcAft>
                      </a:pPr>
                      <a:r>
                        <a:rPr lang="en-US" sz="1200" b="1" i="0" u="none" strike="noStrike">
                          <a:solidFill>
                            <a:srgbClr val="FFFFFF"/>
                          </a:solidFill>
                          <a:effectLst/>
                          <a:latin typeface="+mn-lt"/>
                        </a:rPr>
                        <a:t>KP143507.1</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B31166"/>
                    </a:solidFill>
                  </a:tcPr>
                </a:tc>
                <a:tc>
                  <a:txBody>
                    <a:bodyPr/>
                    <a:lstStyle/>
                    <a:p>
                      <a:pPr rtl="0" fontAlgn="t">
                        <a:spcBef>
                          <a:spcPts val="0"/>
                        </a:spcBef>
                        <a:spcAft>
                          <a:spcPts val="0"/>
                        </a:spcAft>
                      </a:pPr>
                      <a:r>
                        <a:rPr lang="it-IT" sz="1200" b="1" i="0" u="none" strike="noStrike">
                          <a:solidFill>
                            <a:srgbClr val="000000"/>
                          </a:solidFill>
                          <a:effectLst/>
                          <a:latin typeface="+mn-lt"/>
                        </a:rPr>
                        <a:t>Feline coronavirus isolate 27C, complete genome</a:t>
                      </a:r>
                      <a:endParaRPr lang="it-IT" sz="1200" b="1">
                        <a:effectLst/>
                        <a:latin typeface="+mn-lt"/>
                      </a:endParaRPr>
                    </a:p>
                    <a:p>
                      <a:pPr rtl="0" fontAlgn="t">
                        <a:spcBef>
                          <a:spcPts val="0"/>
                        </a:spcBef>
                        <a:spcAft>
                          <a:spcPts val="0"/>
                        </a:spcAft>
                      </a:pPr>
                      <a:r>
                        <a:rPr lang="it-IT" sz="1200" b="1" i="0" u="none" strike="noStrike">
                          <a:solidFill>
                            <a:srgbClr val="000000"/>
                          </a:solidFill>
                          <a:effectLst/>
                          <a:latin typeface="+mn-lt"/>
                        </a:rPr>
                        <a:t> </a:t>
                      </a:r>
                      <a:endParaRPr lang="it-IT"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F2E6EA"/>
                    </a:solidFill>
                  </a:tcPr>
                </a:tc>
                <a:extLst>
                  <a:ext uri="{0D108BD9-81ED-4DB2-BD59-A6C34878D82A}">
                    <a16:rowId xmlns:a16="http://schemas.microsoft.com/office/drawing/2014/main" val="3668194525"/>
                  </a:ext>
                </a:extLst>
              </a:tr>
              <a:tr h="656901">
                <a:tc>
                  <a:txBody>
                    <a:bodyPr/>
                    <a:lstStyle/>
                    <a:p>
                      <a:pPr rtl="0" fontAlgn="t">
                        <a:spcBef>
                          <a:spcPts val="0"/>
                        </a:spcBef>
                        <a:spcAft>
                          <a:spcPts val="0"/>
                        </a:spcAft>
                      </a:pPr>
                      <a:r>
                        <a:rPr lang="en-US" sz="1200" b="1" i="0" u="none" strike="noStrike">
                          <a:solidFill>
                            <a:srgbClr val="FFFFFF"/>
                          </a:solidFill>
                          <a:effectLst/>
                          <a:latin typeface="+mn-lt"/>
                        </a:rPr>
                        <a:t>KX900408.1</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B31166"/>
                    </a:solidFill>
                  </a:tcPr>
                </a:tc>
                <a:tc>
                  <a:txBody>
                    <a:bodyPr/>
                    <a:lstStyle/>
                    <a:p>
                      <a:pPr algn="l" rtl="1" fontAlgn="t">
                        <a:spcBef>
                          <a:spcPts val="0"/>
                        </a:spcBef>
                        <a:spcAft>
                          <a:spcPts val="0"/>
                        </a:spcAft>
                      </a:pPr>
                      <a:r>
                        <a:rPr lang="sv-SE" sz="1200" b="1" i="0" u="none" strike="noStrike" dirty="0">
                          <a:solidFill>
                            <a:srgbClr val="000000"/>
                          </a:solidFill>
                          <a:effectLst/>
                          <a:latin typeface="+mn-lt"/>
                        </a:rPr>
                        <a:t> </a:t>
                      </a:r>
                      <a:endParaRPr lang="sv-SE" sz="1200" b="1" dirty="0">
                        <a:effectLst/>
                        <a:latin typeface="+mn-lt"/>
                      </a:endParaRPr>
                    </a:p>
                    <a:p>
                      <a:pPr algn="l" rtl="1" fontAlgn="t">
                        <a:spcBef>
                          <a:spcPts val="0"/>
                        </a:spcBef>
                        <a:spcAft>
                          <a:spcPts val="0"/>
                        </a:spcAft>
                      </a:pPr>
                      <a:r>
                        <a:rPr lang="sv-SE" sz="1200" b="1" i="0" u="none" strike="noStrike" dirty="0">
                          <a:solidFill>
                            <a:srgbClr val="000000"/>
                          </a:solidFill>
                          <a:effectLst/>
                          <a:latin typeface="+mn-lt"/>
                        </a:rPr>
                        <a:t>Transmissible gastroenteritis virus strain GEV/USA/Wisconsin151/2014</a:t>
                      </a:r>
                      <a:endParaRPr lang="sv-SE" sz="1200" b="1" dirty="0">
                        <a:effectLst/>
                        <a:latin typeface="+mn-lt"/>
                      </a:endParaRPr>
                    </a:p>
                    <a:p>
                      <a:pPr rtl="0" fontAlgn="t">
                        <a:spcBef>
                          <a:spcPts val="0"/>
                        </a:spcBef>
                        <a:spcAft>
                          <a:spcPts val="0"/>
                        </a:spcAft>
                      </a:pPr>
                      <a:r>
                        <a:rPr lang="sv-SE" sz="1200" b="1" i="0" u="none" strike="noStrike" dirty="0">
                          <a:solidFill>
                            <a:srgbClr val="000000"/>
                          </a:solidFill>
                          <a:effectLst/>
                          <a:latin typeface="+mn-lt"/>
                        </a:rPr>
                        <a:t> </a:t>
                      </a:r>
                      <a:endParaRPr lang="sv-SE" sz="1200" b="1" dirty="0">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E4CAD2"/>
                    </a:solidFill>
                  </a:tcPr>
                </a:tc>
                <a:extLst>
                  <a:ext uri="{0D108BD9-81ED-4DB2-BD59-A6C34878D82A}">
                    <a16:rowId xmlns:a16="http://schemas.microsoft.com/office/drawing/2014/main" val="464356184"/>
                  </a:ext>
                </a:extLst>
              </a:tr>
              <a:tr h="380312">
                <a:tc>
                  <a:txBody>
                    <a:bodyPr/>
                    <a:lstStyle/>
                    <a:p>
                      <a:pPr rtl="0" fontAlgn="t">
                        <a:spcBef>
                          <a:spcPts val="0"/>
                        </a:spcBef>
                        <a:spcAft>
                          <a:spcPts val="0"/>
                        </a:spcAft>
                      </a:pPr>
                      <a:r>
                        <a:rPr lang="en-US" sz="1200" b="1" i="0" u="none" strike="noStrike">
                          <a:solidFill>
                            <a:srgbClr val="FFFFFF"/>
                          </a:solidFill>
                          <a:effectLst/>
                          <a:latin typeface="+mn-lt"/>
                        </a:rPr>
                        <a:t>KP981644.1</a:t>
                      </a:r>
                      <a:endParaRPr lang="en-US" sz="1200" b="1">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B31166"/>
                    </a:solidFill>
                  </a:tcPr>
                </a:tc>
                <a:tc>
                  <a:txBody>
                    <a:bodyPr/>
                    <a:lstStyle/>
                    <a:p>
                      <a:pPr rtl="0" fontAlgn="t">
                        <a:spcBef>
                          <a:spcPts val="0"/>
                        </a:spcBef>
                        <a:spcAft>
                          <a:spcPts val="0"/>
                        </a:spcAft>
                      </a:pPr>
                      <a:r>
                        <a:rPr lang="en-US" sz="1200" b="1" i="0" u="none" strike="noStrike" dirty="0">
                          <a:solidFill>
                            <a:srgbClr val="000000"/>
                          </a:solidFill>
                          <a:effectLst/>
                          <a:latin typeface="+mn-lt"/>
                        </a:rPr>
                        <a:t>Canine coronavirus strain CB/05, complete genome</a:t>
                      </a:r>
                      <a:endParaRPr lang="en-US" sz="1200" b="1" dirty="0">
                        <a:effectLst/>
                        <a:latin typeface="+mn-lt"/>
                      </a:endParaRPr>
                    </a:p>
                  </a:txBody>
                  <a:tcPr marL="30051" marR="30051" marT="36061" marB="36061" anchor="ctr">
                    <a:lnL w="12697" cap="flat" cmpd="sng" algn="ctr">
                      <a:solidFill>
                        <a:srgbClr val="FFFFFF"/>
                      </a:solidFill>
                      <a:prstDash val="solid"/>
                      <a:round/>
                      <a:headEnd type="none" w="med" len="med"/>
                      <a:tailEnd type="none" w="med" len="med"/>
                    </a:lnL>
                    <a:lnR w="12697" cap="flat" cmpd="sng" algn="ctr">
                      <a:solidFill>
                        <a:srgbClr val="FFFFFF"/>
                      </a:solidFill>
                      <a:prstDash val="solid"/>
                      <a:round/>
                      <a:headEnd type="none" w="med" len="med"/>
                      <a:tailEnd type="none" w="med" len="med"/>
                    </a:lnR>
                    <a:lnT w="12697" cap="flat" cmpd="sng" algn="ctr">
                      <a:solidFill>
                        <a:srgbClr val="FFFFFF"/>
                      </a:solidFill>
                      <a:prstDash val="solid"/>
                      <a:round/>
                      <a:headEnd type="none" w="med" len="med"/>
                      <a:tailEnd type="none" w="med" len="med"/>
                    </a:lnT>
                    <a:lnB w="12697" cap="flat" cmpd="sng" algn="ctr">
                      <a:solidFill>
                        <a:srgbClr val="FFFFFF"/>
                      </a:solidFill>
                      <a:prstDash val="solid"/>
                      <a:round/>
                      <a:headEnd type="none" w="med" len="med"/>
                      <a:tailEnd type="none" w="med" len="med"/>
                    </a:lnB>
                    <a:solidFill>
                      <a:srgbClr val="F2E6EA"/>
                    </a:solidFill>
                  </a:tcPr>
                </a:tc>
                <a:extLst>
                  <a:ext uri="{0D108BD9-81ED-4DB2-BD59-A6C34878D82A}">
                    <a16:rowId xmlns:a16="http://schemas.microsoft.com/office/drawing/2014/main" val="2203915382"/>
                  </a:ext>
                </a:extLst>
              </a:tr>
            </a:tbl>
          </a:graphicData>
        </a:graphic>
      </p:graphicFrame>
    </p:spTree>
    <p:extLst>
      <p:ext uri="{BB962C8B-B14F-4D97-AF65-F5344CB8AC3E}">
        <p14:creationId xmlns:p14="http://schemas.microsoft.com/office/powerpoint/2010/main" val="42472458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D6A35-54AC-4AE3-8555-4DEF1464DC30}"/>
              </a:ext>
            </a:extLst>
          </p:cNvPr>
          <p:cNvSpPr>
            <a:spLocks noGrp="1"/>
          </p:cNvSpPr>
          <p:nvPr>
            <p:ph type="ctrTitle"/>
          </p:nvPr>
        </p:nvSpPr>
        <p:spPr>
          <a:xfrm>
            <a:off x="1524000" y="2940892"/>
            <a:ext cx="9144000" cy="976217"/>
          </a:xfrm>
        </p:spPr>
        <p:txBody>
          <a:bodyPr>
            <a:normAutofit/>
          </a:bodyPr>
          <a:lstStyle/>
          <a:p>
            <a:r>
              <a:rPr lang="en-US" b="1" dirty="0"/>
              <a:t>E. SNP Calling &amp; Mapping:</a:t>
            </a:r>
            <a:endParaRPr lang="en-US" dirty="0"/>
          </a:p>
        </p:txBody>
      </p:sp>
    </p:spTree>
    <p:extLst>
      <p:ext uri="{BB962C8B-B14F-4D97-AF65-F5344CB8AC3E}">
        <p14:creationId xmlns:p14="http://schemas.microsoft.com/office/powerpoint/2010/main" val="38450112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1. Editing Sequences</a:t>
            </a:r>
          </a:p>
        </p:txBody>
      </p:sp>
      <p:sp>
        <p:nvSpPr>
          <p:cNvPr id="3" name="Content Placeholder 2">
            <a:extLst>
              <a:ext uri="{FF2B5EF4-FFF2-40B4-BE49-F238E27FC236}">
                <a16:creationId xmlns:a16="http://schemas.microsoft.com/office/drawing/2014/main" id="{12CA33F8-F6E9-4905-BAF1-417CC3F1B0F4}"/>
              </a:ext>
            </a:extLst>
          </p:cNvPr>
          <p:cNvSpPr>
            <a:spLocks noGrp="1"/>
          </p:cNvSpPr>
          <p:nvPr>
            <p:ph idx="1"/>
          </p:nvPr>
        </p:nvSpPr>
        <p:spPr>
          <a:xfrm>
            <a:off x="319489" y="1825624"/>
            <a:ext cx="11435509" cy="4784495"/>
          </a:xfrm>
        </p:spPr>
        <p:txBody>
          <a:bodyPr>
            <a:normAutofit/>
          </a:bodyPr>
          <a:lstStyle/>
          <a:p>
            <a:pPr marL="0" indent="0">
              <a:buNone/>
            </a:pP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seqret</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alignment.clw</a:t>
            </a: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alignment_trimmed.aln</a:t>
            </a:r>
            <a:endParaRPr lang="en-US" sz="2400" b="0" i="0" u="none" strike="noStrike" baseline="0" dirty="0">
              <a:solidFill>
                <a:srgbClr val="000000"/>
              </a:solidFill>
              <a:highlight>
                <a:srgbClr val="FFFF00"/>
              </a:highlight>
              <a:latin typeface="Calibri" panose="020F0502020204030204" pitchFamily="34" charset="0"/>
            </a:endParaRPr>
          </a:p>
        </p:txBody>
      </p:sp>
    </p:spTree>
    <p:extLst>
      <p:ext uri="{BB962C8B-B14F-4D97-AF65-F5344CB8AC3E}">
        <p14:creationId xmlns:p14="http://schemas.microsoft.com/office/powerpoint/2010/main" val="29212228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2. Generating variant calling format file</a:t>
            </a:r>
          </a:p>
        </p:txBody>
      </p:sp>
      <p:sp>
        <p:nvSpPr>
          <p:cNvPr id="3" name="Content Placeholder 2">
            <a:extLst>
              <a:ext uri="{FF2B5EF4-FFF2-40B4-BE49-F238E27FC236}">
                <a16:creationId xmlns:a16="http://schemas.microsoft.com/office/drawing/2014/main" id="{12CA33F8-F6E9-4905-BAF1-417CC3F1B0F4}"/>
              </a:ext>
            </a:extLst>
          </p:cNvPr>
          <p:cNvSpPr>
            <a:spLocks noGrp="1"/>
          </p:cNvSpPr>
          <p:nvPr>
            <p:ph idx="1"/>
          </p:nvPr>
        </p:nvSpPr>
        <p:spPr>
          <a:xfrm>
            <a:off x="319489" y="1825624"/>
            <a:ext cx="11435509" cy="4784495"/>
          </a:xfrm>
        </p:spPr>
        <p:txBody>
          <a:bodyPr>
            <a:normAutofit/>
          </a:bodyPr>
          <a:lstStyle/>
          <a:p>
            <a:pPr marL="0" indent="0">
              <a:buNone/>
            </a:pPr>
            <a:r>
              <a:rPr lang="en-US" sz="2400" b="0" i="0" u="none" strike="noStrike" baseline="0" dirty="0">
                <a:solidFill>
                  <a:srgbClr val="000000"/>
                </a:solidFill>
                <a:highlight>
                  <a:srgbClr val="FFFF00"/>
                </a:highlight>
                <a:latin typeface="Calibri" panose="020F0502020204030204" pitchFamily="34" charset="0"/>
              </a:rPr>
              <a:t>$ </a:t>
            </a:r>
            <a:r>
              <a:rPr lang="en-US" sz="2400" b="0" i="0" u="none" strike="noStrike" baseline="0" dirty="0" err="1">
                <a:solidFill>
                  <a:srgbClr val="000000"/>
                </a:solidFill>
                <a:highlight>
                  <a:srgbClr val="FFFF00"/>
                </a:highlight>
                <a:latin typeface="Calibri" panose="020F0502020204030204" pitchFamily="34" charset="0"/>
              </a:rPr>
              <a:t>snp</a:t>
            </a:r>
            <a:r>
              <a:rPr lang="en-US" sz="2400" b="0" i="0" u="none" strike="noStrike" baseline="0" dirty="0">
                <a:solidFill>
                  <a:srgbClr val="000000"/>
                </a:solidFill>
                <a:highlight>
                  <a:srgbClr val="FFFF00"/>
                </a:highlight>
                <a:latin typeface="Calibri" panose="020F0502020204030204" pitchFamily="34" charset="0"/>
              </a:rPr>
              <a:t>-sites -v </a:t>
            </a:r>
            <a:r>
              <a:rPr lang="en-US" sz="2400" b="0" i="0" u="none" strike="noStrike" baseline="0" dirty="0" err="1">
                <a:solidFill>
                  <a:srgbClr val="000000"/>
                </a:solidFill>
                <a:highlight>
                  <a:srgbClr val="FFFF00"/>
                </a:highlight>
                <a:latin typeface="Calibri" panose="020F0502020204030204" pitchFamily="34" charset="0"/>
              </a:rPr>
              <a:t>alignment_trimmed.aln</a:t>
            </a:r>
            <a:r>
              <a:rPr lang="en-US" sz="2400" b="0" i="0" u="none" strike="noStrike" baseline="0" dirty="0">
                <a:solidFill>
                  <a:srgbClr val="000000"/>
                </a:solidFill>
                <a:highlight>
                  <a:srgbClr val="FFFF00"/>
                </a:highlight>
                <a:latin typeface="Calibri" panose="020F0502020204030204" pitchFamily="34" charset="0"/>
              </a:rPr>
              <a:t> -o alignment_trimmed.vcf</a:t>
            </a:r>
          </a:p>
        </p:txBody>
      </p:sp>
    </p:spTree>
    <p:extLst>
      <p:ext uri="{BB962C8B-B14F-4D97-AF65-F5344CB8AC3E}">
        <p14:creationId xmlns:p14="http://schemas.microsoft.com/office/powerpoint/2010/main" val="7675189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3. SNP mapping</a:t>
            </a:r>
          </a:p>
        </p:txBody>
      </p:sp>
      <p:pic>
        <p:nvPicPr>
          <p:cNvPr id="5" name="Content Placeholder 4">
            <a:extLst>
              <a:ext uri="{FF2B5EF4-FFF2-40B4-BE49-F238E27FC236}">
                <a16:creationId xmlns:a16="http://schemas.microsoft.com/office/drawing/2014/main" id="{CE6057DE-1ECC-46A9-AC12-2D05D8E99C1A}"/>
              </a:ext>
            </a:extLst>
          </p:cNvPr>
          <p:cNvPicPr>
            <a:picLocks noGrp="1" noChangeAspect="1"/>
          </p:cNvPicPr>
          <p:nvPr>
            <p:ph idx="1"/>
          </p:nvPr>
        </p:nvPicPr>
        <p:blipFill rotWithShape="1">
          <a:blip r:embed="rId2"/>
          <a:srcRect t="13421" r="27326" b="16352"/>
          <a:stretch/>
        </p:blipFill>
        <p:spPr>
          <a:xfrm>
            <a:off x="1729647" y="1773242"/>
            <a:ext cx="8615191" cy="5029673"/>
          </a:xfrm>
          <a:ln>
            <a:solidFill>
              <a:schemeClr val="tx1"/>
            </a:solidFill>
          </a:ln>
        </p:spPr>
      </p:pic>
    </p:spTree>
    <p:extLst>
      <p:ext uri="{BB962C8B-B14F-4D97-AF65-F5344CB8AC3E}">
        <p14:creationId xmlns:p14="http://schemas.microsoft.com/office/powerpoint/2010/main" val="10143299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4. Getting amino acid</a:t>
            </a:r>
          </a:p>
        </p:txBody>
      </p:sp>
      <p:pic>
        <p:nvPicPr>
          <p:cNvPr id="7" name="Content Placeholder 6">
            <a:extLst>
              <a:ext uri="{FF2B5EF4-FFF2-40B4-BE49-F238E27FC236}">
                <a16:creationId xmlns:a16="http://schemas.microsoft.com/office/drawing/2014/main" id="{792501E8-74F8-4293-A022-3CA545B3BC5E}"/>
              </a:ext>
            </a:extLst>
          </p:cNvPr>
          <p:cNvPicPr>
            <a:picLocks noGrp="1" noChangeAspect="1"/>
          </p:cNvPicPr>
          <p:nvPr>
            <p:ph idx="1"/>
          </p:nvPr>
        </p:nvPicPr>
        <p:blipFill rotWithShape="1">
          <a:blip r:embed="rId2"/>
          <a:srcRect t="34253" r="27106" b="17895"/>
          <a:stretch/>
        </p:blipFill>
        <p:spPr>
          <a:xfrm>
            <a:off x="319489" y="1957439"/>
            <a:ext cx="11435509" cy="4535436"/>
          </a:xfrm>
        </p:spPr>
      </p:pic>
    </p:spTree>
    <p:extLst>
      <p:ext uri="{BB962C8B-B14F-4D97-AF65-F5344CB8AC3E}">
        <p14:creationId xmlns:p14="http://schemas.microsoft.com/office/powerpoint/2010/main" val="41939905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4. Getting amino acid</a:t>
            </a:r>
          </a:p>
        </p:txBody>
      </p:sp>
      <p:pic>
        <p:nvPicPr>
          <p:cNvPr id="8" name="Content Placeholder 7">
            <a:extLst>
              <a:ext uri="{FF2B5EF4-FFF2-40B4-BE49-F238E27FC236}">
                <a16:creationId xmlns:a16="http://schemas.microsoft.com/office/drawing/2014/main" id="{5802123E-491C-4278-A08C-90BCAF43096E}"/>
              </a:ext>
            </a:extLst>
          </p:cNvPr>
          <p:cNvPicPr>
            <a:picLocks noGrp="1" noChangeAspect="1"/>
          </p:cNvPicPr>
          <p:nvPr>
            <p:ph idx="1"/>
          </p:nvPr>
        </p:nvPicPr>
        <p:blipFill rotWithShape="1">
          <a:blip r:embed="rId2"/>
          <a:srcRect t="8353" r="9851" b="34940"/>
          <a:stretch/>
        </p:blipFill>
        <p:spPr>
          <a:xfrm>
            <a:off x="319488" y="1900580"/>
            <a:ext cx="11435510" cy="4345983"/>
          </a:xfrm>
          <a:prstGeom prst="rect">
            <a:avLst/>
          </a:prstGeom>
          <a:ln>
            <a:solidFill>
              <a:schemeClr val="tx1"/>
            </a:solidFill>
          </a:ln>
        </p:spPr>
      </p:pic>
    </p:spTree>
    <p:extLst>
      <p:ext uri="{BB962C8B-B14F-4D97-AF65-F5344CB8AC3E}">
        <p14:creationId xmlns:p14="http://schemas.microsoft.com/office/powerpoint/2010/main" val="41656386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84A18D5-0810-4445-9448-91944DE08A40}"/>
              </a:ext>
            </a:extLst>
          </p:cNvPr>
          <p:cNvGraphicFramePr>
            <a:graphicFrameLocks noGrp="1"/>
          </p:cNvGraphicFramePr>
          <p:nvPr>
            <p:extLst>
              <p:ext uri="{D42A27DB-BD31-4B8C-83A1-F6EECF244321}">
                <p14:modId xmlns:p14="http://schemas.microsoft.com/office/powerpoint/2010/main" val="4162677450"/>
              </p:ext>
            </p:extLst>
          </p:nvPr>
        </p:nvGraphicFramePr>
        <p:xfrm>
          <a:off x="1156771" y="980501"/>
          <a:ext cx="10168567" cy="5133860"/>
        </p:xfrm>
        <a:graphic>
          <a:graphicData uri="http://schemas.openxmlformats.org/drawingml/2006/table">
            <a:tbl>
              <a:tblPr>
                <a:tableStyleId>{5C22544A-7EE6-4342-B048-85BDC9FD1C3A}</a:tableStyleId>
              </a:tblPr>
              <a:tblGrid>
                <a:gridCol w="1381884">
                  <a:extLst>
                    <a:ext uri="{9D8B030D-6E8A-4147-A177-3AD203B41FA5}">
                      <a16:colId xmlns:a16="http://schemas.microsoft.com/office/drawing/2014/main" val="1766035038"/>
                    </a:ext>
                  </a:extLst>
                </a:gridCol>
                <a:gridCol w="2234263">
                  <a:extLst>
                    <a:ext uri="{9D8B030D-6E8A-4147-A177-3AD203B41FA5}">
                      <a16:colId xmlns:a16="http://schemas.microsoft.com/office/drawing/2014/main" val="2687303931"/>
                    </a:ext>
                  </a:extLst>
                </a:gridCol>
                <a:gridCol w="1311776">
                  <a:extLst>
                    <a:ext uri="{9D8B030D-6E8A-4147-A177-3AD203B41FA5}">
                      <a16:colId xmlns:a16="http://schemas.microsoft.com/office/drawing/2014/main" val="2052921627"/>
                    </a:ext>
                  </a:extLst>
                </a:gridCol>
                <a:gridCol w="1086690">
                  <a:extLst>
                    <a:ext uri="{9D8B030D-6E8A-4147-A177-3AD203B41FA5}">
                      <a16:colId xmlns:a16="http://schemas.microsoft.com/office/drawing/2014/main" val="687469254"/>
                    </a:ext>
                  </a:extLst>
                </a:gridCol>
                <a:gridCol w="1086690">
                  <a:extLst>
                    <a:ext uri="{9D8B030D-6E8A-4147-A177-3AD203B41FA5}">
                      <a16:colId xmlns:a16="http://schemas.microsoft.com/office/drawing/2014/main" val="1388287128"/>
                    </a:ext>
                  </a:extLst>
                </a:gridCol>
                <a:gridCol w="1119040">
                  <a:extLst>
                    <a:ext uri="{9D8B030D-6E8A-4147-A177-3AD203B41FA5}">
                      <a16:colId xmlns:a16="http://schemas.microsoft.com/office/drawing/2014/main" val="3564478043"/>
                    </a:ext>
                  </a:extLst>
                </a:gridCol>
                <a:gridCol w="827404">
                  <a:extLst>
                    <a:ext uri="{9D8B030D-6E8A-4147-A177-3AD203B41FA5}">
                      <a16:colId xmlns:a16="http://schemas.microsoft.com/office/drawing/2014/main" val="4105448604"/>
                    </a:ext>
                  </a:extLst>
                </a:gridCol>
                <a:gridCol w="1120820">
                  <a:extLst>
                    <a:ext uri="{9D8B030D-6E8A-4147-A177-3AD203B41FA5}">
                      <a16:colId xmlns:a16="http://schemas.microsoft.com/office/drawing/2014/main" val="1965196336"/>
                    </a:ext>
                  </a:extLst>
                </a:gridCol>
              </a:tblGrid>
              <a:tr h="802166">
                <a:tc>
                  <a:txBody>
                    <a:bodyPr/>
                    <a:lstStyle/>
                    <a:p>
                      <a:pPr marL="0" marR="0" algn="ctr">
                        <a:spcBef>
                          <a:spcPts val="0"/>
                        </a:spcBef>
                        <a:spcAft>
                          <a:spcPts val="800"/>
                        </a:spcAft>
                      </a:pPr>
                      <a:r>
                        <a:rPr lang="en-US" sz="1800" b="1" kern="150">
                          <a:effectLst/>
                        </a:rPr>
                        <a:t>Gene </a:t>
                      </a:r>
                      <a:endParaRPr lang="en-US" sz="2000" b="1"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b="1" kern="150">
                          <a:effectLst/>
                        </a:rPr>
                        <a:t>protein</a:t>
                      </a:r>
                      <a:endParaRPr lang="en-US" sz="2000" b="1"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b="1" kern="150" dirty="0">
                          <a:effectLst/>
                        </a:rPr>
                        <a:t>Position </a:t>
                      </a:r>
                      <a:endParaRPr lang="en-US" sz="2000" b="1" kern="150" dirty="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2000" b="1" kern="150" dirty="0">
                          <a:effectLst/>
                        </a:rPr>
                        <a:t>SNP</a:t>
                      </a:r>
                      <a:endParaRPr lang="en-US" sz="2000" b="1" kern="150" dirty="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b="1" kern="150" dirty="0">
                          <a:effectLst/>
                        </a:rPr>
                        <a:t>A.A. before</a:t>
                      </a:r>
                      <a:endParaRPr lang="en-US" sz="2000" b="1" kern="150" dirty="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b="1" kern="150" dirty="0">
                          <a:effectLst/>
                        </a:rPr>
                        <a:t>A.A. after</a:t>
                      </a:r>
                      <a:endParaRPr lang="en-US" sz="2000" b="1" kern="150" dirty="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b="1" kern="150" dirty="0">
                          <a:effectLst/>
                        </a:rPr>
                        <a:t>effect</a:t>
                      </a:r>
                      <a:endParaRPr lang="en-US" sz="2000" b="1" kern="150" dirty="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2000" b="1" kern="150" dirty="0">
                          <a:effectLst/>
                        </a:rPr>
                        <a:t>Frequency</a:t>
                      </a:r>
                      <a:endParaRPr lang="en-US" sz="2000" b="1" kern="150" dirty="0">
                        <a:effectLst/>
                        <a:latin typeface="Liberation Serif"/>
                        <a:ea typeface="Noto Serif CJK SC"/>
                        <a:cs typeface="Lohit Devanagari"/>
                      </a:endParaRPr>
                    </a:p>
                  </a:txBody>
                  <a:tcPr marL="68580" marR="68580" marT="0" marB="0" anchor="ctr"/>
                </a:tc>
                <a:extLst>
                  <a:ext uri="{0D108BD9-81ED-4DB2-BD59-A6C34878D82A}">
                    <a16:rowId xmlns:a16="http://schemas.microsoft.com/office/drawing/2014/main" val="2456251513"/>
                  </a:ext>
                </a:extLst>
              </a:tr>
              <a:tr h="721949">
                <a:tc>
                  <a:txBody>
                    <a:bodyPr/>
                    <a:lstStyle/>
                    <a:p>
                      <a:pPr marL="0" marR="0" algn="ctr">
                        <a:spcBef>
                          <a:spcPts val="0"/>
                        </a:spcBef>
                        <a:spcAft>
                          <a:spcPts val="800"/>
                        </a:spcAft>
                      </a:pPr>
                      <a:r>
                        <a:rPr lang="en-US" sz="1800" b="1" kern="150">
                          <a:effectLst/>
                        </a:rPr>
                        <a:t>S</a:t>
                      </a:r>
                      <a:endParaRPr lang="en-US" sz="2000" b="1"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surface glycoprotein</a:t>
                      </a:r>
                      <a:endParaRPr lang="en-US" sz="2000"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0"/>
                        </a:spcAft>
                      </a:pPr>
                      <a:r>
                        <a:rPr lang="en-US" sz="1800" kern="150" dirty="0">
                          <a:effectLst/>
                        </a:rPr>
                        <a:t>23435</a:t>
                      </a:r>
                      <a:endParaRPr lang="en-US" sz="2000" kern="150" dirty="0">
                        <a:effectLst/>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50" cap="none" spc="0" normalizeH="0" baseline="0" noProof="0" dirty="0">
                          <a:ln>
                            <a:noFill/>
                          </a:ln>
                          <a:solidFill>
                            <a:prstClr val="black"/>
                          </a:solidFill>
                          <a:effectLst/>
                          <a:uLnTx/>
                          <a:uFillTx/>
                          <a:latin typeface="Calibri" panose="020F0502020204030204"/>
                          <a:ea typeface="+mn-ea"/>
                          <a:cs typeface="+mn-cs"/>
                        </a:rPr>
                        <a:t>A-G</a:t>
                      </a:r>
                      <a:endParaRPr kumimoji="0" lang="en-US" sz="2000" b="0" i="0" u="none" strike="noStrike" kern="150" cap="none" spc="0" normalizeH="0" baseline="0" noProof="0" dirty="0">
                        <a:ln>
                          <a:noFill/>
                        </a:ln>
                        <a:solidFill>
                          <a:prstClr val="black"/>
                        </a:solidFill>
                        <a:effectLst/>
                        <a:uLnTx/>
                        <a:uFillTx/>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dirty="0">
                          <a:effectLst/>
                        </a:rPr>
                        <a:t>N</a:t>
                      </a:r>
                      <a:endParaRPr lang="en-US" sz="2000" kern="150" dirty="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D</a:t>
                      </a:r>
                      <a:endParaRPr lang="en-US" sz="2000"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NO</a:t>
                      </a:r>
                      <a:endParaRPr lang="en-US" sz="2000"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b="0" i="0" kern="1200" dirty="0">
                          <a:solidFill>
                            <a:schemeClr val="dk1"/>
                          </a:solidFill>
                          <a:effectLst/>
                          <a:latin typeface="+mn-lt"/>
                          <a:ea typeface="+mn-ea"/>
                          <a:cs typeface="+mn-cs"/>
                        </a:rPr>
                        <a:t>165</a:t>
                      </a:r>
                      <a:endParaRPr lang="en-US" sz="2000" kern="150" dirty="0">
                        <a:effectLst/>
                        <a:latin typeface="Liberation Serif"/>
                        <a:ea typeface="Noto Serif CJK SC"/>
                        <a:cs typeface="Lohit Devanagari"/>
                      </a:endParaRPr>
                    </a:p>
                  </a:txBody>
                  <a:tcPr marL="68580" marR="68580" marT="0" marB="0" anchor="ctr"/>
                </a:tc>
                <a:extLst>
                  <a:ext uri="{0D108BD9-81ED-4DB2-BD59-A6C34878D82A}">
                    <a16:rowId xmlns:a16="http://schemas.microsoft.com/office/drawing/2014/main" val="1470641514"/>
                  </a:ext>
                </a:extLst>
              </a:tr>
              <a:tr h="721949">
                <a:tc>
                  <a:txBody>
                    <a:bodyPr/>
                    <a:lstStyle/>
                    <a:p>
                      <a:pPr marL="0" marR="0" algn="ctr">
                        <a:spcBef>
                          <a:spcPts val="0"/>
                        </a:spcBef>
                        <a:spcAft>
                          <a:spcPts val="800"/>
                        </a:spcAft>
                      </a:pPr>
                      <a:r>
                        <a:rPr lang="en-US" sz="1800" b="1" kern="150">
                          <a:effectLst/>
                        </a:rPr>
                        <a:t>ORF1ab</a:t>
                      </a:r>
                      <a:endParaRPr lang="en-US" sz="2000" b="1"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dirty="0">
                          <a:effectLst/>
                        </a:rPr>
                        <a:t>ORF1ab polyprotein</a:t>
                      </a:r>
                      <a:endParaRPr lang="en-US" sz="2000" kern="150" dirty="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0"/>
                        </a:spcAft>
                      </a:pPr>
                      <a:r>
                        <a:rPr lang="en-US" sz="1800" kern="150" dirty="0">
                          <a:effectLst/>
                        </a:rPr>
                        <a:t>3069</a:t>
                      </a:r>
                      <a:endParaRPr lang="en-US" sz="2000" kern="150" dirty="0">
                        <a:effectLst/>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50" cap="none" spc="0" normalizeH="0" baseline="0" noProof="0" dirty="0">
                          <a:ln>
                            <a:noFill/>
                          </a:ln>
                          <a:solidFill>
                            <a:prstClr val="black"/>
                          </a:solidFill>
                          <a:effectLst/>
                          <a:uLnTx/>
                          <a:uFillTx/>
                          <a:latin typeface="Calibri" panose="020F0502020204030204"/>
                          <a:ea typeface="+mn-ea"/>
                          <a:cs typeface="+mn-cs"/>
                        </a:rPr>
                        <a:t>C-T</a:t>
                      </a:r>
                      <a:endParaRPr kumimoji="0" lang="en-US" sz="2000" b="0" i="0" u="none" strike="noStrike" kern="150" cap="none" spc="0" normalizeH="0" baseline="0" noProof="0" dirty="0">
                        <a:ln>
                          <a:noFill/>
                        </a:ln>
                        <a:solidFill>
                          <a:prstClr val="black"/>
                        </a:solidFill>
                        <a:effectLst/>
                        <a:uLnTx/>
                        <a:uFillTx/>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A</a:t>
                      </a:r>
                      <a:endParaRPr lang="en-US" sz="2000"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dirty="0">
                          <a:effectLst/>
                        </a:rPr>
                        <a:t>V</a:t>
                      </a:r>
                      <a:endParaRPr lang="en-US" sz="2000" kern="150" dirty="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NO</a:t>
                      </a:r>
                      <a:endParaRPr lang="en-US" sz="2000" kern="150">
                        <a:effectLst/>
                        <a:latin typeface="Liberation Serif"/>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164</a:t>
                      </a:r>
                      <a:endParaRPr kumimoji="0" lang="en-US" sz="2000" b="0" i="0" u="none" strike="noStrike" kern="150" cap="none" spc="0" normalizeH="0" baseline="0" noProof="0" dirty="0">
                        <a:ln>
                          <a:noFill/>
                        </a:ln>
                        <a:solidFill>
                          <a:prstClr val="black"/>
                        </a:solidFill>
                        <a:effectLst/>
                        <a:uLnTx/>
                        <a:uFillTx/>
                        <a:latin typeface="Liberation Serif"/>
                        <a:ea typeface="Noto Serif CJK SC"/>
                        <a:cs typeface="Lohit Devanagari"/>
                      </a:endParaRPr>
                    </a:p>
                  </a:txBody>
                  <a:tcPr marL="68580" marR="68580" marT="0" marB="0" anchor="ctr"/>
                </a:tc>
                <a:extLst>
                  <a:ext uri="{0D108BD9-81ED-4DB2-BD59-A6C34878D82A}">
                    <a16:rowId xmlns:a16="http://schemas.microsoft.com/office/drawing/2014/main" val="430489346"/>
                  </a:ext>
                </a:extLst>
              </a:tr>
              <a:tr h="721949">
                <a:tc>
                  <a:txBody>
                    <a:bodyPr/>
                    <a:lstStyle/>
                    <a:p>
                      <a:pPr marL="0" marR="0" algn="ctr">
                        <a:spcBef>
                          <a:spcPts val="0"/>
                        </a:spcBef>
                        <a:spcAft>
                          <a:spcPts val="800"/>
                        </a:spcAft>
                      </a:pPr>
                      <a:r>
                        <a:rPr lang="en-US" sz="1800" b="1" kern="150">
                          <a:effectLst/>
                        </a:rPr>
                        <a:t>ORF1ab</a:t>
                      </a:r>
                      <a:endParaRPr lang="en-US" sz="2000" b="1"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ORF1ab polyprotein</a:t>
                      </a:r>
                      <a:endParaRPr lang="en-US" sz="2000"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0"/>
                        </a:spcAft>
                      </a:pPr>
                      <a:r>
                        <a:rPr lang="en-US" sz="1800" kern="150">
                          <a:effectLst/>
                        </a:rPr>
                        <a:t>14440</a:t>
                      </a:r>
                      <a:endParaRPr lang="en-US" sz="2000" kern="150">
                        <a:effectLst/>
                      </a:endParaRPr>
                    </a:p>
                    <a:p>
                      <a:pPr marL="0" marR="0" algn="ctr">
                        <a:spcBef>
                          <a:spcPts val="0"/>
                        </a:spcBef>
                        <a:spcAft>
                          <a:spcPts val="800"/>
                        </a:spcAft>
                      </a:pPr>
                      <a:r>
                        <a:rPr lang="en-US" sz="1800" kern="150">
                          <a:effectLst/>
                        </a:rPr>
                        <a:t> </a:t>
                      </a:r>
                      <a:endParaRPr lang="en-US" sz="2000" kern="150">
                        <a:effectLst/>
                        <a:latin typeface="Liberation Serif"/>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50" cap="none" spc="0" normalizeH="0" baseline="0" noProof="0" dirty="0">
                          <a:ln>
                            <a:noFill/>
                          </a:ln>
                          <a:solidFill>
                            <a:prstClr val="black"/>
                          </a:solidFill>
                          <a:effectLst/>
                          <a:uLnTx/>
                          <a:uFillTx/>
                          <a:latin typeface="Calibri" panose="020F0502020204030204"/>
                          <a:ea typeface="+mn-ea"/>
                          <a:cs typeface="+mn-cs"/>
                        </a:rPr>
                        <a:t>C-T</a:t>
                      </a:r>
                      <a:endParaRPr kumimoji="0" lang="en-US" sz="2000" b="0" i="0" u="none" strike="noStrike" kern="150" cap="none" spc="0" normalizeH="0" baseline="0" noProof="0" dirty="0">
                        <a:ln>
                          <a:noFill/>
                        </a:ln>
                        <a:solidFill>
                          <a:prstClr val="black"/>
                        </a:solidFill>
                        <a:effectLst/>
                        <a:uLnTx/>
                        <a:uFillTx/>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L</a:t>
                      </a:r>
                      <a:endParaRPr lang="en-US" sz="2000"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F</a:t>
                      </a:r>
                      <a:endParaRPr lang="en-US" sz="2000"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NO</a:t>
                      </a:r>
                      <a:endParaRPr lang="en-US" sz="2000" kern="150">
                        <a:effectLst/>
                        <a:latin typeface="Liberation Serif"/>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162</a:t>
                      </a:r>
                      <a:endParaRPr kumimoji="0" lang="en-US" sz="2000" b="0" i="0" u="none" strike="noStrike" kern="150" cap="none" spc="0" normalizeH="0" baseline="0" noProof="0" dirty="0">
                        <a:ln>
                          <a:noFill/>
                        </a:ln>
                        <a:solidFill>
                          <a:prstClr val="black"/>
                        </a:solidFill>
                        <a:effectLst/>
                        <a:uLnTx/>
                        <a:uFillTx/>
                        <a:latin typeface="Liberation Serif"/>
                        <a:ea typeface="Noto Serif CJK SC"/>
                        <a:cs typeface="Lohit Devanagari"/>
                      </a:endParaRPr>
                    </a:p>
                  </a:txBody>
                  <a:tcPr marL="68580" marR="68580" marT="0" marB="0" anchor="ctr"/>
                </a:tc>
                <a:extLst>
                  <a:ext uri="{0D108BD9-81ED-4DB2-BD59-A6C34878D82A}">
                    <a16:rowId xmlns:a16="http://schemas.microsoft.com/office/drawing/2014/main" val="1295029123"/>
                  </a:ext>
                </a:extLst>
              </a:tr>
              <a:tr h="721949">
                <a:tc>
                  <a:txBody>
                    <a:bodyPr/>
                    <a:lstStyle/>
                    <a:p>
                      <a:pPr marL="0" marR="0" algn="ctr">
                        <a:spcBef>
                          <a:spcPts val="0"/>
                        </a:spcBef>
                        <a:spcAft>
                          <a:spcPts val="800"/>
                        </a:spcAft>
                      </a:pPr>
                      <a:r>
                        <a:rPr lang="en-US" sz="1800" b="1" kern="150">
                          <a:effectLst/>
                        </a:rPr>
                        <a:t>N</a:t>
                      </a:r>
                      <a:endParaRPr lang="en-US" sz="2000" b="1"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nucleocapsid phosphoprotein</a:t>
                      </a:r>
                      <a:endParaRPr lang="en-US" sz="2000"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0"/>
                        </a:spcAft>
                      </a:pPr>
                      <a:r>
                        <a:rPr lang="en-US" sz="1800" kern="150">
                          <a:effectLst/>
                        </a:rPr>
                        <a:t>28913</a:t>
                      </a:r>
                      <a:endParaRPr lang="en-US" sz="2000" kern="150">
                        <a:effectLst/>
                      </a:endParaRPr>
                    </a:p>
                    <a:p>
                      <a:pPr marL="0" marR="0" algn="ctr">
                        <a:spcBef>
                          <a:spcPts val="0"/>
                        </a:spcBef>
                        <a:spcAft>
                          <a:spcPts val="800"/>
                        </a:spcAft>
                      </a:pPr>
                      <a:r>
                        <a:rPr lang="en-US" sz="1800" kern="150">
                          <a:effectLst/>
                        </a:rPr>
                        <a:t> </a:t>
                      </a:r>
                      <a:endParaRPr lang="en-US" sz="2000" kern="150">
                        <a:effectLst/>
                        <a:latin typeface="Liberation Serif"/>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50" cap="none" spc="0" normalizeH="0" baseline="0" noProof="0" dirty="0">
                          <a:ln>
                            <a:noFill/>
                          </a:ln>
                          <a:solidFill>
                            <a:prstClr val="black"/>
                          </a:solidFill>
                          <a:effectLst/>
                          <a:uLnTx/>
                          <a:uFillTx/>
                          <a:latin typeface="Calibri" panose="020F0502020204030204"/>
                          <a:ea typeface="+mn-ea"/>
                          <a:cs typeface="+mn-cs"/>
                        </a:rPr>
                        <a:t>G-A</a:t>
                      </a:r>
                      <a:endParaRPr kumimoji="0" lang="en-US" sz="2000" b="0" i="0" u="none" strike="noStrike" kern="150" cap="none" spc="0" normalizeH="0" baseline="0" noProof="0" dirty="0">
                        <a:ln>
                          <a:noFill/>
                        </a:ln>
                        <a:solidFill>
                          <a:prstClr val="black"/>
                        </a:solidFill>
                        <a:effectLst/>
                        <a:uLnTx/>
                        <a:uFillTx/>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G</a:t>
                      </a:r>
                      <a:endParaRPr lang="en-US" sz="2000"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S</a:t>
                      </a:r>
                      <a:endParaRPr lang="en-US" sz="2000"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YES</a:t>
                      </a:r>
                      <a:endParaRPr lang="en-US" sz="2000" kern="150">
                        <a:effectLst/>
                        <a:latin typeface="Liberation Serif"/>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83</a:t>
                      </a:r>
                      <a:endParaRPr kumimoji="0" lang="en-US" sz="2000" b="0" i="0" u="none" strike="noStrike" kern="150" cap="none" spc="0" normalizeH="0" baseline="0" noProof="0" dirty="0">
                        <a:ln>
                          <a:noFill/>
                        </a:ln>
                        <a:solidFill>
                          <a:prstClr val="black"/>
                        </a:solidFill>
                        <a:effectLst/>
                        <a:uLnTx/>
                        <a:uFillTx/>
                        <a:latin typeface="Liberation Serif"/>
                        <a:ea typeface="Noto Serif CJK SC"/>
                        <a:cs typeface="Lohit Devanagari"/>
                      </a:endParaRPr>
                    </a:p>
                  </a:txBody>
                  <a:tcPr marL="68580" marR="68580" marT="0" marB="0" anchor="ctr"/>
                </a:tc>
                <a:extLst>
                  <a:ext uri="{0D108BD9-81ED-4DB2-BD59-A6C34878D82A}">
                    <a16:rowId xmlns:a16="http://schemas.microsoft.com/office/drawing/2014/main" val="3428825855"/>
                  </a:ext>
                </a:extLst>
              </a:tr>
              <a:tr h="721949">
                <a:tc>
                  <a:txBody>
                    <a:bodyPr/>
                    <a:lstStyle/>
                    <a:p>
                      <a:pPr marL="0" marR="0" algn="ctr">
                        <a:spcBef>
                          <a:spcPts val="0"/>
                        </a:spcBef>
                        <a:spcAft>
                          <a:spcPts val="800"/>
                        </a:spcAft>
                      </a:pPr>
                      <a:r>
                        <a:rPr lang="en-US" sz="1800" b="1" kern="150">
                          <a:effectLst/>
                        </a:rPr>
                        <a:t>N</a:t>
                      </a:r>
                      <a:endParaRPr lang="en-US" sz="2000" b="1"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nucleocapsid phosphoprotein</a:t>
                      </a:r>
                      <a:endParaRPr lang="en-US" sz="2000"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0"/>
                        </a:spcAft>
                      </a:pPr>
                      <a:r>
                        <a:rPr lang="en-US" sz="1800" kern="150">
                          <a:effectLst/>
                        </a:rPr>
                        <a:t>28914</a:t>
                      </a:r>
                      <a:endParaRPr lang="en-US" sz="2000" kern="150">
                        <a:effectLst/>
                      </a:endParaRPr>
                    </a:p>
                    <a:p>
                      <a:pPr marL="0" marR="0" algn="ctr">
                        <a:spcBef>
                          <a:spcPts val="0"/>
                        </a:spcBef>
                        <a:spcAft>
                          <a:spcPts val="800"/>
                        </a:spcAft>
                      </a:pPr>
                      <a:r>
                        <a:rPr lang="en-US" sz="1800" kern="150">
                          <a:effectLst/>
                        </a:rPr>
                        <a:t> </a:t>
                      </a:r>
                      <a:endParaRPr lang="en-US" sz="2000" kern="150">
                        <a:effectLst/>
                        <a:latin typeface="Liberation Serif"/>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50" cap="none" spc="0" normalizeH="0" baseline="0" noProof="0" dirty="0">
                          <a:ln>
                            <a:noFill/>
                          </a:ln>
                          <a:solidFill>
                            <a:prstClr val="black"/>
                          </a:solidFill>
                          <a:effectLst/>
                          <a:uLnTx/>
                          <a:uFillTx/>
                          <a:latin typeface="+mn-lt"/>
                          <a:ea typeface="+mn-ea"/>
                          <a:cs typeface="+mn-cs"/>
                        </a:rPr>
                        <a:t>G-A</a:t>
                      </a:r>
                      <a:endParaRPr kumimoji="0" lang="en-US" sz="2000" b="0" i="0" u="none" strike="noStrike" kern="150" cap="none" spc="0" normalizeH="0" baseline="0" noProof="0" dirty="0">
                        <a:ln>
                          <a:noFill/>
                        </a:ln>
                        <a:solidFill>
                          <a:prstClr val="black"/>
                        </a:solidFill>
                        <a:effectLst/>
                        <a:uLnTx/>
                        <a:uFillTx/>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G</a:t>
                      </a:r>
                      <a:endParaRPr lang="en-US" sz="2000"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D</a:t>
                      </a:r>
                      <a:endParaRPr lang="en-US" sz="2000"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YES</a:t>
                      </a:r>
                      <a:endParaRPr lang="en-US" sz="2000" kern="150">
                        <a:effectLst/>
                        <a:latin typeface="Liberation Serif"/>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83</a:t>
                      </a:r>
                      <a:endParaRPr kumimoji="0" lang="en-US" sz="2000" b="0" i="0" u="none" strike="noStrike" kern="150" cap="none" spc="0" normalizeH="0" baseline="0" noProof="0" dirty="0">
                        <a:ln>
                          <a:noFill/>
                        </a:ln>
                        <a:solidFill>
                          <a:prstClr val="black"/>
                        </a:solidFill>
                        <a:effectLst/>
                        <a:uLnTx/>
                        <a:uFillTx/>
                        <a:latin typeface="Liberation Serif"/>
                        <a:ea typeface="Noto Serif CJK SC"/>
                        <a:cs typeface="Lohit Devanagari"/>
                      </a:endParaRPr>
                    </a:p>
                  </a:txBody>
                  <a:tcPr marL="68580" marR="68580" marT="0" marB="0" anchor="ctr"/>
                </a:tc>
                <a:extLst>
                  <a:ext uri="{0D108BD9-81ED-4DB2-BD59-A6C34878D82A}">
                    <a16:rowId xmlns:a16="http://schemas.microsoft.com/office/drawing/2014/main" val="2459236147"/>
                  </a:ext>
                </a:extLst>
              </a:tr>
              <a:tr h="721949">
                <a:tc>
                  <a:txBody>
                    <a:bodyPr/>
                    <a:lstStyle/>
                    <a:p>
                      <a:pPr marL="0" marR="0" algn="ctr">
                        <a:spcBef>
                          <a:spcPts val="0"/>
                        </a:spcBef>
                        <a:spcAft>
                          <a:spcPts val="800"/>
                        </a:spcAft>
                      </a:pPr>
                      <a:r>
                        <a:rPr lang="en-US" sz="1800" b="1" kern="150" dirty="0">
                          <a:effectLst/>
                        </a:rPr>
                        <a:t>N</a:t>
                      </a:r>
                      <a:endParaRPr lang="en-US" sz="2000" b="1" kern="150" dirty="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dirty="0">
                          <a:effectLst/>
                        </a:rPr>
                        <a:t>nucleocapsid phosphoprotein</a:t>
                      </a:r>
                      <a:endParaRPr lang="en-US" sz="2000" kern="150" dirty="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0"/>
                        </a:spcAft>
                      </a:pPr>
                      <a:r>
                        <a:rPr lang="en-US" sz="1800" kern="150" dirty="0">
                          <a:effectLst/>
                        </a:rPr>
                        <a:t>28915 </a:t>
                      </a:r>
                      <a:endParaRPr lang="en-US" sz="2000" kern="150" dirty="0">
                        <a:effectLst/>
                        <a:latin typeface="Liberation Serif"/>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50" cap="none" spc="0" normalizeH="0" baseline="0" noProof="0" dirty="0">
                          <a:ln>
                            <a:noFill/>
                          </a:ln>
                          <a:solidFill>
                            <a:prstClr val="black"/>
                          </a:solidFill>
                          <a:effectLst/>
                          <a:uLnTx/>
                          <a:uFillTx/>
                          <a:latin typeface="Calibri" panose="020F0502020204030204"/>
                          <a:ea typeface="+mn-ea"/>
                          <a:cs typeface="+mn-cs"/>
                        </a:rPr>
                        <a:t>G-C</a:t>
                      </a:r>
                      <a:endParaRPr kumimoji="0" lang="en-US" sz="2000" b="0" i="0" u="none" strike="noStrike" kern="150" cap="none" spc="0" normalizeH="0" baseline="0" noProof="0" dirty="0">
                        <a:ln>
                          <a:noFill/>
                        </a:ln>
                        <a:solidFill>
                          <a:prstClr val="black"/>
                        </a:solidFill>
                        <a:effectLst/>
                        <a:uLnTx/>
                        <a:uFillTx/>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G</a:t>
                      </a:r>
                      <a:endParaRPr lang="en-US" sz="2000"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a:effectLst/>
                        </a:rPr>
                        <a:t>G</a:t>
                      </a:r>
                      <a:endParaRPr lang="en-US" sz="2000"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800"/>
                        </a:spcAft>
                      </a:pPr>
                      <a:r>
                        <a:rPr lang="en-US" sz="1800" kern="150" dirty="0">
                          <a:effectLst/>
                        </a:rPr>
                        <a:t>NO </a:t>
                      </a:r>
                      <a:endParaRPr lang="en-US" sz="2000" kern="150" dirty="0">
                        <a:effectLst/>
                        <a:latin typeface="Liberation Serif"/>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83</a:t>
                      </a:r>
                      <a:endParaRPr kumimoji="0" lang="en-US" sz="2000" b="0" i="0" u="none" strike="noStrike" kern="150" cap="none" spc="0" normalizeH="0" baseline="0" noProof="0" dirty="0">
                        <a:ln>
                          <a:noFill/>
                        </a:ln>
                        <a:solidFill>
                          <a:prstClr val="black"/>
                        </a:solidFill>
                        <a:effectLst/>
                        <a:uLnTx/>
                        <a:uFillTx/>
                        <a:latin typeface="Liberation Serif"/>
                        <a:ea typeface="Noto Serif CJK SC"/>
                        <a:cs typeface="Lohit Devanagari"/>
                      </a:endParaRPr>
                    </a:p>
                  </a:txBody>
                  <a:tcPr marL="68580" marR="68580" marT="0" marB="0" anchor="ctr"/>
                </a:tc>
                <a:extLst>
                  <a:ext uri="{0D108BD9-81ED-4DB2-BD59-A6C34878D82A}">
                    <a16:rowId xmlns:a16="http://schemas.microsoft.com/office/drawing/2014/main" val="3771522202"/>
                  </a:ext>
                </a:extLst>
              </a:tr>
            </a:tbl>
          </a:graphicData>
        </a:graphic>
      </p:graphicFrame>
    </p:spTree>
    <p:extLst>
      <p:ext uri="{BB962C8B-B14F-4D97-AF65-F5344CB8AC3E}">
        <p14:creationId xmlns:p14="http://schemas.microsoft.com/office/powerpoint/2010/main" val="13693130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84A18D5-0810-4445-9448-91944DE08A40}"/>
              </a:ext>
            </a:extLst>
          </p:cNvPr>
          <p:cNvGraphicFramePr>
            <a:graphicFrameLocks noGrp="1"/>
          </p:cNvGraphicFramePr>
          <p:nvPr>
            <p:extLst>
              <p:ext uri="{D42A27DB-BD31-4B8C-83A1-F6EECF244321}">
                <p14:modId xmlns:p14="http://schemas.microsoft.com/office/powerpoint/2010/main" val="2710199976"/>
              </p:ext>
            </p:extLst>
          </p:nvPr>
        </p:nvGraphicFramePr>
        <p:xfrm>
          <a:off x="1156771" y="980501"/>
          <a:ext cx="10168567" cy="4411911"/>
        </p:xfrm>
        <a:graphic>
          <a:graphicData uri="http://schemas.openxmlformats.org/drawingml/2006/table">
            <a:tbl>
              <a:tblPr>
                <a:tableStyleId>{5C22544A-7EE6-4342-B048-85BDC9FD1C3A}</a:tableStyleId>
              </a:tblPr>
              <a:tblGrid>
                <a:gridCol w="1381884">
                  <a:extLst>
                    <a:ext uri="{9D8B030D-6E8A-4147-A177-3AD203B41FA5}">
                      <a16:colId xmlns:a16="http://schemas.microsoft.com/office/drawing/2014/main" val="1766035038"/>
                    </a:ext>
                  </a:extLst>
                </a:gridCol>
                <a:gridCol w="2234263">
                  <a:extLst>
                    <a:ext uri="{9D8B030D-6E8A-4147-A177-3AD203B41FA5}">
                      <a16:colId xmlns:a16="http://schemas.microsoft.com/office/drawing/2014/main" val="2687303931"/>
                    </a:ext>
                  </a:extLst>
                </a:gridCol>
                <a:gridCol w="1311776">
                  <a:extLst>
                    <a:ext uri="{9D8B030D-6E8A-4147-A177-3AD203B41FA5}">
                      <a16:colId xmlns:a16="http://schemas.microsoft.com/office/drawing/2014/main" val="2052921627"/>
                    </a:ext>
                  </a:extLst>
                </a:gridCol>
                <a:gridCol w="1086690">
                  <a:extLst>
                    <a:ext uri="{9D8B030D-6E8A-4147-A177-3AD203B41FA5}">
                      <a16:colId xmlns:a16="http://schemas.microsoft.com/office/drawing/2014/main" val="1787415846"/>
                    </a:ext>
                  </a:extLst>
                </a:gridCol>
                <a:gridCol w="1086690">
                  <a:extLst>
                    <a:ext uri="{9D8B030D-6E8A-4147-A177-3AD203B41FA5}">
                      <a16:colId xmlns:a16="http://schemas.microsoft.com/office/drawing/2014/main" val="1388287128"/>
                    </a:ext>
                  </a:extLst>
                </a:gridCol>
                <a:gridCol w="1119040">
                  <a:extLst>
                    <a:ext uri="{9D8B030D-6E8A-4147-A177-3AD203B41FA5}">
                      <a16:colId xmlns:a16="http://schemas.microsoft.com/office/drawing/2014/main" val="3564478043"/>
                    </a:ext>
                  </a:extLst>
                </a:gridCol>
                <a:gridCol w="827404">
                  <a:extLst>
                    <a:ext uri="{9D8B030D-6E8A-4147-A177-3AD203B41FA5}">
                      <a16:colId xmlns:a16="http://schemas.microsoft.com/office/drawing/2014/main" val="4105448604"/>
                    </a:ext>
                  </a:extLst>
                </a:gridCol>
                <a:gridCol w="1120820">
                  <a:extLst>
                    <a:ext uri="{9D8B030D-6E8A-4147-A177-3AD203B41FA5}">
                      <a16:colId xmlns:a16="http://schemas.microsoft.com/office/drawing/2014/main" val="1965196336"/>
                    </a:ext>
                  </a:extLst>
                </a:gridCol>
              </a:tblGrid>
              <a:tr h="802166">
                <a:tc>
                  <a:txBody>
                    <a:bodyPr/>
                    <a:lstStyle/>
                    <a:p>
                      <a:pPr marL="0" marR="0" algn="ctr">
                        <a:spcBef>
                          <a:spcPts val="500"/>
                        </a:spcBef>
                        <a:spcAft>
                          <a:spcPts val="500"/>
                        </a:spcAft>
                      </a:pPr>
                      <a:r>
                        <a:rPr lang="en-US" sz="1800" b="1" kern="150" dirty="0">
                          <a:solidFill>
                            <a:srgbClr val="000000"/>
                          </a:solidFill>
                          <a:effectLst/>
                          <a:latin typeface="+mn-lt"/>
                          <a:ea typeface="Noto Serif CJK SC"/>
                          <a:cs typeface="Lohit Devanagari"/>
                        </a:rPr>
                        <a:t>Gene </a:t>
                      </a:r>
                      <a:endParaRPr lang="en-US" sz="1800" kern="150" dirty="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b="1" kern="150">
                          <a:solidFill>
                            <a:srgbClr val="000000"/>
                          </a:solidFill>
                          <a:effectLst/>
                          <a:latin typeface="+mn-lt"/>
                          <a:ea typeface="Noto Serif CJK SC"/>
                          <a:cs typeface="Lohit Devanagari"/>
                        </a:rPr>
                        <a:t>Protein </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b="1" kern="150" dirty="0">
                          <a:solidFill>
                            <a:srgbClr val="000000"/>
                          </a:solidFill>
                          <a:effectLst/>
                          <a:latin typeface="+mn-lt"/>
                          <a:ea typeface="Noto Serif CJK SC"/>
                          <a:cs typeface="Lohit Devanagari"/>
                        </a:rPr>
                        <a:t>Position </a:t>
                      </a:r>
                      <a:endParaRPr lang="en-US" sz="1800" kern="150" dirty="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b="1" kern="150" dirty="0">
                          <a:solidFill>
                            <a:srgbClr val="000000"/>
                          </a:solidFill>
                          <a:effectLst/>
                          <a:latin typeface="+mn-lt"/>
                          <a:ea typeface="Noto Serif CJK SC"/>
                          <a:cs typeface="Lohit Devanagari"/>
                        </a:rPr>
                        <a:t>SNP</a:t>
                      </a:r>
                      <a:endParaRPr lang="en-US" sz="1800" kern="150" dirty="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b="1" kern="150" dirty="0">
                          <a:solidFill>
                            <a:srgbClr val="000000"/>
                          </a:solidFill>
                          <a:effectLst/>
                          <a:latin typeface="+mn-lt"/>
                          <a:ea typeface="Noto Serif CJK SC"/>
                          <a:cs typeface="Lohit Devanagari"/>
                        </a:rPr>
                        <a:t>AA before</a:t>
                      </a:r>
                      <a:endParaRPr lang="en-US" sz="1800" kern="150" dirty="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b="1" kern="150">
                          <a:solidFill>
                            <a:srgbClr val="000000"/>
                          </a:solidFill>
                          <a:effectLst/>
                          <a:latin typeface="+mn-lt"/>
                          <a:ea typeface="Noto Serif CJK SC"/>
                          <a:cs typeface="Lohit Devanagari"/>
                        </a:rPr>
                        <a:t>AA after </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b="1" kern="150">
                          <a:solidFill>
                            <a:srgbClr val="000000"/>
                          </a:solidFill>
                          <a:effectLst/>
                          <a:latin typeface="+mn-lt"/>
                          <a:ea typeface="Noto Serif CJK SC"/>
                          <a:cs typeface="Lohit Devanagari"/>
                        </a:rPr>
                        <a:t>Effect  </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b="1" kern="150" dirty="0">
                          <a:solidFill>
                            <a:srgbClr val="000000"/>
                          </a:solidFill>
                          <a:effectLst/>
                          <a:latin typeface="+mn-lt"/>
                          <a:ea typeface="Noto Serif CJK SC"/>
                          <a:cs typeface="Lohit Devanagari"/>
                        </a:rPr>
                        <a:t>Frequency </a:t>
                      </a:r>
                      <a:endParaRPr lang="en-US" sz="1800" kern="150" dirty="0">
                        <a:effectLst/>
                        <a:latin typeface="+mn-lt"/>
                        <a:ea typeface="Noto Serif CJK SC"/>
                        <a:cs typeface="Lohit Devanagari"/>
                      </a:endParaRPr>
                    </a:p>
                  </a:txBody>
                  <a:tcPr marL="68580" marR="68580" marT="0" marB="0" anchor="ctr"/>
                </a:tc>
                <a:extLst>
                  <a:ext uri="{0D108BD9-81ED-4DB2-BD59-A6C34878D82A}">
                    <a16:rowId xmlns:a16="http://schemas.microsoft.com/office/drawing/2014/main" val="2456251513"/>
                  </a:ext>
                </a:extLst>
              </a:tr>
              <a:tr h="721949">
                <a:tc>
                  <a:txBody>
                    <a:bodyPr/>
                    <a:lstStyle/>
                    <a:p>
                      <a:pPr marL="0" marR="0" algn="ctr">
                        <a:spcBef>
                          <a:spcPts val="500"/>
                        </a:spcBef>
                        <a:spcAft>
                          <a:spcPts val="500"/>
                        </a:spcAft>
                      </a:pPr>
                      <a:r>
                        <a:rPr lang="en-US" sz="1800" b="1" kern="150">
                          <a:solidFill>
                            <a:srgbClr val="000000"/>
                          </a:solidFill>
                          <a:effectLst/>
                          <a:latin typeface="+mn-lt"/>
                          <a:ea typeface="Noto Serif CJK SC"/>
                          <a:cs typeface="Lohit Devanagari"/>
                        </a:rPr>
                        <a:t>ORF3a</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ORF3a protein </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dirty="0">
                          <a:solidFill>
                            <a:srgbClr val="000000"/>
                          </a:solidFill>
                          <a:effectLst/>
                          <a:latin typeface="+mn-lt"/>
                          <a:ea typeface="Noto Serif CJK SC"/>
                          <a:cs typeface="Lohit Devanagari"/>
                        </a:rPr>
                        <a:t>1782</a:t>
                      </a:r>
                      <a:endParaRPr lang="en-US" sz="1800" kern="150" dirty="0">
                        <a:effectLst/>
                        <a:latin typeface="+mn-lt"/>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500"/>
                        </a:spcBef>
                        <a:spcAft>
                          <a:spcPts val="500"/>
                        </a:spcAft>
                        <a:buClrTx/>
                        <a:buSzTx/>
                        <a:buFontTx/>
                        <a:buNone/>
                        <a:tabLst/>
                        <a:defRPr/>
                      </a:pPr>
                      <a:r>
                        <a:rPr kumimoji="0" lang="en-US" sz="1800" b="0" i="0" u="none" strike="noStrike" kern="150" cap="none" spc="0" normalizeH="0" baseline="0" noProof="0" dirty="0">
                          <a:ln>
                            <a:noFill/>
                          </a:ln>
                          <a:solidFill>
                            <a:srgbClr val="000000"/>
                          </a:solidFill>
                          <a:effectLst/>
                          <a:uLnTx/>
                          <a:uFillTx/>
                          <a:latin typeface="Calibri" panose="020F0502020204030204"/>
                          <a:ea typeface="Noto Serif CJK SC"/>
                          <a:cs typeface="Lohit Devanagari"/>
                        </a:rPr>
                        <a:t>C-T</a:t>
                      </a:r>
                      <a:endParaRPr kumimoji="0" lang="en-US" sz="1800" b="0" i="0" u="none" strike="noStrike" kern="150" cap="none" spc="0" normalizeH="0" baseline="0" noProof="0" dirty="0">
                        <a:ln>
                          <a:noFill/>
                        </a:ln>
                        <a:solidFill>
                          <a:prstClr val="black"/>
                        </a:solidFill>
                        <a:effectLst/>
                        <a:uLnTx/>
                        <a:uFillTx/>
                        <a:latin typeface="Calibri" panose="020F0502020204030204"/>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dirty="0">
                          <a:solidFill>
                            <a:srgbClr val="000000"/>
                          </a:solidFill>
                          <a:effectLst/>
                          <a:latin typeface="+mn-lt"/>
                          <a:ea typeface="Noto Serif CJK SC"/>
                          <a:cs typeface="Lohit Devanagari"/>
                        </a:rPr>
                        <a:t>S</a:t>
                      </a:r>
                      <a:endParaRPr lang="en-US" sz="1800" kern="150" dirty="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Stop codon</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dirty="0">
                          <a:solidFill>
                            <a:srgbClr val="000000"/>
                          </a:solidFill>
                          <a:effectLst/>
                          <a:latin typeface="+mn-lt"/>
                          <a:ea typeface="Noto Serif CJK SC"/>
                          <a:cs typeface="Lohit Devanagari"/>
                        </a:rPr>
                        <a:t>Yes </a:t>
                      </a:r>
                      <a:endParaRPr lang="en-US" sz="1800" kern="150" dirty="0">
                        <a:effectLst/>
                        <a:latin typeface="+mn-lt"/>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500"/>
                        </a:spcBef>
                        <a:spcAft>
                          <a:spcPts val="500"/>
                        </a:spcAft>
                        <a:buClrTx/>
                        <a:buSzTx/>
                        <a:buFontTx/>
                        <a:buNone/>
                        <a:tabLst/>
                        <a:defRPr/>
                      </a:pPr>
                      <a:r>
                        <a:rPr lang="en-US" sz="1800" kern="150" dirty="0">
                          <a:solidFill>
                            <a:srgbClr val="000000"/>
                          </a:solidFill>
                          <a:effectLst/>
                          <a:latin typeface="+mn-lt"/>
                          <a:ea typeface="Noto Serif CJK SC"/>
                          <a:cs typeface="Lohit Devanagari"/>
                        </a:rPr>
                        <a:t>2</a:t>
                      </a:r>
                      <a:endParaRPr lang="en-US" sz="1800" kern="150" dirty="0">
                        <a:effectLst/>
                        <a:latin typeface="+mn-lt"/>
                        <a:ea typeface="Noto Serif CJK SC"/>
                        <a:cs typeface="Lohit Devanagari"/>
                      </a:endParaRPr>
                    </a:p>
                  </a:txBody>
                  <a:tcPr marL="68580" marR="68580" marT="0" marB="0" anchor="ctr"/>
                </a:tc>
                <a:extLst>
                  <a:ext uri="{0D108BD9-81ED-4DB2-BD59-A6C34878D82A}">
                    <a16:rowId xmlns:a16="http://schemas.microsoft.com/office/drawing/2014/main" val="1470641514"/>
                  </a:ext>
                </a:extLst>
              </a:tr>
              <a:tr h="721949">
                <a:tc>
                  <a:txBody>
                    <a:bodyPr/>
                    <a:lstStyle/>
                    <a:p>
                      <a:pPr marL="0" marR="0" algn="ctr">
                        <a:spcBef>
                          <a:spcPts val="500"/>
                        </a:spcBef>
                        <a:spcAft>
                          <a:spcPts val="500"/>
                        </a:spcAft>
                      </a:pPr>
                      <a:r>
                        <a:rPr lang="en-US" sz="1800" b="1" kern="150">
                          <a:solidFill>
                            <a:srgbClr val="000000"/>
                          </a:solidFill>
                          <a:effectLst/>
                          <a:latin typeface="+mn-lt"/>
                          <a:ea typeface="Noto Serif CJK SC"/>
                          <a:cs typeface="Lohit Devanagari"/>
                        </a:rPr>
                        <a:t>ORF1ab </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ORF1a poly protein</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26000</a:t>
                      </a:r>
                      <a:endParaRPr lang="en-US" sz="1800" kern="150">
                        <a:effectLst/>
                        <a:latin typeface="+mn-lt"/>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500"/>
                        </a:spcBef>
                        <a:spcAft>
                          <a:spcPts val="500"/>
                        </a:spcAft>
                        <a:buClrTx/>
                        <a:buSzTx/>
                        <a:buFontTx/>
                        <a:buNone/>
                        <a:tabLst/>
                        <a:defRPr/>
                      </a:pPr>
                      <a:r>
                        <a:rPr kumimoji="0" lang="en-US" sz="1800" b="0" i="0" u="none" strike="noStrike" kern="150" cap="none" spc="0" normalizeH="0" baseline="0" noProof="0" dirty="0">
                          <a:ln>
                            <a:noFill/>
                          </a:ln>
                          <a:solidFill>
                            <a:srgbClr val="000000"/>
                          </a:solidFill>
                          <a:effectLst/>
                          <a:uLnTx/>
                          <a:uFillTx/>
                          <a:latin typeface="Calibri" panose="020F0502020204030204"/>
                          <a:ea typeface="Noto Serif CJK SC"/>
                          <a:cs typeface="Lohit Devanagari"/>
                        </a:rPr>
                        <a:t>C-A</a:t>
                      </a:r>
                      <a:endParaRPr kumimoji="0" lang="en-US" sz="1800" b="0" i="0" u="none" strike="noStrike" kern="150" cap="none" spc="0" normalizeH="0" baseline="0" noProof="0" dirty="0">
                        <a:ln>
                          <a:noFill/>
                        </a:ln>
                        <a:solidFill>
                          <a:prstClr val="black"/>
                        </a:solidFill>
                        <a:effectLst/>
                        <a:uLnTx/>
                        <a:uFillTx/>
                        <a:latin typeface="Calibri" panose="020F0502020204030204"/>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H</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Y</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Yes</a:t>
                      </a:r>
                      <a:endParaRPr lang="en-US" sz="1800" kern="150">
                        <a:effectLst/>
                        <a:latin typeface="+mn-lt"/>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500"/>
                        </a:spcBef>
                        <a:spcAft>
                          <a:spcPts val="500"/>
                        </a:spcAft>
                        <a:buClrTx/>
                        <a:buSzTx/>
                        <a:buFontTx/>
                        <a:buNone/>
                        <a:tabLst/>
                        <a:defRPr/>
                      </a:pPr>
                      <a:r>
                        <a:rPr kumimoji="0" lang="en-US" sz="1800" b="0" i="0" u="none" strike="noStrike" kern="150" cap="none" spc="0" normalizeH="0" baseline="0" noProof="0" dirty="0">
                          <a:ln>
                            <a:noFill/>
                          </a:ln>
                          <a:solidFill>
                            <a:srgbClr val="000000"/>
                          </a:solidFill>
                          <a:effectLst/>
                          <a:uLnTx/>
                          <a:uFillTx/>
                          <a:latin typeface="Calibri" panose="020F0502020204030204"/>
                          <a:ea typeface="Noto Serif CJK SC"/>
                          <a:cs typeface="Lohit Devanagari"/>
                        </a:rPr>
                        <a:t>3</a:t>
                      </a:r>
                      <a:endParaRPr kumimoji="0" lang="en-US" sz="1800" b="0" i="0" u="none" strike="noStrike" kern="150" cap="none" spc="0" normalizeH="0" baseline="0" noProof="0" dirty="0">
                        <a:ln>
                          <a:noFill/>
                        </a:ln>
                        <a:solidFill>
                          <a:prstClr val="black"/>
                        </a:solidFill>
                        <a:effectLst/>
                        <a:uLnTx/>
                        <a:uFillTx/>
                        <a:latin typeface="Calibri" panose="020F0502020204030204"/>
                        <a:ea typeface="Noto Serif CJK SC"/>
                        <a:cs typeface="Lohit Devanagari"/>
                      </a:endParaRPr>
                    </a:p>
                  </a:txBody>
                  <a:tcPr marL="68580" marR="68580" marT="0" marB="0" anchor="ctr"/>
                </a:tc>
                <a:extLst>
                  <a:ext uri="{0D108BD9-81ED-4DB2-BD59-A6C34878D82A}">
                    <a16:rowId xmlns:a16="http://schemas.microsoft.com/office/drawing/2014/main" val="430489346"/>
                  </a:ext>
                </a:extLst>
              </a:tr>
              <a:tr h="721949">
                <a:tc>
                  <a:txBody>
                    <a:bodyPr/>
                    <a:lstStyle/>
                    <a:p>
                      <a:pPr marL="0" marR="0" algn="ctr">
                        <a:spcBef>
                          <a:spcPts val="500"/>
                        </a:spcBef>
                        <a:spcAft>
                          <a:spcPts val="500"/>
                        </a:spcAft>
                      </a:pPr>
                      <a:r>
                        <a:rPr lang="en-US" sz="1800" b="1" kern="150">
                          <a:solidFill>
                            <a:srgbClr val="000000"/>
                          </a:solidFill>
                          <a:effectLst/>
                          <a:latin typeface="+mn-lt"/>
                          <a:ea typeface="Noto Serif CJK SC"/>
                          <a:cs typeface="Lohit Devanagari"/>
                        </a:rPr>
                        <a:t>S </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Surface glycoprotein </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dirty="0">
                          <a:solidFill>
                            <a:srgbClr val="000000"/>
                          </a:solidFill>
                          <a:effectLst/>
                          <a:latin typeface="+mn-lt"/>
                          <a:ea typeface="Noto Serif CJK SC"/>
                          <a:cs typeface="Lohit Devanagari"/>
                        </a:rPr>
                        <a:t>23627</a:t>
                      </a:r>
                      <a:endParaRPr lang="en-US" sz="1800" kern="150" dirty="0">
                        <a:effectLst/>
                        <a:latin typeface="+mn-lt"/>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500"/>
                        </a:spcBef>
                        <a:spcAft>
                          <a:spcPts val="500"/>
                        </a:spcAft>
                        <a:buClrTx/>
                        <a:buSzTx/>
                        <a:buFontTx/>
                        <a:buNone/>
                        <a:tabLst/>
                        <a:defRPr/>
                      </a:pPr>
                      <a:r>
                        <a:rPr kumimoji="0" lang="en-US" sz="1800" b="0" i="0" u="none" strike="noStrike" kern="150" cap="none" spc="0" normalizeH="0" baseline="0" noProof="0" dirty="0">
                          <a:ln>
                            <a:noFill/>
                          </a:ln>
                          <a:solidFill>
                            <a:srgbClr val="000000"/>
                          </a:solidFill>
                          <a:effectLst/>
                          <a:uLnTx/>
                          <a:uFillTx/>
                          <a:latin typeface="Calibri" panose="020F0502020204030204"/>
                          <a:ea typeface="Noto Serif CJK SC"/>
                          <a:cs typeface="Lohit Devanagari"/>
                        </a:rPr>
                        <a:t>C-T</a:t>
                      </a:r>
                      <a:endParaRPr kumimoji="0" lang="en-US" sz="1800" b="0" i="0" u="none" strike="noStrike" kern="150" cap="none" spc="0" normalizeH="0" baseline="0" noProof="0" dirty="0">
                        <a:ln>
                          <a:noFill/>
                        </a:ln>
                        <a:solidFill>
                          <a:prstClr val="black"/>
                        </a:solidFill>
                        <a:effectLst/>
                        <a:uLnTx/>
                        <a:uFillTx/>
                        <a:latin typeface="Calibri" panose="020F0502020204030204"/>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R</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C</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Yes </a:t>
                      </a:r>
                      <a:endParaRPr lang="en-US" sz="1800" kern="150">
                        <a:effectLst/>
                        <a:latin typeface="+mn-lt"/>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500"/>
                        </a:spcBef>
                        <a:spcAft>
                          <a:spcPts val="500"/>
                        </a:spcAft>
                        <a:buClrTx/>
                        <a:buSzTx/>
                        <a:buFontTx/>
                        <a:buNone/>
                        <a:tabLst/>
                        <a:defRPr/>
                      </a:pPr>
                      <a:r>
                        <a:rPr kumimoji="0" lang="en-US" sz="1800" b="0" i="0" u="none" strike="noStrike" kern="150" cap="none" spc="0" normalizeH="0" baseline="0" noProof="0" dirty="0">
                          <a:ln>
                            <a:noFill/>
                          </a:ln>
                          <a:solidFill>
                            <a:srgbClr val="000000"/>
                          </a:solidFill>
                          <a:effectLst/>
                          <a:uLnTx/>
                          <a:uFillTx/>
                          <a:latin typeface="Calibri" panose="020F0502020204030204"/>
                          <a:ea typeface="Noto Serif CJK SC"/>
                          <a:cs typeface="Lohit Devanagari"/>
                        </a:rPr>
                        <a:t>1</a:t>
                      </a:r>
                      <a:endParaRPr kumimoji="0" lang="en-US" sz="1800" b="0" i="0" u="none" strike="noStrike" kern="150" cap="none" spc="0" normalizeH="0" baseline="0" noProof="0" dirty="0">
                        <a:ln>
                          <a:noFill/>
                        </a:ln>
                        <a:solidFill>
                          <a:prstClr val="black"/>
                        </a:solidFill>
                        <a:effectLst/>
                        <a:uLnTx/>
                        <a:uFillTx/>
                        <a:latin typeface="Calibri" panose="020F0502020204030204"/>
                        <a:ea typeface="Noto Serif CJK SC"/>
                        <a:cs typeface="Lohit Devanagari"/>
                      </a:endParaRPr>
                    </a:p>
                  </a:txBody>
                  <a:tcPr marL="68580" marR="68580" marT="0" marB="0" anchor="ctr"/>
                </a:tc>
                <a:extLst>
                  <a:ext uri="{0D108BD9-81ED-4DB2-BD59-A6C34878D82A}">
                    <a16:rowId xmlns:a16="http://schemas.microsoft.com/office/drawing/2014/main" val="1295029123"/>
                  </a:ext>
                </a:extLst>
              </a:tr>
              <a:tr h="721949">
                <a:tc>
                  <a:txBody>
                    <a:bodyPr/>
                    <a:lstStyle/>
                    <a:p>
                      <a:pPr marL="0" marR="0" algn="ctr">
                        <a:spcBef>
                          <a:spcPts val="500"/>
                        </a:spcBef>
                        <a:spcAft>
                          <a:spcPts val="500"/>
                        </a:spcAft>
                      </a:pPr>
                      <a:r>
                        <a:rPr lang="en-US" sz="1800" b="1" kern="150">
                          <a:solidFill>
                            <a:srgbClr val="000000"/>
                          </a:solidFill>
                          <a:effectLst/>
                          <a:latin typeface="+mn-lt"/>
                          <a:ea typeface="Noto Serif CJK SC"/>
                          <a:cs typeface="Lohit Devanagari"/>
                        </a:rPr>
                        <a:t>N</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Nucleocapsid Phosphoprotein</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dirty="0">
                          <a:solidFill>
                            <a:srgbClr val="000000"/>
                          </a:solidFill>
                          <a:effectLst/>
                          <a:latin typeface="+mn-lt"/>
                          <a:ea typeface="Noto Serif CJK SC"/>
                          <a:cs typeface="Lohit Devanagari"/>
                        </a:rPr>
                        <a:t>28905</a:t>
                      </a:r>
                      <a:endParaRPr lang="en-US" sz="1800" kern="150" dirty="0">
                        <a:effectLst/>
                        <a:latin typeface="+mn-lt"/>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500"/>
                        </a:spcBef>
                        <a:spcAft>
                          <a:spcPts val="500"/>
                        </a:spcAft>
                        <a:buClrTx/>
                        <a:buSzTx/>
                        <a:buFontTx/>
                        <a:buNone/>
                        <a:tabLst/>
                        <a:defRPr/>
                      </a:pPr>
                      <a:r>
                        <a:rPr kumimoji="0" lang="en-US" sz="1800" b="0" i="0" u="none" strike="noStrike" kern="150" cap="none" spc="0" normalizeH="0" baseline="0" noProof="0" dirty="0">
                          <a:ln>
                            <a:noFill/>
                          </a:ln>
                          <a:solidFill>
                            <a:srgbClr val="000000"/>
                          </a:solidFill>
                          <a:effectLst/>
                          <a:uLnTx/>
                          <a:uFillTx/>
                          <a:latin typeface="Calibri" panose="020F0502020204030204"/>
                          <a:ea typeface="Noto Serif CJK SC"/>
                          <a:cs typeface="Lohit Devanagari"/>
                        </a:rPr>
                        <a:t>G-A</a:t>
                      </a:r>
                      <a:endParaRPr kumimoji="0" lang="en-US" sz="1800" b="0" i="0" u="none" strike="noStrike" kern="150" cap="none" spc="0" normalizeH="0" baseline="0" noProof="0" dirty="0">
                        <a:ln>
                          <a:noFill/>
                        </a:ln>
                        <a:solidFill>
                          <a:prstClr val="black"/>
                        </a:solidFill>
                        <a:effectLst/>
                        <a:uLnTx/>
                        <a:uFillTx/>
                        <a:latin typeface="Calibri" panose="020F0502020204030204"/>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G</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D</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Yes</a:t>
                      </a:r>
                      <a:endParaRPr lang="en-US" sz="1800" kern="150">
                        <a:effectLst/>
                        <a:latin typeface="+mn-lt"/>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500"/>
                        </a:spcBef>
                        <a:spcAft>
                          <a:spcPts val="500"/>
                        </a:spcAft>
                        <a:buClrTx/>
                        <a:buSzTx/>
                        <a:buFontTx/>
                        <a:buNone/>
                        <a:tabLst/>
                        <a:defRPr/>
                      </a:pPr>
                      <a:r>
                        <a:rPr kumimoji="0" lang="en-US" sz="1800" b="0" i="0" u="none" strike="noStrike" kern="150" cap="none" spc="0" normalizeH="0" baseline="0" noProof="0" dirty="0">
                          <a:ln>
                            <a:noFill/>
                          </a:ln>
                          <a:solidFill>
                            <a:srgbClr val="000000"/>
                          </a:solidFill>
                          <a:effectLst/>
                          <a:uLnTx/>
                          <a:uFillTx/>
                          <a:latin typeface="Calibri" panose="020F0502020204030204"/>
                          <a:ea typeface="Noto Serif CJK SC"/>
                          <a:cs typeface="Lohit Devanagari"/>
                        </a:rPr>
                        <a:t>1</a:t>
                      </a:r>
                      <a:endParaRPr kumimoji="0" lang="en-US" sz="1800" b="0" i="0" u="none" strike="noStrike" kern="150" cap="none" spc="0" normalizeH="0" baseline="0" noProof="0" dirty="0">
                        <a:ln>
                          <a:noFill/>
                        </a:ln>
                        <a:solidFill>
                          <a:prstClr val="black"/>
                        </a:solidFill>
                        <a:effectLst/>
                        <a:uLnTx/>
                        <a:uFillTx/>
                        <a:latin typeface="Calibri" panose="020F0502020204030204"/>
                        <a:ea typeface="Noto Serif CJK SC"/>
                        <a:cs typeface="Lohit Devanagari"/>
                      </a:endParaRPr>
                    </a:p>
                  </a:txBody>
                  <a:tcPr marL="68580" marR="68580" marT="0" marB="0" anchor="ctr"/>
                </a:tc>
                <a:extLst>
                  <a:ext uri="{0D108BD9-81ED-4DB2-BD59-A6C34878D82A}">
                    <a16:rowId xmlns:a16="http://schemas.microsoft.com/office/drawing/2014/main" val="3428825855"/>
                  </a:ext>
                </a:extLst>
              </a:tr>
              <a:tr h="721949">
                <a:tc>
                  <a:txBody>
                    <a:bodyPr/>
                    <a:lstStyle/>
                    <a:p>
                      <a:pPr marL="0" marR="0" algn="ctr">
                        <a:spcBef>
                          <a:spcPts val="500"/>
                        </a:spcBef>
                        <a:spcAft>
                          <a:spcPts val="500"/>
                        </a:spcAft>
                      </a:pPr>
                      <a:r>
                        <a:rPr lang="en-US" sz="1800" b="1" kern="150">
                          <a:solidFill>
                            <a:srgbClr val="000000"/>
                          </a:solidFill>
                          <a:effectLst/>
                          <a:latin typeface="+mn-lt"/>
                          <a:ea typeface="Noto Serif CJK SC"/>
                          <a:cs typeface="Lohit Devanagari"/>
                        </a:rPr>
                        <a:t>N</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Nucleocapsid Phosphoprotein</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dirty="0">
                          <a:solidFill>
                            <a:srgbClr val="000000"/>
                          </a:solidFill>
                          <a:effectLst/>
                          <a:latin typeface="+mn-lt"/>
                          <a:ea typeface="Noto Serif CJK SC"/>
                          <a:cs typeface="Lohit Devanagari"/>
                        </a:rPr>
                        <a:t>28907</a:t>
                      </a:r>
                      <a:endParaRPr lang="en-US" sz="1800" kern="150" dirty="0">
                        <a:effectLst/>
                        <a:latin typeface="+mn-lt"/>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500"/>
                        </a:spcBef>
                        <a:spcAft>
                          <a:spcPts val="500"/>
                        </a:spcAft>
                        <a:buClrTx/>
                        <a:buSzTx/>
                        <a:buFontTx/>
                        <a:buNone/>
                        <a:tabLst/>
                        <a:defRPr/>
                      </a:pPr>
                      <a:r>
                        <a:rPr kumimoji="0" lang="en-US" sz="1800" b="0" i="0" u="none" strike="noStrike" kern="150" cap="none" spc="0" normalizeH="0" baseline="0" noProof="0" dirty="0">
                          <a:ln>
                            <a:noFill/>
                          </a:ln>
                          <a:solidFill>
                            <a:srgbClr val="000000"/>
                          </a:solidFill>
                          <a:effectLst/>
                          <a:uLnTx/>
                          <a:uFillTx/>
                          <a:latin typeface="Calibri" panose="020F0502020204030204"/>
                          <a:ea typeface="Noto Serif CJK SC"/>
                          <a:cs typeface="Lohit Devanagari"/>
                        </a:rPr>
                        <a:t>G-C</a:t>
                      </a:r>
                      <a:endParaRPr kumimoji="0" lang="en-US" sz="1800" b="0" i="0" u="none" strike="noStrike" kern="150" cap="none" spc="0" normalizeH="0" baseline="0" noProof="0" dirty="0">
                        <a:ln>
                          <a:noFill/>
                        </a:ln>
                        <a:solidFill>
                          <a:prstClr val="black"/>
                        </a:solidFill>
                        <a:effectLst/>
                        <a:uLnTx/>
                        <a:uFillTx/>
                        <a:latin typeface="Calibri" panose="020F0502020204030204"/>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G</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R</a:t>
                      </a:r>
                      <a:endParaRPr lang="en-US" sz="1800" kern="150">
                        <a:effectLst/>
                        <a:latin typeface="+mn-lt"/>
                        <a:ea typeface="Noto Serif CJK SC"/>
                        <a:cs typeface="Lohit Devanagari"/>
                      </a:endParaRPr>
                    </a:p>
                  </a:txBody>
                  <a:tcPr marL="68580" marR="68580" marT="0" marB="0" anchor="ctr"/>
                </a:tc>
                <a:tc>
                  <a:txBody>
                    <a:bodyPr/>
                    <a:lstStyle/>
                    <a:p>
                      <a:pPr marL="0" marR="0" algn="ctr">
                        <a:spcBef>
                          <a:spcPts val="500"/>
                        </a:spcBef>
                        <a:spcAft>
                          <a:spcPts val="500"/>
                        </a:spcAft>
                      </a:pPr>
                      <a:r>
                        <a:rPr lang="en-US" sz="1800" kern="150">
                          <a:solidFill>
                            <a:srgbClr val="000000"/>
                          </a:solidFill>
                          <a:effectLst/>
                          <a:latin typeface="+mn-lt"/>
                          <a:ea typeface="Noto Serif CJK SC"/>
                          <a:cs typeface="Lohit Devanagari"/>
                        </a:rPr>
                        <a:t>Yes</a:t>
                      </a:r>
                      <a:endParaRPr lang="en-US" sz="1800" kern="150">
                        <a:effectLst/>
                        <a:latin typeface="+mn-lt"/>
                        <a:ea typeface="Noto Serif CJK SC"/>
                        <a:cs typeface="Lohit Devanagari"/>
                      </a:endParaRPr>
                    </a:p>
                  </a:txBody>
                  <a:tcPr marL="68580" marR="68580" marT="0" marB="0" anchor="ctr"/>
                </a:tc>
                <a:tc>
                  <a:txBody>
                    <a:bodyPr/>
                    <a:lstStyle/>
                    <a:p>
                      <a:pPr marL="0" marR="0" lvl="0" indent="0" algn="ctr" defTabSz="914400" rtl="0" eaLnBrk="1" fontAlgn="auto" latinLnBrk="0" hangingPunct="1">
                        <a:lnSpc>
                          <a:spcPct val="100000"/>
                        </a:lnSpc>
                        <a:spcBef>
                          <a:spcPts val="500"/>
                        </a:spcBef>
                        <a:spcAft>
                          <a:spcPts val="500"/>
                        </a:spcAft>
                        <a:buClrTx/>
                        <a:buSzTx/>
                        <a:buFontTx/>
                        <a:buNone/>
                        <a:tabLst/>
                        <a:defRPr/>
                      </a:pPr>
                      <a:r>
                        <a:rPr kumimoji="0" lang="en-US" sz="1800" b="0" i="0" u="none" strike="noStrike" kern="150" cap="none" spc="0" normalizeH="0" baseline="0" noProof="0" dirty="0">
                          <a:ln>
                            <a:noFill/>
                          </a:ln>
                          <a:solidFill>
                            <a:srgbClr val="000000"/>
                          </a:solidFill>
                          <a:effectLst/>
                          <a:uLnTx/>
                          <a:uFillTx/>
                          <a:latin typeface="Calibri" panose="020F0502020204030204"/>
                          <a:ea typeface="Noto Serif CJK SC"/>
                          <a:cs typeface="Lohit Devanagari"/>
                        </a:rPr>
                        <a:t>1</a:t>
                      </a:r>
                      <a:endParaRPr kumimoji="0" lang="en-US" sz="1800" b="0" i="0" u="none" strike="noStrike" kern="150" cap="none" spc="0" normalizeH="0" baseline="0" noProof="0" dirty="0">
                        <a:ln>
                          <a:noFill/>
                        </a:ln>
                        <a:solidFill>
                          <a:prstClr val="black"/>
                        </a:solidFill>
                        <a:effectLst/>
                        <a:uLnTx/>
                        <a:uFillTx/>
                        <a:latin typeface="Calibri" panose="020F0502020204030204"/>
                        <a:ea typeface="Noto Serif CJK SC"/>
                        <a:cs typeface="Lohit Devanagari"/>
                      </a:endParaRPr>
                    </a:p>
                  </a:txBody>
                  <a:tcPr marL="68580" marR="68580" marT="0" marB="0" anchor="ctr"/>
                </a:tc>
                <a:extLst>
                  <a:ext uri="{0D108BD9-81ED-4DB2-BD59-A6C34878D82A}">
                    <a16:rowId xmlns:a16="http://schemas.microsoft.com/office/drawing/2014/main" val="2459236147"/>
                  </a:ext>
                </a:extLst>
              </a:tr>
            </a:tbl>
          </a:graphicData>
        </a:graphic>
      </p:graphicFrame>
    </p:spTree>
    <p:extLst>
      <p:ext uri="{BB962C8B-B14F-4D97-AF65-F5344CB8AC3E}">
        <p14:creationId xmlns:p14="http://schemas.microsoft.com/office/powerpoint/2010/main" val="17676460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D6A35-54AC-4AE3-8555-4DEF1464DC30}"/>
              </a:ext>
            </a:extLst>
          </p:cNvPr>
          <p:cNvSpPr>
            <a:spLocks noGrp="1"/>
          </p:cNvSpPr>
          <p:nvPr>
            <p:ph type="ctrTitle"/>
          </p:nvPr>
        </p:nvSpPr>
        <p:spPr>
          <a:xfrm>
            <a:off x="1524000" y="2885807"/>
            <a:ext cx="9144000" cy="1086386"/>
          </a:xfrm>
        </p:spPr>
        <p:txBody>
          <a:bodyPr>
            <a:normAutofit/>
          </a:bodyPr>
          <a:lstStyle/>
          <a:p>
            <a:r>
              <a:rPr lang="en-US" b="1" dirty="0"/>
              <a:t>F. Nested PCR Primer Design</a:t>
            </a:r>
            <a:endParaRPr lang="en-US" dirty="0"/>
          </a:p>
        </p:txBody>
      </p:sp>
    </p:spTree>
    <p:extLst>
      <p:ext uri="{BB962C8B-B14F-4D97-AF65-F5344CB8AC3E}">
        <p14:creationId xmlns:p14="http://schemas.microsoft.com/office/powerpoint/2010/main" val="19170814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1. Using conserved regions as DNA template</a:t>
            </a:r>
          </a:p>
        </p:txBody>
      </p:sp>
      <p:graphicFrame>
        <p:nvGraphicFramePr>
          <p:cNvPr id="5" name="Content Placeholder 4">
            <a:extLst>
              <a:ext uri="{FF2B5EF4-FFF2-40B4-BE49-F238E27FC236}">
                <a16:creationId xmlns:a16="http://schemas.microsoft.com/office/drawing/2014/main" id="{DFAED5C7-A2D4-4EB4-A0A2-4A3C795FB816}"/>
              </a:ext>
            </a:extLst>
          </p:cNvPr>
          <p:cNvGraphicFramePr>
            <a:graphicFrameLocks noGrp="1"/>
          </p:cNvGraphicFramePr>
          <p:nvPr>
            <p:ph idx="1"/>
            <p:extLst>
              <p:ext uri="{D42A27DB-BD31-4B8C-83A1-F6EECF244321}">
                <p14:modId xmlns:p14="http://schemas.microsoft.com/office/powerpoint/2010/main" val="3773097714"/>
              </p:ext>
            </p:extLst>
          </p:nvPr>
        </p:nvGraphicFramePr>
        <p:xfrm>
          <a:off x="319490" y="1820369"/>
          <a:ext cx="11435509" cy="4663440"/>
        </p:xfrm>
        <a:graphic>
          <a:graphicData uri="http://schemas.openxmlformats.org/drawingml/2006/table">
            <a:tbl>
              <a:tblPr>
                <a:tableStyleId>{5C22544A-7EE6-4342-B048-85BDC9FD1C3A}</a:tableStyleId>
              </a:tblPr>
              <a:tblGrid>
                <a:gridCol w="2134154">
                  <a:extLst>
                    <a:ext uri="{9D8B030D-6E8A-4147-A177-3AD203B41FA5}">
                      <a16:colId xmlns:a16="http://schemas.microsoft.com/office/drawing/2014/main" val="3855404263"/>
                    </a:ext>
                  </a:extLst>
                </a:gridCol>
                <a:gridCol w="7149416">
                  <a:extLst>
                    <a:ext uri="{9D8B030D-6E8A-4147-A177-3AD203B41FA5}">
                      <a16:colId xmlns:a16="http://schemas.microsoft.com/office/drawing/2014/main" val="1654497434"/>
                    </a:ext>
                  </a:extLst>
                </a:gridCol>
                <a:gridCol w="2151939">
                  <a:extLst>
                    <a:ext uri="{9D8B030D-6E8A-4147-A177-3AD203B41FA5}">
                      <a16:colId xmlns:a16="http://schemas.microsoft.com/office/drawing/2014/main" val="519257100"/>
                    </a:ext>
                  </a:extLst>
                </a:gridCol>
              </a:tblGrid>
              <a:tr h="0">
                <a:tc>
                  <a:txBody>
                    <a:bodyPr/>
                    <a:lstStyle/>
                    <a:p>
                      <a:pPr marL="0" marR="0" algn="ctr">
                        <a:spcBef>
                          <a:spcPts val="0"/>
                        </a:spcBef>
                        <a:spcAft>
                          <a:spcPts val="0"/>
                        </a:spcAft>
                      </a:pPr>
                      <a:r>
                        <a:rPr lang="en-US" sz="1800" b="1" kern="150" dirty="0">
                          <a:effectLst/>
                        </a:rPr>
                        <a:t>Identifier</a:t>
                      </a:r>
                      <a:endParaRPr lang="en-US" sz="1800" kern="150" dirty="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0"/>
                        </a:spcAft>
                      </a:pPr>
                      <a:r>
                        <a:rPr lang="en-US" sz="1800" b="1" kern="150">
                          <a:effectLst/>
                        </a:rPr>
                        <a:t>Sequence</a:t>
                      </a:r>
                      <a:endParaRPr lang="en-US" sz="1800" b="1" kern="15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0"/>
                        </a:spcAft>
                      </a:pPr>
                      <a:r>
                        <a:rPr lang="en-US" sz="1800" b="1" kern="150" dirty="0">
                          <a:effectLst/>
                        </a:rPr>
                        <a:t>Gene</a:t>
                      </a:r>
                      <a:endParaRPr lang="en-US" sz="1800" b="1" kern="150" dirty="0">
                        <a:effectLst/>
                        <a:latin typeface="Liberation Serif"/>
                        <a:ea typeface="Noto Serif CJK SC"/>
                        <a:cs typeface="Lohit Devanagari"/>
                      </a:endParaRPr>
                    </a:p>
                  </a:txBody>
                  <a:tcPr marL="68580" marR="68580" marT="0" marB="0" anchor="ctr"/>
                </a:tc>
                <a:extLst>
                  <a:ext uri="{0D108BD9-81ED-4DB2-BD59-A6C34878D82A}">
                    <a16:rowId xmlns:a16="http://schemas.microsoft.com/office/drawing/2014/main" val="1304642711"/>
                  </a:ext>
                </a:extLst>
              </a:tr>
              <a:tr h="0">
                <a:tc>
                  <a:txBody>
                    <a:bodyPr/>
                    <a:lstStyle/>
                    <a:p>
                      <a:pPr marL="0" marR="0" algn="ctr">
                        <a:spcBef>
                          <a:spcPts val="0"/>
                        </a:spcBef>
                        <a:spcAft>
                          <a:spcPts val="0"/>
                        </a:spcAft>
                      </a:pPr>
                      <a:r>
                        <a:rPr lang="en-US" sz="1400" b="1" kern="150" dirty="0">
                          <a:effectLst/>
                        </a:rPr>
                        <a:t>NC_045512.2_Conerved_1</a:t>
                      </a:r>
                      <a:endParaRPr lang="en-US" sz="1400" b="1" kern="150" dirty="0">
                        <a:effectLst/>
                        <a:latin typeface="Liberation Serif"/>
                        <a:ea typeface="Noto Serif CJK SC"/>
                        <a:cs typeface="Lohit Devanagari"/>
                      </a:endParaRPr>
                    </a:p>
                  </a:txBody>
                  <a:tcPr marL="68580" marR="68580" marT="0" marB="0" anchor="ctr"/>
                </a:tc>
                <a:tc>
                  <a:txBody>
                    <a:bodyPr/>
                    <a:lstStyle/>
                    <a:p>
                      <a:pPr marL="0" marR="0" algn="l">
                        <a:spcBef>
                          <a:spcPts val="0"/>
                        </a:spcBef>
                        <a:spcAft>
                          <a:spcPts val="0"/>
                        </a:spcAft>
                      </a:pPr>
                      <a:r>
                        <a:rPr lang="en-US" sz="1800" kern="150" dirty="0">
                          <a:effectLst/>
                        </a:rPr>
                        <a:t>CTTGAACAGCCCTATGTGTTCATCAAACGTTCGGATGCTCGAACTGCACCTCATGGTCATGTTATGGTTGAGCTGGTAGCAGAACTCGAAGGCATTCAGTACGGTCGTAGTGGTGAGACACTTGGTGTCCTTGTCCCTCATGTGGGCGAAATACCAGTGGCTTACCGCAAGGTTCTTCTTCGTAAGAACGGTAATAAAGGAGCTGGTGGCCATAGTTACGGCGCCGATCTAAAGTCATTTGACTTAGGCGACGAGCTTGGCACTGATCCTTATGAAGATTTTCAAGAAAACTGGAACACTAAACATAGCAGTGGTGTTACCCGTGAACTCATGCGTGAGCTTAACGGAGGGGCATACACTCGCTATGTCGATAACAACTTCTGTGGCCCTGATGGCTACCCTCTTGAGTGCATTAAAGACCTTCTAGCA</a:t>
                      </a:r>
                      <a:endParaRPr lang="en-US" sz="1800" kern="150" dirty="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0"/>
                        </a:spcAft>
                      </a:pPr>
                      <a:r>
                        <a:rPr lang="en-US" sz="1800" kern="150" dirty="0">
                          <a:effectLst/>
                        </a:rPr>
                        <a:t>Orf1ab (64-206)</a:t>
                      </a:r>
                      <a:endParaRPr lang="en-US" sz="1800" kern="150" dirty="0">
                        <a:effectLst/>
                        <a:latin typeface="Liberation Serif"/>
                        <a:ea typeface="Noto Serif CJK SC"/>
                        <a:cs typeface="Lohit Devanagari"/>
                      </a:endParaRPr>
                    </a:p>
                  </a:txBody>
                  <a:tcPr marL="68580" marR="68580" marT="0" marB="0" anchor="ctr"/>
                </a:tc>
                <a:extLst>
                  <a:ext uri="{0D108BD9-81ED-4DB2-BD59-A6C34878D82A}">
                    <a16:rowId xmlns:a16="http://schemas.microsoft.com/office/drawing/2014/main" val="3196513221"/>
                  </a:ext>
                </a:extLst>
              </a:tr>
              <a:tr h="0">
                <a:tc>
                  <a:txBody>
                    <a:bodyPr/>
                    <a:lstStyle/>
                    <a:p>
                      <a:pPr marL="0" marR="0" algn="ctr">
                        <a:spcBef>
                          <a:spcPts val="0"/>
                        </a:spcBef>
                        <a:spcAft>
                          <a:spcPts val="0"/>
                        </a:spcAft>
                      </a:pPr>
                      <a:r>
                        <a:rPr lang="en-US" sz="1400" b="1" kern="150" dirty="0">
                          <a:effectLst/>
                        </a:rPr>
                        <a:t>NC_045512.2_Conerved_2</a:t>
                      </a:r>
                      <a:endParaRPr lang="en-US" sz="1400" b="1" kern="150" dirty="0">
                        <a:effectLst/>
                        <a:latin typeface="Liberation Serif"/>
                        <a:ea typeface="Noto Serif CJK SC"/>
                        <a:cs typeface="Lohit Devanagari"/>
                      </a:endParaRPr>
                    </a:p>
                  </a:txBody>
                  <a:tcPr marL="68580" marR="68580" marT="0" marB="0" anchor="ctr"/>
                </a:tc>
                <a:tc>
                  <a:txBody>
                    <a:bodyPr/>
                    <a:lstStyle/>
                    <a:p>
                      <a:pPr marL="0" marR="0" algn="l">
                        <a:spcBef>
                          <a:spcPts val="0"/>
                        </a:spcBef>
                        <a:spcAft>
                          <a:spcPts val="0"/>
                        </a:spcAft>
                      </a:pPr>
                      <a:r>
                        <a:rPr lang="en-US" sz="1800" kern="150" dirty="0">
                          <a:effectLst/>
                        </a:rPr>
                        <a:t>CGTGCTGGTAAAGCTTCATGCACTTTGTCCGAACAACTGGACTTTATTGACACTAAGAGGGGTGTATACTGCTGCCGTGAACATGAGCATGAAATTGCTTGGTACACGGAACGTTCTGAAAAGAGCTATGAATTGCAGACACCTTTTGAAATTAAATTGGCAAAGAAATTTGACA</a:t>
                      </a:r>
                      <a:endParaRPr lang="en-US" sz="1800" kern="150" dirty="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0"/>
                        </a:spcAft>
                      </a:pPr>
                      <a:r>
                        <a:rPr lang="en-US" sz="1800" kern="150">
                          <a:effectLst/>
                        </a:rPr>
                        <a:t>Orf1ab</a:t>
                      </a:r>
                      <a:endParaRPr lang="en-US" sz="1800" kern="150">
                        <a:effectLst/>
                        <a:latin typeface="Liberation Serif"/>
                        <a:ea typeface="Noto Serif CJK SC"/>
                        <a:cs typeface="Lohit Devanagari"/>
                      </a:endParaRPr>
                    </a:p>
                  </a:txBody>
                  <a:tcPr marL="68580" marR="68580" marT="0" marB="0" anchor="ctr"/>
                </a:tc>
                <a:extLst>
                  <a:ext uri="{0D108BD9-81ED-4DB2-BD59-A6C34878D82A}">
                    <a16:rowId xmlns:a16="http://schemas.microsoft.com/office/drawing/2014/main" val="497766545"/>
                  </a:ext>
                </a:extLst>
              </a:tr>
              <a:tr h="0">
                <a:tc>
                  <a:txBody>
                    <a:bodyPr/>
                    <a:lstStyle/>
                    <a:p>
                      <a:pPr marL="0" marR="0" algn="ctr">
                        <a:spcBef>
                          <a:spcPts val="0"/>
                        </a:spcBef>
                        <a:spcAft>
                          <a:spcPts val="0"/>
                        </a:spcAft>
                      </a:pPr>
                      <a:r>
                        <a:rPr lang="en-US" sz="1400" b="1" kern="150" dirty="0">
                          <a:effectLst/>
                        </a:rPr>
                        <a:t>NC_045512.2_Conerved_3</a:t>
                      </a:r>
                      <a:endParaRPr lang="en-US" sz="1400" b="1" kern="150" dirty="0">
                        <a:effectLst/>
                        <a:latin typeface="Liberation Serif"/>
                        <a:ea typeface="Noto Serif CJK SC"/>
                        <a:cs typeface="Lohit Devanagari"/>
                      </a:endParaRPr>
                    </a:p>
                  </a:txBody>
                  <a:tcPr marL="68580" marR="68580" marT="0" marB="0" anchor="ctr"/>
                </a:tc>
                <a:tc>
                  <a:txBody>
                    <a:bodyPr/>
                    <a:lstStyle/>
                    <a:p>
                      <a:pPr marL="0" marR="0" algn="l">
                        <a:spcBef>
                          <a:spcPts val="0"/>
                        </a:spcBef>
                        <a:spcAft>
                          <a:spcPts val="0"/>
                        </a:spcAft>
                      </a:pPr>
                      <a:r>
                        <a:rPr lang="en-US" sz="1800" kern="150" dirty="0">
                          <a:effectLst/>
                        </a:rPr>
                        <a:t>CGATCTGTCTATCCAGTTGCGTCACCAAATGAATGCAACCAAATGTGCCTTTCAACTCTCATGAAGTGTGATCATTGTGGTGAAACTTCATGGCAGACGGGCGATTTTGTTAAAGCCACTTGCGAATTTTGTGGCACTGAGAATTTGACTAAAGAAGGTGCCACTACTTGTGGTTACTTACCCCAAAATGCTGTTGTTAAAATTTATTGT</a:t>
                      </a:r>
                      <a:endParaRPr lang="en-US" sz="1800" kern="150" dirty="0">
                        <a:effectLst/>
                        <a:latin typeface="Liberation Serif"/>
                        <a:ea typeface="Noto Serif CJK SC"/>
                        <a:cs typeface="Lohit Devanagari"/>
                      </a:endParaRPr>
                    </a:p>
                  </a:txBody>
                  <a:tcPr marL="68580" marR="68580" marT="0" marB="0" anchor="ctr"/>
                </a:tc>
                <a:tc>
                  <a:txBody>
                    <a:bodyPr/>
                    <a:lstStyle/>
                    <a:p>
                      <a:pPr marL="0" marR="0" algn="ctr">
                        <a:spcBef>
                          <a:spcPts val="0"/>
                        </a:spcBef>
                        <a:spcAft>
                          <a:spcPts val="0"/>
                        </a:spcAft>
                      </a:pPr>
                      <a:r>
                        <a:rPr lang="en-US" sz="1800" kern="150" dirty="0">
                          <a:effectLst/>
                        </a:rPr>
                        <a:t>Orf1ab</a:t>
                      </a:r>
                      <a:endParaRPr lang="en-US" sz="1800" kern="150" dirty="0">
                        <a:effectLst/>
                        <a:latin typeface="Liberation Serif"/>
                        <a:ea typeface="Noto Serif CJK SC"/>
                        <a:cs typeface="Lohit Devanagari"/>
                      </a:endParaRPr>
                    </a:p>
                  </a:txBody>
                  <a:tcPr marL="68580" marR="68580" marT="0" marB="0" anchor="ctr"/>
                </a:tc>
                <a:extLst>
                  <a:ext uri="{0D108BD9-81ED-4DB2-BD59-A6C34878D82A}">
                    <a16:rowId xmlns:a16="http://schemas.microsoft.com/office/drawing/2014/main" val="122767028"/>
                  </a:ext>
                </a:extLst>
              </a:tr>
            </a:tbl>
          </a:graphicData>
        </a:graphic>
      </p:graphicFrame>
    </p:spTree>
    <p:extLst>
      <p:ext uri="{BB962C8B-B14F-4D97-AF65-F5344CB8AC3E}">
        <p14:creationId xmlns:p14="http://schemas.microsoft.com/office/powerpoint/2010/main" val="1809635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D1D66-A3D8-4D22-BD9D-74D03972BB8D}"/>
              </a:ext>
            </a:extLst>
          </p:cNvPr>
          <p:cNvSpPr>
            <a:spLocks noGrp="1"/>
          </p:cNvSpPr>
          <p:nvPr>
            <p:ph type="title"/>
          </p:nvPr>
        </p:nvSpPr>
        <p:spPr>
          <a:xfrm>
            <a:off x="319489" y="365125"/>
            <a:ext cx="11435509" cy="1325563"/>
          </a:xfrm>
          <a:ln>
            <a:solidFill>
              <a:schemeClr val="tx1"/>
            </a:solidFill>
          </a:ln>
        </p:spPr>
        <p:txBody>
          <a:bodyPr/>
          <a:lstStyle/>
          <a:p>
            <a:r>
              <a:rPr lang="en-US" b="1" dirty="0"/>
              <a:t>2. NCBI Primer BLAST</a:t>
            </a:r>
          </a:p>
        </p:txBody>
      </p:sp>
      <p:pic>
        <p:nvPicPr>
          <p:cNvPr id="6" name="Content Placeholder 5">
            <a:extLst>
              <a:ext uri="{FF2B5EF4-FFF2-40B4-BE49-F238E27FC236}">
                <a16:creationId xmlns:a16="http://schemas.microsoft.com/office/drawing/2014/main" id="{47E91685-0DC7-4FD2-A61B-711D16E6302A}"/>
              </a:ext>
            </a:extLst>
          </p:cNvPr>
          <p:cNvPicPr>
            <a:picLocks noGrp="1" noChangeAspect="1"/>
          </p:cNvPicPr>
          <p:nvPr>
            <p:ph idx="1"/>
          </p:nvPr>
        </p:nvPicPr>
        <p:blipFill rotWithShape="1">
          <a:blip r:embed="rId2"/>
          <a:srcRect t="13745" b="3717"/>
          <a:stretch/>
        </p:blipFill>
        <p:spPr>
          <a:xfrm>
            <a:off x="1408322" y="1817705"/>
            <a:ext cx="9375355" cy="4675170"/>
          </a:xfrm>
          <a:ln>
            <a:solidFill>
              <a:schemeClr val="tx1"/>
            </a:solidFill>
          </a:ln>
        </p:spPr>
      </p:pic>
    </p:spTree>
    <p:extLst>
      <p:ext uri="{BB962C8B-B14F-4D97-AF65-F5344CB8AC3E}">
        <p14:creationId xmlns:p14="http://schemas.microsoft.com/office/powerpoint/2010/main" val="16066719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F7337E10-0CD6-4D1C-A475-1051B5F0C8C1}"/>
              </a:ext>
            </a:extLst>
          </p:cNvPr>
          <p:cNvGraphicFramePr>
            <a:graphicFrameLocks noGrp="1"/>
          </p:cNvGraphicFramePr>
          <p:nvPr>
            <p:extLst>
              <p:ext uri="{D42A27DB-BD31-4B8C-83A1-F6EECF244321}">
                <p14:modId xmlns:p14="http://schemas.microsoft.com/office/powerpoint/2010/main" val="1400554954"/>
              </p:ext>
            </p:extLst>
          </p:nvPr>
        </p:nvGraphicFramePr>
        <p:xfrm>
          <a:off x="565533" y="173516"/>
          <a:ext cx="11060934" cy="6630056"/>
        </p:xfrm>
        <a:graphic>
          <a:graphicData uri="http://schemas.openxmlformats.org/drawingml/2006/table">
            <a:tbl>
              <a:tblPr>
                <a:tableStyleId>{5C22544A-7EE6-4342-B048-85BDC9FD1C3A}</a:tableStyleId>
              </a:tblPr>
              <a:tblGrid>
                <a:gridCol w="2596308">
                  <a:extLst>
                    <a:ext uri="{9D8B030D-6E8A-4147-A177-3AD203B41FA5}">
                      <a16:colId xmlns:a16="http://schemas.microsoft.com/office/drawing/2014/main" val="460790999"/>
                    </a:ext>
                  </a:extLst>
                </a:gridCol>
                <a:gridCol w="4525352">
                  <a:extLst>
                    <a:ext uri="{9D8B030D-6E8A-4147-A177-3AD203B41FA5}">
                      <a16:colId xmlns:a16="http://schemas.microsoft.com/office/drawing/2014/main" val="4228716929"/>
                    </a:ext>
                  </a:extLst>
                </a:gridCol>
                <a:gridCol w="1444974">
                  <a:extLst>
                    <a:ext uri="{9D8B030D-6E8A-4147-A177-3AD203B41FA5}">
                      <a16:colId xmlns:a16="http://schemas.microsoft.com/office/drawing/2014/main" val="1765781329"/>
                    </a:ext>
                  </a:extLst>
                </a:gridCol>
                <a:gridCol w="2494300">
                  <a:extLst>
                    <a:ext uri="{9D8B030D-6E8A-4147-A177-3AD203B41FA5}">
                      <a16:colId xmlns:a16="http://schemas.microsoft.com/office/drawing/2014/main" val="3480678850"/>
                    </a:ext>
                  </a:extLst>
                </a:gridCol>
              </a:tblGrid>
              <a:tr h="292210">
                <a:tc>
                  <a:txBody>
                    <a:bodyPr/>
                    <a:lstStyle/>
                    <a:p>
                      <a:pPr marL="0" marR="0" algn="l">
                        <a:spcBef>
                          <a:spcPts val="0"/>
                        </a:spcBef>
                        <a:spcAft>
                          <a:spcPts val="0"/>
                        </a:spcAft>
                      </a:pPr>
                      <a:r>
                        <a:rPr lang="en-US" sz="1800" b="1" kern="150">
                          <a:effectLst/>
                        </a:rPr>
                        <a:t>Conserved area</a:t>
                      </a:r>
                      <a:endParaRPr lang="en-US" sz="1800" b="1" kern="150">
                        <a:effectLst/>
                        <a:latin typeface="Liberation Serif"/>
                        <a:ea typeface="Noto Serif CJK SC"/>
                        <a:cs typeface="Lohit Devanagari"/>
                      </a:endParaRPr>
                    </a:p>
                  </a:txBody>
                  <a:tcPr marL="68580" marR="68580" marT="0" marB="0"/>
                </a:tc>
                <a:tc>
                  <a:txBody>
                    <a:bodyPr/>
                    <a:lstStyle/>
                    <a:p>
                      <a:pPr marL="0" marR="0" algn="l">
                        <a:spcBef>
                          <a:spcPts val="0"/>
                        </a:spcBef>
                        <a:spcAft>
                          <a:spcPts val="0"/>
                        </a:spcAft>
                      </a:pPr>
                      <a:r>
                        <a:rPr lang="en-US" sz="1800" b="1" kern="150" dirty="0">
                          <a:effectLst/>
                        </a:rPr>
                        <a:t>Primers seq.</a:t>
                      </a:r>
                      <a:endParaRPr lang="en-US" sz="1800" b="1" kern="150" dirty="0">
                        <a:effectLst/>
                        <a:latin typeface="Liberation Serif"/>
                        <a:ea typeface="Noto Serif CJK SC"/>
                        <a:cs typeface="Lohit Devanagari"/>
                      </a:endParaRPr>
                    </a:p>
                  </a:txBody>
                  <a:tcPr marL="68580" marR="68580" marT="0" marB="0"/>
                </a:tc>
                <a:tc>
                  <a:txBody>
                    <a:bodyPr/>
                    <a:lstStyle/>
                    <a:p>
                      <a:pPr marL="0" marR="0" algn="l">
                        <a:spcBef>
                          <a:spcPts val="0"/>
                        </a:spcBef>
                        <a:spcAft>
                          <a:spcPts val="0"/>
                        </a:spcAft>
                      </a:pPr>
                      <a:r>
                        <a:rPr lang="en-US" sz="1800" b="1" kern="150" dirty="0">
                          <a:effectLst/>
                        </a:rPr>
                        <a:t>Tm</a:t>
                      </a:r>
                      <a:endParaRPr lang="en-US" sz="1800" b="1" kern="150" dirty="0">
                        <a:effectLst/>
                        <a:latin typeface="Liberation Serif"/>
                        <a:ea typeface="Noto Serif CJK SC"/>
                        <a:cs typeface="Lohit Devanagari"/>
                      </a:endParaRPr>
                    </a:p>
                  </a:txBody>
                  <a:tcPr marL="68580" marR="68580" marT="0" marB="0"/>
                </a:tc>
                <a:tc>
                  <a:txBody>
                    <a:bodyPr/>
                    <a:lstStyle/>
                    <a:p>
                      <a:pPr marL="0" marR="0" algn="l">
                        <a:spcBef>
                          <a:spcPts val="0"/>
                        </a:spcBef>
                        <a:spcAft>
                          <a:spcPts val="0"/>
                        </a:spcAft>
                      </a:pPr>
                      <a:r>
                        <a:rPr lang="en-US" sz="1800" b="1" kern="150" dirty="0">
                          <a:effectLst/>
                        </a:rPr>
                        <a:t>Product</a:t>
                      </a:r>
                      <a:endParaRPr lang="en-US" sz="1800" b="1" kern="150" dirty="0">
                        <a:effectLst/>
                        <a:latin typeface="Liberation Serif"/>
                        <a:ea typeface="Noto Serif CJK SC"/>
                        <a:cs typeface="Lohit Devanagari"/>
                      </a:endParaRPr>
                    </a:p>
                  </a:txBody>
                  <a:tcPr marL="68580" marR="68580" marT="0" marB="0"/>
                </a:tc>
                <a:extLst>
                  <a:ext uri="{0D108BD9-81ED-4DB2-BD59-A6C34878D82A}">
                    <a16:rowId xmlns:a16="http://schemas.microsoft.com/office/drawing/2014/main" val="1514906178"/>
                  </a:ext>
                </a:extLst>
              </a:tr>
              <a:tr h="1153753">
                <a:tc>
                  <a:txBody>
                    <a:bodyPr/>
                    <a:lstStyle/>
                    <a:p>
                      <a:pPr marL="0" marR="0" algn="l">
                        <a:spcBef>
                          <a:spcPts val="0"/>
                        </a:spcBef>
                        <a:spcAft>
                          <a:spcPts val="0"/>
                        </a:spcAft>
                      </a:pPr>
                      <a:r>
                        <a:rPr lang="en-US" sz="1400" b="1" kern="150" dirty="0">
                          <a:effectLst/>
                        </a:rPr>
                        <a:t>&gt;NC_045512.2_Conserved_1</a:t>
                      </a:r>
                    </a:p>
                    <a:p>
                      <a:pPr marL="0" marR="0" algn="l">
                        <a:spcBef>
                          <a:spcPts val="0"/>
                        </a:spcBef>
                        <a:spcAft>
                          <a:spcPts val="0"/>
                        </a:spcAft>
                      </a:pPr>
                      <a:r>
                        <a:rPr lang="en-US" sz="1400" b="1" kern="150" dirty="0">
                          <a:effectLst/>
                        </a:rPr>
                        <a:t>Orf1ab (64-206)</a:t>
                      </a:r>
                      <a:endParaRPr lang="en-US" sz="1400" b="1" kern="150" dirty="0">
                        <a:effectLst/>
                        <a:latin typeface="Liberation Serif"/>
                        <a:ea typeface="Noto Serif CJK SC"/>
                        <a:cs typeface="Lohit Devanagari"/>
                      </a:endParaRPr>
                    </a:p>
                  </a:txBody>
                  <a:tcPr marL="68580" marR="68580" marT="0" marB="0"/>
                </a:tc>
                <a:tc>
                  <a:txBody>
                    <a:bodyPr/>
                    <a:lstStyle/>
                    <a:p>
                      <a:pPr marL="0" marR="0" algn="l">
                        <a:spcBef>
                          <a:spcPts val="0"/>
                        </a:spcBef>
                        <a:spcAft>
                          <a:spcPts val="0"/>
                        </a:spcAft>
                      </a:pPr>
                      <a:r>
                        <a:rPr lang="en-US" sz="1600" kern="150" dirty="0">
                          <a:effectLst/>
                        </a:rPr>
                        <a:t>F’ CGAACTGCACCTCATGGTCA</a:t>
                      </a:r>
                    </a:p>
                    <a:p>
                      <a:pPr marL="0" marR="0" algn="l">
                        <a:spcBef>
                          <a:spcPts val="0"/>
                        </a:spcBef>
                        <a:spcAft>
                          <a:spcPts val="0"/>
                        </a:spcAft>
                      </a:pPr>
                      <a:r>
                        <a:rPr lang="en-US" sz="1600" kern="150" dirty="0">
                          <a:effectLst/>
                        </a:rPr>
                        <a:t>R’ ACGCATGAGTTCACGGGTAA</a:t>
                      </a:r>
                    </a:p>
                    <a:p>
                      <a:pPr marL="0" marR="0" algn="l">
                        <a:spcBef>
                          <a:spcPts val="0"/>
                        </a:spcBef>
                        <a:spcAft>
                          <a:spcPts val="0"/>
                        </a:spcAft>
                      </a:pPr>
                      <a:r>
                        <a:rPr lang="en-US" sz="1600" kern="150" dirty="0">
                          <a:effectLst/>
                        </a:rPr>
                        <a:t> </a:t>
                      </a:r>
                    </a:p>
                    <a:p>
                      <a:pPr marL="0" marR="0" algn="l">
                        <a:spcBef>
                          <a:spcPts val="0"/>
                        </a:spcBef>
                        <a:spcAft>
                          <a:spcPts val="0"/>
                        </a:spcAft>
                      </a:pPr>
                      <a:r>
                        <a:rPr lang="en-US" sz="1600" kern="150" dirty="0">
                          <a:effectLst/>
                        </a:rPr>
                        <a:t>F’TGGTAGCAGAACTCGAAGGC</a:t>
                      </a:r>
                    </a:p>
                    <a:p>
                      <a:pPr marL="0" marR="0" algn="l">
                        <a:spcBef>
                          <a:spcPts val="0"/>
                        </a:spcBef>
                        <a:spcAft>
                          <a:spcPts val="0"/>
                        </a:spcAft>
                      </a:pPr>
                      <a:r>
                        <a:rPr lang="en-US" sz="1600" kern="150" dirty="0">
                          <a:effectLst/>
                        </a:rPr>
                        <a:t>R’CACGGGTAACACCACTGCTA</a:t>
                      </a:r>
                      <a:endParaRPr lang="en-US" sz="1600" kern="150" dirty="0">
                        <a:effectLst/>
                        <a:latin typeface="Liberation Serif"/>
                        <a:ea typeface="Noto Serif CJK SC"/>
                        <a:cs typeface="Lohit Devanagari"/>
                      </a:endParaRPr>
                    </a:p>
                  </a:txBody>
                  <a:tcPr marL="68580" marR="68580" marT="0" marB="0"/>
                </a:tc>
                <a:tc>
                  <a:txBody>
                    <a:bodyPr/>
                    <a:lstStyle/>
                    <a:p>
                      <a:pPr marL="0" marR="0" algn="l">
                        <a:spcBef>
                          <a:spcPts val="0"/>
                        </a:spcBef>
                        <a:spcAft>
                          <a:spcPts val="0"/>
                        </a:spcAft>
                      </a:pPr>
                      <a:r>
                        <a:rPr lang="en-US" sz="1600" kern="150" dirty="0">
                          <a:effectLst/>
                        </a:rPr>
                        <a:t>60</a:t>
                      </a:r>
                    </a:p>
                    <a:p>
                      <a:pPr marL="0" marR="0" algn="l">
                        <a:spcBef>
                          <a:spcPts val="0"/>
                        </a:spcBef>
                        <a:spcAft>
                          <a:spcPts val="0"/>
                        </a:spcAft>
                      </a:pPr>
                      <a:r>
                        <a:rPr lang="en-US" sz="1600" kern="150" dirty="0">
                          <a:effectLst/>
                        </a:rPr>
                        <a:t>60</a:t>
                      </a:r>
                    </a:p>
                    <a:p>
                      <a:pPr marL="0" marR="0" algn="l">
                        <a:spcBef>
                          <a:spcPts val="0"/>
                        </a:spcBef>
                        <a:spcAft>
                          <a:spcPts val="0"/>
                        </a:spcAft>
                      </a:pPr>
                      <a:r>
                        <a:rPr lang="en-US" sz="1600" kern="150" dirty="0">
                          <a:effectLst/>
                        </a:rPr>
                        <a:t> </a:t>
                      </a:r>
                    </a:p>
                    <a:p>
                      <a:pPr marL="0" marR="0" algn="l">
                        <a:spcBef>
                          <a:spcPts val="0"/>
                        </a:spcBef>
                        <a:spcAft>
                          <a:spcPts val="0"/>
                        </a:spcAft>
                      </a:pPr>
                      <a:r>
                        <a:rPr lang="en-US" sz="1600" kern="150" dirty="0">
                          <a:effectLst/>
                        </a:rPr>
                        <a:t>59</a:t>
                      </a:r>
                    </a:p>
                    <a:p>
                      <a:pPr marL="0" marR="0" algn="l">
                        <a:spcBef>
                          <a:spcPts val="0"/>
                        </a:spcBef>
                        <a:spcAft>
                          <a:spcPts val="0"/>
                        </a:spcAft>
                      </a:pPr>
                      <a:r>
                        <a:rPr lang="en-US" sz="1600" kern="150" dirty="0">
                          <a:effectLst/>
                        </a:rPr>
                        <a:t>59</a:t>
                      </a:r>
                      <a:endParaRPr lang="en-US" sz="1600" kern="150" dirty="0">
                        <a:effectLst/>
                        <a:latin typeface="Liberation Serif"/>
                        <a:ea typeface="Noto Serif CJK SC"/>
                        <a:cs typeface="Lohit Devanagari"/>
                      </a:endParaRPr>
                    </a:p>
                  </a:txBody>
                  <a:tcPr marL="68580" marR="68580" marT="0" marB="0"/>
                </a:tc>
                <a:tc>
                  <a:txBody>
                    <a:bodyPr/>
                    <a:lstStyle/>
                    <a:p>
                      <a:pPr marL="0" marR="0" algn="l">
                        <a:spcBef>
                          <a:spcPts val="0"/>
                        </a:spcBef>
                        <a:spcAft>
                          <a:spcPts val="0"/>
                        </a:spcAft>
                      </a:pPr>
                      <a:r>
                        <a:rPr lang="en-US" sz="1600" kern="150" dirty="0">
                          <a:effectLst/>
                        </a:rPr>
                        <a:t>297bp</a:t>
                      </a:r>
                    </a:p>
                    <a:p>
                      <a:pPr marL="0" marR="0" algn="l">
                        <a:spcBef>
                          <a:spcPts val="0"/>
                        </a:spcBef>
                        <a:spcAft>
                          <a:spcPts val="0"/>
                        </a:spcAft>
                      </a:pPr>
                      <a:r>
                        <a:rPr lang="en-US" sz="1600" kern="150" dirty="0">
                          <a:effectLst/>
                        </a:rPr>
                        <a:t> </a:t>
                      </a:r>
                    </a:p>
                    <a:p>
                      <a:pPr marL="0" marR="0" algn="l">
                        <a:spcBef>
                          <a:spcPts val="0"/>
                        </a:spcBef>
                        <a:spcAft>
                          <a:spcPts val="0"/>
                        </a:spcAft>
                      </a:pPr>
                      <a:r>
                        <a:rPr lang="en-US" sz="1600" kern="150" dirty="0">
                          <a:effectLst/>
                        </a:rPr>
                        <a:t> </a:t>
                      </a:r>
                    </a:p>
                    <a:p>
                      <a:pPr marL="0" marR="0" algn="l">
                        <a:spcBef>
                          <a:spcPts val="0"/>
                        </a:spcBef>
                        <a:spcAft>
                          <a:spcPts val="0"/>
                        </a:spcAft>
                      </a:pPr>
                      <a:r>
                        <a:rPr lang="en-US" sz="1600" kern="150" dirty="0">
                          <a:effectLst/>
                        </a:rPr>
                        <a:t>252bp</a:t>
                      </a:r>
                      <a:endParaRPr lang="en-US" sz="1600" kern="150" dirty="0">
                        <a:effectLst/>
                        <a:latin typeface="Liberation Serif"/>
                        <a:ea typeface="Noto Serif CJK SC"/>
                        <a:cs typeface="Lohit Devanagari"/>
                      </a:endParaRPr>
                    </a:p>
                  </a:txBody>
                  <a:tcPr marL="68580" marR="68580" marT="0" marB="0"/>
                </a:tc>
                <a:extLst>
                  <a:ext uri="{0D108BD9-81ED-4DB2-BD59-A6C34878D82A}">
                    <a16:rowId xmlns:a16="http://schemas.microsoft.com/office/drawing/2014/main" val="1273663475"/>
                  </a:ext>
                </a:extLst>
              </a:tr>
              <a:tr h="1145754">
                <a:tc>
                  <a:txBody>
                    <a:bodyPr/>
                    <a:lstStyle/>
                    <a:p>
                      <a:pPr marL="0" marR="0" algn="l">
                        <a:spcBef>
                          <a:spcPts val="0"/>
                        </a:spcBef>
                        <a:spcAft>
                          <a:spcPts val="0"/>
                        </a:spcAft>
                      </a:pPr>
                      <a:r>
                        <a:rPr lang="en-US" sz="1400" b="1" kern="150">
                          <a:effectLst/>
                        </a:rPr>
                        <a:t>&gt;NC_045512.2_Conerved_11</a:t>
                      </a:r>
                    </a:p>
                    <a:p>
                      <a:pPr marL="0" marR="0" algn="l">
                        <a:spcBef>
                          <a:spcPts val="0"/>
                        </a:spcBef>
                        <a:spcAft>
                          <a:spcPts val="0"/>
                        </a:spcAft>
                      </a:pPr>
                      <a:r>
                        <a:rPr lang="en-US" sz="1400" b="1" kern="150">
                          <a:effectLst/>
                        </a:rPr>
                        <a:t>NSP3 (172-383)</a:t>
                      </a:r>
                      <a:endParaRPr lang="en-US" sz="1400" b="1" kern="150">
                        <a:effectLst/>
                        <a:latin typeface="Liberation Serif"/>
                        <a:ea typeface="Noto Serif CJK SC"/>
                        <a:cs typeface="Lohit Devanagari"/>
                      </a:endParaRPr>
                    </a:p>
                  </a:txBody>
                  <a:tcPr marL="68580" marR="68580" marT="0" marB="0"/>
                </a:tc>
                <a:tc>
                  <a:txBody>
                    <a:bodyPr/>
                    <a:lstStyle/>
                    <a:p>
                      <a:pPr marL="0" marR="0" algn="l">
                        <a:spcBef>
                          <a:spcPts val="0"/>
                        </a:spcBef>
                        <a:spcAft>
                          <a:spcPts val="0"/>
                        </a:spcAft>
                      </a:pPr>
                      <a:r>
                        <a:rPr lang="en-US" sz="1600" kern="150" dirty="0">
                          <a:effectLst/>
                        </a:rPr>
                        <a:t>F’ GACGGCAGTGAGGACAATCAG</a:t>
                      </a:r>
                    </a:p>
                    <a:p>
                      <a:pPr marL="0" marR="0" algn="l">
                        <a:spcBef>
                          <a:spcPts val="0"/>
                        </a:spcBef>
                        <a:spcAft>
                          <a:spcPts val="0"/>
                        </a:spcAft>
                      </a:pPr>
                      <a:r>
                        <a:rPr lang="en-US" sz="1600" kern="150" dirty="0">
                          <a:effectLst/>
                        </a:rPr>
                        <a:t>R’ TTTAAGGCTCCTGCAACACC</a:t>
                      </a:r>
                    </a:p>
                    <a:p>
                      <a:pPr marL="0" marR="0" algn="l">
                        <a:spcBef>
                          <a:spcPts val="0"/>
                        </a:spcBef>
                        <a:spcAft>
                          <a:spcPts val="0"/>
                        </a:spcAft>
                      </a:pPr>
                      <a:r>
                        <a:rPr lang="en-US" sz="1600" kern="150" dirty="0">
                          <a:effectLst/>
                        </a:rPr>
                        <a:t> </a:t>
                      </a:r>
                    </a:p>
                    <a:p>
                      <a:pPr marL="0" marR="0" algn="l">
                        <a:spcBef>
                          <a:spcPts val="0"/>
                        </a:spcBef>
                        <a:spcAft>
                          <a:spcPts val="0"/>
                        </a:spcAft>
                      </a:pPr>
                      <a:r>
                        <a:rPr lang="en-US" sz="1600" kern="150" dirty="0">
                          <a:effectLst/>
                        </a:rPr>
                        <a:t>F’CGGCAGTGAGGACAATCAGAC</a:t>
                      </a:r>
                    </a:p>
                    <a:p>
                      <a:pPr marL="0" marR="0" algn="l">
                        <a:spcBef>
                          <a:spcPts val="0"/>
                        </a:spcBef>
                        <a:spcAft>
                          <a:spcPts val="0"/>
                        </a:spcAft>
                      </a:pPr>
                      <a:r>
                        <a:rPr lang="en-US" sz="1600" kern="150" dirty="0">
                          <a:effectLst/>
                        </a:rPr>
                        <a:t>R’ GGCTGCATTAACAACCACTGT</a:t>
                      </a:r>
                      <a:endParaRPr lang="en-US" sz="1600" kern="150" dirty="0">
                        <a:effectLst/>
                        <a:latin typeface="Liberation Serif"/>
                        <a:ea typeface="Noto Serif CJK SC"/>
                        <a:cs typeface="Lohit Devanagari"/>
                      </a:endParaRPr>
                    </a:p>
                  </a:txBody>
                  <a:tcPr marL="68580" marR="68580" marT="0" marB="0"/>
                </a:tc>
                <a:tc>
                  <a:txBody>
                    <a:bodyPr/>
                    <a:lstStyle/>
                    <a:p>
                      <a:pPr marL="0" marR="0" algn="l">
                        <a:spcBef>
                          <a:spcPts val="0"/>
                        </a:spcBef>
                        <a:spcAft>
                          <a:spcPts val="0"/>
                        </a:spcAft>
                      </a:pPr>
                      <a:r>
                        <a:rPr lang="en-US" sz="1600" kern="150">
                          <a:effectLst/>
                        </a:rPr>
                        <a:t>61</a:t>
                      </a:r>
                    </a:p>
                    <a:p>
                      <a:pPr marL="0" marR="0" algn="l">
                        <a:spcBef>
                          <a:spcPts val="0"/>
                        </a:spcBef>
                        <a:spcAft>
                          <a:spcPts val="0"/>
                        </a:spcAft>
                      </a:pPr>
                      <a:r>
                        <a:rPr lang="en-US" sz="1600" kern="150">
                          <a:effectLst/>
                        </a:rPr>
                        <a:t>58</a:t>
                      </a:r>
                    </a:p>
                    <a:p>
                      <a:pPr marL="0" marR="0" algn="l">
                        <a:spcBef>
                          <a:spcPts val="0"/>
                        </a:spcBef>
                        <a:spcAft>
                          <a:spcPts val="0"/>
                        </a:spcAft>
                      </a:pPr>
                      <a:r>
                        <a:rPr lang="en-US" sz="1600" kern="150">
                          <a:effectLst/>
                        </a:rPr>
                        <a:t> </a:t>
                      </a:r>
                    </a:p>
                    <a:p>
                      <a:pPr marL="0" marR="0" algn="l">
                        <a:spcBef>
                          <a:spcPts val="0"/>
                        </a:spcBef>
                        <a:spcAft>
                          <a:spcPts val="0"/>
                        </a:spcAft>
                      </a:pPr>
                      <a:r>
                        <a:rPr lang="en-US" sz="1600" kern="150">
                          <a:effectLst/>
                        </a:rPr>
                        <a:t>61</a:t>
                      </a:r>
                    </a:p>
                    <a:p>
                      <a:pPr marL="0" marR="0" algn="l">
                        <a:spcBef>
                          <a:spcPts val="0"/>
                        </a:spcBef>
                        <a:spcAft>
                          <a:spcPts val="0"/>
                        </a:spcAft>
                      </a:pPr>
                      <a:r>
                        <a:rPr lang="en-US" sz="1600" kern="150">
                          <a:effectLst/>
                        </a:rPr>
                        <a:t>59</a:t>
                      </a:r>
                      <a:endParaRPr lang="en-US" sz="1600" kern="150">
                        <a:effectLst/>
                        <a:latin typeface="Liberation Serif"/>
                        <a:ea typeface="Noto Serif CJK SC"/>
                        <a:cs typeface="Lohit Devanagari"/>
                      </a:endParaRPr>
                    </a:p>
                  </a:txBody>
                  <a:tcPr marL="68580" marR="68580" marT="0" marB="0"/>
                </a:tc>
                <a:tc>
                  <a:txBody>
                    <a:bodyPr/>
                    <a:lstStyle/>
                    <a:p>
                      <a:pPr marL="0" marR="0" algn="l">
                        <a:spcBef>
                          <a:spcPts val="0"/>
                        </a:spcBef>
                        <a:spcAft>
                          <a:spcPts val="0"/>
                        </a:spcAft>
                      </a:pPr>
                      <a:r>
                        <a:rPr lang="en-US" sz="1600" kern="150">
                          <a:effectLst/>
                        </a:rPr>
                        <a:t>254bp</a:t>
                      </a:r>
                    </a:p>
                    <a:p>
                      <a:pPr marL="0" marR="0" algn="l">
                        <a:spcBef>
                          <a:spcPts val="0"/>
                        </a:spcBef>
                        <a:spcAft>
                          <a:spcPts val="0"/>
                        </a:spcAft>
                      </a:pPr>
                      <a:r>
                        <a:rPr lang="en-US" sz="1600" kern="150">
                          <a:effectLst/>
                        </a:rPr>
                        <a:t> </a:t>
                      </a:r>
                    </a:p>
                    <a:p>
                      <a:pPr marL="0" marR="0" algn="l">
                        <a:spcBef>
                          <a:spcPts val="0"/>
                        </a:spcBef>
                        <a:spcAft>
                          <a:spcPts val="0"/>
                        </a:spcAft>
                      </a:pPr>
                      <a:r>
                        <a:rPr lang="en-US" sz="1600" kern="150">
                          <a:effectLst/>
                        </a:rPr>
                        <a:t> </a:t>
                      </a:r>
                    </a:p>
                    <a:p>
                      <a:pPr marL="0" marR="0" algn="l">
                        <a:spcBef>
                          <a:spcPts val="0"/>
                        </a:spcBef>
                        <a:spcAft>
                          <a:spcPts val="0"/>
                        </a:spcAft>
                      </a:pPr>
                      <a:r>
                        <a:rPr lang="en-US" sz="1600" kern="150">
                          <a:effectLst/>
                        </a:rPr>
                        <a:t>208bp</a:t>
                      </a:r>
                      <a:endParaRPr lang="en-US" sz="1600" kern="150">
                        <a:effectLst/>
                        <a:latin typeface="Liberation Serif"/>
                        <a:ea typeface="Noto Serif CJK SC"/>
                        <a:cs typeface="Lohit Devanagari"/>
                      </a:endParaRPr>
                    </a:p>
                  </a:txBody>
                  <a:tcPr marL="68580" marR="68580" marT="0" marB="0"/>
                </a:tc>
                <a:extLst>
                  <a:ext uri="{0D108BD9-81ED-4DB2-BD59-A6C34878D82A}">
                    <a16:rowId xmlns:a16="http://schemas.microsoft.com/office/drawing/2014/main" val="1234133116"/>
                  </a:ext>
                </a:extLst>
              </a:tr>
              <a:tr h="1145755">
                <a:tc>
                  <a:txBody>
                    <a:bodyPr/>
                    <a:lstStyle/>
                    <a:p>
                      <a:pPr marL="0" marR="0" algn="l">
                        <a:spcBef>
                          <a:spcPts val="0"/>
                        </a:spcBef>
                        <a:spcAft>
                          <a:spcPts val="0"/>
                        </a:spcAft>
                      </a:pPr>
                      <a:r>
                        <a:rPr lang="en-US" sz="1400" b="1" kern="150">
                          <a:effectLst/>
                        </a:rPr>
                        <a:t>&gt;NC_045512.2_Conerved_12</a:t>
                      </a:r>
                    </a:p>
                    <a:p>
                      <a:pPr marL="0" marR="0" algn="l">
                        <a:spcBef>
                          <a:spcPts val="0"/>
                        </a:spcBef>
                        <a:spcAft>
                          <a:spcPts val="0"/>
                        </a:spcAft>
                      </a:pPr>
                      <a:r>
                        <a:rPr lang="en-US" sz="1400" b="1" kern="150">
                          <a:effectLst/>
                        </a:rPr>
                        <a:t>NSP3 (1201-1455)</a:t>
                      </a:r>
                      <a:endParaRPr lang="en-US" sz="1400" b="1" kern="150">
                        <a:effectLst/>
                        <a:latin typeface="Liberation Serif"/>
                        <a:ea typeface="Noto Serif CJK SC"/>
                        <a:cs typeface="Lohit Devanagari"/>
                      </a:endParaRPr>
                    </a:p>
                  </a:txBody>
                  <a:tcPr marL="68580" marR="68580" marT="0" marB="0"/>
                </a:tc>
                <a:tc>
                  <a:txBody>
                    <a:bodyPr/>
                    <a:lstStyle/>
                    <a:p>
                      <a:pPr marL="0" marR="0" algn="l">
                        <a:spcBef>
                          <a:spcPts val="0"/>
                        </a:spcBef>
                        <a:spcAft>
                          <a:spcPts val="0"/>
                        </a:spcAft>
                      </a:pPr>
                      <a:r>
                        <a:rPr lang="en-US" sz="1600" kern="150" dirty="0">
                          <a:effectLst/>
                        </a:rPr>
                        <a:t>F’ TAAAAAGGCTGGTGGCACTACT</a:t>
                      </a:r>
                    </a:p>
                    <a:p>
                      <a:pPr marL="0" marR="0" algn="l">
                        <a:spcBef>
                          <a:spcPts val="0"/>
                        </a:spcBef>
                        <a:spcAft>
                          <a:spcPts val="0"/>
                        </a:spcAft>
                      </a:pPr>
                      <a:r>
                        <a:rPr lang="en-US" sz="1600" kern="150" dirty="0">
                          <a:effectLst/>
                        </a:rPr>
                        <a:t>R’ TTAAGCACTGTCTTTGCCTCC</a:t>
                      </a:r>
                    </a:p>
                    <a:p>
                      <a:pPr marL="0" marR="0" algn="l">
                        <a:spcBef>
                          <a:spcPts val="0"/>
                        </a:spcBef>
                        <a:spcAft>
                          <a:spcPts val="0"/>
                        </a:spcAft>
                      </a:pPr>
                      <a:r>
                        <a:rPr lang="en-US" sz="1600" kern="150" dirty="0">
                          <a:effectLst/>
                        </a:rPr>
                        <a:t> </a:t>
                      </a:r>
                    </a:p>
                    <a:p>
                      <a:pPr marL="0" marR="0" algn="l">
                        <a:spcBef>
                          <a:spcPts val="0"/>
                        </a:spcBef>
                        <a:spcAft>
                          <a:spcPts val="0"/>
                        </a:spcAft>
                      </a:pPr>
                      <a:r>
                        <a:rPr lang="en-US" sz="1600" kern="150" dirty="0">
                          <a:effectLst/>
                        </a:rPr>
                        <a:t>F’GCTGGTGGCACTACTGAAATG</a:t>
                      </a:r>
                    </a:p>
                    <a:p>
                      <a:pPr marL="0" marR="0" algn="l">
                        <a:spcBef>
                          <a:spcPts val="0"/>
                        </a:spcBef>
                        <a:spcAft>
                          <a:spcPts val="0"/>
                        </a:spcAft>
                      </a:pPr>
                      <a:r>
                        <a:rPr lang="en-US" sz="1600" kern="150" dirty="0">
                          <a:effectLst/>
                        </a:rPr>
                        <a:t>R’ GCCTCCTCTACAGTGTAACCA</a:t>
                      </a:r>
                      <a:endParaRPr lang="en-US" sz="1600" kern="150" dirty="0">
                        <a:effectLst/>
                        <a:latin typeface="Liberation Serif"/>
                        <a:ea typeface="Noto Serif CJK SC"/>
                        <a:cs typeface="Lohit Devanagari"/>
                      </a:endParaRPr>
                    </a:p>
                  </a:txBody>
                  <a:tcPr marL="68580" marR="68580" marT="0" marB="0"/>
                </a:tc>
                <a:tc>
                  <a:txBody>
                    <a:bodyPr/>
                    <a:lstStyle/>
                    <a:p>
                      <a:pPr marL="0" marR="0" algn="l">
                        <a:spcBef>
                          <a:spcPts val="0"/>
                        </a:spcBef>
                        <a:spcAft>
                          <a:spcPts val="0"/>
                        </a:spcAft>
                      </a:pPr>
                      <a:r>
                        <a:rPr lang="en-US" sz="1600" kern="150">
                          <a:effectLst/>
                        </a:rPr>
                        <a:t>59</a:t>
                      </a:r>
                    </a:p>
                    <a:p>
                      <a:pPr marL="0" marR="0" algn="l">
                        <a:spcBef>
                          <a:spcPts val="0"/>
                        </a:spcBef>
                        <a:spcAft>
                          <a:spcPts val="0"/>
                        </a:spcAft>
                      </a:pPr>
                      <a:r>
                        <a:rPr lang="en-US" sz="1600" kern="150">
                          <a:effectLst/>
                        </a:rPr>
                        <a:t>58</a:t>
                      </a:r>
                    </a:p>
                    <a:p>
                      <a:pPr marL="0" marR="0" algn="l">
                        <a:spcBef>
                          <a:spcPts val="0"/>
                        </a:spcBef>
                        <a:spcAft>
                          <a:spcPts val="0"/>
                        </a:spcAft>
                      </a:pPr>
                      <a:r>
                        <a:rPr lang="en-US" sz="1600" kern="150">
                          <a:effectLst/>
                        </a:rPr>
                        <a:t> </a:t>
                      </a:r>
                    </a:p>
                    <a:p>
                      <a:pPr marL="0" marR="0" algn="l">
                        <a:spcBef>
                          <a:spcPts val="0"/>
                        </a:spcBef>
                        <a:spcAft>
                          <a:spcPts val="0"/>
                        </a:spcAft>
                      </a:pPr>
                      <a:r>
                        <a:rPr lang="en-US" sz="1600" kern="150">
                          <a:effectLst/>
                        </a:rPr>
                        <a:t>59</a:t>
                      </a:r>
                    </a:p>
                    <a:p>
                      <a:pPr marL="0" marR="0" algn="l">
                        <a:spcBef>
                          <a:spcPts val="0"/>
                        </a:spcBef>
                        <a:spcAft>
                          <a:spcPts val="0"/>
                        </a:spcAft>
                      </a:pPr>
                      <a:r>
                        <a:rPr lang="en-US" sz="1600" kern="150">
                          <a:effectLst/>
                        </a:rPr>
                        <a:t>58</a:t>
                      </a:r>
                      <a:endParaRPr lang="en-US" sz="1600" kern="150">
                        <a:effectLst/>
                        <a:latin typeface="Liberation Serif"/>
                        <a:ea typeface="Noto Serif CJK SC"/>
                        <a:cs typeface="Lohit Devanagari"/>
                      </a:endParaRPr>
                    </a:p>
                  </a:txBody>
                  <a:tcPr marL="68580" marR="68580" marT="0" marB="0"/>
                </a:tc>
                <a:tc>
                  <a:txBody>
                    <a:bodyPr/>
                    <a:lstStyle/>
                    <a:p>
                      <a:pPr marL="0" marR="0" algn="l">
                        <a:spcBef>
                          <a:spcPts val="0"/>
                        </a:spcBef>
                        <a:spcAft>
                          <a:spcPts val="0"/>
                        </a:spcAft>
                      </a:pPr>
                      <a:r>
                        <a:rPr lang="en-US" sz="1600" kern="150">
                          <a:effectLst/>
                        </a:rPr>
                        <a:t>132bp</a:t>
                      </a:r>
                    </a:p>
                    <a:p>
                      <a:pPr marL="0" marR="0" algn="l">
                        <a:spcBef>
                          <a:spcPts val="0"/>
                        </a:spcBef>
                        <a:spcAft>
                          <a:spcPts val="0"/>
                        </a:spcAft>
                      </a:pPr>
                      <a:r>
                        <a:rPr lang="en-US" sz="1600" kern="150">
                          <a:effectLst/>
                        </a:rPr>
                        <a:t> </a:t>
                      </a:r>
                    </a:p>
                    <a:p>
                      <a:pPr marL="0" marR="0" algn="l">
                        <a:spcBef>
                          <a:spcPts val="0"/>
                        </a:spcBef>
                        <a:spcAft>
                          <a:spcPts val="0"/>
                        </a:spcAft>
                      </a:pPr>
                      <a:r>
                        <a:rPr lang="en-US" sz="1600" kern="150">
                          <a:effectLst/>
                        </a:rPr>
                        <a:t> </a:t>
                      </a:r>
                    </a:p>
                    <a:p>
                      <a:pPr marL="0" marR="0" algn="l">
                        <a:spcBef>
                          <a:spcPts val="0"/>
                        </a:spcBef>
                        <a:spcAft>
                          <a:spcPts val="0"/>
                        </a:spcAft>
                      </a:pPr>
                      <a:r>
                        <a:rPr lang="en-US" sz="1600" kern="150">
                          <a:effectLst/>
                        </a:rPr>
                        <a:t>110bp</a:t>
                      </a:r>
                      <a:endParaRPr lang="en-US" sz="1600" kern="150">
                        <a:effectLst/>
                        <a:latin typeface="Liberation Serif"/>
                        <a:ea typeface="Noto Serif CJK SC"/>
                        <a:cs typeface="Lohit Devanagari"/>
                      </a:endParaRPr>
                    </a:p>
                  </a:txBody>
                  <a:tcPr marL="68580" marR="68580" marT="0" marB="0"/>
                </a:tc>
                <a:extLst>
                  <a:ext uri="{0D108BD9-81ED-4DB2-BD59-A6C34878D82A}">
                    <a16:rowId xmlns:a16="http://schemas.microsoft.com/office/drawing/2014/main" val="29737882"/>
                  </a:ext>
                </a:extLst>
              </a:tr>
              <a:tr h="1178805">
                <a:tc>
                  <a:txBody>
                    <a:bodyPr/>
                    <a:lstStyle/>
                    <a:p>
                      <a:pPr marL="0" marR="0" algn="l">
                        <a:spcBef>
                          <a:spcPts val="0"/>
                        </a:spcBef>
                        <a:spcAft>
                          <a:spcPts val="0"/>
                        </a:spcAft>
                      </a:pPr>
                      <a:r>
                        <a:rPr lang="en-US" sz="1400" b="1" kern="150">
                          <a:effectLst/>
                        </a:rPr>
                        <a:t>&gt;NC_045512.2_Conserved_13</a:t>
                      </a:r>
                      <a:endParaRPr lang="en-US" sz="1400" b="1" kern="150">
                        <a:effectLst/>
                        <a:latin typeface="Liberation Serif"/>
                        <a:ea typeface="Noto Serif CJK SC"/>
                        <a:cs typeface="Lohit Devanagari"/>
                      </a:endParaRPr>
                    </a:p>
                  </a:txBody>
                  <a:tcPr marL="68580" marR="68580" marT="0" marB="0"/>
                </a:tc>
                <a:tc>
                  <a:txBody>
                    <a:bodyPr/>
                    <a:lstStyle/>
                    <a:p>
                      <a:pPr marL="0" marR="0" algn="l">
                        <a:spcBef>
                          <a:spcPts val="0"/>
                        </a:spcBef>
                        <a:spcAft>
                          <a:spcPts val="0"/>
                        </a:spcAft>
                      </a:pPr>
                      <a:r>
                        <a:rPr lang="en-US" sz="1600" kern="150" dirty="0">
                          <a:effectLst/>
                        </a:rPr>
                        <a:t>F’ ATTTGGAAGAAGCTGCTCGG</a:t>
                      </a:r>
                    </a:p>
                    <a:p>
                      <a:pPr marL="0" marR="0" algn="l">
                        <a:spcBef>
                          <a:spcPts val="0"/>
                        </a:spcBef>
                        <a:spcAft>
                          <a:spcPts val="0"/>
                        </a:spcAft>
                      </a:pPr>
                      <a:r>
                        <a:rPr lang="en-US" sz="1600" kern="150" dirty="0">
                          <a:effectLst/>
                        </a:rPr>
                        <a:t>R’ TAGGAACCAGCAAGTGAGATGG</a:t>
                      </a:r>
                    </a:p>
                    <a:p>
                      <a:pPr marL="0" marR="0" algn="l">
                        <a:spcBef>
                          <a:spcPts val="0"/>
                        </a:spcBef>
                        <a:spcAft>
                          <a:spcPts val="0"/>
                        </a:spcAft>
                      </a:pPr>
                      <a:r>
                        <a:rPr lang="en-US" sz="1600" kern="150" dirty="0">
                          <a:effectLst/>
                        </a:rPr>
                        <a:t> </a:t>
                      </a:r>
                    </a:p>
                    <a:p>
                      <a:pPr marL="0" marR="0" algn="l">
                        <a:spcBef>
                          <a:spcPts val="0"/>
                        </a:spcBef>
                        <a:spcAft>
                          <a:spcPts val="0"/>
                        </a:spcAft>
                      </a:pPr>
                      <a:r>
                        <a:rPr lang="en-US" sz="1600" kern="150" dirty="0">
                          <a:effectLst/>
                        </a:rPr>
                        <a:t>F’ATTTGGAAGAAGCTGCTCGGT</a:t>
                      </a:r>
                    </a:p>
                    <a:p>
                      <a:pPr marL="0" marR="0" algn="l">
                        <a:spcBef>
                          <a:spcPts val="0"/>
                        </a:spcBef>
                        <a:spcAft>
                          <a:spcPts val="0"/>
                        </a:spcAft>
                      </a:pPr>
                      <a:r>
                        <a:rPr lang="en-US" sz="1600" kern="150" dirty="0">
                          <a:effectLst/>
                        </a:rPr>
                        <a:t>R’ ACCAGCAAGTGAGATGGTTTCA</a:t>
                      </a:r>
                      <a:endParaRPr lang="en-US" sz="1600" kern="150" dirty="0">
                        <a:effectLst/>
                        <a:latin typeface="Liberation Serif"/>
                        <a:ea typeface="Noto Serif CJK SC"/>
                        <a:cs typeface="Lohit Devanagari"/>
                      </a:endParaRPr>
                    </a:p>
                  </a:txBody>
                  <a:tcPr marL="68580" marR="68580" marT="0" marB="0"/>
                </a:tc>
                <a:tc>
                  <a:txBody>
                    <a:bodyPr/>
                    <a:lstStyle/>
                    <a:p>
                      <a:pPr marL="0" marR="0" algn="l">
                        <a:spcBef>
                          <a:spcPts val="0"/>
                        </a:spcBef>
                        <a:spcAft>
                          <a:spcPts val="0"/>
                        </a:spcAft>
                      </a:pPr>
                      <a:r>
                        <a:rPr lang="en-US" sz="1600" kern="150" dirty="0">
                          <a:effectLst/>
                        </a:rPr>
                        <a:t>58</a:t>
                      </a:r>
                    </a:p>
                    <a:p>
                      <a:pPr marL="0" marR="0" algn="l">
                        <a:spcBef>
                          <a:spcPts val="0"/>
                        </a:spcBef>
                        <a:spcAft>
                          <a:spcPts val="0"/>
                        </a:spcAft>
                      </a:pPr>
                      <a:r>
                        <a:rPr lang="en-US" sz="1600" kern="150" dirty="0">
                          <a:effectLst/>
                        </a:rPr>
                        <a:t>59</a:t>
                      </a:r>
                    </a:p>
                    <a:p>
                      <a:pPr marL="0" marR="0" algn="l">
                        <a:spcBef>
                          <a:spcPts val="0"/>
                        </a:spcBef>
                        <a:spcAft>
                          <a:spcPts val="0"/>
                        </a:spcAft>
                      </a:pPr>
                      <a:r>
                        <a:rPr lang="en-US" sz="1600" kern="150" dirty="0">
                          <a:effectLst/>
                        </a:rPr>
                        <a:t> </a:t>
                      </a:r>
                    </a:p>
                    <a:p>
                      <a:pPr marL="0" marR="0" algn="l">
                        <a:spcBef>
                          <a:spcPts val="0"/>
                        </a:spcBef>
                        <a:spcAft>
                          <a:spcPts val="0"/>
                        </a:spcAft>
                      </a:pPr>
                      <a:r>
                        <a:rPr lang="en-US" sz="1600" kern="150" dirty="0">
                          <a:effectLst/>
                        </a:rPr>
                        <a:t>60</a:t>
                      </a:r>
                    </a:p>
                    <a:p>
                      <a:pPr marL="0" marR="0" algn="l">
                        <a:spcBef>
                          <a:spcPts val="0"/>
                        </a:spcBef>
                        <a:spcAft>
                          <a:spcPts val="0"/>
                        </a:spcAft>
                      </a:pPr>
                      <a:r>
                        <a:rPr lang="en-US" sz="1600" kern="150" dirty="0">
                          <a:effectLst/>
                        </a:rPr>
                        <a:t>60</a:t>
                      </a:r>
                      <a:endParaRPr lang="en-US" sz="1600" kern="150" dirty="0">
                        <a:effectLst/>
                        <a:latin typeface="Liberation Serif"/>
                        <a:ea typeface="Noto Serif CJK SC"/>
                        <a:cs typeface="Lohit Devanagari"/>
                      </a:endParaRPr>
                    </a:p>
                  </a:txBody>
                  <a:tcPr marL="68580" marR="68580" marT="0" marB="0"/>
                </a:tc>
                <a:tc>
                  <a:txBody>
                    <a:bodyPr/>
                    <a:lstStyle/>
                    <a:p>
                      <a:pPr marL="0" marR="0" algn="l">
                        <a:spcBef>
                          <a:spcPts val="0"/>
                        </a:spcBef>
                        <a:spcAft>
                          <a:spcPts val="0"/>
                        </a:spcAft>
                      </a:pPr>
                      <a:r>
                        <a:rPr lang="en-US" sz="1600" kern="150" dirty="0">
                          <a:effectLst/>
                        </a:rPr>
                        <a:t>160bp</a:t>
                      </a:r>
                    </a:p>
                    <a:p>
                      <a:pPr marL="0" marR="0" algn="l">
                        <a:spcBef>
                          <a:spcPts val="0"/>
                        </a:spcBef>
                        <a:spcAft>
                          <a:spcPts val="0"/>
                        </a:spcAft>
                      </a:pPr>
                      <a:r>
                        <a:rPr lang="en-US" sz="1600" kern="150" dirty="0">
                          <a:effectLst/>
                        </a:rPr>
                        <a:t> </a:t>
                      </a:r>
                    </a:p>
                    <a:p>
                      <a:pPr marL="0" marR="0" algn="l">
                        <a:spcBef>
                          <a:spcPts val="0"/>
                        </a:spcBef>
                        <a:spcAft>
                          <a:spcPts val="0"/>
                        </a:spcAft>
                      </a:pPr>
                      <a:r>
                        <a:rPr lang="en-US" sz="1600" kern="150" dirty="0">
                          <a:effectLst/>
                        </a:rPr>
                        <a:t> </a:t>
                      </a:r>
                    </a:p>
                    <a:p>
                      <a:pPr marL="0" marR="0" algn="l">
                        <a:spcBef>
                          <a:spcPts val="0"/>
                        </a:spcBef>
                        <a:spcAft>
                          <a:spcPts val="0"/>
                        </a:spcAft>
                      </a:pPr>
                      <a:r>
                        <a:rPr lang="en-US" sz="1600" kern="150" dirty="0">
                          <a:effectLst/>
                        </a:rPr>
                        <a:t>155bp</a:t>
                      </a:r>
                      <a:endParaRPr lang="en-US" sz="1600" kern="150" dirty="0">
                        <a:effectLst/>
                        <a:latin typeface="Liberation Serif"/>
                        <a:ea typeface="Noto Serif CJK SC"/>
                        <a:cs typeface="Lohit Devanagari"/>
                      </a:endParaRPr>
                    </a:p>
                  </a:txBody>
                  <a:tcPr marL="68580" marR="68580" marT="0" marB="0"/>
                </a:tc>
                <a:extLst>
                  <a:ext uri="{0D108BD9-81ED-4DB2-BD59-A6C34878D82A}">
                    <a16:rowId xmlns:a16="http://schemas.microsoft.com/office/drawing/2014/main" val="4088009079"/>
                  </a:ext>
                </a:extLst>
              </a:tr>
              <a:tr h="1461046">
                <a:tc>
                  <a:txBody>
                    <a:bodyPr/>
                    <a:lstStyle/>
                    <a:p>
                      <a:pPr marL="0" marR="0" algn="l">
                        <a:spcBef>
                          <a:spcPts val="0"/>
                        </a:spcBef>
                        <a:spcAft>
                          <a:spcPts val="0"/>
                        </a:spcAft>
                      </a:pPr>
                      <a:r>
                        <a:rPr lang="en-US" sz="1400" b="1" kern="150" dirty="0">
                          <a:solidFill>
                            <a:srgbClr val="222222"/>
                          </a:solidFill>
                          <a:effectLst/>
                          <a:latin typeface="+mn-lt"/>
                          <a:ea typeface="Noto Serif CJK SC"/>
                          <a:cs typeface="Lohit Devanagari"/>
                        </a:rPr>
                        <a:t>&gt;NC_045512.2_Conserved_14</a:t>
                      </a:r>
                      <a:endParaRPr lang="en-US" sz="1400" b="1" kern="150" dirty="0">
                        <a:effectLst/>
                        <a:latin typeface="+mn-lt"/>
                        <a:ea typeface="Noto Serif CJK SC"/>
                        <a:cs typeface="Lohit Devanagari"/>
                      </a:endParaRPr>
                    </a:p>
                  </a:txBody>
                  <a:tcPr marL="68580" marR="68580" marT="0" marB="0"/>
                </a:tc>
                <a:tc>
                  <a:txBody>
                    <a:bodyPr/>
                    <a:lstStyle/>
                    <a:p>
                      <a:pPr marL="0" marR="0" algn="l">
                        <a:spcBef>
                          <a:spcPts val="0"/>
                        </a:spcBef>
                        <a:spcAft>
                          <a:spcPts val="0"/>
                        </a:spcAft>
                      </a:pPr>
                      <a:r>
                        <a:rPr lang="en-US" sz="1600" kern="150">
                          <a:effectLst/>
                          <a:latin typeface="+mn-lt"/>
                          <a:ea typeface="Noto Serif CJK SC"/>
                          <a:cs typeface="Lohit Devanagari"/>
                        </a:rPr>
                        <a:t>F’ TAACCTCCACACGCAAGTTGT</a:t>
                      </a:r>
                    </a:p>
                    <a:p>
                      <a:pPr marL="0" marR="0" algn="l">
                        <a:spcBef>
                          <a:spcPts val="0"/>
                        </a:spcBef>
                        <a:spcAft>
                          <a:spcPts val="0"/>
                        </a:spcAft>
                      </a:pPr>
                      <a:r>
                        <a:rPr lang="en-US" sz="1600" kern="150">
                          <a:effectLst/>
                          <a:latin typeface="+mn-lt"/>
                          <a:ea typeface="Noto Serif CJK SC"/>
                          <a:cs typeface="Lohit Devanagari"/>
                        </a:rPr>
                        <a:t>R’ TGCTGACATGTACCTACCCA</a:t>
                      </a:r>
                    </a:p>
                    <a:p>
                      <a:pPr marL="0" marR="0" algn="l">
                        <a:spcBef>
                          <a:spcPts val="0"/>
                        </a:spcBef>
                        <a:spcAft>
                          <a:spcPts val="0"/>
                        </a:spcAft>
                      </a:pPr>
                      <a:r>
                        <a:rPr lang="en-US" sz="1600" kern="150">
                          <a:effectLst/>
                          <a:latin typeface="+mn-lt"/>
                          <a:ea typeface="Noto Serif CJK SC"/>
                          <a:cs typeface="Lohit Devanagari"/>
                        </a:rPr>
                        <a:t> </a:t>
                      </a:r>
                    </a:p>
                    <a:p>
                      <a:pPr marL="0" marR="0" algn="l">
                        <a:spcBef>
                          <a:spcPts val="0"/>
                        </a:spcBef>
                        <a:spcAft>
                          <a:spcPts val="0"/>
                        </a:spcAft>
                      </a:pPr>
                      <a:r>
                        <a:rPr lang="en-US" sz="1600" kern="150">
                          <a:effectLst/>
                          <a:latin typeface="+mn-lt"/>
                          <a:ea typeface="Noto Serif CJK SC"/>
                          <a:cs typeface="Lohit Devanagari"/>
                        </a:rPr>
                        <a:t>F’TCCACACGCAAGTTGTGGAC</a:t>
                      </a:r>
                    </a:p>
                    <a:p>
                      <a:pPr marL="0" marR="0" algn="l">
                        <a:spcBef>
                          <a:spcPts val="0"/>
                        </a:spcBef>
                        <a:spcAft>
                          <a:spcPts val="0"/>
                        </a:spcAft>
                      </a:pPr>
                      <a:r>
                        <a:rPr lang="en-US" sz="1600" kern="150">
                          <a:effectLst/>
                          <a:latin typeface="+mn-lt"/>
                          <a:ea typeface="Noto Serif CJK SC"/>
                          <a:cs typeface="Lohit Devanagari"/>
                        </a:rPr>
                        <a:t>R’ GCTGACATGTACCTACCCAGA</a:t>
                      </a:r>
                    </a:p>
                  </a:txBody>
                  <a:tcPr marL="68580" marR="68580" marT="0" marB="0"/>
                </a:tc>
                <a:tc>
                  <a:txBody>
                    <a:bodyPr/>
                    <a:lstStyle/>
                    <a:p>
                      <a:pPr marL="0" marR="0" algn="l">
                        <a:spcBef>
                          <a:spcPts val="0"/>
                        </a:spcBef>
                        <a:spcAft>
                          <a:spcPts val="0"/>
                        </a:spcAft>
                      </a:pPr>
                      <a:r>
                        <a:rPr lang="en-US" sz="1600" b="0" kern="150" dirty="0">
                          <a:solidFill>
                            <a:srgbClr val="000000"/>
                          </a:solidFill>
                          <a:effectLst/>
                          <a:latin typeface="+mn-lt"/>
                          <a:ea typeface="Noto Serif CJK SC"/>
                          <a:cs typeface="Lohit Devanagari"/>
                        </a:rPr>
                        <a:t>60</a:t>
                      </a:r>
                      <a:endParaRPr lang="en-US" sz="1600" b="0" kern="150" dirty="0">
                        <a:effectLst/>
                        <a:latin typeface="+mn-lt"/>
                        <a:ea typeface="Noto Serif CJK SC"/>
                        <a:cs typeface="Lohit Devanagari"/>
                      </a:endParaRPr>
                    </a:p>
                    <a:p>
                      <a:pPr marL="0" marR="0" algn="l">
                        <a:spcBef>
                          <a:spcPts val="0"/>
                        </a:spcBef>
                        <a:spcAft>
                          <a:spcPts val="0"/>
                        </a:spcAft>
                      </a:pPr>
                      <a:r>
                        <a:rPr lang="en-US" sz="1600" b="0" kern="150" dirty="0">
                          <a:solidFill>
                            <a:srgbClr val="000000"/>
                          </a:solidFill>
                          <a:effectLst/>
                          <a:latin typeface="+mn-lt"/>
                          <a:ea typeface="Noto Serif CJK SC"/>
                          <a:cs typeface="Lohit Devanagari"/>
                        </a:rPr>
                        <a:t>58</a:t>
                      </a:r>
                      <a:endParaRPr lang="en-US" sz="1600" b="0" kern="150" dirty="0">
                        <a:effectLst/>
                        <a:latin typeface="+mn-lt"/>
                        <a:ea typeface="Noto Serif CJK SC"/>
                        <a:cs typeface="Lohit Devanagari"/>
                      </a:endParaRPr>
                    </a:p>
                    <a:p>
                      <a:pPr marL="0" marR="0" algn="l">
                        <a:spcBef>
                          <a:spcPts val="0"/>
                        </a:spcBef>
                        <a:spcAft>
                          <a:spcPts val="0"/>
                        </a:spcAft>
                      </a:pPr>
                      <a:r>
                        <a:rPr lang="en-US" sz="1600" b="0" kern="150" dirty="0">
                          <a:effectLst/>
                          <a:latin typeface="+mn-lt"/>
                          <a:ea typeface="Noto Serif CJK SC"/>
                          <a:cs typeface="Lohit Devanagari"/>
                        </a:rPr>
                        <a:t> </a:t>
                      </a:r>
                    </a:p>
                    <a:p>
                      <a:pPr marL="0" marR="0" algn="l">
                        <a:spcBef>
                          <a:spcPts val="0"/>
                        </a:spcBef>
                        <a:spcAft>
                          <a:spcPts val="0"/>
                        </a:spcAft>
                      </a:pPr>
                      <a:r>
                        <a:rPr lang="en-US" sz="1600" b="0" kern="150" dirty="0">
                          <a:solidFill>
                            <a:srgbClr val="000000"/>
                          </a:solidFill>
                          <a:effectLst/>
                          <a:latin typeface="+mn-lt"/>
                          <a:ea typeface="Noto Serif CJK SC"/>
                          <a:cs typeface="Lohit Devanagari"/>
                        </a:rPr>
                        <a:t>61</a:t>
                      </a:r>
                      <a:endParaRPr lang="en-US" sz="1600" b="0" kern="150" dirty="0">
                        <a:effectLst/>
                        <a:latin typeface="+mn-lt"/>
                        <a:ea typeface="Noto Serif CJK SC"/>
                        <a:cs typeface="Lohit Devanagari"/>
                      </a:endParaRPr>
                    </a:p>
                    <a:p>
                      <a:pPr marL="0" marR="0" algn="l">
                        <a:spcBef>
                          <a:spcPts val="0"/>
                        </a:spcBef>
                        <a:spcAft>
                          <a:spcPts val="0"/>
                        </a:spcAft>
                      </a:pPr>
                      <a:r>
                        <a:rPr lang="en-US" sz="1600" b="0" kern="150" dirty="0">
                          <a:solidFill>
                            <a:srgbClr val="000000"/>
                          </a:solidFill>
                          <a:effectLst/>
                          <a:latin typeface="+mn-lt"/>
                          <a:ea typeface="Noto Serif CJK SC"/>
                          <a:cs typeface="Lohit Devanagari"/>
                        </a:rPr>
                        <a:t>58</a:t>
                      </a:r>
                      <a:endParaRPr lang="en-US" sz="1600" b="0" kern="150" dirty="0">
                        <a:effectLst/>
                        <a:latin typeface="+mn-lt"/>
                        <a:ea typeface="Noto Serif CJK SC"/>
                        <a:cs typeface="Lohit Devanagari"/>
                      </a:endParaRPr>
                    </a:p>
                  </a:txBody>
                  <a:tcPr marL="68580" marR="68580" marT="0" marB="0"/>
                </a:tc>
                <a:tc>
                  <a:txBody>
                    <a:bodyPr/>
                    <a:lstStyle/>
                    <a:p>
                      <a:pPr marL="0" marR="0" algn="l">
                        <a:spcBef>
                          <a:spcPts val="0"/>
                        </a:spcBef>
                        <a:spcAft>
                          <a:spcPts val="0"/>
                        </a:spcAft>
                      </a:pPr>
                      <a:r>
                        <a:rPr lang="en-US" sz="1600" kern="150" dirty="0">
                          <a:effectLst/>
                          <a:latin typeface="+mn-lt"/>
                          <a:ea typeface="Noto Serif CJK SC"/>
                          <a:cs typeface="Lohit Devanagari"/>
                        </a:rPr>
                        <a:t>217bp</a:t>
                      </a:r>
                    </a:p>
                    <a:p>
                      <a:pPr marL="0" marR="0" algn="l">
                        <a:spcBef>
                          <a:spcPts val="0"/>
                        </a:spcBef>
                        <a:spcAft>
                          <a:spcPts val="0"/>
                        </a:spcAft>
                      </a:pPr>
                      <a:r>
                        <a:rPr lang="en-US" sz="1600" kern="150" dirty="0">
                          <a:effectLst/>
                          <a:latin typeface="+mn-lt"/>
                          <a:ea typeface="Noto Serif CJK SC"/>
                          <a:cs typeface="Lohit Devanagari"/>
                        </a:rPr>
                        <a:t> </a:t>
                      </a:r>
                    </a:p>
                    <a:p>
                      <a:pPr marL="0" marR="0" algn="l">
                        <a:spcBef>
                          <a:spcPts val="0"/>
                        </a:spcBef>
                        <a:spcAft>
                          <a:spcPts val="0"/>
                        </a:spcAft>
                      </a:pPr>
                      <a:r>
                        <a:rPr lang="en-US" sz="1600" kern="150" dirty="0">
                          <a:effectLst/>
                          <a:latin typeface="+mn-lt"/>
                          <a:ea typeface="Noto Serif CJK SC"/>
                          <a:cs typeface="Lohit Devanagari"/>
                        </a:rPr>
                        <a:t> </a:t>
                      </a:r>
                    </a:p>
                    <a:p>
                      <a:pPr marL="0" marR="0" algn="l">
                        <a:spcBef>
                          <a:spcPts val="0"/>
                        </a:spcBef>
                        <a:spcAft>
                          <a:spcPts val="0"/>
                        </a:spcAft>
                      </a:pPr>
                      <a:r>
                        <a:rPr lang="en-US" sz="1600" kern="150" dirty="0">
                          <a:effectLst/>
                          <a:latin typeface="+mn-lt"/>
                          <a:ea typeface="Noto Serif CJK SC"/>
                          <a:cs typeface="Lohit Devanagari"/>
                        </a:rPr>
                        <a:t>211bp</a:t>
                      </a:r>
                    </a:p>
                  </a:txBody>
                  <a:tcPr marL="68580" marR="68580" marT="0" marB="0"/>
                </a:tc>
                <a:extLst>
                  <a:ext uri="{0D108BD9-81ED-4DB2-BD59-A6C34878D82A}">
                    <a16:rowId xmlns:a16="http://schemas.microsoft.com/office/drawing/2014/main" val="4027657255"/>
                  </a:ext>
                </a:extLst>
              </a:tr>
            </a:tbl>
          </a:graphicData>
        </a:graphic>
      </p:graphicFrame>
    </p:spTree>
    <p:extLst>
      <p:ext uri="{BB962C8B-B14F-4D97-AF65-F5344CB8AC3E}">
        <p14:creationId xmlns:p14="http://schemas.microsoft.com/office/powerpoint/2010/main" val="701324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F7337E10-0CD6-4D1C-A475-1051B5F0C8C1}"/>
              </a:ext>
            </a:extLst>
          </p:cNvPr>
          <p:cNvGraphicFramePr>
            <a:graphicFrameLocks noGrp="1"/>
          </p:cNvGraphicFramePr>
          <p:nvPr>
            <p:extLst>
              <p:ext uri="{D42A27DB-BD31-4B8C-83A1-F6EECF244321}">
                <p14:modId xmlns:p14="http://schemas.microsoft.com/office/powerpoint/2010/main" val="1842348047"/>
              </p:ext>
            </p:extLst>
          </p:nvPr>
        </p:nvGraphicFramePr>
        <p:xfrm>
          <a:off x="565533" y="151482"/>
          <a:ext cx="11060934" cy="6630056"/>
        </p:xfrm>
        <a:graphic>
          <a:graphicData uri="http://schemas.openxmlformats.org/drawingml/2006/table">
            <a:tbl>
              <a:tblPr>
                <a:tableStyleId>{5C22544A-7EE6-4342-B048-85BDC9FD1C3A}</a:tableStyleId>
              </a:tblPr>
              <a:tblGrid>
                <a:gridCol w="2739527">
                  <a:extLst>
                    <a:ext uri="{9D8B030D-6E8A-4147-A177-3AD203B41FA5}">
                      <a16:colId xmlns:a16="http://schemas.microsoft.com/office/drawing/2014/main" val="460790999"/>
                    </a:ext>
                  </a:extLst>
                </a:gridCol>
                <a:gridCol w="4382133">
                  <a:extLst>
                    <a:ext uri="{9D8B030D-6E8A-4147-A177-3AD203B41FA5}">
                      <a16:colId xmlns:a16="http://schemas.microsoft.com/office/drawing/2014/main" val="4228716929"/>
                    </a:ext>
                  </a:extLst>
                </a:gridCol>
                <a:gridCol w="1444974">
                  <a:extLst>
                    <a:ext uri="{9D8B030D-6E8A-4147-A177-3AD203B41FA5}">
                      <a16:colId xmlns:a16="http://schemas.microsoft.com/office/drawing/2014/main" val="1765781329"/>
                    </a:ext>
                  </a:extLst>
                </a:gridCol>
                <a:gridCol w="2494300">
                  <a:extLst>
                    <a:ext uri="{9D8B030D-6E8A-4147-A177-3AD203B41FA5}">
                      <a16:colId xmlns:a16="http://schemas.microsoft.com/office/drawing/2014/main" val="3480678850"/>
                    </a:ext>
                  </a:extLst>
                </a:gridCol>
              </a:tblGrid>
              <a:tr h="292210">
                <a:tc>
                  <a:txBody>
                    <a:bodyPr/>
                    <a:lstStyle/>
                    <a:p>
                      <a:pPr marL="0" marR="0" algn="l">
                        <a:spcBef>
                          <a:spcPts val="0"/>
                        </a:spcBef>
                        <a:spcAft>
                          <a:spcPts val="0"/>
                        </a:spcAft>
                      </a:pPr>
                      <a:r>
                        <a:rPr lang="en-US" sz="1800" b="1" kern="150">
                          <a:effectLst/>
                        </a:rPr>
                        <a:t>Conserved area</a:t>
                      </a:r>
                      <a:endParaRPr lang="en-US" sz="1800" b="1" kern="150">
                        <a:effectLst/>
                        <a:latin typeface="Liberation Serif"/>
                        <a:ea typeface="Noto Serif CJK SC"/>
                        <a:cs typeface="Lohit Devanagari"/>
                      </a:endParaRPr>
                    </a:p>
                  </a:txBody>
                  <a:tcPr marL="68580" marR="68580" marT="0" marB="0"/>
                </a:tc>
                <a:tc>
                  <a:txBody>
                    <a:bodyPr/>
                    <a:lstStyle/>
                    <a:p>
                      <a:pPr marL="0" marR="0" algn="l">
                        <a:spcBef>
                          <a:spcPts val="0"/>
                        </a:spcBef>
                        <a:spcAft>
                          <a:spcPts val="0"/>
                        </a:spcAft>
                      </a:pPr>
                      <a:r>
                        <a:rPr lang="en-US" sz="1800" b="1" kern="150" dirty="0">
                          <a:effectLst/>
                        </a:rPr>
                        <a:t>Primers seq.</a:t>
                      </a:r>
                      <a:endParaRPr lang="en-US" sz="1800" b="1" kern="150" dirty="0">
                        <a:effectLst/>
                        <a:latin typeface="Liberation Serif"/>
                        <a:ea typeface="Noto Serif CJK SC"/>
                        <a:cs typeface="Lohit Devanagari"/>
                      </a:endParaRPr>
                    </a:p>
                  </a:txBody>
                  <a:tcPr marL="68580" marR="68580" marT="0" marB="0"/>
                </a:tc>
                <a:tc>
                  <a:txBody>
                    <a:bodyPr/>
                    <a:lstStyle/>
                    <a:p>
                      <a:pPr marL="0" marR="0" algn="l">
                        <a:spcBef>
                          <a:spcPts val="0"/>
                        </a:spcBef>
                        <a:spcAft>
                          <a:spcPts val="0"/>
                        </a:spcAft>
                      </a:pPr>
                      <a:r>
                        <a:rPr lang="en-US" sz="1800" b="1" kern="150" dirty="0">
                          <a:effectLst/>
                        </a:rPr>
                        <a:t>Tm</a:t>
                      </a:r>
                      <a:endParaRPr lang="en-US" sz="1800" b="1" kern="150" dirty="0">
                        <a:effectLst/>
                        <a:latin typeface="Liberation Serif"/>
                        <a:ea typeface="Noto Serif CJK SC"/>
                        <a:cs typeface="Lohit Devanagari"/>
                      </a:endParaRPr>
                    </a:p>
                  </a:txBody>
                  <a:tcPr marL="68580" marR="68580" marT="0" marB="0"/>
                </a:tc>
                <a:tc>
                  <a:txBody>
                    <a:bodyPr/>
                    <a:lstStyle/>
                    <a:p>
                      <a:pPr marL="0" marR="0" algn="l">
                        <a:spcBef>
                          <a:spcPts val="0"/>
                        </a:spcBef>
                        <a:spcAft>
                          <a:spcPts val="0"/>
                        </a:spcAft>
                      </a:pPr>
                      <a:r>
                        <a:rPr lang="en-US" sz="1800" b="1" kern="150" dirty="0">
                          <a:effectLst/>
                        </a:rPr>
                        <a:t>Product</a:t>
                      </a:r>
                      <a:endParaRPr lang="en-US" sz="1800" b="1" kern="150" dirty="0">
                        <a:effectLst/>
                        <a:latin typeface="Liberation Serif"/>
                        <a:ea typeface="Noto Serif CJK SC"/>
                        <a:cs typeface="Lohit Devanagari"/>
                      </a:endParaRPr>
                    </a:p>
                  </a:txBody>
                  <a:tcPr marL="68580" marR="68580" marT="0" marB="0"/>
                </a:tc>
                <a:extLst>
                  <a:ext uri="{0D108BD9-81ED-4DB2-BD59-A6C34878D82A}">
                    <a16:rowId xmlns:a16="http://schemas.microsoft.com/office/drawing/2014/main" val="1514906178"/>
                  </a:ext>
                </a:extLst>
              </a:tr>
              <a:tr h="1153753">
                <a:tc>
                  <a:txBody>
                    <a:bodyPr/>
                    <a:lstStyle/>
                    <a:p>
                      <a:pPr marL="0" marR="0" algn="l">
                        <a:spcBef>
                          <a:spcPts val="0"/>
                        </a:spcBef>
                        <a:spcAft>
                          <a:spcPts val="0"/>
                        </a:spcAft>
                      </a:pPr>
                      <a:r>
                        <a:rPr lang="en-US" sz="1400" b="1" kern="150">
                          <a:solidFill>
                            <a:srgbClr val="222222"/>
                          </a:solidFill>
                          <a:effectLst/>
                          <a:latin typeface="+mn-lt"/>
                          <a:ea typeface="Noto Serif CJK SC"/>
                          <a:cs typeface="Lohit Devanagari"/>
                        </a:rPr>
                        <a:t>&gt;NC_045512.2_Conserved_18</a:t>
                      </a:r>
                      <a:endParaRPr lang="en-US" sz="1400" b="1" kern="150">
                        <a:effectLst/>
                        <a:latin typeface="+mn-lt"/>
                        <a:ea typeface="Noto Serif CJK SC"/>
                        <a:cs typeface="Lohit Devanagari"/>
                      </a:endParaRPr>
                    </a:p>
                    <a:p>
                      <a:pPr marL="0" marR="0" algn="l">
                        <a:spcBef>
                          <a:spcPts val="0"/>
                        </a:spcBef>
                        <a:spcAft>
                          <a:spcPts val="0"/>
                        </a:spcAft>
                      </a:pPr>
                      <a:r>
                        <a:rPr lang="en-US" sz="1400" b="1" kern="150">
                          <a:solidFill>
                            <a:srgbClr val="222222"/>
                          </a:solidFill>
                          <a:effectLst/>
                          <a:latin typeface="+mn-lt"/>
                          <a:ea typeface="Noto Serif CJK SC"/>
                          <a:cs typeface="Lohit Devanagari"/>
                        </a:rPr>
                        <a:t>NSP3</a:t>
                      </a:r>
                      <a:endParaRPr lang="en-US" sz="1400" b="1" kern="150">
                        <a:effectLst/>
                        <a:latin typeface="+mn-lt"/>
                        <a:ea typeface="Noto Serif CJK SC"/>
                        <a:cs typeface="Lohit Devanagari"/>
                      </a:endParaRPr>
                    </a:p>
                  </a:txBody>
                  <a:tcPr marL="68580" marR="68580" marT="0" marB="0"/>
                </a:tc>
                <a:tc>
                  <a:txBody>
                    <a:bodyPr/>
                    <a:lstStyle/>
                    <a:p>
                      <a:pPr marL="0" marR="0" algn="l">
                        <a:spcBef>
                          <a:spcPts val="0"/>
                        </a:spcBef>
                        <a:spcAft>
                          <a:spcPts val="0"/>
                        </a:spcAft>
                      </a:pPr>
                      <a:r>
                        <a:rPr lang="en-US" sz="1600" kern="150">
                          <a:solidFill>
                            <a:srgbClr val="000000"/>
                          </a:solidFill>
                          <a:effectLst/>
                          <a:latin typeface="+mn-lt"/>
                          <a:ea typeface="Noto Serif CJK SC"/>
                          <a:cs typeface="Lohit Devanagari"/>
                        </a:rPr>
                        <a:t>F’ CAGAAGAGGTTGGCCACACAG</a:t>
                      </a:r>
                      <a:endParaRPr lang="en-US" sz="1600" kern="150">
                        <a:effectLst/>
                        <a:latin typeface="+mn-lt"/>
                        <a:ea typeface="Noto Serif CJK SC"/>
                        <a:cs typeface="Lohit Devanagari"/>
                      </a:endParaRPr>
                    </a:p>
                    <a:p>
                      <a:pPr marL="0" marR="0" algn="l">
                        <a:spcBef>
                          <a:spcPts val="0"/>
                        </a:spcBef>
                        <a:spcAft>
                          <a:spcPts val="0"/>
                        </a:spcAft>
                      </a:pPr>
                      <a:r>
                        <a:rPr lang="en-US" sz="1600" kern="150">
                          <a:solidFill>
                            <a:srgbClr val="000000"/>
                          </a:solidFill>
                          <a:effectLst/>
                          <a:latin typeface="+mn-lt"/>
                          <a:ea typeface="Noto Serif CJK SC"/>
                          <a:cs typeface="Lohit Devanagari"/>
                        </a:rPr>
                        <a:t>R’ AAAACACCTAAAGCAGCGGT</a:t>
                      </a:r>
                      <a:endParaRPr lang="en-US" sz="1600" kern="150">
                        <a:effectLst/>
                        <a:latin typeface="+mn-lt"/>
                        <a:ea typeface="Noto Serif CJK SC"/>
                        <a:cs typeface="Lohit Devanagari"/>
                      </a:endParaRPr>
                    </a:p>
                    <a:p>
                      <a:pPr marL="0" marR="0" algn="l">
                        <a:spcBef>
                          <a:spcPts val="0"/>
                        </a:spcBef>
                        <a:spcAft>
                          <a:spcPts val="0"/>
                        </a:spcAft>
                      </a:pPr>
                      <a:r>
                        <a:rPr lang="en-US" sz="1600" kern="150">
                          <a:effectLst/>
                          <a:latin typeface="+mn-lt"/>
                          <a:ea typeface="Noto Serif CJK SC"/>
                          <a:cs typeface="Lohit Devanagari"/>
                        </a:rPr>
                        <a:t> </a:t>
                      </a:r>
                    </a:p>
                    <a:p>
                      <a:pPr marL="0" marR="0" algn="l">
                        <a:spcBef>
                          <a:spcPts val="0"/>
                        </a:spcBef>
                        <a:spcAft>
                          <a:spcPts val="0"/>
                        </a:spcAft>
                      </a:pPr>
                      <a:r>
                        <a:rPr lang="en-US" sz="1600" kern="150">
                          <a:solidFill>
                            <a:srgbClr val="000000"/>
                          </a:solidFill>
                          <a:effectLst/>
                          <a:latin typeface="+mn-lt"/>
                          <a:ea typeface="Noto Serif CJK SC"/>
                          <a:cs typeface="Lohit Devanagari"/>
                        </a:rPr>
                        <a:t>F’CCACACAGATCTAATGGCTGC</a:t>
                      </a:r>
                      <a:endParaRPr lang="en-US" sz="1600" kern="150">
                        <a:effectLst/>
                        <a:latin typeface="+mn-lt"/>
                        <a:ea typeface="Noto Serif CJK SC"/>
                        <a:cs typeface="Lohit Devanagari"/>
                      </a:endParaRPr>
                    </a:p>
                    <a:p>
                      <a:pPr marL="0" marR="0" algn="l">
                        <a:spcBef>
                          <a:spcPts val="0"/>
                        </a:spcBef>
                        <a:spcAft>
                          <a:spcPts val="0"/>
                        </a:spcAft>
                      </a:pPr>
                      <a:r>
                        <a:rPr lang="en-US" sz="1600" kern="150">
                          <a:solidFill>
                            <a:srgbClr val="000000"/>
                          </a:solidFill>
                          <a:effectLst/>
                          <a:latin typeface="+mn-lt"/>
                          <a:ea typeface="Noto Serif CJK SC"/>
                          <a:cs typeface="Lohit Devanagari"/>
                        </a:rPr>
                        <a:t>R’ CCTAAAGCAGCGGTTGAGTAGA</a:t>
                      </a:r>
                      <a:endParaRPr lang="en-US" sz="1600" kern="150">
                        <a:effectLst/>
                        <a:latin typeface="+mn-lt"/>
                        <a:ea typeface="Noto Serif CJK SC"/>
                        <a:cs typeface="Lohit Devanagari"/>
                      </a:endParaRPr>
                    </a:p>
                  </a:txBody>
                  <a:tcPr marL="68580" marR="68580" marT="0" marB="0"/>
                </a:tc>
                <a:tc>
                  <a:txBody>
                    <a:bodyPr/>
                    <a:lstStyle/>
                    <a:p>
                      <a:pPr marL="0" marR="0" algn="l">
                        <a:spcBef>
                          <a:spcPts val="0"/>
                        </a:spcBef>
                        <a:spcAft>
                          <a:spcPts val="0"/>
                        </a:spcAft>
                      </a:pPr>
                      <a:r>
                        <a:rPr lang="en-US" sz="1600" b="0" kern="150" dirty="0">
                          <a:solidFill>
                            <a:srgbClr val="000000"/>
                          </a:solidFill>
                          <a:effectLst/>
                          <a:latin typeface="+mn-lt"/>
                          <a:ea typeface="Noto Serif CJK SC"/>
                          <a:cs typeface="Lohit Devanagari"/>
                        </a:rPr>
                        <a:t>61</a:t>
                      </a:r>
                      <a:endParaRPr lang="en-US" sz="1600" b="0" kern="150" dirty="0">
                        <a:effectLst/>
                        <a:latin typeface="+mn-lt"/>
                        <a:ea typeface="Noto Serif CJK SC"/>
                        <a:cs typeface="Lohit Devanagari"/>
                      </a:endParaRPr>
                    </a:p>
                    <a:p>
                      <a:pPr marL="0" marR="0" algn="l">
                        <a:spcBef>
                          <a:spcPts val="0"/>
                        </a:spcBef>
                        <a:spcAft>
                          <a:spcPts val="0"/>
                        </a:spcAft>
                      </a:pPr>
                      <a:r>
                        <a:rPr lang="en-US" sz="1600" b="0" kern="150" dirty="0">
                          <a:solidFill>
                            <a:srgbClr val="000000"/>
                          </a:solidFill>
                          <a:effectLst/>
                          <a:latin typeface="+mn-lt"/>
                          <a:ea typeface="Noto Serif CJK SC"/>
                          <a:cs typeface="Lohit Devanagari"/>
                        </a:rPr>
                        <a:t>58</a:t>
                      </a:r>
                      <a:endParaRPr lang="en-US" sz="1600" b="0" kern="150" dirty="0">
                        <a:effectLst/>
                        <a:latin typeface="+mn-lt"/>
                        <a:ea typeface="Noto Serif CJK SC"/>
                        <a:cs typeface="Lohit Devanagari"/>
                      </a:endParaRPr>
                    </a:p>
                    <a:p>
                      <a:pPr marL="0" marR="0" algn="l">
                        <a:spcBef>
                          <a:spcPts val="0"/>
                        </a:spcBef>
                        <a:spcAft>
                          <a:spcPts val="0"/>
                        </a:spcAft>
                      </a:pPr>
                      <a:r>
                        <a:rPr lang="en-US" sz="1600" b="0" kern="150" dirty="0">
                          <a:effectLst/>
                          <a:latin typeface="+mn-lt"/>
                          <a:ea typeface="Noto Serif CJK SC"/>
                          <a:cs typeface="Lohit Devanagari"/>
                        </a:rPr>
                        <a:t> </a:t>
                      </a:r>
                    </a:p>
                    <a:p>
                      <a:pPr marL="0" marR="0" algn="l">
                        <a:spcBef>
                          <a:spcPts val="0"/>
                        </a:spcBef>
                        <a:spcAft>
                          <a:spcPts val="0"/>
                        </a:spcAft>
                      </a:pPr>
                      <a:r>
                        <a:rPr lang="en-US" sz="1600" b="0" kern="150" dirty="0">
                          <a:solidFill>
                            <a:srgbClr val="000000"/>
                          </a:solidFill>
                          <a:effectLst/>
                          <a:latin typeface="+mn-lt"/>
                          <a:ea typeface="Noto Serif CJK SC"/>
                          <a:cs typeface="Lohit Devanagari"/>
                        </a:rPr>
                        <a:t>59</a:t>
                      </a:r>
                      <a:endParaRPr lang="en-US" sz="1600" b="0" kern="150" dirty="0">
                        <a:effectLst/>
                        <a:latin typeface="+mn-lt"/>
                        <a:ea typeface="Noto Serif CJK SC"/>
                        <a:cs typeface="Lohit Devanagari"/>
                      </a:endParaRPr>
                    </a:p>
                    <a:p>
                      <a:pPr marL="0" marR="0" algn="l">
                        <a:spcBef>
                          <a:spcPts val="0"/>
                        </a:spcBef>
                        <a:spcAft>
                          <a:spcPts val="0"/>
                        </a:spcAft>
                      </a:pPr>
                      <a:r>
                        <a:rPr lang="en-US" sz="1600" b="0" kern="150" dirty="0">
                          <a:solidFill>
                            <a:srgbClr val="000000"/>
                          </a:solidFill>
                          <a:effectLst/>
                          <a:latin typeface="+mn-lt"/>
                          <a:ea typeface="Noto Serif CJK SC"/>
                          <a:cs typeface="Lohit Devanagari"/>
                        </a:rPr>
                        <a:t>60</a:t>
                      </a:r>
                      <a:endParaRPr lang="en-US" sz="1600" b="0" kern="150" dirty="0">
                        <a:effectLst/>
                        <a:latin typeface="+mn-lt"/>
                        <a:ea typeface="Noto Serif CJK SC"/>
                        <a:cs typeface="Lohit Devanagari"/>
                      </a:endParaRPr>
                    </a:p>
                  </a:txBody>
                  <a:tcPr marL="68580" marR="68580" marT="0" marB="0"/>
                </a:tc>
                <a:tc>
                  <a:txBody>
                    <a:bodyPr/>
                    <a:lstStyle/>
                    <a:p>
                      <a:pPr marL="0" marR="0" algn="l">
                        <a:spcBef>
                          <a:spcPts val="0"/>
                        </a:spcBef>
                        <a:spcAft>
                          <a:spcPts val="0"/>
                        </a:spcAft>
                      </a:pPr>
                      <a:r>
                        <a:rPr lang="en-US" sz="1600" kern="150">
                          <a:solidFill>
                            <a:srgbClr val="000000"/>
                          </a:solidFill>
                          <a:effectLst/>
                          <a:latin typeface="+mn-lt"/>
                          <a:ea typeface="Noto Serif CJK SC"/>
                          <a:cs typeface="Lohit Devanagari"/>
                        </a:rPr>
                        <a:t>499bp</a:t>
                      </a:r>
                      <a:endParaRPr lang="en-US" sz="1600" kern="150">
                        <a:effectLst/>
                        <a:latin typeface="+mn-lt"/>
                        <a:ea typeface="Noto Serif CJK SC"/>
                        <a:cs typeface="Lohit Devanagari"/>
                      </a:endParaRPr>
                    </a:p>
                    <a:p>
                      <a:pPr marL="0" marR="0" algn="l">
                        <a:spcBef>
                          <a:spcPts val="0"/>
                        </a:spcBef>
                        <a:spcAft>
                          <a:spcPts val="0"/>
                        </a:spcAft>
                      </a:pPr>
                      <a:r>
                        <a:rPr lang="en-US" sz="1600" kern="150">
                          <a:effectLst/>
                          <a:latin typeface="+mn-lt"/>
                          <a:ea typeface="Noto Serif CJK SC"/>
                          <a:cs typeface="Lohit Devanagari"/>
                        </a:rPr>
                        <a:t> </a:t>
                      </a:r>
                    </a:p>
                    <a:p>
                      <a:pPr marL="0" marR="0" algn="l">
                        <a:spcBef>
                          <a:spcPts val="0"/>
                        </a:spcBef>
                        <a:spcAft>
                          <a:spcPts val="0"/>
                        </a:spcAft>
                      </a:pPr>
                      <a:r>
                        <a:rPr lang="en-US" sz="1600" kern="150">
                          <a:effectLst/>
                          <a:latin typeface="+mn-lt"/>
                          <a:ea typeface="Noto Serif CJK SC"/>
                          <a:cs typeface="Lohit Devanagari"/>
                        </a:rPr>
                        <a:t> </a:t>
                      </a:r>
                    </a:p>
                    <a:p>
                      <a:pPr marL="0" marR="0" algn="l">
                        <a:spcBef>
                          <a:spcPts val="0"/>
                        </a:spcBef>
                        <a:spcAft>
                          <a:spcPts val="0"/>
                        </a:spcAft>
                      </a:pPr>
                      <a:r>
                        <a:rPr lang="en-US" sz="1600" kern="150">
                          <a:solidFill>
                            <a:srgbClr val="000000"/>
                          </a:solidFill>
                          <a:effectLst/>
                          <a:latin typeface="+mn-lt"/>
                          <a:ea typeface="Noto Serif CJK SC"/>
                          <a:cs typeface="Lohit Devanagari"/>
                        </a:rPr>
                        <a:t>480bp</a:t>
                      </a:r>
                      <a:endParaRPr lang="en-US" sz="1600" kern="150">
                        <a:effectLst/>
                        <a:latin typeface="+mn-lt"/>
                        <a:ea typeface="Noto Serif CJK SC"/>
                        <a:cs typeface="Lohit Devanagari"/>
                      </a:endParaRPr>
                    </a:p>
                  </a:txBody>
                  <a:tcPr marL="68580" marR="68580" marT="0" marB="0"/>
                </a:tc>
                <a:extLst>
                  <a:ext uri="{0D108BD9-81ED-4DB2-BD59-A6C34878D82A}">
                    <a16:rowId xmlns:a16="http://schemas.microsoft.com/office/drawing/2014/main" val="1273663475"/>
                  </a:ext>
                </a:extLst>
              </a:tr>
              <a:tr h="1145754">
                <a:tc>
                  <a:txBody>
                    <a:bodyPr/>
                    <a:lstStyle/>
                    <a:p>
                      <a:pPr marL="0" marR="0" algn="l">
                        <a:spcBef>
                          <a:spcPts val="0"/>
                        </a:spcBef>
                        <a:spcAft>
                          <a:spcPts val="0"/>
                        </a:spcAft>
                      </a:pPr>
                      <a:r>
                        <a:rPr lang="en-US" sz="1400" b="1" kern="150">
                          <a:solidFill>
                            <a:srgbClr val="222222"/>
                          </a:solidFill>
                          <a:effectLst/>
                          <a:latin typeface="+mn-lt"/>
                          <a:ea typeface="Noto Serif CJK SC"/>
                          <a:cs typeface="Lohit Devanagari"/>
                        </a:rPr>
                        <a:t>&gt;NC_045512.2_Conserved_19</a:t>
                      </a:r>
                      <a:endParaRPr lang="en-US" sz="1400" b="1" kern="150">
                        <a:effectLst/>
                        <a:latin typeface="+mn-lt"/>
                        <a:ea typeface="Noto Serif CJK SC"/>
                        <a:cs typeface="Lohit Devanagari"/>
                      </a:endParaRPr>
                    </a:p>
                  </a:txBody>
                  <a:tcPr marL="68580" marR="68580" marT="0" marB="0"/>
                </a:tc>
                <a:tc>
                  <a:txBody>
                    <a:bodyPr/>
                    <a:lstStyle/>
                    <a:p>
                      <a:pPr marL="0" marR="0" algn="l">
                        <a:spcBef>
                          <a:spcPts val="0"/>
                        </a:spcBef>
                        <a:spcAft>
                          <a:spcPts val="0"/>
                        </a:spcAft>
                      </a:pPr>
                      <a:r>
                        <a:rPr lang="en-US" sz="1600" kern="150" dirty="0">
                          <a:effectLst/>
                          <a:latin typeface="+mn-lt"/>
                          <a:ea typeface="Noto Serif CJK SC"/>
                          <a:cs typeface="Lohit Devanagari"/>
                        </a:rPr>
                        <a:t>F’ TTGCAACCTACTGTACTGGTTCT</a:t>
                      </a:r>
                    </a:p>
                    <a:p>
                      <a:pPr marL="0" marR="0" algn="l">
                        <a:spcBef>
                          <a:spcPts val="0"/>
                        </a:spcBef>
                        <a:spcAft>
                          <a:spcPts val="0"/>
                        </a:spcAft>
                      </a:pPr>
                      <a:r>
                        <a:rPr lang="en-US" sz="1600" kern="150" dirty="0">
                          <a:effectLst/>
                          <a:latin typeface="+mn-lt"/>
                          <a:ea typeface="Noto Serif CJK SC"/>
                          <a:cs typeface="Lohit Devanagari"/>
                        </a:rPr>
                        <a:t>R’ TGCCAAAAACCACTCTGCAAC</a:t>
                      </a:r>
                    </a:p>
                    <a:p>
                      <a:pPr marL="0" marR="0" algn="l">
                        <a:spcBef>
                          <a:spcPts val="0"/>
                        </a:spcBef>
                        <a:spcAft>
                          <a:spcPts val="0"/>
                        </a:spcAft>
                      </a:pPr>
                      <a:r>
                        <a:rPr lang="en-US" sz="1600" kern="150" dirty="0">
                          <a:effectLst/>
                          <a:latin typeface="+mn-lt"/>
                          <a:ea typeface="Noto Serif CJK SC"/>
                          <a:cs typeface="Lohit Devanagari"/>
                        </a:rPr>
                        <a:t> </a:t>
                      </a:r>
                    </a:p>
                    <a:p>
                      <a:pPr marL="0" marR="0" algn="l">
                        <a:spcBef>
                          <a:spcPts val="0"/>
                        </a:spcBef>
                        <a:spcAft>
                          <a:spcPts val="0"/>
                        </a:spcAft>
                      </a:pPr>
                      <a:r>
                        <a:rPr lang="en-US" sz="1600" kern="150" dirty="0">
                          <a:effectLst/>
                          <a:latin typeface="+mn-lt"/>
                          <a:ea typeface="Noto Serif CJK SC"/>
                          <a:cs typeface="Lohit Devanagari"/>
                        </a:rPr>
                        <a:t>F’TGCAACCTACTGTACTGGTTC</a:t>
                      </a:r>
                    </a:p>
                    <a:p>
                      <a:pPr marL="0" marR="0" algn="l">
                        <a:spcBef>
                          <a:spcPts val="0"/>
                        </a:spcBef>
                        <a:spcAft>
                          <a:spcPts val="0"/>
                        </a:spcAft>
                      </a:pPr>
                      <a:r>
                        <a:rPr lang="en-US" sz="1600" kern="150" dirty="0">
                          <a:effectLst/>
                          <a:latin typeface="+mn-lt"/>
                          <a:ea typeface="Noto Serif CJK SC"/>
                          <a:cs typeface="Lohit Devanagari"/>
                        </a:rPr>
                        <a:t>R’GCCAAAAACCACTCTGCAACT</a:t>
                      </a:r>
                    </a:p>
                  </a:txBody>
                  <a:tcPr marL="68580" marR="68580" marT="0" marB="0"/>
                </a:tc>
                <a:tc>
                  <a:txBody>
                    <a:bodyPr/>
                    <a:lstStyle/>
                    <a:p>
                      <a:pPr marL="0" marR="0" algn="l">
                        <a:spcBef>
                          <a:spcPts val="0"/>
                        </a:spcBef>
                        <a:spcAft>
                          <a:spcPts val="0"/>
                        </a:spcAft>
                      </a:pPr>
                      <a:r>
                        <a:rPr lang="en-US" sz="1600" b="0" kern="150" dirty="0">
                          <a:solidFill>
                            <a:srgbClr val="000000"/>
                          </a:solidFill>
                          <a:effectLst/>
                          <a:latin typeface="+mn-lt"/>
                          <a:ea typeface="Noto Serif CJK SC"/>
                          <a:cs typeface="Lohit Devanagari"/>
                        </a:rPr>
                        <a:t>59</a:t>
                      </a:r>
                      <a:endParaRPr lang="en-US" sz="1600" b="0" kern="150" dirty="0">
                        <a:effectLst/>
                        <a:latin typeface="+mn-lt"/>
                        <a:ea typeface="Noto Serif CJK SC"/>
                        <a:cs typeface="Lohit Devanagari"/>
                      </a:endParaRPr>
                    </a:p>
                    <a:p>
                      <a:pPr marL="0" marR="0" algn="l">
                        <a:spcBef>
                          <a:spcPts val="0"/>
                        </a:spcBef>
                        <a:spcAft>
                          <a:spcPts val="0"/>
                        </a:spcAft>
                      </a:pPr>
                      <a:r>
                        <a:rPr lang="en-US" sz="1600" b="0" kern="150" dirty="0">
                          <a:solidFill>
                            <a:srgbClr val="000000"/>
                          </a:solidFill>
                          <a:effectLst/>
                          <a:latin typeface="+mn-lt"/>
                          <a:ea typeface="Noto Serif CJK SC"/>
                          <a:cs typeface="Lohit Devanagari"/>
                        </a:rPr>
                        <a:t>60</a:t>
                      </a:r>
                      <a:endParaRPr lang="en-US" sz="1600" b="0" kern="150" dirty="0">
                        <a:effectLst/>
                        <a:latin typeface="+mn-lt"/>
                        <a:ea typeface="Noto Serif CJK SC"/>
                        <a:cs typeface="Lohit Devanagari"/>
                      </a:endParaRPr>
                    </a:p>
                    <a:p>
                      <a:pPr marL="0" marR="0" algn="l">
                        <a:spcBef>
                          <a:spcPts val="0"/>
                        </a:spcBef>
                        <a:spcAft>
                          <a:spcPts val="0"/>
                        </a:spcAft>
                      </a:pPr>
                      <a:r>
                        <a:rPr lang="en-US" sz="1600" b="0" kern="150" dirty="0">
                          <a:effectLst/>
                          <a:latin typeface="+mn-lt"/>
                          <a:ea typeface="Noto Serif CJK SC"/>
                          <a:cs typeface="Lohit Devanagari"/>
                        </a:rPr>
                        <a:t> </a:t>
                      </a:r>
                    </a:p>
                    <a:p>
                      <a:pPr marL="0" marR="0" algn="l">
                        <a:spcBef>
                          <a:spcPts val="0"/>
                        </a:spcBef>
                        <a:spcAft>
                          <a:spcPts val="0"/>
                        </a:spcAft>
                      </a:pPr>
                      <a:r>
                        <a:rPr lang="en-US" sz="1600" b="0" kern="150" dirty="0">
                          <a:solidFill>
                            <a:srgbClr val="000000"/>
                          </a:solidFill>
                          <a:effectLst/>
                          <a:latin typeface="+mn-lt"/>
                          <a:ea typeface="Noto Serif CJK SC"/>
                          <a:cs typeface="Lohit Devanagari"/>
                        </a:rPr>
                        <a:t>57</a:t>
                      </a:r>
                      <a:endParaRPr lang="en-US" sz="1600" b="0" kern="150" dirty="0">
                        <a:effectLst/>
                        <a:latin typeface="+mn-lt"/>
                        <a:ea typeface="Noto Serif CJK SC"/>
                        <a:cs typeface="Lohit Devanagari"/>
                      </a:endParaRPr>
                    </a:p>
                    <a:p>
                      <a:pPr marL="0" marR="0" algn="l">
                        <a:spcBef>
                          <a:spcPts val="0"/>
                        </a:spcBef>
                        <a:spcAft>
                          <a:spcPts val="0"/>
                        </a:spcAft>
                      </a:pPr>
                      <a:r>
                        <a:rPr lang="en-US" sz="1600" b="0" kern="150" dirty="0">
                          <a:solidFill>
                            <a:srgbClr val="000000"/>
                          </a:solidFill>
                          <a:effectLst/>
                          <a:latin typeface="+mn-lt"/>
                          <a:ea typeface="Noto Serif CJK SC"/>
                          <a:cs typeface="Lohit Devanagari"/>
                        </a:rPr>
                        <a:t>59</a:t>
                      </a:r>
                      <a:endParaRPr lang="en-US" sz="1600" b="0" kern="150" dirty="0">
                        <a:effectLst/>
                        <a:latin typeface="+mn-lt"/>
                        <a:ea typeface="Noto Serif CJK SC"/>
                        <a:cs typeface="Lohit Devanagari"/>
                      </a:endParaRPr>
                    </a:p>
                  </a:txBody>
                  <a:tcPr marL="68580" marR="68580" marT="0" marB="0"/>
                </a:tc>
                <a:tc>
                  <a:txBody>
                    <a:bodyPr/>
                    <a:lstStyle/>
                    <a:p>
                      <a:pPr marL="0" marR="0" algn="l">
                        <a:spcBef>
                          <a:spcPts val="0"/>
                        </a:spcBef>
                        <a:spcAft>
                          <a:spcPts val="0"/>
                        </a:spcAft>
                      </a:pPr>
                      <a:r>
                        <a:rPr lang="en-US" sz="1600" kern="150">
                          <a:effectLst/>
                          <a:latin typeface="+mn-lt"/>
                          <a:ea typeface="Noto Serif CJK SC"/>
                          <a:cs typeface="Lohit Devanagari"/>
                        </a:rPr>
                        <a:t>158bp</a:t>
                      </a:r>
                    </a:p>
                    <a:p>
                      <a:pPr marL="0" marR="0" algn="l">
                        <a:spcBef>
                          <a:spcPts val="0"/>
                        </a:spcBef>
                        <a:spcAft>
                          <a:spcPts val="0"/>
                        </a:spcAft>
                      </a:pPr>
                      <a:r>
                        <a:rPr lang="en-US" sz="1600" kern="150">
                          <a:effectLst/>
                          <a:latin typeface="+mn-lt"/>
                          <a:ea typeface="Noto Serif CJK SC"/>
                          <a:cs typeface="Lohit Devanagari"/>
                        </a:rPr>
                        <a:t> </a:t>
                      </a:r>
                    </a:p>
                    <a:p>
                      <a:pPr marL="0" marR="0" algn="l">
                        <a:spcBef>
                          <a:spcPts val="0"/>
                        </a:spcBef>
                        <a:spcAft>
                          <a:spcPts val="0"/>
                        </a:spcAft>
                      </a:pPr>
                      <a:r>
                        <a:rPr lang="en-US" sz="1600" kern="150">
                          <a:effectLst/>
                          <a:latin typeface="+mn-lt"/>
                          <a:ea typeface="Noto Serif CJK SC"/>
                          <a:cs typeface="Lohit Devanagari"/>
                        </a:rPr>
                        <a:t> </a:t>
                      </a:r>
                    </a:p>
                    <a:p>
                      <a:pPr marL="0" marR="0" algn="l">
                        <a:spcBef>
                          <a:spcPts val="0"/>
                        </a:spcBef>
                        <a:spcAft>
                          <a:spcPts val="0"/>
                        </a:spcAft>
                      </a:pPr>
                      <a:r>
                        <a:rPr lang="en-US" sz="1600" kern="150">
                          <a:effectLst/>
                          <a:latin typeface="+mn-lt"/>
                          <a:ea typeface="Noto Serif CJK SC"/>
                          <a:cs typeface="Lohit Devanagari"/>
                        </a:rPr>
                        <a:t>156bp</a:t>
                      </a:r>
                    </a:p>
                  </a:txBody>
                  <a:tcPr marL="68580" marR="68580" marT="0" marB="0"/>
                </a:tc>
                <a:extLst>
                  <a:ext uri="{0D108BD9-81ED-4DB2-BD59-A6C34878D82A}">
                    <a16:rowId xmlns:a16="http://schemas.microsoft.com/office/drawing/2014/main" val="1234133116"/>
                  </a:ext>
                </a:extLst>
              </a:tr>
              <a:tr h="1145755">
                <a:tc>
                  <a:txBody>
                    <a:bodyPr/>
                    <a:lstStyle/>
                    <a:p>
                      <a:pPr marL="0" marR="0" algn="l">
                        <a:spcBef>
                          <a:spcPts val="0"/>
                        </a:spcBef>
                        <a:spcAft>
                          <a:spcPts val="0"/>
                        </a:spcAft>
                      </a:pPr>
                      <a:r>
                        <a:rPr lang="en-US" sz="1400" b="1" kern="150">
                          <a:solidFill>
                            <a:srgbClr val="222222"/>
                          </a:solidFill>
                          <a:effectLst/>
                          <a:latin typeface="+mn-lt"/>
                          <a:ea typeface="Noto Serif CJK SC"/>
                          <a:cs typeface="Lohit Devanagari"/>
                        </a:rPr>
                        <a:t>&gt;NC_045512.2_Conerved_21</a:t>
                      </a:r>
                      <a:endParaRPr lang="en-US" sz="1400" b="1" kern="150">
                        <a:effectLst/>
                        <a:latin typeface="+mn-lt"/>
                        <a:ea typeface="Noto Serif CJK SC"/>
                        <a:cs typeface="Lohit Devanagari"/>
                      </a:endParaRPr>
                    </a:p>
                    <a:p>
                      <a:pPr marL="0" marR="0" algn="l">
                        <a:spcBef>
                          <a:spcPts val="0"/>
                        </a:spcBef>
                        <a:spcAft>
                          <a:spcPts val="0"/>
                        </a:spcAft>
                      </a:pPr>
                      <a:r>
                        <a:rPr lang="en-US" sz="1400" b="1" kern="150">
                          <a:solidFill>
                            <a:srgbClr val="222222"/>
                          </a:solidFill>
                          <a:effectLst/>
                          <a:latin typeface="+mn-lt"/>
                          <a:ea typeface="Noto Serif CJK SC"/>
                          <a:cs typeface="Lohit Devanagari"/>
                        </a:rPr>
                        <a:t>Orf1ab (2427-2553)</a:t>
                      </a:r>
                      <a:endParaRPr lang="en-US" sz="1400" b="1" kern="150">
                        <a:effectLst/>
                        <a:latin typeface="+mn-lt"/>
                        <a:ea typeface="Noto Serif CJK SC"/>
                        <a:cs typeface="Lohit Devanagari"/>
                      </a:endParaRPr>
                    </a:p>
                  </a:txBody>
                  <a:tcPr marL="68580" marR="68580" marT="0" marB="0"/>
                </a:tc>
                <a:tc>
                  <a:txBody>
                    <a:bodyPr/>
                    <a:lstStyle/>
                    <a:p>
                      <a:pPr marL="0" marR="0" algn="l">
                        <a:spcBef>
                          <a:spcPts val="0"/>
                        </a:spcBef>
                        <a:spcAft>
                          <a:spcPts val="0"/>
                        </a:spcAft>
                      </a:pPr>
                      <a:r>
                        <a:rPr lang="en-US" sz="1600" kern="150">
                          <a:solidFill>
                            <a:srgbClr val="000000"/>
                          </a:solidFill>
                          <a:effectLst/>
                          <a:latin typeface="+mn-lt"/>
                          <a:ea typeface="Noto Serif CJK SC"/>
                          <a:cs typeface="Lohit Devanagari"/>
                        </a:rPr>
                        <a:t>F’ GAAGTTGCGAGAGACTTGTCA</a:t>
                      </a:r>
                      <a:endParaRPr lang="en-US" sz="1600" kern="150">
                        <a:effectLst/>
                        <a:latin typeface="+mn-lt"/>
                        <a:ea typeface="Noto Serif CJK SC"/>
                        <a:cs typeface="Lohit Devanagari"/>
                      </a:endParaRPr>
                    </a:p>
                    <a:p>
                      <a:pPr marL="0" marR="0" algn="l">
                        <a:spcBef>
                          <a:spcPts val="0"/>
                        </a:spcBef>
                        <a:spcAft>
                          <a:spcPts val="0"/>
                        </a:spcAft>
                      </a:pPr>
                      <a:r>
                        <a:rPr lang="en-US" sz="1600" kern="150">
                          <a:solidFill>
                            <a:srgbClr val="000000"/>
                          </a:solidFill>
                          <a:effectLst/>
                          <a:latin typeface="+mn-lt"/>
                          <a:ea typeface="Noto Serif CJK SC"/>
                          <a:cs typeface="Lohit Devanagari"/>
                        </a:rPr>
                        <a:t>R’ AGATGGATGGAACCATTCTTCACT</a:t>
                      </a:r>
                      <a:endParaRPr lang="en-US" sz="1600" kern="150">
                        <a:effectLst/>
                        <a:latin typeface="+mn-lt"/>
                        <a:ea typeface="Noto Serif CJK SC"/>
                        <a:cs typeface="Lohit Devanagari"/>
                      </a:endParaRPr>
                    </a:p>
                    <a:p>
                      <a:pPr marL="0" marR="0" algn="l">
                        <a:spcBef>
                          <a:spcPts val="0"/>
                        </a:spcBef>
                        <a:spcAft>
                          <a:spcPts val="0"/>
                        </a:spcAft>
                      </a:pPr>
                      <a:r>
                        <a:rPr lang="en-US" sz="1600" kern="150">
                          <a:effectLst/>
                          <a:latin typeface="+mn-lt"/>
                          <a:ea typeface="Noto Serif CJK SC"/>
                          <a:cs typeface="Lohit Devanagari"/>
                        </a:rPr>
                        <a:t> </a:t>
                      </a:r>
                    </a:p>
                    <a:p>
                      <a:pPr marL="0" marR="0" algn="l">
                        <a:spcBef>
                          <a:spcPts val="0"/>
                        </a:spcBef>
                        <a:spcAft>
                          <a:spcPts val="0"/>
                        </a:spcAft>
                      </a:pPr>
                      <a:r>
                        <a:rPr lang="en-US" sz="1600" kern="150">
                          <a:solidFill>
                            <a:srgbClr val="000000"/>
                          </a:solidFill>
                          <a:effectLst/>
                          <a:latin typeface="+mn-lt"/>
                          <a:ea typeface="Noto Serif CJK SC"/>
                          <a:cs typeface="Lohit Devanagari"/>
                        </a:rPr>
                        <a:t>F’AAGTTGCGAGAGACTTGTCA</a:t>
                      </a:r>
                      <a:endParaRPr lang="en-US" sz="1600" kern="150">
                        <a:effectLst/>
                        <a:latin typeface="+mn-lt"/>
                        <a:ea typeface="Noto Serif CJK SC"/>
                        <a:cs typeface="Lohit Devanagari"/>
                      </a:endParaRPr>
                    </a:p>
                    <a:p>
                      <a:pPr marL="0" marR="0" algn="l">
                        <a:spcBef>
                          <a:spcPts val="0"/>
                        </a:spcBef>
                        <a:spcAft>
                          <a:spcPts val="0"/>
                        </a:spcAft>
                      </a:pPr>
                      <a:r>
                        <a:rPr lang="en-US" sz="1600" kern="150">
                          <a:solidFill>
                            <a:srgbClr val="000000"/>
                          </a:solidFill>
                          <a:effectLst/>
                          <a:latin typeface="+mn-lt"/>
                          <a:ea typeface="Noto Serif CJK SC"/>
                          <a:cs typeface="Lohit Devanagari"/>
                        </a:rPr>
                        <a:t>R’TCAACGATGTAAGAAGACTGGTCA</a:t>
                      </a:r>
                      <a:endParaRPr lang="en-US" sz="1600" kern="150">
                        <a:effectLst/>
                        <a:latin typeface="+mn-lt"/>
                        <a:ea typeface="Noto Serif CJK SC"/>
                        <a:cs typeface="Lohit Devanagari"/>
                      </a:endParaRPr>
                    </a:p>
                  </a:txBody>
                  <a:tcPr marL="68580" marR="68580" marT="0" marB="0"/>
                </a:tc>
                <a:tc>
                  <a:txBody>
                    <a:bodyPr/>
                    <a:lstStyle/>
                    <a:p>
                      <a:pPr marL="0" marR="0" algn="l">
                        <a:spcBef>
                          <a:spcPts val="0"/>
                        </a:spcBef>
                        <a:spcAft>
                          <a:spcPts val="0"/>
                        </a:spcAft>
                      </a:pPr>
                      <a:r>
                        <a:rPr lang="en-US" sz="1600" b="0" kern="150" dirty="0">
                          <a:solidFill>
                            <a:srgbClr val="000000"/>
                          </a:solidFill>
                          <a:effectLst/>
                          <a:latin typeface="+mn-lt"/>
                          <a:ea typeface="Noto Serif CJK SC"/>
                          <a:cs typeface="Lohit Devanagari"/>
                        </a:rPr>
                        <a:t>58</a:t>
                      </a:r>
                      <a:endParaRPr lang="en-US" sz="1600" b="0" kern="150" dirty="0">
                        <a:effectLst/>
                        <a:latin typeface="+mn-lt"/>
                        <a:ea typeface="Noto Serif CJK SC"/>
                        <a:cs typeface="Lohit Devanagari"/>
                      </a:endParaRPr>
                    </a:p>
                    <a:p>
                      <a:pPr marL="0" marR="0" algn="l">
                        <a:spcBef>
                          <a:spcPts val="0"/>
                        </a:spcBef>
                        <a:spcAft>
                          <a:spcPts val="0"/>
                        </a:spcAft>
                      </a:pPr>
                      <a:r>
                        <a:rPr lang="en-US" sz="1600" b="0" kern="150" dirty="0">
                          <a:solidFill>
                            <a:srgbClr val="000000"/>
                          </a:solidFill>
                          <a:effectLst/>
                          <a:latin typeface="+mn-lt"/>
                          <a:ea typeface="Noto Serif CJK SC"/>
                          <a:cs typeface="Lohit Devanagari"/>
                        </a:rPr>
                        <a:t>59</a:t>
                      </a:r>
                      <a:endParaRPr lang="en-US" sz="1600" b="0" kern="150" dirty="0">
                        <a:effectLst/>
                        <a:latin typeface="+mn-lt"/>
                        <a:ea typeface="Noto Serif CJK SC"/>
                        <a:cs typeface="Lohit Devanagari"/>
                      </a:endParaRPr>
                    </a:p>
                    <a:p>
                      <a:pPr marL="0" marR="0" algn="l">
                        <a:spcBef>
                          <a:spcPts val="0"/>
                        </a:spcBef>
                        <a:spcAft>
                          <a:spcPts val="0"/>
                        </a:spcAft>
                      </a:pPr>
                      <a:r>
                        <a:rPr lang="en-US" sz="1600" b="0" kern="150" dirty="0">
                          <a:effectLst/>
                          <a:latin typeface="+mn-lt"/>
                          <a:ea typeface="Noto Serif CJK SC"/>
                          <a:cs typeface="Lohit Devanagari"/>
                        </a:rPr>
                        <a:t> </a:t>
                      </a:r>
                    </a:p>
                    <a:p>
                      <a:pPr marL="0" marR="0" algn="l">
                        <a:spcBef>
                          <a:spcPts val="0"/>
                        </a:spcBef>
                        <a:spcAft>
                          <a:spcPts val="0"/>
                        </a:spcAft>
                      </a:pPr>
                      <a:r>
                        <a:rPr lang="en-US" sz="1600" b="0" kern="150" dirty="0">
                          <a:solidFill>
                            <a:srgbClr val="000000"/>
                          </a:solidFill>
                          <a:effectLst/>
                          <a:latin typeface="+mn-lt"/>
                          <a:ea typeface="Noto Serif CJK SC"/>
                          <a:cs typeface="Lohit Devanagari"/>
                        </a:rPr>
                        <a:t>57</a:t>
                      </a:r>
                      <a:endParaRPr lang="en-US" sz="1600" b="0" kern="150" dirty="0">
                        <a:effectLst/>
                        <a:latin typeface="+mn-lt"/>
                        <a:ea typeface="Noto Serif CJK SC"/>
                        <a:cs typeface="Lohit Devanagari"/>
                      </a:endParaRPr>
                    </a:p>
                    <a:p>
                      <a:pPr marL="0" marR="0" algn="l">
                        <a:spcBef>
                          <a:spcPts val="0"/>
                        </a:spcBef>
                        <a:spcAft>
                          <a:spcPts val="0"/>
                        </a:spcAft>
                      </a:pPr>
                      <a:r>
                        <a:rPr lang="en-US" sz="1600" b="0" kern="150" dirty="0">
                          <a:solidFill>
                            <a:srgbClr val="000000"/>
                          </a:solidFill>
                          <a:effectLst/>
                          <a:latin typeface="+mn-lt"/>
                          <a:ea typeface="Noto Serif CJK SC"/>
                          <a:cs typeface="Lohit Devanagari"/>
                        </a:rPr>
                        <a:t>59</a:t>
                      </a:r>
                      <a:endParaRPr lang="en-US" sz="1600" b="0" kern="150" dirty="0">
                        <a:effectLst/>
                        <a:latin typeface="+mn-lt"/>
                        <a:ea typeface="Noto Serif CJK SC"/>
                        <a:cs typeface="Lohit Devanagari"/>
                      </a:endParaRPr>
                    </a:p>
                  </a:txBody>
                  <a:tcPr marL="68580" marR="68580" marT="0" marB="0"/>
                </a:tc>
                <a:tc>
                  <a:txBody>
                    <a:bodyPr/>
                    <a:lstStyle/>
                    <a:p>
                      <a:pPr marL="0" marR="0" algn="l">
                        <a:spcBef>
                          <a:spcPts val="0"/>
                        </a:spcBef>
                        <a:spcAft>
                          <a:spcPts val="0"/>
                        </a:spcAft>
                      </a:pPr>
                      <a:r>
                        <a:rPr lang="en-US" sz="1600" kern="150">
                          <a:solidFill>
                            <a:srgbClr val="000000"/>
                          </a:solidFill>
                          <a:effectLst/>
                          <a:latin typeface="+mn-lt"/>
                          <a:ea typeface="Noto Serif CJK SC"/>
                          <a:cs typeface="Lohit Devanagari"/>
                        </a:rPr>
                        <a:t>107bp</a:t>
                      </a:r>
                      <a:endParaRPr lang="en-US" sz="1600" kern="150">
                        <a:effectLst/>
                        <a:latin typeface="+mn-lt"/>
                        <a:ea typeface="Noto Serif CJK SC"/>
                        <a:cs typeface="Lohit Devanagari"/>
                      </a:endParaRPr>
                    </a:p>
                    <a:p>
                      <a:pPr marL="0" marR="0" algn="l">
                        <a:spcBef>
                          <a:spcPts val="0"/>
                        </a:spcBef>
                        <a:spcAft>
                          <a:spcPts val="0"/>
                        </a:spcAft>
                      </a:pPr>
                      <a:r>
                        <a:rPr lang="en-US" sz="1600" kern="150">
                          <a:effectLst/>
                          <a:latin typeface="+mn-lt"/>
                          <a:ea typeface="Noto Serif CJK SC"/>
                          <a:cs typeface="Lohit Devanagari"/>
                        </a:rPr>
                        <a:t> </a:t>
                      </a:r>
                    </a:p>
                    <a:p>
                      <a:pPr marL="0" marR="0" algn="l">
                        <a:spcBef>
                          <a:spcPts val="0"/>
                        </a:spcBef>
                        <a:spcAft>
                          <a:spcPts val="0"/>
                        </a:spcAft>
                      </a:pPr>
                      <a:r>
                        <a:rPr lang="en-US" sz="1600" kern="150">
                          <a:effectLst/>
                          <a:latin typeface="+mn-lt"/>
                          <a:ea typeface="Noto Serif CJK SC"/>
                          <a:cs typeface="Lohit Devanagari"/>
                        </a:rPr>
                        <a:t> </a:t>
                      </a:r>
                    </a:p>
                    <a:p>
                      <a:pPr marL="0" marR="0" algn="l">
                        <a:spcBef>
                          <a:spcPts val="0"/>
                        </a:spcBef>
                        <a:spcAft>
                          <a:spcPts val="0"/>
                        </a:spcAft>
                      </a:pPr>
                      <a:r>
                        <a:rPr lang="en-US" sz="1600" kern="150">
                          <a:solidFill>
                            <a:srgbClr val="000000"/>
                          </a:solidFill>
                          <a:effectLst/>
                          <a:latin typeface="+mn-lt"/>
                          <a:ea typeface="Noto Serif CJK SC"/>
                          <a:cs typeface="Lohit Devanagari"/>
                        </a:rPr>
                        <a:t>73bp</a:t>
                      </a:r>
                      <a:endParaRPr lang="en-US" sz="1600" kern="150">
                        <a:effectLst/>
                        <a:latin typeface="+mn-lt"/>
                        <a:ea typeface="Noto Serif CJK SC"/>
                        <a:cs typeface="Lohit Devanagari"/>
                      </a:endParaRPr>
                    </a:p>
                  </a:txBody>
                  <a:tcPr marL="68580" marR="68580" marT="0" marB="0"/>
                </a:tc>
                <a:extLst>
                  <a:ext uri="{0D108BD9-81ED-4DB2-BD59-A6C34878D82A}">
                    <a16:rowId xmlns:a16="http://schemas.microsoft.com/office/drawing/2014/main" val="29737882"/>
                  </a:ext>
                </a:extLst>
              </a:tr>
              <a:tr h="1178805">
                <a:tc>
                  <a:txBody>
                    <a:bodyPr/>
                    <a:lstStyle/>
                    <a:p>
                      <a:pPr marL="0" marR="0" algn="l">
                        <a:spcBef>
                          <a:spcPts val="0"/>
                        </a:spcBef>
                        <a:spcAft>
                          <a:spcPts val="0"/>
                        </a:spcAft>
                      </a:pPr>
                      <a:r>
                        <a:rPr lang="en-US" sz="1400" b="1" kern="150">
                          <a:solidFill>
                            <a:srgbClr val="222222"/>
                          </a:solidFill>
                          <a:effectLst/>
                          <a:latin typeface="+mn-lt"/>
                          <a:ea typeface="Noto Serif CJK SC"/>
                          <a:cs typeface="Lohit Devanagari"/>
                        </a:rPr>
                        <a:t>&gt;NC_045512.2_Conerved_25</a:t>
                      </a:r>
                      <a:endParaRPr lang="en-US" sz="1400" b="1" kern="150">
                        <a:effectLst/>
                        <a:latin typeface="+mn-lt"/>
                        <a:ea typeface="Noto Serif CJK SC"/>
                        <a:cs typeface="Lohit Devanagari"/>
                      </a:endParaRPr>
                    </a:p>
                    <a:p>
                      <a:pPr marL="0" marR="0" algn="l">
                        <a:spcBef>
                          <a:spcPts val="0"/>
                        </a:spcBef>
                        <a:spcAft>
                          <a:spcPts val="0"/>
                        </a:spcAft>
                      </a:pPr>
                      <a:r>
                        <a:rPr lang="en-US" sz="1400" b="1" kern="150">
                          <a:solidFill>
                            <a:srgbClr val="222222"/>
                          </a:solidFill>
                          <a:effectLst/>
                          <a:latin typeface="+mn-lt"/>
                          <a:ea typeface="Noto Serif CJK SC"/>
                          <a:cs typeface="Lohit Devanagari"/>
                        </a:rPr>
                        <a:t>NSP4 (77-230)</a:t>
                      </a:r>
                      <a:endParaRPr lang="en-US" sz="1400" b="1" kern="150">
                        <a:effectLst/>
                        <a:latin typeface="+mn-lt"/>
                        <a:ea typeface="Noto Serif CJK SC"/>
                        <a:cs typeface="Lohit Devanagari"/>
                      </a:endParaRPr>
                    </a:p>
                  </a:txBody>
                  <a:tcPr marL="68580" marR="68580" marT="0" marB="0"/>
                </a:tc>
                <a:tc>
                  <a:txBody>
                    <a:bodyPr/>
                    <a:lstStyle/>
                    <a:p>
                      <a:pPr marL="0" marR="0" algn="l">
                        <a:spcBef>
                          <a:spcPts val="0"/>
                        </a:spcBef>
                        <a:spcAft>
                          <a:spcPts val="0"/>
                        </a:spcAft>
                      </a:pPr>
                      <a:r>
                        <a:rPr lang="en-US" sz="1600" kern="150" dirty="0">
                          <a:effectLst/>
                          <a:latin typeface="+mn-lt"/>
                          <a:ea typeface="Noto Serif CJK SC"/>
                          <a:cs typeface="Lohit Devanagari"/>
                        </a:rPr>
                        <a:t>F’ AGCTTGCCCATTGATTGCTG</a:t>
                      </a:r>
                    </a:p>
                    <a:p>
                      <a:pPr marL="0" marR="0" algn="l">
                        <a:spcBef>
                          <a:spcPts val="0"/>
                        </a:spcBef>
                        <a:spcAft>
                          <a:spcPts val="0"/>
                        </a:spcAft>
                      </a:pPr>
                      <a:r>
                        <a:rPr lang="en-US" sz="1600" kern="150" dirty="0">
                          <a:effectLst/>
                          <a:latin typeface="+mn-lt"/>
                          <a:ea typeface="Noto Serif CJK SC"/>
                          <a:cs typeface="Lohit Devanagari"/>
                        </a:rPr>
                        <a:t>R’ TAACGTGTGTCAGGGCGTAA</a:t>
                      </a:r>
                    </a:p>
                    <a:p>
                      <a:pPr marL="0" marR="0" algn="l">
                        <a:spcBef>
                          <a:spcPts val="0"/>
                        </a:spcBef>
                        <a:spcAft>
                          <a:spcPts val="0"/>
                        </a:spcAft>
                      </a:pPr>
                      <a:r>
                        <a:rPr lang="en-US" sz="1600" kern="150" dirty="0">
                          <a:effectLst/>
                          <a:latin typeface="+mn-lt"/>
                          <a:ea typeface="Noto Serif CJK SC"/>
                          <a:cs typeface="Lohit Devanagari"/>
                        </a:rPr>
                        <a:t> </a:t>
                      </a:r>
                    </a:p>
                    <a:p>
                      <a:pPr marL="0" marR="0" algn="l">
                        <a:spcBef>
                          <a:spcPts val="0"/>
                        </a:spcBef>
                        <a:spcAft>
                          <a:spcPts val="0"/>
                        </a:spcAft>
                      </a:pPr>
                      <a:r>
                        <a:rPr lang="en-US" sz="1600" kern="150" dirty="0">
                          <a:effectLst/>
                          <a:latin typeface="+mn-lt"/>
                          <a:ea typeface="Noto Serif CJK SC"/>
                          <a:cs typeface="Lohit Devanagari"/>
                        </a:rPr>
                        <a:t>F’AAGTGGGTTTTGTCGTGCCT</a:t>
                      </a:r>
                    </a:p>
                    <a:p>
                      <a:pPr marL="0" marR="0" algn="l">
                        <a:spcBef>
                          <a:spcPts val="0"/>
                        </a:spcBef>
                        <a:spcAft>
                          <a:spcPts val="0"/>
                        </a:spcAft>
                      </a:pPr>
                      <a:r>
                        <a:rPr lang="en-US" sz="1600" kern="150" dirty="0">
                          <a:effectLst/>
                          <a:latin typeface="+mn-lt"/>
                          <a:ea typeface="Noto Serif CJK SC"/>
                          <a:cs typeface="Lohit Devanagari"/>
                        </a:rPr>
                        <a:t>R’TAACGTGTGTCAGGGCGTAA</a:t>
                      </a:r>
                    </a:p>
                  </a:txBody>
                  <a:tcPr marL="68580" marR="68580" marT="0" marB="0"/>
                </a:tc>
                <a:tc>
                  <a:txBody>
                    <a:bodyPr/>
                    <a:lstStyle/>
                    <a:p>
                      <a:pPr marL="0" marR="0" algn="l">
                        <a:spcBef>
                          <a:spcPts val="0"/>
                        </a:spcBef>
                        <a:spcAft>
                          <a:spcPts val="0"/>
                        </a:spcAft>
                      </a:pPr>
                      <a:r>
                        <a:rPr lang="en-US" sz="1600" b="0" kern="150" dirty="0">
                          <a:solidFill>
                            <a:srgbClr val="000000"/>
                          </a:solidFill>
                          <a:effectLst/>
                          <a:latin typeface="+mn-lt"/>
                          <a:ea typeface="Noto Serif CJK SC"/>
                          <a:cs typeface="Lohit Devanagari"/>
                        </a:rPr>
                        <a:t>59</a:t>
                      </a:r>
                      <a:endParaRPr lang="en-US" sz="1600" b="0" kern="150" dirty="0">
                        <a:effectLst/>
                        <a:latin typeface="+mn-lt"/>
                        <a:ea typeface="Noto Serif CJK SC"/>
                        <a:cs typeface="Lohit Devanagari"/>
                      </a:endParaRPr>
                    </a:p>
                    <a:p>
                      <a:pPr marL="0" marR="0" algn="l">
                        <a:spcBef>
                          <a:spcPts val="0"/>
                        </a:spcBef>
                        <a:spcAft>
                          <a:spcPts val="0"/>
                        </a:spcAft>
                      </a:pPr>
                      <a:r>
                        <a:rPr lang="en-US" sz="1600" b="0" kern="150" dirty="0">
                          <a:solidFill>
                            <a:srgbClr val="000000"/>
                          </a:solidFill>
                          <a:effectLst/>
                          <a:latin typeface="+mn-lt"/>
                          <a:ea typeface="Noto Serif CJK SC"/>
                          <a:cs typeface="Lohit Devanagari"/>
                        </a:rPr>
                        <a:t>59</a:t>
                      </a:r>
                      <a:endParaRPr lang="en-US" sz="1600" b="0" kern="150" dirty="0">
                        <a:effectLst/>
                        <a:latin typeface="+mn-lt"/>
                        <a:ea typeface="Noto Serif CJK SC"/>
                        <a:cs typeface="Lohit Devanagari"/>
                      </a:endParaRPr>
                    </a:p>
                    <a:p>
                      <a:pPr marL="0" marR="0" algn="l">
                        <a:spcBef>
                          <a:spcPts val="0"/>
                        </a:spcBef>
                        <a:spcAft>
                          <a:spcPts val="0"/>
                        </a:spcAft>
                      </a:pPr>
                      <a:r>
                        <a:rPr lang="en-US" sz="1600" b="0" kern="150" dirty="0">
                          <a:effectLst/>
                          <a:latin typeface="+mn-lt"/>
                          <a:ea typeface="Noto Serif CJK SC"/>
                          <a:cs typeface="Lohit Devanagari"/>
                        </a:rPr>
                        <a:t> </a:t>
                      </a:r>
                    </a:p>
                    <a:p>
                      <a:pPr marL="0" marR="0" algn="l">
                        <a:spcBef>
                          <a:spcPts val="0"/>
                        </a:spcBef>
                        <a:spcAft>
                          <a:spcPts val="0"/>
                        </a:spcAft>
                      </a:pPr>
                      <a:r>
                        <a:rPr lang="en-US" sz="1600" b="0" kern="150" dirty="0">
                          <a:solidFill>
                            <a:srgbClr val="000000"/>
                          </a:solidFill>
                          <a:effectLst/>
                          <a:latin typeface="+mn-lt"/>
                          <a:ea typeface="Noto Serif CJK SC"/>
                          <a:cs typeface="Lohit Devanagari"/>
                        </a:rPr>
                        <a:t>60</a:t>
                      </a:r>
                      <a:endParaRPr lang="en-US" sz="1600" b="0" kern="150" dirty="0">
                        <a:effectLst/>
                        <a:latin typeface="+mn-lt"/>
                        <a:ea typeface="Noto Serif CJK SC"/>
                        <a:cs typeface="Lohit Devanagari"/>
                      </a:endParaRPr>
                    </a:p>
                    <a:p>
                      <a:pPr marL="0" marR="0" algn="l">
                        <a:spcBef>
                          <a:spcPts val="0"/>
                        </a:spcBef>
                        <a:spcAft>
                          <a:spcPts val="0"/>
                        </a:spcAft>
                      </a:pPr>
                      <a:r>
                        <a:rPr lang="en-US" sz="1600" b="0" kern="150" dirty="0">
                          <a:solidFill>
                            <a:srgbClr val="000000"/>
                          </a:solidFill>
                          <a:effectLst/>
                          <a:latin typeface="+mn-lt"/>
                          <a:ea typeface="Noto Serif CJK SC"/>
                          <a:cs typeface="Lohit Devanagari"/>
                        </a:rPr>
                        <a:t>59</a:t>
                      </a:r>
                      <a:endParaRPr lang="en-US" sz="1600" b="0" kern="150" dirty="0">
                        <a:effectLst/>
                        <a:latin typeface="+mn-lt"/>
                        <a:ea typeface="Noto Serif CJK SC"/>
                        <a:cs typeface="Lohit Devanagari"/>
                      </a:endParaRPr>
                    </a:p>
                  </a:txBody>
                  <a:tcPr marL="68580" marR="68580" marT="0" marB="0"/>
                </a:tc>
                <a:tc>
                  <a:txBody>
                    <a:bodyPr/>
                    <a:lstStyle/>
                    <a:p>
                      <a:pPr marL="0" marR="0" algn="l">
                        <a:spcBef>
                          <a:spcPts val="0"/>
                        </a:spcBef>
                        <a:spcAft>
                          <a:spcPts val="0"/>
                        </a:spcAft>
                      </a:pPr>
                      <a:r>
                        <a:rPr lang="en-US" sz="1600" kern="150">
                          <a:effectLst/>
                          <a:latin typeface="+mn-lt"/>
                          <a:ea typeface="Noto Serif CJK SC"/>
                          <a:cs typeface="Lohit Devanagari"/>
                        </a:rPr>
                        <a:t>315bp</a:t>
                      </a:r>
                    </a:p>
                    <a:p>
                      <a:pPr marL="0" marR="0" algn="l">
                        <a:spcBef>
                          <a:spcPts val="0"/>
                        </a:spcBef>
                        <a:spcAft>
                          <a:spcPts val="0"/>
                        </a:spcAft>
                      </a:pPr>
                      <a:r>
                        <a:rPr lang="en-US" sz="1600" kern="150">
                          <a:effectLst/>
                          <a:latin typeface="+mn-lt"/>
                          <a:ea typeface="Noto Serif CJK SC"/>
                          <a:cs typeface="Lohit Devanagari"/>
                        </a:rPr>
                        <a:t> </a:t>
                      </a:r>
                    </a:p>
                    <a:p>
                      <a:pPr marL="0" marR="0" algn="l">
                        <a:spcBef>
                          <a:spcPts val="0"/>
                        </a:spcBef>
                        <a:spcAft>
                          <a:spcPts val="0"/>
                        </a:spcAft>
                      </a:pPr>
                      <a:r>
                        <a:rPr lang="en-US" sz="1600" kern="150">
                          <a:effectLst/>
                          <a:latin typeface="+mn-lt"/>
                          <a:ea typeface="Noto Serif CJK SC"/>
                          <a:cs typeface="Lohit Devanagari"/>
                        </a:rPr>
                        <a:t> </a:t>
                      </a:r>
                    </a:p>
                    <a:p>
                      <a:pPr marL="0" marR="0" algn="l">
                        <a:spcBef>
                          <a:spcPts val="0"/>
                        </a:spcBef>
                        <a:spcAft>
                          <a:spcPts val="0"/>
                        </a:spcAft>
                      </a:pPr>
                      <a:r>
                        <a:rPr lang="en-US" sz="1600" kern="150">
                          <a:effectLst/>
                          <a:latin typeface="+mn-lt"/>
                          <a:ea typeface="Noto Serif CJK SC"/>
                          <a:cs typeface="Lohit Devanagari"/>
                        </a:rPr>
                        <a:t>283bp</a:t>
                      </a:r>
                    </a:p>
                  </a:txBody>
                  <a:tcPr marL="68580" marR="68580" marT="0" marB="0"/>
                </a:tc>
                <a:extLst>
                  <a:ext uri="{0D108BD9-81ED-4DB2-BD59-A6C34878D82A}">
                    <a16:rowId xmlns:a16="http://schemas.microsoft.com/office/drawing/2014/main" val="4088009079"/>
                  </a:ext>
                </a:extLst>
              </a:tr>
              <a:tr h="1461046">
                <a:tc>
                  <a:txBody>
                    <a:bodyPr/>
                    <a:lstStyle/>
                    <a:p>
                      <a:pPr marL="0" marR="0" algn="l">
                        <a:spcBef>
                          <a:spcPts val="0"/>
                        </a:spcBef>
                        <a:spcAft>
                          <a:spcPts val="0"/>
                        </a:spcAft>
                      </a:pPr>
                      <a:r>
                        <a:rPr lang="en-US" sz="1400" b="1" kern="150" dirty="0">
                          <a:solidFill>
                            <a:srgbClr val="222222"/>
                          </a:solidFill>
                          <a:effectLst/>
                          <a:latin typeface="+mn-lt"/>
                          <a:ea typeface="Noto Serif CJK SC"/>
                          <a:cs typeface="Lohit Devanagari"/>
                        </a:rPr>
                        <a:t>&gt;NC_045512.2_Conerved_26</a:t>
                      </a:r>
                      <a:endParaRPr lang="en-US" sz="1400" b="1" kern="150" dirty="0">
                        <a:effectLst/>
                        <a:latin typeface="+mn-lt"/>
                        <a:ea typeface="Noto Serif CJK SC"/>
                        <a:cs typeface="Lohit Devanagari"/>
                      </a:endParaRPr>
                    </a:p>
                  </a:txBody>
                  <a:tcPr marL="68580" marR="68580" marT="0" marB="0"/>
                </a:tc>
                <a:tc>
                  <a:txBody>
                    <a:bodyPr/>
                    <a:lstStyle/>
                    <a:p>
                      <a:pPr marL="0" marR="0" algn="l">
                        <a:spcBef>
                          <a:spcPts val="0"/>
                        </a:spcBef>
                        <a:spcAft>
                          <a:spcPts val="0"/>
                        </a:spcAft>
                      </a:pPr>
                      <a:r>
                        <a:rPr lang="en-US" sz="1600" kern="150">
                          <a:solidFill>
                            <a:srgbClr val="000000"/>
                          </a:solidFill>
                          <a:effectLst/>
                          <a:latin typeface="+mn-lt"/>
                          <a:ea typeface="Noto Serif CJK SC"/>
                          <a:cs typeface="Lohit Devanagari"/>
                        </a:rPr>
                        <a:t>F’ CTGCGCTGTGCACCTTTT</a:t>
                      </a:r>
                      <a:endParaRPr lang="en-US" sz="1600" kern="150">
                        <a:effectLst/>
                        <a:latin typeface="+mn-lt"/>
                        <a:ea typeface="Noto Serif CJK SC"/>
                        <a:cs typeface="Lohit Devanagari"/>
                      </a:endParaRPr>
                    </a:p>
                    <a:p>
                      <a:pPr marL="0" marR="0" algn="l">
                        <a:spcBef>
                          <a:spcPts val="0"/>
                        </a:spcBef>
                        <a:spcAft>
                          <a:spcPts val="0"/>
                        </a:spcAft>
                      </a:pPr>
                      <a:r>
                        <a:rPr lang="en-US" sz="1600" kern="150">
                          <a:solidFill>
                            <a:srgbClr val="000000"/>
                          </a:solidFill>
                          <a:effectLst/>
                          <a:latin typeface="+mn-lt"/>
                          <a:ea typeface="Noto Serif CJK SC"/>
                          <a:cs typeface="Lohit Devanagari"/>
                        </a:rPr>
                        <a:t>R’ AGTCATTGAGAGCCTTTGCG</a:t>
                      </a:r>
                      <a:endParaRPr lang="en-US" sz="1600" kern="150">
                        <a:effectLst/>
                        <a:latin typeface="+mn-lt"/>
                        <a:ea typeface="Noto Serif CJK SC"/>
                        <a:cs typeface="Lohit Devanagari"/>
                      </a:endParaRPr>
                    </a:p>
                    <a:p>
                      <a:pPr marL="0" marR="0" algn="l">
                        <a:spcBef>
                          <a:spcPts val="0"/>
                        </a:spcBef>
                        <a:spcAft>
                          <a:spcPts val="0"/>
                        </a:spcAft>
                      </a:pPr>
                      <a:r>
                        <a:rPr lang="en-US" sz="1600" kern="150">
                          <a:effectLst/>
                          <a:latin typeface="+mn-lt"/>
                          <a:ea typeface="Noto Serif CJK SC"/>
                          <a:cs typeface="Lohit Devanagari"/>
                        </a:rPr>
                        <a:t> </a:t>
                      </a:r>
                    </a:p>
                    <a:p>
                      <a:pPr marL="0" marR="0" algn="l">
                        <a:spcBef>
                          <a:spcPts val="0"/>
                        </a:spcBef>
                        <a:spcAft>
                          <a:spcPts val="0"/>
                        </a:spcAft>
                      </a:pPr>
                      <a:r>
                        <a:rPr lang="en-US" sz="1600" kern="150">
                          <a:solidFill>
                            <a:srgbClr val="000000"/>
                          </a:solidFill>
                          <a:effectLst/>
                          <a:latin typeface="+mn-lt"/>
                          <a:ea typeface="Noto Serif CJK SC"/>
                          <a:cs typeface="Lohit Devanagari"/>
                        </a:rPr>
                        <a:t>F’AAAGTTGCGTAGTGATGTGCT</a:t>
                      </a:r>
                      <a:endParaRPr lang="en-US" sz="1600" kern="150">
                        <a:effectLst/>
                        <a:latin typeface="+mn-lt"/>
                        <a:ea typeface="Noto Serif CJK SC"/>
                        <a:cs typeface="Lohit Devanagari"/>
                      </a:endParaRPr>
                    </a:p>
                    <a:p>
                      <a:pPr marL="0" marR="0" algn="l">
                        <a:spcBef>
                          <a:spcPts val="0"/>
                        </a:spcBef>
                        <a:spcAft>
                          <a:spcPts val="0"/>
                        </a:spcAft>
                      </a:pPr>
                      <a:r>
                        <a:rPr lang="en-US" sz="1600" kern="150">
                          <a:solidFill>
                            <a:srgbClr val="000000"/>
                          </a:solidFill>
                          <a:effectLst/>
                          <a:latin typeface="+mn-lt"/>
                          <a:ea typeface="Noto Serif CJK SC"/>
                          <a:cs typeface="Lohit Devanagari"/>
                        </a:rPr>
                        <a:t>R’GAGCCTTTGCGAGATGACAA</a:t>
                      </a:r>
                      <a:endParaRPr lang="en-US" sz="1600" kern="150">
                        <a:effectLst/>
                        <a:latin typeface="+mn-lt"/>
                        <a:ea typeface="Noto Serif CJK SC"/>
                        <a:cs typeface="Lohit Devanagari"/>
                      </a:endParaRPr>
                    </a:p>
                  </a:txBody>
                  <a:tcPr marL="68580" marR="68580" marT="0" marB="0"/>
                </a:tc>
                <a:tc>
                  <a:txBody>
                    <a:bodyPr/>
                    <a:lstStyle/>
                    <a:p>
                      <a:pPr marL="0" marR="0" algn="l">
                        <a:spcBef>
                          <a:spcPts val="0"/>
                        </a:spcBef>
                        <a:spcAft>
                          <a:spcPts val="0"/>
                        </a:spcAft>
                      </a:pPr>
                      <a:r>
                        <a:rPr lang="en-US" sz="1600" b="0" kern="150" dirty="0">
                          <a:solidFill>
                            <a:srgbClr val="000000"/>
                          </a:solidFill>
                          <a:effectLst/>
                          <a:latin typeface="+mn-lt"/>
                          <a:ea typeface="Noto Serif CJK SC"/>
                          <a:cs typeface="Lohit Devanagari"/>
                        </a:rPr>
                        <a:t>59</a:t>
                      </a:r>
                      <a:endParaRPr lang="en-US" sz="1600" b="0" kern="150" dirty="0">
                        <a:effectLst/>
                        <a:latin typeface="+mn-lt"/>
                        <a:ea typeface="Noto Serif CJK SC"/>
                        <a:cs typeface="Lohit Devanagari"/>
                      </a:endParaRPr>
                    </a:p>
                    <a:p>
                      <a:pPr marL="0" marR="0" algn="l">
                        <a:spcBef>
                          <a:spcPts val="0"/>
                        </a:spcBef>
                        <a:spcAft>
                          <a:spcPts val="0"/>
                        </a:spcAft>
                      </a:pPr>
                      <a:r>
                        <a:rPr lang="en-US" sz="1600" b="0" kern="150" dirty="0">
                          <a:solidFill>
                            <a:srgbClr val="000000"/>
                          </a:solidFill>
                          <a:effectLst/>
                          <a:latin typeface="+mn-lt"/>
                          <a:ea typeface="Noto Serif CJK SC"/>
                          <a:cs typeface="Lohit Devanagari"/>
                        </a:rPr>
                        <a:t>58</a:t>
                      </a:r>
                      <a:endParaRPr lang="en-US" sz="1600" b="0" kern="150" dirty="0">
                        <a:effectLst/>
                        <a:latin typeface="+mn-lt"/>
                        <a:ea typeface="Noto Serif CJK SC"/>
                        <a:cs typeface="Lohit Devanagari"/>
                      </a:endParaRPr>
                    </a:p>
                    <a:p>
                      <a:pPr marL="0" marR="0" algn="l">
                        <a:spcBef>
                          <a:spcPts val="0"/>
                        </a:spcBef>
                        <a:spcAft>
                          <a:spcPts val="0"/>
                        </a:spcAft>
                      </a:pPr>
                      <a:r>
                        <a:rPr lang="en-US" sz="1600" b="0" kern="150" dirty="0">
                          <a:effectLst/>
                          <a:latin typeface="+mn-lt"/>
                          <a:ea typeface="Noto Serif CJK SC"/>
                          <a:cs typeface="Lohit Devanagari"/>
                        </a:rPr>
                        <a:t> </a:t>
                      </a:r>
                    </a:p>
                    <a:p>
                      <a:pPr marL="0" marR="0" algn="l">
                        <a:spcBef>
                          <a:spcPts val="0"/>
                        </a:spcBef>
                        <a:spcAft>
                          <a:spcPts val="0"/>
                        </a:spcAft>
                      </a:pPr>
                      <a:r>
                        <a:rPr lang="en-US" sz="1600" b="0" kern="150" dirty="0">
                          <a:solidFill>
                            <a:srgbClr val="000000"/>
                          </a:solidFill>
                          <a:effectLst/>
                          <a:latin typeface="+mn-lt"/>
                          <a:ea typeface="Noto Serif CJK SC"/>
                          <a:cs typeface="Lohit Devanagari"/>
                        </a:rPr>
                        <a:t>58</a:t>
                      </a:r>
                      <a:endParaRPr lang="en-US" sz="1600" b="0" kern="150" dirty="0">
                        <a:effectLst/>
                        <a:latin typeface="+mn-lt"/>
                        <a:ea typeface="Noto Serif CJK SC"/>
                        <a:cs typeface="Lohit Devanagari"/>
                      </a:endParaRPr>
                    </a:p>
                    <a:p>
                      <a:pPr marL="0" marR="0" algn="l">
                        <a:spcBef>
                          <a:spcPts val="0"/>
                        </a:spcBef>
                        <a:spcAft>
                          <a:spcPts val="0"/>
                        </a:spcAft>
                      </a:pPr>
                      <a:r>
                        <a:rPr lang="en-US" sz="1600" b="0" kern="150" dirty="0">
                          <a:solidFill>
                            <a:srgbClr val="000000"/>
                          </a:solidFill>
                          <a:effectLst/>
                          <a:latin typeface="+mn-lt"/>
                          <a:ea typeface="Noto Serif CJK SC"/>
                          <a:cs typeface="Lohit Devanagari"/>
                        </a:rPr>
                        <a:t>58</a:t>
                      </a:r>
                      <a:endParaRPr lang="en-US" sz="1600" b="0" kern="150" dirty="0">
                        <a:effectLst/>
                        <a:latin typeface="+mn-lt"/>
                        <a:ea typeface="Noto Serif CJK SC"/>
                        <a:cs typeface="Lohit Devanagari"/>
                      </a:endParaRPr>
                    </a:p>
                  </a:txBody>
                  <a:tcPr marL="68580" marR="68580" marT="0" marB="0"/>
                </a:tc>
                <a:tc>
                  <a:txBody>
                    <a:bodyPr/>
                    <a:lstStyle/>
                    <a:p>
                      <a:pPr marL="0" marR="0" algn="l">
                        <a:spcBef>
                          <a:spcPts val="0"/>
                        </a:spcBef>
                        <a:spcAft>
                          <a:spcPts val="0"/>
                        </a:spcAft>
                      </a:pPr>
                      <a:r>
                        <a:rPr lang="en-US" sz="1600" kern="150" dirty="0">
                          <a:solidFill>
                            <a:srgbClr val="000000"/>
                          </a:solidFill>
                          <a:effectLst/>
                          <a:latin typeface="+mn-lt"/>
                          <a:ea typeface="Noto Serif CJK SC"/>
                          <a:cs typeface="Lohit Devanagari"/>
                        </a:rPr>
                        <a:t>189bp</a:t>
                      </a:r>
                      <a:endParaRPr lang="en-US" sz="1600" kern="150" dirty="0">
                        <a:effectLst/>
                        <a:latin typeface="+mn-lt"/>
                        <a:ea typeface="Noto Serif CJK SC"/>
                        <a:cs typeface="Lohit Devanagari"/>
                      </a:endParaRPr>
                    </a:p>
                    <a:p>
                      <a:pPr marL="0" marR="0" algn="l">
                        <a:spcBef>
                          <a:spcPts val="0"/>
                        </a:spcBef>
                        <a:spcAft>
                          <a:spcPts val="0"/>
                        </a:spcAft>
                      </a:pPr>
                      <a:r>
                        <a:rPr lang="en-US" sz="1600" kern="150" dirty="0">
                          <a:effectLst/>
                          <a:latin typeface="+mn-lt"/>
                          <a:ea typeface="Noto Serif CJK SC"/>
                          <a:cs typeface="Lohit Devanagari"/>
                        </a:rPr>
                        <a:t> </a:t>
                      </a:r>
                    </a:p>
                    <a:p>
                      <a:pPr marL="0" marR="0" algn="l">
                        <a:spcBef>
                          <a:spcPts val="0"/>
                        </a:spcBef>
                        <a:spcAft>
                          <a:spcPts val="0"/>
                        </a:spcAft>
                      </a:pPr>
                      <a:r>
                        <a:rPr lang="en-US" sz="1600" kern="150" dirty="0">
                          <a:effectLst/>
                          <a:latin typeface="+mn-lt"/>
                          <a:ea typeface="Noto Serif CJK SC"/>
                          <a:cs typeface="Lohit Devanagari"/>
                        </a:rPr>
                        <a:t> </a:t>
                      </a:r>
                    </a:p>
                    <a:p>
                      <a:pPr marL="0" marR="0" algn="l">
                        <a:spcBef>
                          <a:spcPts val="0"/>
                        </a:spcBef>
                        <a:spcAft>
                          <a:spcPts val="0"/>
                        </a:spcAft>
                      </a:pPr>
                      <a:r>
                        <a:rPr lang="en-US" sz="1600" kern="150" dirty="0">
                          <a:solidFill>
                            <a:srgbClr val="000000"/>
                          </a:solidFill>
                          <a:effectLst/>
                          <a:latin typeface="+mn-lt"/>
                          <a:ea typeface="Noto Serif CJK SC"/>
                          <a:cs typeface="Lohit Devanagari"/>
                        </a:rPr>
                        <a:t>140bp</a:t>
                      </a:r>
                      <a:endParaRPr lang="en-US" sz="1600" kern="150" dirty="0">
                        <a:effectLst/>
                        <a:latin typeface="+mn-lt"/>
                        <a:ea typeface="Noto Serif CJK SC"/>
                        <a:cs typeface="Lohit Devanagari"/>
                      </a:endParaRPr>
                    </a:p>
                  </a:txBody>
                  <a:tcPr marL="68580" marR="68580" marT="0" marB="0"/>
                </a:tc>
                <a:extLst>
                  <a:ext uri="{0D108BD9-81ED-4DB2-BD59-A6C34878D82A}">
                    <a16:rowId xmlns:a16="http://schemas.microsoft.com/office/drawing/2014/main" val="4027657255"/>
                  </a:ext>
                </a:extLst>
              </a:tr>
            </a:tbl>
          </a:graphicData>
        </a:graphic>
      </p:graphicFrame>
    </p:spTree>
    <p:extLst>
      <p:ext uri="{BB962C8B-B14F-4D97-AF65-F5344CB8AC3E}">
        <p14:creationId xmlns:p14="http://schemas.microsoft.com/office/powerpoint/2010/main" val="30182226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D6A35-54AC-4AE3-8555-4DEF1464DC30}"/>
              </a:ext>
            </a:extLst>
          </p:cNvPr>
          <p:cNvSpPr>
            <a:spLocks noGrp="1"/>
          </p:cNvSpPr>
          <p:nvPr>
            <p:ph type="ctrTitle"/>
          </p:nvPr>
        </p:nvSpPr>
        <p:spPr>
          <a:xfrm>
            <a:off x="1524000" y="2968434"/>
            <a:ext cx="9144000" cy="921133"/>
          </a:xfrm>
        </p:spPr>
        <p:txBody>
          <a:bodyPr>
            <a:normAutofit/>
          </a:bodyPr>
          <a:lstStyle/>
          <a:p>
            <a:r>
              <a:rPr lang="en-US" b="1" dirty="0"/>
              <a:t>DISCUSSION</a:t>
            </a:r>
            <a:endParaRPr lang="en-US" dirty="0"/>
          </a:p>
        </p:txBody>
      </p:sp>
    </p:spTree>
    <p:extLst>
      <p:ext uri="{BB962C8B-B14F-4D97-AF65-F5344CB8AC3E}">
        <p14:creationId xmlns:p14="http://schemas.microsoft.com/office/powerpoint/2010/main" val="36482698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B516C-BB2A-4527-B207-1182218A7CF4}"/>
              </a:ext>
            </a:extLst>
          </p:cNvPr>
          <p:cNvSpPr>
            <a:spLocks noGrp="1"/>
          </p:cNvSpPr>
          <p:nvPr>
            <p:ph type="title"/>
          </p:nvPr>
        </p:nvSpPr>
        <p:spPr/>
        <p:txBody>
          <a:bodyPr/>
          <a:lstStyle/>
          <a:p>
            <a:r>
              <a:rPr lang="en-US" dirty="0"/>
              <a:t>Discussion &amp; Conclusion</a:t>
            </a:r>
          </a:p>
        </p:txBody>
      </p:sp>
      <p:sp>
        <p:nvSpPr>
          <p:cNvPr id="3" name="Content Placeholder 2">
            <a:extLst>
              <a:ext uri="{FF2B5EF4-FFF2-40B4-BE49-F238E27FC236}">
                <a16:creationId xmlns:a16="http://schemas.microsoft.com/office/drawing/2014/main" id="{292190D2-CF25-4B23-BD2B-8A300CAFE2B7}"/>
              </a:ext>
            </a:extLst>
          </p:cNvPr>
          <p:cNvSpPr>
            <a:spLocks noGrp="1"/>
          </p:cNvSpPr>
          <p:nvPr>
            <p:ph idx="1"/>
          </p:nvPr>
        </p:nvSpPr>
        <p:spPr/>
        <p:txBody>
          <a:bodyPr>
            <a:normAutofit lnSpcReduction="10000"/>
          </a:bodyPr>
          <a:lstStyle/>
          <a:p>
            <a:pPr marL="0" indent="0">
              <a:buNone/>
            </a:pPr>
            <a:r>
              <a:rPr lang="en-US" b="1" dirty="0"/>
              <a:t>Countries-based analysis of the genomic variability among SARS-CoV-2 strains:</a:t>
            </a:r>
          </a:p>
          <a:p>
            <a:r>
              <a:rPr lang="en-US" dirty="0"/>
              <a:t>Based on the phylogenetic tree, one of the Australian sequences is the closest to Wuhan Sequence.</a:t>
            </a:r>
          </a:p>
          <a:p>
            <a:r>
              <a:rPr lang="en-US" dirty="0"/>
              <a:t> the most frequent SNP (A-G) in S gene was found to be Synonymous </a:t>
            </a:r>
          </a:p>
          <a:p>
            <a:pPr algn="just"/>
            <a:r>
              <a:rPr lang="en-US" dirty="0"/>
              <a:t>the most important SNPs is found in N-protein at two positions 28913 (G&gt;S) and 28914 (G&gt;D), which the A.A.s are changed in physicochemical characters which may affect its binding affinity and protein unction</a:t>
            </a:r>
          </a:p>
          <a:p>
            <a:pPr marL="0" indent="0">
              <a:buNone/>
            </a:pPr>
            <a:r>
              <a:rPr lang="en-US" dirty="0"/>
              <a:t> </a:t>
            </a:r>
          </a:p>
        </p:txBody>
      </p:sp>
    </p:spTree>
    <p:extLst>
      <p:ext uri="{BB962C8B-B14F-4D97-AF65-F5344CB8AC3E}">
        <p14:creationId xmlns:p14="http://schemas.microsoft.com/office/powerpoint/2010/main" val="15819841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B516C-BB2A-4527-B207-1182218A7CF4}"/>
              </a:ext>
            </a:extLst>
          </p:cNvPr>
          <p:cNvSpPr>
            <a:spLocks noGrp="1"/>
          </p:cNvSpPr>
          <p:nvPr>
            <p:ph type="title"/>
          </p:nvPr>
        </p:nvSpPr>
        <p:spPr/>
        <p:txBody>
          <a:bodyPr/>
          <a:lstStyle/>
          <a:p>
            <a:r>
              <a:rPr lang="en-US" dirty="0"/>
              <a:t>Discussion &amp; Conclusion</a:t>
            </a:r>
          </a:p>
        </p:txBody>
      </p:sp>
      <p:sp>
        <p:nvSpPr>
          <p:cNvPr id="3" name="Content Placeholder 2">
            <a:extLst>
              <a:ext uri="{FF2B5EF4-FFF2-40B4-BE49-F238E27FC236}">
                <a16:creationId xmlns:a16="http://schemas.microsoft.com/office/drawing/2014/main" id="{292190D2-CF25-4B23-BD2B-8A300CAFE2B7}"/>
              </a:ext>
            </a:extLst>
          </p:cNvPr>
          <p:cNvSpPr>
            <a:spLocks noGrp="1"/>
          </p:cNvSpPr>
          <p:nvPr>
            <p:ph idx="1"/>
          </p:nvPr>
        </p:nvSpPr>
        <p:spPr/>
        <p:txBody>
          <a:bodyPr/>
          <a:lstStyle/>
          <a:p>
            <a:pPr marL="0" indent="0">
              <a:buNone/>
            </a:pPr>
            <a:r>
              <a:rPr lang="en-US" b="1" dirty="0"/>
              <a:t>Analyzing the genomic variability among fecal and oropharyngeal isolates of SARS-CoV-2 :</a:t>
            </a:r>
          </a:p>
          <a:p>
            <a:r>
              <a:rPr lang="en-US" dirty="0"/>
              <a:t>most important SNPs are in orf3a (S&gt; stop codon), orf1ab (H&gt;Y),</a:t>
            </a:r>
            <a:br>
              <a:rPr lang="en-US" dirty="0"/>
            </a:br>
            <a:r>
              <a:rPr lang="en-US" dirty="0"/>
              <a:t>S-protein (R&gt;C) and two SNPs in N-protein (G&gt;D) (G&gt;R), all previous SNPs are important as they changed the physicochemical properties of the amino acids, which may leads to change binding affinity. </a:t>
            </a:r>
          </a:p>
        </p:txBody>
      </p:sp>
    </p:spTree>
    <p:extLst>
      <p:ext uri="{BB962C8B-B14F-4D97-AF65-F5344CB8AC3E}">
        <p14:creationId xmlns:p14="http://schemas.microsoft.com/office/powerpoint/2010/main" val="26525028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B516C-BB2A-4527-B207-1182218A7CF4}"/>
              </a:ext>
            </a:extLst>
          </p:cNvPr>
          <p:cNvSpPr>
            <a:spLocks noGrp="1"/>
          </p:cNvSpPr>
          <p:nvPr>
            <p:ph type="title"/>
          </p:nvPr>
        </p:nvSpPr>
        <p:spPr/>
        <p:txBody>
          <a:bodyPr/>
          <a:lstStyle/>
          <a:p>
            <a:r>
              <a:rPr lang="en-US" dirty="0"/>
              <a:t>Discussion &amp; Conclusion</a:t>
            </a:r>
          </a:p>
        </p:txBody>
      </p:sp>
      <p:sp>
        <p:nvSpPr>
          <p:cNvPr id="3" name="Content Placeholder 2">
            <a:extLst>
              <a:ext uri="{FF2B5EF4-FFF2-40B4-BE49-F238E27FC236}">
                <a16:creationId xmlns:a16="http://schemas.microsoft.com/office/drawing/2014/main" id="{292190D2-CF25-4B23-BD2B-8A300CAFE2B7}"/>
              </a:ext>
            </a:extLst>
          </p:cNvPr>
          <p:cNvSpPr>
            <a:spLocks noGrp="1"/>
          </p:cNvSpPr>
          <p:nvPr>
            <p:ph idx="1"/>
          </p:nvPr>
        </p:nvSpPr>
        <p:spPr/>
        <p:txBody>
          <a:bodyPr/>
          <a:lstStyle/>
          <a:p>
            <a:pPr marL="0" indent="0">
              <a:buNone/>
            </a:pPr>
            <a:r>
              <a:rPr lang="en-US" b="1" dirty="0"/>
              <a:t>Evolutionary study of SARS-CoV-2 with other related viral strains :</a:t>
            </a:r>
          </a:p>
          <a:p>
            <a:r>
              <a:rPr lang="en-US" dirty="0"/>
              <a:t>SARS-CoV-1 and the bat coronavirus which belong to the </a:t>
            </a:r>
            <a:r>
              <a:rPr lang="en-US" dirty="0" err="1"/>
              <a:t>Betacoronaviruses</a:t>
            </a:r>
            <a:r>
              <a:rPr lang="en-US" dirty="0"/>
              <a:t> are the most closer but Human HKU1 a </a:t>
            </a:r>
            <a:r>
              <a:rPr lang="en-US" dirty="0" err="1"/>
              <a:t>Betacoronaviruse</a:t>
            </a:r>
            <a:r>
              <a:rPr lang="en-US" dirty="0"/>
              <a:t> and human coronavirus NL63 an Alphacoronavirus can be seen at a further point. This may help us in Drug repurposing and emergency treatment and vaccination.</a:t>
            </a:r>
          </a:p>
        </p:txBody>
      </p:sp>
    </p:spTree>
    <p:extLst>
      <p:ext uri="{BB962C8B-B14F-4D97-AF65-F5344CB8AC3E}">
        <p14:creationId xmlns:p14="http://schemas.microsoft.com/office/powerpoint/2010/main" val="34436865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B516C-BB2A-4527-B207-1182218A7CF4}"/>
              </a:ext>
            </a:extLst>
          </p:cNvPr>
          <p:cNvSpPr>
            <a:spLocks noGrp="1"/>
          </p:cNvSpPr>
          <p:nvPr>
            <p:ph type="title"/>
          </p:nvPr>
        </p:nvSpPr>
        <p:spPr/>
        <p:txBody>
          <a:bodyPr/>
          <a:lstStyle/>
          <a:p>
            <a:r>
              <a:rPr lang="en-US" dirty="0"/>
              <a:t>Discussion &amp; Conclusion</a:t>
            </a:r>
          </a:p>
        </p:txBody>
      </p:sp>
      <p:sp>
        <p:nvSpPr>
          <p:cNvPr id="3" name="Content Placeholder 2">
            <a:extLst>
              <a:ext uri="{FF2B5EF4-FFF2-40B4-BE49-F238E27FC236}">
                <a16:creationId xmlns:a16="http://schemas.microsoft.com/office/drawing/2014/main" id="{292190D2-CF25-4B23-BD2B-8A300CAFE2B7}"/>
              </a:ext>
            </a:extLst>
          </p:cNvPr>
          <p:cNvSpPr>
            <a:spLocks noGrp="1"/>
          </p:cNvSpPr>
          <p:nvPr>
            <p:ph idx="1"/>
          </p:nvPr>
        </p:nvSpPr>
        <p:spPr/>
        <p:txBody>
          <a:bodyPr>
            <a:normAutofit lnSpcReduction="10000"/>
          </a:bodyPr>
          <a:lstStyle/>
          <a:p>
            <a:pPr marL="0" indent="0">
              <a:buNone/>
            </a:pPr>
            <a:r>
              <a:rPr lang="en-US" b="1" dirty="0"/>
              <a:t>Nested PCR Primer Design:</a:t>
            </a:r>
          </a:p>
          <a:p>
            <a:r>
              <a:rPr lang="en-US" dirty="0"/>
              <a:t>C.T. is not sufficient for accurate diagnosis of subclinical patients so, PCR is the most reliable method for virus detection.</a:t>
            </a:r>
          </a:p>
          <a:p>
            <a:r>
              <a:rPr lang="en-US" dirty="0"/>
              <a:t>four important regions of the virus have been suggested for molecular identification, including ORF1 (a, b), glycoprotein Spike (E), nucleocapsid (N) and viral RNA polymerase enzyme (</a:t>
            </a:r>
            <a:r>
              <a:rPr lang="en-US" dirty="0" err="1"/>
              <a:t>RdRp</a:t>
            </a:r>
            <a:r>
              <a:rPr lang="en-US" dirty="0"/>
              <a:t>) sequences as the final target of RT-PCR test.</a:t>
            </a:r>
          </a:p>
          <a:p>
            <a:r>
              <a:rPr lang="en-US" dirty="0"/>
              <a:t>Nested PCR is the most suitable type in highly contaminated sample and increase sensitivity of results using two pairs of specific primers which give chance for highly sensitive detection in highly contaminated samples.</a:t>
            </a:r>
          </a:p>
        </p:txBody>
      </p:sp>
    </p:spTree>
    <p:extLst>
      <p:ext uri="{BB962C8B-B14F-4D97-AF65-F5344CB8AC3E}">
        <p14:creationId xmlns:p14="http://schemas.microsoft.com/office/powerpoint/2010/main" val="4187307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D6A35-54AC-4AE3-8555-4DEF1464DC30}"/>
              </a:ext>
            </a:extLst>
          </p:cNvPr>
          <p:cNvSpPr>
            <a:spLocks noGrp="1"/>
          </p:cNvSpPr>
          <p:nvPr>
            <p:ph type="ctrTitle"/>
          </p:nvPr>
        </p:nvSpPr>
        <p:spPr>
          <a:xfrm>
            <a:off x="1524000" y="2885807"/>
            <a:ext cx="9144000" cy="1086386"/>
          </a:xfrm>
        </p:spPr>
        <p:txBody>
          <a:bodyPr>
            <a:normAutofit/>
          </a:bodyPr>
          <a:lstStyle/>
          <a:p>
            <a:r>
              <a:rPr lang="en-US" sz="7200" b="1" dirty="0"/>
              <a:t>THANK YOU</a:t>
            </a:r>
            <a:endParaRPr lang="en-US" sz="7200" dirty="0"/>
          </a:p>
        </p:txBody>
      </p:sp>
    </p:spTree>
    <p:extLst>
      <p:ext uri="{BB962C8B-B14F-4D97-AF65-F5344CB8AC3E}">
        <p14:creationId xmlns:p14="http://schemas.microsoft.com/office/powerpoint/2010/main" val="28755211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TotalTime>
  <Words>2078</Words>
  <Application>Microsoft Office PowerPoint</Application>
  <PresentationFormat>Widescreen</PresentationFormat>
  <Paragraphs>440</Paragraphs>
  <Slides>56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Calibri</vt:lpstr>
      <vt:lpstr>Calibri Light</vt:lpstr>
      <vt:lpstr>Liberation Serif</vt:lpstr>
      <vt:lpstr>Office Theme</vt:lpstr>
      <vt:lpstr>A temporal and spatial bioinformatics study to analyze the genetic variability among SARS-CoV-2 genomes and design series of nested PCR primers for sensitive diagnosis </vt:lpstr>
      <vt:lpstr>INTRODUCTION</vt:lpstr>
      <vt:lpstr>Introduction</vt:lpstr>
      <vt:lpstr>METHODS</vt:lpstr>
      <vt:lpstr>A. Countries-based analysis of the genomic variability among SARS-CoV-2 strains:</vt:lpstr>
      <vt:lpstr>1. Retrieving sequences: SARS-CoV-2 Wuhan Seq</vt:lpstr>
      <vt:lpstr>1. Retrieving sequences: SARS-CoV-2 Countries</vt:lpstr>
      <vt:lpstr>1. Retrieving sequences: SARS-CoV-2 Countries</vt:lpstr>
      <vt:lpstr>1. Retrieving sequences: SARS-CoV-2 Countries</vt:lpstr>
      <vt:lpstr>1. Retrieving sequences: SARS-CoV-2 Countries</vt:lpstr>
      <vt:lpstr>1. Retrieving sequences: SARS-CoV-2 Countries</vt:lpstr>
      <vt:lpstr>2. Multiple Sequence alignment</vt:lpstr>
      <vt:lpstr>2. Multiple Sequence alignment</vt:lpstr>
      <vt:lpstr>3. Conserved regions</vt:lpstr>
      <vt:lpstr>3. Conserved regions</vt:lpstr>
      <vt:lpstr>4. Phylogenetic Tree Construction</vt:lpstr>
      <vt:lpstr>PowerPoint Presentation</vt:lpstr>
      <vt:lpstr>B. Analyzing the genomic variability among SARS-CoV-1 and SARS-CoV-2:</vt:lpstr>
      <vt:lpstr>1. Retrieving sequences: SARS-CoV-1 Seq</vt:lpstr>
      <vt:lpstr>2. Multiple Sequence alignment</vt:lpstr>
      <vt:lpstr>3. Conserved regions</vt:lpstr>
      <vt:lpstr>C. Analyzing the genomic variability among fecal and oropharyngeal isolates of SARS-CoV-2:</vt:lpstr>
      <vt:lpstr>1. Retrieving sequences: SARS-CoV-2 fecal seqs</vt:lpstr>
      <vt:lpstr>1. Retrieving sequences: SARS-CoV-2 pharynx seqs</vt:lpstr>
      <vt:lpstr>2. Multiple Sequence alignment</vt:lpstr>
      <vt:lpstr>3. Consensus Sequence</vt:lpstr>
      <vt:lpstr>4. Multiple Sequence alignment</vt:lpstr>
      <vt:lpstr>5. Conserved regions</vt:lpstr>
      <vt:lpstr>6. Phylogenetic Tree Construction</vt:lpstr>
      <vt:lpstr>PowerPoint Presentation</vt:lpstr>
      <vt:lpstr>D. Evolutionary study of SARS-CoV-2 with other related viral strains:</vt:lpstr>
      <vt:lpstr>1. Retrieving sequences: Orthocoronavirinae</vt:lpstr>
      <vt:lpstr>2. Indexing databases</vt:lpstr>
      <vt:lpstr>3. Applying BLASTn</vt:lpstr>
      <vt:lpstr>4. Multiple Sequence alignment</vt:lpstr>
      <vt:lpstr>5. Phylogenetic Tree Construction</vt:lpstr>
      <vt:lpstr>PowerPoint Presentation</vt:lpstr>
      <vt:lpstr>E. SNP Calling &amp; Mapping:</vt:lpstr>
      <vt:lpstr>1. Editing Sequences</vt:lpstr>
      <vt:lpstr>2. Generating variant calling format file</vt:lpstr>
      <vt:lpstr>3. SNP mapping</vt:lpstr>
      <vt:lpstr>4. Getting amino acid</vt:lpstr>
      <vt:lpstr>4. Getting amino acid</vt:lpstr>
      <vt:lpstr>PowerPoint Presentation</vt:lpstr>
      <vt:lpstr>PowerPoint Presentation</vt:lpstr>
      <vt:lpstr>F. Nested PCR Primer Design</vt:lpstr>
      <vt:lpstr>1. Using conserved regions as DNA template</vt:lpstr>
      <vt:lpstr>2. NCBI Primer BLAST</vt:lpstr>
      <vt:lpstr>PowerPoint Presentation</vt:lpstr>
      <vt:lpstr>PowerPoint Presentation</vt:lpstr>
      <vt:lpstr>DISCUSSION</vt:lpstr>
      <vt:lpstr>Discussion &amp; Conclusion</vt:lpstr>
      <vt:lpstr>Discussion &amp; Conclusion</vt:lpstr>
      <vt:lpstr>Discussion &amp; Conclusion</vt:lpstr>
      <vt:lpstr>Discussion &amp; 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Shaymaa Abdelmalek Raghda Ayman Doaa Hussein Ahmed Mohamed Abdullah AbdilAziz</dc:title>
  <dc:creator>B5</dc:creator>
  <cp:lastModifiedBy>Doaa Hussein Hassan</cp:lastModifiedBy>
  <cp:revision>21</cp:revision>
  <dcterms:created xsi:type="dcterms:W3CDTF">2021-02-23T11:17:34Z</dcterms:created>
  <dcterms:modified xsi:type="dcterms:W3CDTF">2024-01-08T19:15:39Z</dcterms:modified>
</cp:coreProperties>
</file>