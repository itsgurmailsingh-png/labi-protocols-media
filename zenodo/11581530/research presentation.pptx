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36" r:id="rId1"/>
  </p:sldMasterIdLst>
  <p:notesMasterIdLst>
    <p:notesMasterId r:id="rId19"/>
  </p:notesMasterIdLst>
  <p:sldIdLst>
    <p:sldId id="275" r:id="rId2"/>
    <p:sldId id="272" r:id="rId3"/>
    <p:sldId id="271" r:id="rId4"/>
    <p:sldId id="273" r:id="rId5"/>
    <p:sldId id="292" r:id="rId6"/>
    <p:sldId id="266" r:id="rId7"/>
    <p:sldId id="276" r:id="rId8"/>
    <p:sldId id="278" r:id="rId9"/>
    <p:sldId id="268" r:id="rId10"/>
    <p:sldId id="265" r:id="rId11"/>
    <p:sldId id="257" r:id="rId12"/>
    <p:sldId id="259" r:id="rId13"/>
    <p:sldId id="294" r:id="rId14"/>
    <p:sldId id="258" r:id="rId15"/>
    <p:sldId id="297" r:id="rId16"/>
    <p:sldId id="293" r:id="rId17"/>
    <p:sldId id="300"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D1D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279" autoAdjust="0"/>
    <p:restoredTop sz="94660"/>
  </p:normalViewPr>
  <p:slideViewPr>
    <p:cSldViewPr snapToGrid="0">
      <p:cViewPr varScale="1">
        <p:scale>
          <a:sx n="107" d="100"/>
          <a:sy n="107" d="100"/>
        </p:scale>
        <p:origin x="50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5">
  <dgm:title val=""/>
  <dgm:desc val=""/>
  <dgm:catLst>
    <dgm:cat type="accent1" pri="11500"/>
  </dgm:catLst>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5867905-FD36-4A55-BE49-55101212ADB5}"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GB"/>
        </a:p>
      </dgm:t>
    </dgm:pt>
    <dgm:pt modelId="{1157C34D-7DF6-4ADF-A3CC-F032023CA70A}">
      <dgm:prSet phldrT="[Text]"/>
      <dgm:spPr/>
      <dgm:t>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1800" dirty="0">
              <a:effectLst/>
              <a:latin typeface="Arial Rounded MT Bold" panose="020F0704030504030204" pitchFamily="34" charset="0"/>
              <a:ea typeface="Calibri" panose="020F0502020204030204" pitchFamily="34" charset="0"/>
              <a:cs typeface="Arial" panose="020B0604020202020204" pitchFamily="34" charset="0"/>
            </a:rPr>
            <a:t>Gene Regulation</a:t>
          </a:r>
          <a:endParaRPr lang="en-GB" dirty="0">
            <a:latin typeface="Arial Rounded MT Bold" panose="020F0704030504030204" pitchFamily="34" charset="0"/>
          </a:endParaRPr>
        </a:p>
        <a:p>
          <a:pPr marL="0" lvl="0" defTabSz="2889250">
            <a:lnSpc>
              <a:spcPct val="90000"/>
            </a:lnSpc>
            <a:spcBef>
              <a:spcPct val="0"/>
            </a:spcBef>
            <a:spcAft>
              <a:spcPct val="35000"/>
            </a:spcAft>
            <a:buNone/>
          </a:pPr>
          <a:endParaRPr lang="en-GB" dirty="0">
            <a:latin typeface="Arial Rounded MT Bold" panose="020F0704030504030204" pitchFamily="34" charset="0"/>
          </a:endParaRPr>
        </a:p>
      </dgm:t>
    </dgm:pt>
    <dgm:pt modelId="{226A0AB2-129F-4009-BF27-2AAA2692A995}" type="parTrans" cxnId="{BD26299A-259B-4817-9545-75ABE317109A}">
      <dgm:prSet/>
      <dgm:spPr/>
      <dgm:t>
        <a:bodyPr/>
        <a:lstStyle/>
        <a:p>
          <a:endParaRPr lang="en-GB"/>
        </a:p>
      </dgm:t>
    </dgm:pt>
    <dgm:pt modelId="{7863161B-243B-42AF-9B49-636342E2F9C4}" type="sibTrans" cxnId="{BD26299A-259B-4817-9545-75ABE317109A}">
      <dgm:prSet/>
      <dgm:spPr/>
      <dgm:t>
        <a:bodyPr/>
        <a:lstStyle/>
        <a:p>
          <a:endParaRPr lang="en-GB"/>
        </a:p>
      </dgm:t>
    </dgm:pt>
    <dgm:pt modelId="{B2D81B7C-12AC-4519-B027-DE9BB3C6BED9}">
      <dgm:prSet phldrT="[Text]"/>
      <dgm:spPr/>
      <dgm:t>
        <a:bodyPr/>
        <a:lstStyle/>
        <a:p>
          <a:pPr marL="0" marR="0" lvl="0" indent="0" defTabSz="914400" eaLnBrk="1" fontAlgn="auto" latinLnBrk="0" hangingPunct="1">
            <a:lnSpc>
              <a:spcPct val="100000"/>
            </a:lnSpc>
            <a:spcBef>
              <a:spcPts val="0"/>
            </a:spcBef>
            <a:spcAft>
              <a:spcPts val="0"/>
            </a:spcAft>
            <a:buClrTx/>
            <a:buSzTx/>
            <a:buFontTx/>
            <a:buNone/>
            <a:tabLst/>
            <a:defRPr/>
          </a:pPr>
          <a:r>
            <a:rPr lang="en-GB" dirty="0">
              <a:latin typeface="Arial Rounded MT Bold" panose="020F0704030504030204" pitchFamily="34" charset="0"/>
            </a:rPr>
            <a:t>Protein Production</a:t>
          </a:r>
        </a:p>
        <a:p>
          <a:pPr marL="0" lvl="0" defTabSz="1333500">
            <a:lnSpc>
              <a:spcPct val="90000"/>
            </a:lnSpc>
            <a:spcBef>
              <a:spcPct val="0"/>
            </a:spcBef>
            <a:spcAft>
              <a:spcPct val="35000"/>
            </a:spcAft>
            <a:buNone/>
          </a:pPr>
          <a:endParaRPr lang="en-GB" dirty="0">
            <a:latin typeface="Arial Rounded MT Bold" panose="020F0704030504030204" pitchFamily="34" charset="0"/>
          </a:endParaRPr>
        </a:p>
      </dgm:t>
    </dgm:pt>
    <dgm:pt modelId="{301E00D2-2590-41E4-B5DF-0E6095D7137E}" type="parTrans" cxnId="{C111CA71-B3FA-4F7A-B079-D73BFD5BE2FE}">
      <dgm:prSet/>
      <dgm:spPr/>
      <dgm:t>
        <a:bodyPr/>
        <a:lstStyle/>
        <a:p>
          <a:endParaRPr lang="en-GB"/>
        </a:p>
      </dgm:t>
    </dgm:pt>
    <dgm:pt modelId="{A939DA8C-2CAF-4E46-8373-72F299EFA2C7}" type="sibTrans" cxnId="{C111CA71-B3FA-4F7A-B079-D73BFD5BE2FE}">
      <dgm:prSet/>
      <dgm:spPr/>
      <dgm:t>
        <a:bodyPr/>
        <a:lstStyle/>
        <a:p>
          <a:endParaRPr lang="en-GB"/>
        </a:p>
      </dgm:t>
    </dgm:pt>
    <dgm:pt modelId="{8A65ED9C-229E-47C0-A0F5-E103010ED5FD}">
      <dgm:prSet phldrT="[Text]"/>
      <dgm:spPr/>
      <dgm:t>
        <a:bodyPr/>
        <a:lstStyle/>
        <a:p>
          <a:pPr marL="0" marR="0" lvl="0" indent="0" defTabSz="914400" eaLnBrk="1" fontAlgn="auto" latinLnBrk="0" hangingPunct="1">
            <a:lnSpc>
              <a:spcPct val="100000"/>
            </a:lnSpc>
            <a:spcBef>
              <a:spcPts val="0"/>
            </a:spcBef>
            <a:spcAft>
              <a:spcPts val="0"/>
            </a:spcAft>
            <a:buClrTx/>
            <a:buSzTx/>
            <a:buFontTx/>
            <a:buNone/>
            <a:tabLst/>
            <a:defRPr/>
          </a:pPr>
          <a:r>
            <a:rPr lang="en-GB" dirty="0">
              <a:latin typeface="Arial Rounded MT Bold" panose="020F0704030504030204" pitchFamily="34" charset="0"/>
            </a:rPr>
            <a:t>MicroRNA Sponge</a:t>
          </a:r>
        </a:p>
        <a:p>
          <a:pPr marL="0" lvl="0" defTabSz="1333500">
            <a:lnSpc>
              <a:spcPct val="90000"/>
            </a:lnSpc>
            <a:spcBef>
              <a:spcPct val="0"/>
            </a:spcBef>
            <a:spcAft>
              <a:spcPct val="35000"/>
            </a:spcAft>
            <a:buNone/>
          </a:pPr>
          <a:endParaRPr lang="en-GB" dirty="0">
            <a:latin typeface="Arial Rounded MT Bold" panose="020F0704030504030204" pitchFamily="34" charset="0"/>
          </a:endParaRPr>
        </a:p>
      </dgm:t>
    </dgm:pt>
    <dgm:pt modelId="{520ACB45-DF49-4929-BA0D-DF6D0E49093E}" type="parTrans" cxnId="{079D95B7-9AD4-46CD-A777-25F5CCE47959}">
      <dgm:prSet/>
      <dgm:spPr/>
      <dgm:t>
        <a:bodyPr/>
        <a:lstStyle/>
        <a:p>
          <a:endParaRPr lang="en-GB"/>
        </a:p>
      </dgm:t>
    </dgm:pt>
    <dgm:pt modelId="{1DB79772-F105-42B5-AA1D-40E3EAF60488}" type="sibTrans" cxnId="{079D95B7-9AD4-46CD-A777-25F5CCE47959}">
      <dgm:prSet/>
      <dgm:spPr/>
      <dgm:t>
        <a:bodyPr/>
        <a:lstStyle/>
        <a:p>
          <a:endParaRPr lang="en-GB"/>
        </a:p>
      </dgm:t>
    </dgm:pt>
    <dgm:pt modelId="{26EB5485-3C28-43FF-BF46-AF64767EA714}">
      <dgm:prSet phldrT="[Text]"/>
      <dgm:spPr/>
      <dgm:t>
        <a:bodyPr/>
        <a:lstStyle/>
        <a:p>
          <a:pPr marL="0" marR="0" lvl="0" indent="0" defTabSz="914400" eaLnBrk="1" fontAlgn="auto" latinLnBrk="0" hangingPunct="1">
            <a:lnSpc>
              <a:spcPct val="100000"/>
            </a:lnSpc>
            <a:spcBef>
              <a:spcPts val="0"/>
            </a:spcBef>
            <a:spcAft>
              <a:spcPts val="0"/>
            </a:spcAft>
            <a:buClrTx/>
            <a:buSzTx/>
            <a:buFontTx/>
            <a:buNone/>
            <a:tabLst/>
            <a:defRPr/>
          </a:pPr>
          <a:r>
            <a:rPr lang="en-GB" dirty="0">
              <a:latin typeface="Arial Rounded MT Bold" panose="020F0704030504030204" pitchFamily="34" charset="0"/>
            </a:rPr>
            <a:t>Cellular </a:t>
          </a:r>
          <a:r>
            <a:rPr lang="en-GB" dirty="0" err="1">
              <a:latin typeface="Arial Rounded MT Bold" panose="020F0704030504030204" pitchFamily="34" charset="0"/>
            </a:rPr>
            <a:t>Signaling</a:t>
          </a:r>
          <a:endParaRPr lang="en-GB" dirty="0">
            <a:latin typeface="Arial Rounded MT Bold" panose="020F0704030504030204" pitchFamily="34" charset="0"/>
          </a:endParaRPr>
        </a:p>
        <a:p>
          <a:pPr marL="0" lvl="0" defTabSz="1333500">
            <a:lnSpc>
              <a:spcPct val="90000"/>
            </a:lnSpc>
            <a:spcBef>
              <a:spcPct val="0"/>
            </a:spcBef>
            <a:spcAft>
              <a:spcPct val="35000"/>
            </a:spcAft>
            <a:buNone/>
          </a:pPr>
          <a:endParaRPr lang="en-GB" dirty="0">
            <a:latin typeface="Arial Rounded MT Bold" panose="020F0704030504030204" pitchFamily="34" charset="0"/>
          </a:endParaRPr>
        </a:p>
      </dgm:t>
    </dgm:pt>
    <dgm:pt modelId="{2938DA5B-F412-4113-9751-D5DC43DB7EB4}" type="parTrans" cxnId="{9624F607-537C-4843-A160-5A8C568BA3E0}">
      <dgm:prSet/>
      <dgm:spPr/>
      <dgm:t>
        <a:bodyPr/>
        <a:lstStyle/>
        <a:p>
          <a:endParaRPr lang="en-GB"/>
        </a:p>
      </dgm:t>
    </dgm:pt>
    <dgm:pt modelId="{A3E6A15B-B0EC-4C7E-BDF2-4FF4EE654C95}" type="sibTrans" cxnId="{9624F607-537C-4843-A160-5A8C568BA3E0}">
      <dgm:prSet/>
      <dgm:spPr/>
      <dgm:t>
        <a:bodyPr/>
        <a:lstStyle/>
        <a:p>
          <a:endParaRPr lang="en-GB"/>
        </a:p>
      </dgm:t>
    </dgm:pt>
    <dgm:pt modelId="{A09141D2-A579-47B6-AFBF-3E252E69E081}">
      <dgm:prSet phldrT="[Text]"/>
      <dgm:spPr/>
      <dgm:t>
        <a:bodyPr/>
        <a:lstStyle/>
        <a:p>
          <a:pPr marL="0" marR="0" lvl="0" indent="0" defTabSz="914400" eaLnBrk="1" fontAlgn="auto" latinLnBrk="0" hangingPunct="1">
            <a:lnSpc>
              <a:spcPct val="100000"/>
            </a:lnSpc>
            <a:spcBef>
              <a:spcPts val="0"/>
            </a:spcBef>
            <a:spcAft>
              <a:spcPts val="0"/>
            </a:spcAft>
            <a:buClrTx/>
            <a:buSzTx/>
            <a:buFontTx/>
            <a:buNone/>
            <a:tabLst/>
            <a:defRPr/>
          </a:pPr>
          <a:r>
            <a:rPr lang="en-GB" dirty="0">
              <a:latin typeface="Arial Rounded MT Bold" panose="020F0704030504030204" pitchFamily="34" charset="0"/>
            </a:rPr>
            <a:t>Interaction with RNA-Binding Proteins</a:t>
          </a:r>
        </a:p>
        <a:p>
          <a:pPr marL="0" lvl="0" defTabSz="1333500">
            <a:lnSpc>
              <a:spcPct val="90000"/>
            </a:lnSpc>
            <a:spcBef>
              <a:spcPct val="0"/>
            </a:spcBef>
            <a:spcAft>
              <a:spcPct val="35000"/>
            </a:spcAft>
            <a:buNone/>
          </a:pPr>
          <a:endParaRPr lang="en-GB" dirty="0">
            <a:latin typeface="Arial Rounded MT Bold" panose="020F0704030504030204" pitchFamily="34" charset="0"/>
          </a:endParaRPr>
        </a:p>
      </dgm:t>
    </dgm:pt>
    <dgm:pt modelId="{C5FE6A37-BE82-469E-A803-813D8F2F6616}" type="parTrans" cxnId="{8D6DE134-4ECF-49BF-83C4-011164A690C7}">
      <dgm:prSet/>
      <dgm:spPr/>
      <dgm:t>
        <a:bodyPr/>
        <a:lstStyle/>
        <a:p>
          <a:endParaRPr lang="en-GB"/>
        </a:p>
      </dgm:t>
    </dgm:pt>
    <dgm:pt modelId="{7A5C7C91-7851-439E-A4D3-DFFD4D8E58EC}" type="sibTrans" cxnId="{8D6DE134-4ECF-49BF-83C4-011164A690C7}">
      <dgm:prSet/>
      <dgm:spPr/>
      <dgm:t>
        <a:bodyPr/>
        <a:lstStyle/>
        <a:p>
          <a:endParaRPr lang="en-GB"/>
        </a:p>
      </dgm:t>
    </dgm:pt>
    <dgm:pt modelId="{B72AA78F-7AF6-4C76-9C4C-E561C039A69E}" type="pres">
      <dgm:prSet presAssocID="{65867905-FD36-4A55-BE49-55101212ADB5}" presName="diagram" presStyleCnt="0">
        <dgm:presLayoutVars>
          <dgm:dir/>
          <dgm:resizeHandles val="exact"/>
        </dgm:presLayoutVars>
      </dgm:prSet>
      <dgm:spPr/>
    </dgm:pt>
    <dgm:pt modelId="{BC14AB7D-CFFE-4551-A1B4-32504421D8DD}" type="pres">
      <dgm:prSet presAssocID="{1157C34D-7DF6-4ADF-A3CC-F032023CA70A}" presName="node" presStyleLbl="node1" presStyleIdx="0" presStyleCnt="5">
        <dgm:presLayoutVars>
          <dgm:bulletEnabled val="1"/>
        </dgm:presLayoutVars>
      </dgm:prSet>
      <dgm:spPr/>
    </dgm:pt>
    <dgm:pt modelId="{9F605BA5-D43A-42E2-86C5-0C1564B4E64A}" type="pres">
      <dgm:prSet presAssocID="{7863161B-243B-42AF-9B49-636342E2F9C4}" presName="sibTrans" presStyleCnt="0"/>
      <dgm:spPr/>
    </dgm:pt>
    <dgm:pt modelId="{11829449-204D-44D4-8C98-1D74FD0CEE91}" type="pres">
      <dgm:prSet presAssocID="{B2D81B7C-12AC-4519-B027-DE9BB3C6BED9}" presName="node" presStyleLbl="node1" presStyleIdx="1" presStyleCnt="5">
        <dgm:presLayoutVars>
          <dgm:bulletEnabled val="1"/>
        </dgm:presLayoutVars>
      </dgm:prSet>
      <dgm:spPr/>
    </dgm:pt>
    <dgm:pt modelId="{CB669DA6-A739-4EAD-8564-3D36E986D562}" type="pres">
      <dgm:prSet presAssocID="{A939DA8C-2CAF-4E46-8373-72F299EFA2C7}" presName="sibTrans" presStyleCnt="0"/>
      <dgm:spPr/>
    </dgm:pt>
    <dgm:pt modelId="{EC992975-D324-4872-AE48-71CB98651AEB}" type="pres">
      <dgm:prSet presAssocID="{8A65ED9C-229E-47C0-A0F5-E103010ED5FD}" presName="node" presStyleLbl="node1" presStyleIdx="2" presStyleCnt="5">
        <dgm:presLayoutVars>
          <dgm:bulletEnabled val="1"/>
        </dgm:presLayoutVars>
      </dgm:prSet>
      <dgm:spPr/>
    </dgm:pt>
    <dgm:pt modelId="{8F1D58E7-4F0C-4DDD-81DF-C8EE3399D4DE}" type="pres">
      <dgm:prSet presAssocID="{1DB79772-F105-42B5-AA1D-40E3EAF60488}" presName="sibTrans" presStyleCnt="0"/>
      <dgm:spPr/>
    </dgm:pt>
    <dgm:pt modelId="{2C093861-FAF3-4A7F-875F-A869CA4CB986}" type="pres">
      <dgm:prSet presAssocID="{26EB5485-3C28-43FF-BF46-AF64767EA714}" presName="node" presStyleLbl="node1" presStyleIdx="3" presStyleCnt="5">
        <dgm:presLayoutVars>
          <dgm:bulletEnabled val="1"/>
        </dgm:presLayoutVars>
      </dgm:prSet>
      <dgm:spPr/>
    </dgm:pt>
    <dgm:pt modelId="{B151C509-63C0-4681-B81E-AAA8414A416E}" type="pres">
      <dgm:prSet presAssocID="{A3E6A15B-B0EC-4C7E-BDF2-4FF4EE654C95}" presName="sibTrans" presStyleCnt="0"/>
      <dgm:spPr/>
    </dgm:pt>
    <dgm:pt modelId="{5BC491B9-CB5A-4F5E-AFCF-EC01F9047F7D}" type="pres">
      <dgm:prSet presAssocID="{A09141D2-A579-47B6-AFBF-3E252E69E081}" presName="node" presStyleLbl="node1" presStyleIdx="4" presStyleCnt="5">
        <dgm:presLayoutVars>
          <dgm:bulletEnabled val="1"/>
        </dgm:presLayoutVars>
      </dgm:prSet>
      <dgm:spPr/>
    </dgm:pt>
  </dgm:ptLst>
  <dgm:cxnLst>
    <dgm:cxn modelId="{9624F607-537C-4843-A160-5A8C568BA3E0}" srcId="{65867905-FD36-4A55-BE49-55101212ADB5}" destId="{26EB5485-3C28-43FF-BF46-AF64767EA714}" srcOrd="3" destOrd="0" parTransId="{2938DA5B-F412-4113-9751-D5DC43DB7EB4}" sibTransId="{A3E6A15B-B0EC-4C7E-BDF2-4FF4EE654C95}"/>
    <dgm:cxn modelId="{8D6DE134-4ECF-49BF-83C4-011164A690C7}" srcId="{65867905-FD36-4A55-BE49-55101212ADB5}" destId="{A09141D2-A579-47B6-AFBF-3E252E69E081}" srcOrd="4" destOrd="0" parTransId="{C5FE6A37-BE82-469E-A803-813D8F2F6616}" sibTransId="{7A5C7C91-7851-439E-A4D3-DFFD4D8E58EC}"/>
    <dgm:cxn modelId="{C111CA71-B3FA-4F7A-B079-D73BFD5BE2FE}" srcId="{65867905-FD36-4A55-BE49-55101212ADB5}" destId="{B2D81B7C-12AC-4519-B027-DE9BB3C6BED9}" srcOrd="1" destOrd="0" parTransId="{301E00D2-2590-41E4-B5DF-0E6095D7137E}" sibTransId="{A939DA8C-2CAF-4E46-8373-72F299EFA2C7}"/>
    <dgm:cxn modelId="{6B835252-79B5-447A-A8E9-44458E332DB7}" type="presOf" srcId="{65867905-FD36-4A55-BE49-55101212ADB5}" destId="{B72AA78F-7AF6-4C76-9C4C-E561C039A69E}" srcOrd="0" destOrd="0" presId="urn:microsoft.com/office/officeart/2005/8/layout/default"/>
    <dgm:cxn modelId="{D62E6756-C49D-46F7-9512-02A937341E60}" type="presOf" srcId="{8A65ED9C-229E-47C0-A0F5-E103010ED5FD}" destId="{EC992975-D324-4872-AE48-71CB98651AEB}" srcOrd="0" destOrd="0" presId="urn:microsoft.com/office/officeart/2005/8/layout/default"/>
    <dgm:cxn modelId="{7753DE8F-53BA-4EC8-9302-D8C716F14D2C}" type="presOf" srcId="{A09141D2-A579-47B6-AFBF-3E252E69E081}" destId="{5BC491B9-CB5A-4F5E-AFCF-EC01F9047F7D}" srcOrd="0" destOrd="0" presId="urn:microsoft.com/office/officeart/2005/8/layout/default"/>
    <dgm:cxn modelId="{BD26299A-259B-4817-9545-75ABE317109A}" srcId="{65867905-FD36-4A55-BE49-55101212ADB5}" destId="{1157C34D-7DF6-4ADF-A3CC-F032023CA70A}" srcOrd="0" destOrd="0" parTransId="{226A0AB2-129F-4009-BF27-2AAA2692A995}" sibTransId="{7863161B-243B-42AF-9B49-636342E2F9C4}"/>
    <dgm:cxn modelId="{2F7B139B-E1D6-4F80-BCEB-0D37659883CA}" type="presOf" srcId="{26EB5485-3C28-43FF-BF46-AF64767EA714}" destId="{2C093861-FAF3-4A7F-875F-A869CA4CB986}" srcOrd="0" destOrd="0" presId="urn:microsoft.com/office/officeart/2005/8/layout/default"/>
    <dgm:cxn modelId="{CDB201AB-E2CB-4D76-BE21-9294DC953446}" type="presOf" srcId="{1157C34D-7DF6-4ADF-A3CC-F032023CA70A}" destId="{BC14AB7D-CFFE-4551-A1B4-32504421D8DD}" srcOrd="0" destOrd="0" presId="urn:microsoft.com/office/officeart/2005/8/layout/default"/>
    <dgm:cxn modelId="{079D95B7-9AD4-46CD-A777-25F5CCE47959}" srcId="{65867905-FD36-4A55-BE49-55101212ADB5}" destId="{8A65ED9C-229E-47C0-A0F5-E103010ED5FD}" srcOrd="2" destOrd="0" parTransId="{520ACB45-DF49-4929-BA0D-DF6D0E49093E}" sibTransId="{1DB79772-F105-42B5-AA1D-40E3EAF60488}"/>
    <dgm:cxn modelId="{12175ED2-3B99-4773-AB68-190CCFCC0916}" type="presOf" srcId="{B2D81B7C-12AC-4519-B027-DE9BB3C6BED9}" destId="{11829449-204D-44D4-8C98-1D74FD0CEE91}" srcOrd="0" destOrd="0" presId="urn:microsoft.com/office/officeart/2005/8/layout/default"/>
    <dgm:cxn modelId="{E10C9B06-69C9-4977-A62E-E5882498C207}" type="presParOf" srcId="{B72AA78F-7AF6-4C76-9C4C-E561C039A69E}" destId="{BC14AB7D-CFFE-4551-A1B4-32504421D8DD}" srcOrd="0" destOrd="0" presId="urn:microsoft.com/office/officeart/2005/8/layout/default"/>
    <dgm:cxn modelId="{9878321F-ACDA-4193-BAA5-4747FFEA3BC4}" type="presParOf" srcId="{B72AA78F-7AF6-4C76-9C4C-E561C039A69E}" destId="{9F605BA5-D43A-42E2-86C5-0C1564B4E64A}" srcOrd="1" destOrd="0" presId="urn:microsoft.com/office/officeart/2005/8/layout/default"/>
    <dgm:cxn modelId="{E0E6B706-9C99-4000-A046-767696219958}" type="presParOf" srcId="{B72AA78F-7AF6-4C76-9C4C-E561C039A69E}" destId="{11829449-204D-44D4-8C98-1D74FD0CEE91}" srcOrd="2" destOrd="0" presId="urn:microsoft.com/office/officeart/2005/8/layout/default"/>
    <dgm:cxn modelId="{652A28D8-9988-428D-A42A-F57F49277340}" type="presParOf" srcId="{B72AA78F-7AF6-4C76-9C4C-E561C039A69E}" destId="{CB669DA6-A739-4EAD-8564-3D36E986D562}" srcOrd="3" destOrd="0" presId="urn:microsoft.com/office/officeart/2005/8/layout/default"/>
    <dgm:cxn modelId="{D4D84053-1E07-4F46-B5D4-4FBD27596430}" type="presParOf" srcId="{B72AA78F-7AF6-4C76-9C4C-E561C039A69E}" destId="{EC992975-D324-4872-AE48-71CB98651AEB}" srcOrd="4" destOrd="0" presId="urn:microsoft.com/office/officeart/2005/8/layout/default"/>
    <dgm:cxn modelId="{485FFCD9-2165-4B54-99C6-E28A2113FCBA}" type="presParOf" srcId="{B72AA78F-7AF6-4C76-9C4C-E561C039A69E}" destId="{8F1D58E7-4F0C-4DDD-81DF-C8EE3399D4DE}" srcOrd="5" destOrd="0" presId="urn:microsoft.com/office/officeart/2005/8/layout/default"/>
    <dgm:cxn modelId="{3ED94196-9CDD-413E-8E11-A80BE8CBEB63}" type="presParOf" srcId="{B72AA78F-7AF6-4C76-9C4C-E561C039A69E}" destId="{2C093861-FAF3-4A7F-875F-A869CA4CB986}" srcOrd="6" destOrd="0" presId="urn:microsoft.com/office/officeart/2005/8/layout/default"/>
    <dgm:cxn modelId="{B7E87E29-11BF-48D9-8319-278F5939421C}" type="presParOf" srcId="{B72AA78F-7AF6-4C76-9C4C-E561C039A69E}" destId="{B151C509-63C0-4681-B81E-AAA8414A416E}" srcOrd="7" destOrd="0" presId="urn:microsoft.com/office/officeart/2005/8/layout/default"/>
    <dgm:cxn modelId="{E8F650FC-E5C1-4F90-9614-DBA4351C9300}" type="presParOf" srcId="{B72AA78F-7AF6-4C76-9C4C-E561C039A69E}" destId="{5BC491B9-CB5A-4F5E-AFCF-EC01F9047F7D}"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F00B815-2C2E-407A-989F-5A6455761D24}" type="doc">
      <dgm:prSet loTypeId="urn:microsoft.com/office/officeart/2005/8/layout/hList1" loCatId="list" qsTypeId="urn:microsoft.com/office/officeart/2005/8/quickstyle/simple3" qsCatId="simple" csTypeId="urn:microsoft.com/office/officeart/2005/8/colors/accent1_5" csCatId="accent1" phldr="1"/>
      <dgm:spPr/>
      <dgm:t>
        <a:bodyPr/>
        <a:lstStyle/>
        <a:p>
          <a:endParaRPr lang="en-GB"/>
        </a:p>
      </dgm:t>
    </dgm:pt>
    <dgm:pt modelId="{56D8C9A0-7EAF-40E3-94A1-0F8CD3953121}">
      <dgm:prSet phldrT="[Text]" custT="1"/>
      <dgm:spPr/>
      <dgm:t>
        <a:bodyPr/>
        <a:lstStyle/>
        <a:p>
          <a:pPr marL="0" marR="0" lvl="0" indent="0" algn="ctr" defTabSz="914400" eaLnBrk="1" fontAlgn="auto" latinLnBrk="0" hangingPunct="1">
            <a:lnSpc>
              <a:spcPct val="100000"/>
            </a:lnSpc>
            <a:spcBef>
              <a:spcPct val="0"/>
            </a:spcBef>
            <a:spcAft>
              <a:spcPts val="0"/>
            </a:spcAft>
            <a:buClrTx/>
            <a:buSzTx/>
            <a:buFontTx/>
            <a:buNone/>
            <a:tabLst/>
            <a:defRPr/>
          </a:pPr>
          <a:r>
            <a:rPr lang="en-GB" sz="2800" b="1" i="0" u="none" strike="noStrike" kern="1200" dirty="0">
              <a:solidFill>
                <a:prstClr val="black"/>
              </a:solidFill>
              <a:latin typeface="Arial Rounded MT Bold" panose="020F0704030504030204" pitchFamily="34" charset="0"/>
              <a:ea typeface="Times New Roman" charset="0"/>
              <a:cs typeface="Times New Roman" charset="0"/>
            </a:rPr>
            <a:t>Bioinformatics analysis</a:t>
          </a:r>
        </a:p>
        <a:p>
          <a:pPr marL="0" lvl="0" algn="ctr" defTabSz="2889250">
            <a:lnSpc>
              <a:spcPct val="90000"/>
            </a:lnSpc>
            <a:spcBef>
              <a:spcPct val="0"/>
            </a:spcBef>
            <a:spcAft>
              <a:spcPct val="35000"/>
            </a:spcAft>
            <a:buNone/>
          </a:pPr>
          <a:endParaRPr lang="en-GB" sz="1500" kern="1200" dirty="0">
            <a:latin typeface="Arial Rounded MT Bold" panose="020F0704030504030204" pitchFamily="34" charset="0"/>
          </a:endParaRPr>
        </a:p>
      </dgm:t>
    </dgm:pt>
    <dgm:pt modelId="{E8C11B91-622C-4C9D-9C01-EB35EEFC48D2}" type="parTrans" cxnId="{F3B4EFDE-7BC9-4ABF-9984-05C2C4D69FE6}">
      <dgm:prSet/>
      <dgm:spPr/>
      <dgm:t>
        <a:bodyPr/>
        <a:lstStyle/>
        <a:p>
          <a:endParaRPr lang="en-GB"/>
        </a:p>
      </dgm:t>
    </dgm:pt>
    <dgm:pt modelId="{F5EB789A-CE6E-43D6-B6F9-D28DFF4181B9}" type="sibTrans" cxnId="{F3B4EFDE-7BC9-4ABF-9984-05C2C4D69FE6}">
      <dgm:prSet/>
      <dgm:spPr/>
      <dgm:t>
        <a:bodyPr/>
        <a:lstStyle/>
        <a:p>
          <a:endParaRPr lang="en-GB"/>
        </a:p>
      </dgm:t>
    </dgm:pt>
    <dgm:pt modelId="{D6835E47-3881-40E9-8558-E209A07B3678}">
      <dgm:prSet phldrT="[Text]"/>
      <dgm:spPr/>
      <dgm:t>
        <a:bodyPr/>
        <a:lstStyle/>
        <a:p>
          <a:pPr marL="0" marR="0" indent="0" algn="l">
            <a:lnSpc>
              <a:spcPct val="115000"/>
            </a:lnSpc>
            <a:spcBef>
              <a:spcPts val="0"/>
            </a:spcBef>
            <a:spcAft>
              <a:spcPts val="1000"/>
            </a:spcAft>
            <a:buFont typeface="Arial" panose="020B0604020202020204" pitchFamily="34" charset="0"/>
            <a:buChar char="•"/>
          </a:pPr>
          <a:r>
            <a:rPr lang="en-GB" sz="1800" b="0" i="0" u="none" strike="noStrike" dirty="0">
              <a:latin typeface="Arial Narrow" panose="020B0606020202030204" pitchFamily="34" charset="0"/>
              <a:ea typeface="Cambria Math" pitchFamily="18" charset="0"/>
              <a:cs typeface="Cambria Math" pitchFamily="18" charset="0"/>
            </a:rPr>
            <a:t>The parent genes of differential </a:t>
          </a:r>
          <a:r>
            <a:rPr lang="en-GB" sz="1800" b="0" i="0" u="none" strike="noStrike" dirty="0" err="1">
              <a:latin typeface="Arial Narrow" panose="020B0606020202030204" pitchFamily="34" charset="0"/>
              <a:ea typeface="Cambria Math" pitchFamily="18" charset="0"/>
              <a:cs typeface="Cambria Math" pitchFamily="18" charset="0"/>
            </a:rPr>
            <a:t>circRNAs</a:t>
          </a:r>
          <a:r>
            <a:rPr lang="en-GB" sz="1800" b="0" i="0" u="none" strike="noStrike" dirty="0">
              <a:latin typeface="Arial Narrow" panose="020B0606020202030204" pitchFamily="34" charset="0"/>
              <a:ea typeface="Cambria Math" pitchFamily="18" charset="0"/>
              <a:cs typeface="Cambria Math" pitchFamily="18" charset="0"/>
            </a:rPr>
            <a:t> were </a:t>
          </a:r>
          <a:r>
            <a:rPr lang="en-GB" sz="1800" b="0" i="0" u="none" strike="noStrike" dirty="0" err="1">
              <a:latin typeface="Arial Narrow" panose="020B0606020202030204" pitchFamily="34" charset="0"/>
              <a:ea typeface="Cambria Math" pitchFamily="18" charset="0"/>
              <a:cs typeface="Cambria Math" pitchFamily="18" charset="0"/>
            </a:rPr>
            <a:t>analyzed</a:t>
          </a:r>
          <a:r>
            <a:rPr lang="en-GB" sz="1800" b="0" i="0" u="none" strike="noStrike" dirty="0">
              <a:latin typeface="Arial Narrow" panose="020B0606020202030204" pitchFamily="34" charset="0"/>
              <a:ea typeface="Cambria Math" pitchFamily="18" charset="0"/>
              <a:cs typeface="Cambria Math" pitchFamily="18" charset="0"/>
            </a:rPr>
            <a:t> using KEGG and GO analyses to predict their biological functions.</a:t>
          </a:r>
        </a:p>
        <a:p>
          <a:pPr marL="0" marR="0" indent="0" algn="l">
            <a:lnSpc>
              <a:spcPct val="115000"/>
            </a:lnSpc>
            <a:spcBef>
              <a:spcPts val="0"/>
            </a:spcBef>
            <a:spcAft>
              <a:spcPts val="1000"/>
            </a:spcAft>
            <a:buFont typeface="Arial" panose="020B0604020202020204" pitchFamily="34" charset="0"/>
            <a:buChar char="•"/>
          </a:pPr>
          <a:r>
            <a:rPr lang="en-GB" sz="1800" b="0" i="0" u="none" strike="noStrike" dirty="0">
              <a:latin typeface="Arial Narrow" panose="020B0606020202030204" pitchFamily="34" charset="0"/>
              <a:ea typeface="Cambria Math" pitchFamily="18" charset="0"/>
              <a:cs typeface="Cambria Math" pitchFamily="18" charset="0"/>
            </a:rPr>
            <a:t>Enriched biological modules and </a:t>
          </a:r>
          <a:r>
            <a:rPr lang="en-GB" sz="1800" b="0" i="0" u="none" strike="noStrike" dirty="0" err="1">
              <a:latin typeface="Arial Narrow" panose="020B0606020202030204" pitchFamily="34" charset="0"/>
              <a:ea typeface="Cambria Math" pitchFamily="18" charset="0"/>
              <a:cs typeface="Cambria Math" pitchFamily="18" charset="0"/>
            </a:rPr>
            <a:t>signaling</a:t>
          </a:r>
          <a:r>
            <a:rPr lang="en-GB" sz="1800" b="0" i="0" u="none" strike="noStrike" dirty="0">
              <a:latin typeface="Arial Narrow" panose="020B0606020202030204" pitchFamily="34" charset="0"/>
              <a:ea typeface="Cambria Math" pitchFamily="18" charset="0"/>
              <a:cs typeface="Cambria Math" pitchFamily="18" charset="0"/>
            </a:rPr>
            <a:t> pathways were </a:t>
          </a:r>
          <a:r>
            <a:rPr lang="en-GB" sz="1800" b="0" i="0" u="none" strike="noStrike" dirty="0" err="1">
              <a:latin typeface="Arial Narrow" panose="020B0606020202030204" pitchFamily="34" charset="0"/>
              <a:ea typeface="Cambria Math" pitchFamily="18" charset="0"/>
              <a:cs typeface="Cambria Math" pitchFamily="18" charset="0"/>
            </a:rPr>
            <a:t>analyzed</a:t>
          </a:r>
          <a:r>
            <a:rPr lang="en-GB" sz="1800" b="0" i="0" u="none" strike="noStrike" dirty="0">
              <a:latin typeface="Arial Narrow" panose="020B0606020202030204" pitchFamily="34" charset="0"/>
              <a:ea typeface="Cambria Math" pitchFamily="18" charset="0"/>
              <a:cs typeface="Cambria Math" pitchFamily="18" charset="0"/>
            </a:rPr>
            <a:t> by Gene Ontology Enrichment and Kyoto </a:t>
          </a:r>
          <a:r>
            <a:rPr lang="en-GB" sz="1800" b="0" i="0" u="none" strike="noStrike" dirty="0" err="1">
              <a:latin typeface="Arial Narrow" panose="020B0606020202030204" pitchFamily="34" charset="0"/>
              <a:ea typeface="Cambria Math" pitchFamily="18" charset="0"/>
              <a:cs typeface="Cambria Math" pitchFamily="18" charset="0"/>
            </a:rPr>
            <a:t>Encyclopedia</a:t>
          </a:r>
          <a:r>
            <a:rPr lang="en-GB" sz="1800" b="0" i="0" u="none" strike="noStrike" dirty="0">
              <a:latin typeface="Arial Narrow" panose="020B0606020202030204" pitchFamily="34" charset="0"/>
              <a:ea typeface="Cambria Math" pitchFamily="18" charset="0"/>
              <a:cs typeface="Cambria Math" pitchFamily="18" charset="0"/>
            </a:rPr>
            <a:t> of Genes and Genomes analysis, respectively.</a:t>
          </a:r>
        </a:p>
        <a:p>
          <a:pPr marL="0" marR="0" indent="0" algn="l">
            <a:lnSpc>
              <a:spcPct val="115000"/>
            </a:lnSpc>
            <a:spcBef>
              <a:spcPts val="0"/>
            </a:spcBef>
            <a:spcAft>
              <a:spcPts val="1000"/>
            </a:spcAft>
            <a:buFont typeface="Arial" panose="020B0604020202020204" pitchFamily="34" charset="0"/>
            <a:buChar char="•"/>
          </a:pPr>
          <a:r>
            <a:rPr lang="en-GB" sz="1800" b="0" i="0" u="none" strike="noStrike" dirty="0">
              <a:latin typeface="Arial Narrow" panose="020B0606020202030204" pitchFamily="34" charset="0"/>
              <a:ea typeface="Cambria Math" pitchFamily="18" charset="0"/>
              <a:cs typeface="Cambria Math" pitchFamily="18" charset="0"/>
            </a:rPr>
            <a:t>Circular RNA microarray analysis was performed to screen differential </a:t>
          </a:r>
          <a:r>
            <a:rPr lang="en-GB" sz="1800" b="0" i="0" u="none" strike="noStrike" dirty="0" err="1">
              <a:latin typeface="Arial Narrow" panose="020B0606020202030204" pitchFamily="34" charset="0"/>
              <a:ea typeface="Cambria Math" pitchFamily="18" charset="0"/>
              <a:cs typeface="Cambria Math" pitchFamily="18" charset="0"/>
            </a:rPr>
            <a:t>circRNAs</a:t>
          </a:r>
          <a:r>
            <a:rPr lang="en-GB" sz="1800" b="0" i="0" u="none" strike="noStrike" dirty="0">
              <a:latin typeface="Arial Narrow" panose="020B0606020202030204" pitchFamily="34" charset="0"/>
              <a:ea typeface="Cambria Math" pitchFamily="18" charset="0"/>
              <a:cs typeface="Cambria Math" pitchFamily="18" charset="0"/>
            </a:rPr>
            <a:t> in DR patients compared to healthy controls and DM patients.</a:t>
          </a:r>
        </a:p>
        <a:p>
          <a:pPr marL="0" marR="0" indent="0" algn="l">
            <a:lnSpc>
              <a:spcPct val="115000"/>
            </a:lnSpc>
            <a:spcBef>
              <a:spcPts val="0"/>
            </a:spcBef>
            <a:spcAft>
              <a:spcPts val="1000"/>
            </a:spcAft>
            <a:buFont typeface="Arial" panose="020B0604020202020204" pitchFamily="34" charset="0"/>
            <a:buChar char="•"/>
          </a:pPr>
          <a:r>
            <a:rPr lang="en-GB" sz="1800" b="0" i="0" u="none" strike="noStrike" dirty="0">
              <a:latin typeface="Arial Narrow" panose="020B0606020202030204" pitchFamily="34" charset="0"/>
              <a:ea typeface="Cambria Math" pitchFamily="18" charset="0"/>
              <a:cs typeface="Cambria Math" pitchFamily="18" charset="0"/>
            </a:rPr>
            <a:t>Real-time quantitative reverse transcription PCR (RT-qPCR) was performed to validate differentiated levels of several </a:t>
          </a:r>
          <a:r>
            <a:rPr lang="en-GB" sz="1800" b="0" i="0" u="none" strike="noStrike" dirty="0" err="1">
              <a:latin typeface="Arial Narrow" panose="020B0606020202030204" pitchFamily="34" charset="0"/>
              <a:ea typeface="Cambria Math" pitchFamily="18" charset="0"/>
              <a:cs typeface="Cambria Math" pitchFamily="18" charset="0"/>
            </a:rPr>
            <a:t>circRNAs</a:t>
          </a:r>
          <a:r>
            <a:rPr lang="en-GB" sz="1800" b="0" i="0" u="none" strike="noStrike" dirty="0">
              <a:latin typeface="Arial Narrow" panose="020B0606020202030204" pitchFamily="34" charset="0"/>
              <a:ea typeface="Cambria Math" pitchFamily="18" charset="0"/>
              <a:cs typeface="Cambria Math" pitchFamily="18" charset="0"/>
            </a:rPr>
            <a:t> in different groups of healthy control subjects, DM patients, and DR patients.</a:t>
          </a:r>
        </a:p>
        <a:p>
          <a:pPr marL="0" marR="0" indent="0" algn="l">
            <a:lnSpc>
              <a:spcPct val="115000"/>
            </a:lnSpc>
            <a:spcBef>
              <a:spcPts val="0"/>
            </a:spcBef>
            <a:spcAft>
              <a:spcPts val="1000"/>
            </a:spcAft>
            <a:buFont typeface="Arial" panose="020B0604020202020204" pitchFamily="34" charset="0"/>
            <a:buChar char="•"/>
          </a:pPr>
          <a:r>
            <a:rPr lang="en-GB" sz="1800" b="0" i="0" u="none" strike="noStrike" dirty="0">
              <a:latin typeface="Arial Narrow" panose="020B0606020202030204" pitchFamily="34" charset="0"/>
              <a:ea typeface="Cambria Math" pitchFamily="18" charset="0"/>
              <a:cs typeface="Cambria Math" pitchFamily="18" charset="0"/>
            </a:rPr>
            <a:t>The diagnostic performance of candidate </a:t>
          </a:r>
          <a:r>
            <a:rPr lang="en-GB" sz="1800" b="0" i="0" u="none" strike="noStrike" dirty="0" err="1">
              <a:latin typeface="Arial Narrow" panose="020B0606020202030204" pitchFamily="34" charset="0"/>
              <a:ea typeface="Cambria Math" pitchFamily="18" charset="0"/>
              <a:cs typeface="Cambria Math" pitchFamily="18" charset="0"/>
            </a:rPr>
            <a:t>circRNAs</a:t>
          </a:r>
          <a:r>
            <a:rPr lang="en-GB" sz="1800" b="0" i="0" u="none" strike="noStrike" dirty="0">
              <a:latin typeface="Arial Narrow" panose="020B0606020202030204" pitchFamily="34" charset="0"/>
              <a:ea typeface="Cambria Math" pitchFamily="18" charset="0"/>
              <a:cs typeface="Cambria Math" pitchFamily="18" charset="0"/>
            </a:rPr>
            <a:t> was measured by operating characteristic curves (ROCs).</a:t>
          </a:r>
          <a:endParaRPr lang="en-GB" sz="1800" dirty="0">
            <a:latin typeface="Arial Narrow" panose="020B0606020202030204" pitchFamily="34" charset="0"/>
            <a:ea typeface="Cambria Math" pitchFamily="18" charset="0"/>
            <a:cs typeface="Cambria Math" pitchFamily="18" charset="0"/>
          </a:endParaRPr>
        </a:p>
        <a:p>
          <a:pPr>
            <a:buFont typeface="Arial" panose="020B0604020202020204" pitchFamily="34" charset="0"/>
            <a:buChar char="•"/>
          </a:pPr>
          <a:endParaRPr lang="en-GB" dirty="0">
            <a:latin typeface="Arial Narrow" panose="020B0606020202030204" pitchFamily="34" charset="0"/>
          </a:endParaRPr>
        </a:p>
      </dgm:t>
    </dgm:pt>
    <dgm:pt modelId="{E1B02A38-D10E-4A7A-84AA-6C61D4BBFA4E}" type="parTrans" cxnId="{5980490D-BD5A-416F-A5E9-C968324D80E3}">
      <dgm:prSet/>
      <dgm:spPr/>
      <dgm:t>
        <a:bodyPr/>
        <a:lstStyle/>
        <a:p>
          <a:endParaRPr lang="en-GB"/>
        </a:p>
      </dgm:t>
    </dgm:pt>
    <dgm:pt modelId="{EB7A96AB-17A7-4C38-9230-EAE735DBE56C}" type="sibTrans" cxnId="{5980490D-BD5A-416F-A5E9-C968324D80E3}">
      <dgm:prSet/>
      <dgm:spPr/>
      <dgm:t>
        <a:bodyPr/>
        <a:lstStyle/>
        <a:p>
          <a:endParaRPr lang="en-GB"/>
        </a:p>
      </dgm:t>
    </dgm:pt>
    <dgm:pt modelId="{479B43A1-2160-415C-B68E-C138C372CB3D}">
      <dgm:prSet phldrT="[Text]" custT="1"/>
      <dgm:spPr/>
      <dgm:t>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2800" b="1" i="0" u="none" strike="noStrike" dirty="0">
              <a:latin typeface="Arial Rounded MT Bold" panose="020F0704030504030204" pitchFamily="34" charset="0"/>
              <a:ea typeface="Times New Roman" charset="0"/>
              <a:cs typeface="Times New Roman" charset="0"/>
            </a:rPr>
            <a:t>Statistical Analysis </a:t>
          </a:r>
          <a:endParaRPr lang="en-US" sz="2800" dirty="0">
            <a:latin typeface="Arial Rounded MT Bold" panose="020F0704030504030204" pitchFamily="34" charset="0"/>
          </a:endParaRPr>
        </a:p>
        <a:p>
          <a:pPr marL="0" lvl="0" defTabSz="1244600">
            <a:lnSpc>
              <a:spcPct val="90000"/>
            </a:lnSpc>
            <a:spcBef>
              <a:spcPct val="0"/>
            </a:spcBef>
            <a:spcAft>
              <a:spcPct val="35000"/>
            </a:spcAft>
            <a:buNone/>
          </a:pPr>
          <a:endParaRPr lang="en-GB" sz="1400" dirty="0">
            <a:latin typeface="Arial Rounded MT Bold" panose="020F0704030504030204" pitchFamily="34" charset="0"/>
          </a:endParaRPr>
        </a:p>
      </dgm:t>
    </dgm:pt>
    <dgm:pt modelId="{F057D371-B38B-45BA-AA85-597669031FBD}" type="parTrans" cxnId="{4617348F-C4F0-44E1-B7A3-55D2F27EB693}">
      <dgm:prSet/>
      <dgm:spPr/>
      <dgm:t>
        <a:bodyPr/>
        <a:lstStyle/>
        <a:p>
          <a:endParaRPr lang="en-GB"/>
        </a:p>
      </dgm:t>
    </dgm:pt>
    <dgm:pt modelId="{E52D08F0-2274-4A8C-9957-D98DB15BE56B}" type="sibTrans" cxnId="{4617348F-C4F0-44E1-B7A3-55D2F27EB693}">
      <dgm:prSet/>
      <dgm:spPr/>
      <dgm:t>
        <a:bodyPr/>
        <a:lstStyle/>
        <a:p>
          <a:endParaRPr lang="en-GB"/>
        </a:p>
      </dgm:t>
    </dgm:pt>
    <dgm:pt modelId="{C253C407-4CDF-41B4-9DC5-3252DB636966}">
      <dgm:prSet custT="1"/>
      <dgm:spPr/>
      <dgm:t>
        <a:bodyPr/>
        <a:lstStyle/>
        <a:p>
          <a:pPr marL="0" marR="0" indent="0" algn="l">
            <a:lnSpc>
              <a:spcPct val="150000"/>
            </a:lnSpc>
            <a:spcBef>
              <a:spcPts val="0"/>
            </a:spcBef>
            <a:spcAft>
              <a:spcPts val="1000"/>
            </a:spcAft>
          </a:pPr>
          <a:r>
            <a:rPr lang="en-GB" sz="1800" b="0" i="0" u="none" strike="noStrike" dirty="0">
              <a:latin typeface="Arial Narrow" panose="020B0606020202030204" pitchFamily="34" charset="0"/>
              <a:ea typeface="Times New Roman" charset="0"/>
              <a:cs typeface="Times New Roman" charset="0"/>
            </a:rPr>
            <a:t>Statistical analysis will be performed by SPSS for Windows software. The obtained results will be correlated with the different clinicopathological factors of the patients.</a:t>
          </a:r>
          <a:r>
            <a:rPr lang="en-GB" sz="1800" b="0" i="0" u="none" strike="noStrike" dirty="0">
              <a:latin typeface="Arial Narrow" panose="020B0606020202030204" pitchFamily="34" charset="0"/>
              <a:ea typeface="AdvOT1ef757c0" charset="0"/>
              <a:cs typeface="AdvOT1ef757c0" charset="0"/>
            </a:rPr>
            <a:t> </a:t>
          </a:r>
          <a:r>
            <a:rPr lang="en-GB" sz="1800" b="0" i="0" u="none" strike="noStrike" dirty="0">
              <a:latin typeface="Arial Narrow" panose="020B0606020202030204" pitchFamily="34" charset="0"/>
              <a:ea typeface="Times New Roman" charset="0"/>
              <a:cs typeface="Times New Roman" charset="0"/>
            </a:rPr>
            <a:t>The significant</a:t>
          </a:r>
        </a:p>
        <a:p>
          <a:pPr marL="0" marR="0" indent="0" algn="l">
            <a:lnSpc>
              <a:spcPct val="107916"/>
            </a:lnSpc>
            <a:spcBef>
              <a:spcPts val="0"/>
            </a:spcBef>
            <a:spcAft>
              <a:spcPts val="800"/>
            </a:spcAft>
          </a:pPr>
          <a:r>
            <a:rPr lang="en-GB" sz="1800" b="0" i="0" u="none" strike="noStrike" dirty="0">
              <a:latin typeface="Arial Narrow" panose="020B0606020202030204" pitchFamily="34" charset="0"/>
              <a:ea typeface="Times New Roman" charset="0"/>
              <a:cs typeface="Times New Roman" charset="0"/>
            </a:rPr>
            <a:t>difference of RT-qPCR results will be </a:t>
          </a:r>
          <a:r>
            <a:rPr lang="en-GB" sz="1800" b="0" i="0" u="none" strike="noStrike" dirty="0" err="1">
              <a:latin typeface="Arial Narrow" panose="020B0606020202030204" pitchFamily="34" charset="0"/>
              <a:ea typeface="Times New Roman" charset="0"/>
              <a:cs typeface="Times New Roman" charset="0"/>
            </a:rPr>
            <a:t>analyzed</a:t>
          </a:r>
          <a:r>
            <a:rPr lang="en-GB" sz="1800" b="0" i="0" u="none" strike="noStrike" dirty="0">
              <a:latin typeface="Arial Narrow" panose="020B0606020202030204" pitchFamily="34" charset="0"/>
              <a:ea typeface="Times New Roman" charset="0"/>
              <a:cs typeface="Times New Roman" charset="0"/>
            </a:rPr>
            <a:t> by using independent t test. For the comparison of each group, p &lt; 0.05 will be considered statistically significant. </a:t>
          </a:r>
          <a:endParaRPr lang="en-GB" sz="1800" dirty="0">
            <a:latin typeface="Arial Narrow" panose="020B0606020202030204" pitchFamily="34" charset="0"/>
          </a:endParaRPr>
        </a:p>
        <a:p>
          <a:endParaRPr lang="en-GB" sz="1200" dirty="0">
            <a:latin typeface="Arial Narrow" panose="020B0606020202030204" pitchFamily="34" charset="0"/>
          </a:endParaRPr>
        </a:p>
      </dgm:t>
    </dgm:pt>
    <dgm:pt modelId="{B99F025B-BC60-4D2A-B5C9-AEA4650D191C}" type="parTrans" cxnId="{327A21BC-7082-4836-9158-8A67F43F761F}">
      <dgm:prSet/>
      <dgm:spPr/>
      <dgm:t>
        <a:bodyPr/>
        <a:lstStyle/>
        <a:p>
          <a:endParaRPr lang="en-GB"/>
        </a:p>
      </dgm:t>
    </dgm:pt>
    <dgm:pt modelId="{AFB1A947-5927-49DF-8F61-FA1C9490C45C}" type="sibTrans" cxnId="{327A21BC-7082-4836-9158-8A67F43F761F}">
      <dgm:prSet/>
      <dgm:spPr/>
      <dgm:t>
        <a:bodyPr/>
        <a:lstStyle/>
        <a:p>
          <a:endParaRPr lang="en-GB"/>
        </a:p>
      </dgm:t>
    </dgm:pt>
    <dgm:pt modelId="{939FA7A9-2F9A-4CE0-B0AB-E368F510B0D4}" type="pres">
      <dgm:prSet presAssocID="{5F00B815-2C2E-407A-989F-5A6455761D24}" presName="Name0" presStyleCnt="0">
        <dgm:presLayoutVars>
          <dgm:dir/>
          <dgm:animLvl val="lvl"/>
          <dgm:resizeHandles val="exact"/>
        </dgm:presLayoutVars>
      </dgm:prSet>
      <dgm:spPr/>
    </dgm:pt>
    <dgm:pt modelId="{94C2B7EB-EA12-4601-B61D-E3C9EC98E8DF}" type="pres">
      <dgm:prSet presAssocID="{56D8C9A0-7EAF-40E3-94A1-0F8CD3953121}" presName="composite" presStyleCnt="0"/>
      <dgm:spPr/>
    </dgm:pt>
    <dgm:pt modelId="{3C92D60A-1786-4AF5-A40B-C6CAA8BB7A1D}" type="pres">
      <dgm:prSet presAssocID="{56D8C9A0-7EAF-40E3-94A1-0F8CD3953121}" presName="parTx" presStyleLbl="alignNode1" presStyleIdx="0" presStyleCnt="2">
        <dgm:presLayoutVars>
          <dgm:chMax val="0"/>
          <dgm:chPref val="0"/>
          <dgm:bulletEnabled val="1"/>
        </dgm:presLayoutVars>
      </dgm:prSet>
      <dgm:spPr/>
    </dgm:pt>
    <dgm:pt modelId="{669F0FF9-5C90-4EAB-99AB-90B350FC976B}" type="pres">
      <dgm:prSet presAssocID="{56D8C9A0-7EAF-40E3-94A1-0F8CD3953121}" presName="desTx" presStyleLbl="alignAccFollowNode1" presStyleIdx="0" presStyleCnt="2">
        <dgm:presLayoutVars>
          <dgm:bulletEnabled val="1"/>
        </dgm:presLayoutVars>
      </dgm:prSet>
      <dgm:spPr/>
    </dgm:pt>
    <dgm:pt modelId="{C9CCA546-EAA9-46A4-A524-61C318C5D6C4}" type="pres">
      <dgm:prSet presAssocID="{F5EB789A-CE6E-43D6-B6F9-D28DFF4181B9}" presName="space" presStyleCnt="0"/>
      <dgm:spPr/>
    </dgm:pt>
    <dgm:pt modelId="{E52042A5-7500-402B-9B20-0E283990717B}" type="pres">
      <dgm:prSet presAssocID="{479B43A1-2160-415C-B68E-C138C372CB3D}" presName="composite" presStyleCnt="0"/>
      <dgm:spPr/>
    </dgm:pt>
    <dgm:pt modelId="{608AB357-7654-47B9-8B9E-98B5B58D9182}" type="pres">
      <dgm:prSet presAssocID="{479B43A1-2160-415C-B68E-C138C372CB3D}" presName="parTx" presStyleLbl="alignNode1" presStyleIdx="1" presStyleCnt="2" custLinFactNeighborX="777" custLinFactNeighborY="167">
        <dgm:presLayoutVars>
          <dgm:chMax val="0"/>
          <dgm:chPref val="0"/>
          <dgm:bulletEnabled val="1"/>
        </dgm:presLayoutVars>
      </dgm:prSet>
      <dgm:spPr/>
    </dgm:pt>
    <dgm:pt modelId="{59EE5976-C139-4F2F-9D40-6D129CD5ECB2}" type="pres">
      <dgm:prSet presAssocID="{479B43A1-2160-415C-B68E-C138C372CB3D}" presName="desTx" presStyleLbl="alignAccFollowNode1" presStyleIdx="1" presStyleCnt="2">
        <dgm:presLayoutVars>
          <dgm:bulletEnabled val="1"/>
        </dgm:presLayoutVars>
      </dgm:prSet>
      <dgm:spPr/>
    </dgm:pt>
  </dgm:ptLst>
  <dgm:cxnLst>
    <dgm:cxn modelId="{B2E35F05-415B-4A0C-A054-C4E60B8C9BDA}" type="presOf" srcId="{C253C407-4CDF-41B4-9DC5-3252DB636966}" destId="{59EE5976-C139-4F2F-9D40-6D129CD5ECB2}" srcOrd="0" destOrd="0" presId="urn:microsoft.com/office/officeart/2005/8/layout/hList1"/>
    <dgm:cxn modelId="{5980490D-BD5A-416F-A5E9-C968324D80E3}" srcId="{56D8C9A0-7EAF-40E3-94A1-0F8CD3953121}" destId="{D6835E47-3881-40E9-8558-E209A07B3678}" srcOrd="0" destOrd="0" parTransId="{E1B02A38-D10E-4A7A-84AA-6C61D4BBFA4E}" sibTransId="{EB7A96AB-17A7-4C38-9230-EAE735DBE56C}"/>
    <dgm:cxn modelId="{7E7FB152-B583-437B-8ABE-FB538439A357}" type="presOf" srcId="{56D8C9A0-7EAF-40E3-94A1-0F8CD3953121}" destId="{3C92D60A-1786-4AF5-A40B-C6CAA8BB7A1D}" srcOrd="0" destOrd="0" presId="urn:microsoft.com/office/officeart/2005/8/layout/hList1"/>
    <dgm:cxn modelId="{B7DFCC75-4BAF-4929-A7F3-40446C0AE42E}" type="presOf" srcId="{D6835E47-3881-40E9-8558-E209A07B3678}" destId="{669F0FF9-5C90-4EAB-99AB-90B350FC976B}" srcOrd="0" destOrd="0" presId="urn:microsoft.com/office/officeart/2005/8/layout/hList1"/>
    <dgm:cxn modelId="{75D9568E-6A6A-4958-B1B5-AF3B37C55463}" type="presOf" srcId="{479B43A1-2160-415C-B68E-C138C372CB3D}" destId="{608AB357-7654-47B9-8B9E-98B5B58D9182}" srcOrd="0" destOrd="0" presId="urn:microsoft.com/office/officeart/2005/8/layout/hList1"/>
    <dgm:cxn modelId="{4617348F-C4F0-44E1-B7A3-55D2F27EB693}" srcId="{5F00B815-2C2E-407A-989F-5A6455761D24}" destId="{479B43A1-2160-415C-B68E-C138C372CB3D}" srcOrd="1" destOrd="0" parTransId="{F057D371-B38B-45BA-AA85-597669031FBD}" sibTransId="{E52D08F0-2274-4A8C-9957-D98DB15BE56B}"/>
    <dgm:cxn modelId="{327A21BC-7082-4836-9158-8A67F43F761F}" srcId="{479B43A1-2160-415C-B68E-C138C372CB3D}" destId="{C253C407-4CDF-41B4-9DC5-3252DB636966}" srcOrd="0" destOrd="0" parTransId="{B99F025B-BC60-4D2A-B5C9-AEA4650D191C}" sibTransId="{AFB1A947-5927-49DF-8F61-FA1C9490C45C}"/>
    <dgm:cxn modelId="{F3B4EFDE-7BC9-4ABF-9984-05C2C4D69FE6}" srcId="{5F00B815-2C2E-407A-989F-5A6455761D24}" destId="{56D8C9A0-7EAF-40E3-94A1-0F8CD3953121}" srcOrd="0" destOrd="0" parTransId="{E8C11B91-622C-4C9D-9C01-EB35EEFC48D2}" sibTransId="{F5EB789A-CE6E-43D6-B6F9-D28DFF4181B9}"/>
    <dgm:cxn modelId="{6ABAA0FC-99D7-4E90-A6F0-86A6429FAD69}" type="presOf" srcId="{5F00B815-2C2E-407A-989F-5A6455761D24}" destId="{939FA7A9-2F9A-4CE0-B0AB-E368F510B0D4}" srcOrd="0" destOrd="0" presId="urn:microsoft.com/office/officeart/2005/8/layout/hList1"/>
    <dgm:cxn modelId="{A88C2322-9EA8-457C-A3D1-142E332FF258}" type="presParOf" srcId="{939FA7A9-2F9A-4CE0-B0AB-E368F510B0D4}" destId="{94C2B7EB-EA12-4601-B61D-E3C9EC98E8DF}" srcOrd="0" destOrd="0" presId="urn:microsoft.com/office/officeart/2005/8/layout/hList1"/>
    <dgm:cxn modelId="{368A9898-EC9E-431C-8CB8-29AAEB6DE756}" type="presParOf" srcId="{94C2B7EB-EA12-4601-B61D-E3C9EC98E8DF}" destId="{3C92D60A-1786-4AF5-A40B-C6CAA8BB7A1D}" srcOrd="0" destOrd="0" presId="urn:microsoft.com/office/officeart/2005/8/layout/hList1"/>
    <dgm:cxn modelId="{8B13EE2F-DAE8-42FD-933F-8F30F250C76E}" type="presParOf" srcId="{94C2B7EB-EA12-4601-B61D-E3C9EC98E8DF}" destId="{669F0FF9-5C90-4EAB-99AB-90B350FC976B}" srcOrd="1" destOrd="0" presId="urn:microsoft.com/office/officeart/2005/8/layout/hList1"/>
    <dgm:cxn modelId="{B60C7E52-8248-4746-B1F1-18A41BFFFFBD}" type="presParOf" srcId="{939FA7A9-2F9A-4CE0-B0AB-E368F510B0D4}" destId="{C9CCA546-EAA9-46A4-A524-61C318C5D6C4}" srcOrd="1" destOrd="0" presId="urn:microsoft.com/office/officeart/2005/8/layout/hList1"/>
    <dgm:cxn modelId="{9B66E418-77A1-4E96-8937-692866C2F567}" type="presParOf" srcId="{939FA7A9-2F9A-4CE0-B0AB-E368F510B0D4}" destId="{E52042A5-7500-402B-9B20-0E283990717B}" srcOrd="2" destOrd="0" presId="urn:microsoft.com/office/officeart/2005/8/layout/hList1"/>
    <dgm:cxn modelId="{014AAAF2-352C-4F6A-A255-EDA6B75CD233}" type="presParOf" srcId="{E52042A5-7500-402B-9B20-0E283990717B}" destId="{608AB357-7654-47B9-8B9E-98B5B58D9182}" srcOrd="0" destOrd="0" presId="urn:microsoft.com/office/officeart/2005/8/layout/hList1"/>
    <dgm:cxn modelId="{96F34AD6-093A-424B-9A54-4C5982EF064F}" type="presParOf" srcId="{E52042A5-7500-402B-9B20-0E283990717B}" destId="{59EE5976-C139-4F2F-9D40-6D129CD5ECB2}"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8CF1E28-600D-46EA-BB0A-A76124848493}"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en-GB"/>
        </a:p>
      </dgm:t>
    </dgm:pt>
    <dgm:pt modelId="{171A471C-04E5-4931-A3CB-C9388B11CC81}">
      <dgm:prSet phldrT="[Text]" custT="1"/>
      <dgm:spPr>
        <a:xfrm rot="5400000">
          <a:off x="-414413" y="420408"/>
          <a:ext cx="2762759" cy="1933931"/>
        </a:xfrm>
        <a:prstGeom prst="chevron">
          <a:avLst/>
        </a:prstGeom>
        <a:solidFill>
          <a:schemeClr val="accent1"/>
        </a:solidFill>
        <a:ln w="12700" cap="flat" cmpd="sng" algn="ctr">
          <a:solidFill>
            <a:srgbClr val="029676">
              <a:lumMod val="75000"/>
            </a:srgbClr>
          </a:solidFill>
          <a:prstDash val="solid"/>
          <a:miter lim="800000"/>
        </a:ln>
        <a:effectLst/>
      </dgm:spPr>
      <dgm:t>
        <a:bodyPr/>
        <a:lstStyle/>
        <a:p>
          <a:pPr>
            <a:buNone/>
          </a:pPr>
          <a:r>
            <a:rPr lang="en-GB" sz="1800" b="1" dirty="0">
              <a:solidFill>
                <a:sysClr val="window" lastClr="FFFFFF"/>
              </a:solidFill>
              <a:latin typeface="Calibri" panose="020F0502020204030204"/>
              <a:ea typeface="+mn-ea"/>
              <a:cs typeface="+mn-cs"/>
            </a:rPr>
            <a:t>patient groups</a:t>
          </a:r>
        </a:p>
      </dgm:t>
    </dgm:pt>
    <dgm:pt modelId="{D00072A3-AC01-4128-9FC6-DA2320F705F5}" type="parTrans" cxnId="{97F762D2-C77A-467A-96F3-326F3D3AB464}">
      <dgm:prSet/>
      <dgm:spPr/>
      <dgm:t>
        <a:bodyPr/>
        <a:lstStyle/>
        <a:p>
          <a:endParaRPr lang="en-GB"/>
        </a:p>
      </dgm:t>
    </dgm:pt>
    <dgm:pt modelId="{36A078FC-9D09-44FA-B73C-0BC066EA5AEB}" type="sibTrans" cxnId="{97F762D2-C77A-467A-96F3-326F3D3AB464}">
      <dgm:prSet/>
      <dgm:spPr/>
      <dgm:t>
        <a:bodyPr/>
        <a:lstStyle/>
        <a:p>
          <a:endParaRPr lang="en-GB"/>
        </a:p>
      </dgm:t>
    </dgm:pt>
    <dgm:pt modelId="{6246587B-3542-4637-ACE6-E012EF969FEA}">
      <dgm:prSet custT="1"/>
      <dgm:spPr>
        <a:xfrm rot="5400000">
          <a:off x="8028638" y="-5873157"/>
          <a:ext cx="1796737" cy="13986152"/>
        </a:xfrm>
        <a:prstGeom prst="round2SameRect">
          <a:avLst/>
        </a:prstGeom>
        <a:solidFill>
          <a:sysClr val="window" lastClr="FFFFFF">
            <a:alpha val="90000"/>
            <a:hueOff val="0"/>
            <a:satOff val="0"/>
            <a:lumOff val="0"/>
            <a:alphaOff val="0"/>
          </a:sysClr>
        </a:solidFill>
        <a:ln w="12700" cap="flat" cmpd="sng" algn="ctr">
          <a:noFill/>
          <a:prstDash val="solid"/>
          <a:miter lim="800000"/>
        </a:ln>
        <a:effectLst/>
      </dgm:spPr>
      <dgm:t>
        <a:bodyPr/>
        <a:lstStyle/>
        <a:p>
          <a:endParaRPr lang="en-GB" sz="1600" dirty="0">
            <a:solidFill>
              <a:sysClr val="windowText" lastClr="000000">
                <a:hueOff val="0"/>
                <a:satOff val="0"/>
                <a:lumOff val="0"/>
                <a:alphaOff val="0"/>
              </a:sysClr>
            </a:solidFill>
            <a:latin typeface="Arial Narrow" panose="020B0606020202030204" pitchFamily="34" charset="0"/>
            <a:ea typeface="+mn-ea"/>
            <a:cs typeface="+mn-cs"/>
          </a:endParaRPr>
        </a:p>
      </dgm:t>
    </dgm:pt>
    <dgm:pt modelId="{66BDA734-73B1-412F-BD82-17BDC78ECDDD}" type="parTrans" cxnId="{97C7F201-7FC9-4EAA-B40D-3BDA1D6B7482}">
      <dgm:prSet/>
      <dgm:spPr/>
      <dgm:t>
        <a:bodyPr/>
        <a:lstStyle/>
        <a:p>
          <a:endParaRPr lang="en-GB"/>
        </a:p>
      </dgm:t>
    </dgm:pt>
    <dgm:pt modelId="{A2D9D230-7C68-49C2-B832-13CC62FFCEEB}" type="sibTrans" cxnId="{97C7F201-7FC9-4EAA-B40D-3BDA1D6B7482}">
      <dgm:prSet/>
      <dgm:spPr/>
      <dgm:t>
        <a:bodyPr/>
        <a:lstStyle/>
        <a:p>
          <a:endParaRPr lang="en-GB"/>
        </a:p>
      </dgm:t>
    </dgm:pt>
    <dgm:pt modelId="{A3ABAC54-6807-4021-A826-C2FDC0B95B12}">
      <dgm:prSet phldrT="[Text]" custT="1"/>
      <dgm:spPr>
        <a:xfrm rot="5400000">
          <a:off x="-414413" y="3044152"/>
          <a:ext cx="2762759" cy="1933931"/>
        </a:xfrm>
        <a:prstGeom prst="chevron">
          <a:avLst/>
        </a:prstGeom>
        <a:solidFill>
          <a:schemeClr val="accent1"/>
        </a:solidFill>
        <a:ln w="12700" cap="flat" cmpd="sng" algn="ctr">
          <a:solidFill>
            <a:srgbClr val="549E39">
              <a:hueOff val="0"/>
              <a:satOff val="0"/>
              <a:lumOff val="0"/>
              <a:alphaOff val="0"/>
            </a:srgbClr>
          </a:solidFill>
          <a:prstDash val="solid"/>
          <a:miter lim="800000"/>
        </a:ln>
        <a:effectLst/>
      </dgm:spPr>
      <dgm:t>
        <a:bodyPr/>
        <a:lstStyle/>
        <a:p>
          <a:pPr marL="0" marR="0" lvl="0" indent="0" defTabSz="914400" eaLnBrk="1" fontAlgn="auto" latinLnBrk="0" hangingPunct="1">
            <a:lnSpc>
              <a:spcPct val="100000"/>
            </a:lnSpc>
            <a:spcBef>
              <a:spcPts val="0"/>
            </a:spcBef>
            <a:spcAft>
              <a:spcPts val="0"/>
            </a:spcAft>
            <a:buClrTx/>
            <a:buSzTx/>
            <a:buFontTx/>
            <a:buNone/>
            <a:tabLst/>
            <a:defRPr/>
          </a:pPr>
          <a:r>
            <a:rPr lang="en-GB" sz="1600" b="1" dirty="0">
              <a:solidFill>
                <a:sysClr val="window" lastClr="FFFFFF"/>
              </a:solidFill>
              <a:latin typeface="Calibri" panose="020F0502020204030204"/>
              <a:ea typeface="+mn-ea"/>
              <a:cs typeface="+mn-cs"/>
            </a:rPr>
            <a:t>Inclusion criteria </a:t>
          </a:r>
        </a:p>
        <a:p>
          <a:pPr marL="0" lvl="0" defTabSz="933450">
            <a:lnSpc>
              <a:spcPct val="90000"/>
            </a:lnSpc>
            <a:spcBef>
              <a:spcPct val="0"/>
            </a:spcBef>
            <a:spcAft>
              <a:spcPct val="35000"/>
            </a:spcAft>
            <a:buNone/>
          </a:pPr>
          <a:endParaRPr lang="en-GB" sz="1100" dirty="0">
            <a:solidFill>
              <a:sysClr val="window" lastClr="FFFFFF"/>
            </a:solidFill>
            <a:latin typeface="Calibri" panose="020F0502020204030204"/>
            <a:ea typeface="+mn-ea"/>
            <a:cs typeface="+mn-cs"/>
          </a:endParaRPr>
        </a:p>
      </dgm:t>
    </dgm:pt>
    <dgm:pt modelId="{E6722D73-AEBD-4F7C-8609-58B938516AC8}" type="sibTrans" cxnId="{71F5928F-9874-4F74-B81D-1C2556131735}">
      <dgm:prSet/>
      <dgm:spPr/>
      <dgm:t>
        <a:bodyPr/>
        <a:lstStyle/>
        <a:p>
          <a:endParaRPr lang="en-GB"/>
        </a:p>
      </dgm:t>
    </dgm:pt>
    <dgm:pt modelId="{D676A216-2B5B-427F-9A10-FC55A3EE1175}" type="parTrans" cxnId="{71F5928F-9874-4F74-B81D-1C2556131735}">
      <dgm:prSet/>
      <dgm:spPr/>
      <dgm:t>
        <a:bodyPr/>
        <a:lstStyle/>
        <a:p>
          <a:endParaRPr lang="en-GB"/>
        </a:p>
      </dgm:t>
    </dgm:pt>
    <dgm:pt modelId="{ED3FD741-4D5C-4834-A7F4-044E8F581A4C}">
      <dgm:prSet custT="1"/>
      <dgm:spPr>
        <a:xfrm rot="5400000">
          <a:off x="8029110" y="-3465440"/>
          <a:ext cx="1795793" cy="13986152"/>
        </a:xfrm>
        <a:prstGeom prst="round2SameRect">
          <a:avLst/>
        </a:prstGeom>
        <a:solidFill>
          <a:sysClr val="window" lastClr="FFFFFF">
            <a:alpha val="90000"/>
            <a:hueOff val="0"/>
            <a:satOff val="0"/>
            <a:lumOff val="0"/>
            <a:alphaOff val="0"/>
          </a:sysClr>
        </a:solidFill>
        <a:ln w="12700" cap="flat" cmpd="sng" algn="ctr">
          <a:noFill/>
          <a:prstDash val="solid"/>
          <a:miter lim="800000"/>
        </a:ln>
        <a:effectLst/>
      </dgm:spPr>
      <dgm:t>
        <a:bodyPr/>
        <a:lstStyle/>
        <a:p>
          <a:pPr>
            <a:buChar char="•"/>
          </a:pPr>
          <a:r>
            <a:rPr lang="en-GB" sz="1600" dirty="0">
              <a:solidFill>
                <a:sysClr val="windowText" lastClr="000000">
                  <a:hueOff val="0"/>
                  <a:satOff val="0"/>
                  <a:lumOff val="0"/>
                  <a:alphaOff val="0"/>
                </a:sysClr>
              </a:solidFill>
              <a:latin typeface="Arial Narrow" panose="020B0606020202030204" pitchFamily="34" charset="0"/>
              <a:ea typeface="+mn-ea"/>
              <a:cs typeface="+mn-cs"/>
            </a:rPr>
            <a:t>Age of &gt; 18 years .</a:t>
          </a:r>
        </a:p>
      </dgm:t>
    </dgm:pt>
    <dgm:pt modelId="{37B86B82-99A4-426C-9FD9-77877F43152B}" type="sibTrans" cxnId="{BC5D3479-BFAC-44E3-85BD-DB90FDDBCEB3}">
      <dgm:prSet/>
      <dgm:spPr/>
      <dgm:t>
        <a:bodyPr/>
        <a:lstStyle/>
        <a:p>
          <a:endParaRPr lang="en-GB"/>
        </a:p>
      </dgm:t>
    </dgm:pt>
    <dgm:pt modelId="{2B4BCF5D-A54F-4CE5-A90F-2AFAE5117123}" type="parTrans" cxnId="{BC5D3479-BFAC-44E3-85BD-DB90FDDBCEB3}">
      <dgm:prSet/>
      <dgm:spPr/>
      <dgm:t>
        <a:bodyPr/>
        <a:lstStyle/>
        <a:p>
          <a:endParaRPr lang="en-GB"/>
        </a:p>
      </dgm:t>
    </dgm:pt>
    <dgm:pt modelId="{3AE2B46C-69B6-4003-81DD-54435CCA3DF4}">
      <dgm:prSet custT="1"/>
      <dgm:spPr>
        <a:xfrm rot="5400000">
          <a:off x="8029110" y="-3465440"/>
          <a:ext cx="1795793" cy="13986152"/>
        </a:xfrm>
        <a:prstGeom prst="round2SameRect">
          <a:avLst/>
        </a:prstGeom>
        <a:solidFill>
          <a:sysClr val="window" lastClr="FFFFFF">
            <a:alpha val="90000"/>
            <a:hueOff val="0"/>
            <a:satOff val="0"/>
            <a:lumOff val="0"/>
            <a:alphaOff val="0"/>
          </a:sysClr>
        </a:solidFill>
        <a:ln w="12700" cap="flat" cmpd="sng" algn="ctr">
          <a:noFill/>
          <a:prstDash val="solid"/>
          <a:miter lim="800000"/>
        </a:ln>
        <a:effectLst/>
      </dgm:spPr>
      <dgm:t>
        <a:bodyPr/>
        <a:lstStyle/>
        <a:p>
          <a:pPr>
            <a:buChar char="•"/>
          </a:pPr>
          <a:r>
            <a:rPr lang="en-GB" sz="1600" dirty="0">
              <a:solidFill>
                <a:sysClr val="windowText" lastClr="000000">
                  <a:hueOff val="0"/>
                  <a:satOff val="0"/>
                  <a:lumOff val="0"/>
                  <a:alphaOff val="0"/>
                </a:sysClr>
              </a:solidFill>
              <a:latin typeface="Arial Narrow" panose="020B0606020202030204" pitchFamily="34" charset="0"/>
              <a:ea typeface="+mn-ea"/>
              <a:cs typeface="+mn-cs"/>
            </a:rPr>
            <a:t>Mental and physical ability .</a:t>
          </a:r>
        </a:p>
      </dgm:t>
    </dgm:pt>
    <dgm:pt modelId="{05C3C404-F966-4C44-8C69-97EEDCFC5530}" type="sibTrans" cxnId="{0DE81D97-0229-441A-B352-076D089CC473}">
      <dgm:prSet/>
      <dgm:spPr/>
      <dgm:t>
        <a:bodyPr/>
        <a:lstStyle/>
        <a:p>
          <a:endParaRPr lang="en-GB"/>
        </a:p>
      </dgm:t>
    </dgm:pt>
    <dgm:pt modelId="{90309D86-9AB6-4988-AB4D-09A73C9FEA8C}" type="parTrans" cxnId="{0DE81D97-0229-441A-B352-076D089CC473}">
      <dgm:prSet/>
      <dgm:spPr/>
      <dgm:t>
        <a:bodyPr/>
        <a:lstStyle/>
        <a:p>
          <a:endParaRPr lang="en-GB"/>
        </a:p>
      </dgm:t>
    </dgm:pt>
    <dgm:pt modelId="{4EBF9B67-D0A8-471B-B405-D88E792F27EB}">
      <dgm:prSet custT="1"/>
      <dgm:spPr>
        <a:xfrm rot="5400000">
          <a:off x="8029110" y="-3465440"/>
          <a:ext cx="1795793" cy="13986152"/>
        </a:xfrm>
        <a:prstGeom prst="round2SameRect">
          <a:avLst/>
        </a:prstGeom>
        <a:solidFill>
          <a:sysClr val="window" lastClr="FFFFFF">
            <a:alpha val="90000"/>
            <a:hueOff val="0"/>
            <a:satOff val="0"/>
            <a:lumOff val="0"/>
            <a:alphaOff val="0"/>
          </a:sysClr>
        </a:solidFill>
        <a:ln w="12700" cap="flat" cmpd="sng" algn="ctr">
          <a:noFill/>
          <a:prstDash val="solid"/>
          <a:miter lim="800000"/>
        </a:ln>
        <a:effectLst/>
      </dgm:spPr>
      <dgm:t>
        <a:bodyPr/>
        <a:lstStyle/>
        <a:p>
          <a:pPr>
            <a:buChar char="•"/>
          </a:pPr>
          <a:r>
            <a:rPr lang="en-GB" sz="1600" dirty="0">
              <a:solidFill>
                <a:sysClr val="windowText" lastClr="000000">
                  <a:hueOff val="0"/>
                  <a:satOff val="0"/>
                  <a:lumOff val="0"/>
                  <a:alphaOff val="0"/>
                </a:sysClr>
              </a:solidFill>
              <a:latin typeface="Arial Narrow" panose="020B0606020202030204" pitchFamily="34" charset="0"/>
              <a:ea typeface="+mn-ea"/>
              <a:cs typeface="+mn-cs"/>
            </a:rPr>
            <a:t>Proved diagnosis of Diabetes according to AASLD .</a:t>
          </a:r>
        </a:p>
      </dgm:t>
    </dgm:pt>
    <dgm:pt modelId="{DAA8F675-AD57-4ECE-9E82-623B535B99D4}" type="sibTrans" cxnId="{0BE43B02-209D-43E0-B93F-35B16735D2CD}">
      <dgm:prSet/>
      <dgm:spPr/>
      <dgm:t>
        <a:bodyPr/>
        <a:lstStyle/>
        <a:p>
          <a:endParaRPr lang="en-GB"/>
        </a:p>
      </dgm:t>
    </dgm:pt>
    <dgm:pt modelId="{C0C3AB8E-8D8C-49C2-B3EB-AFEAE2468E9E}" type="parTrans" cxnId="{0BE43B02-209D-43E0-B93F-35B16735D2CD}">
      <dgm:prSet/>
      <dgm:spPr/>
      <dgm:t>
        <a:bodyPr/>
        <a:lstStyle/>
        <a:p>
          <a:endParaRPr lang="en-GB"/>
        </a:p>
      </dgm:t>
    </dgm:pt>
    <dgm:pt modelId="{35229F9B-4652-45E9-AFAB-925ADDA78704}">
      <dgm:prSet custT="1"/>
      <dgm:spPr>
        <a:xfrm rot="5400000">
          <a:off x="8029110" y="-3465440"/>
          <a:ext cx="1795793" cy="13986152"/>
        </a:xfrm>
        <a:prstGeom prst="round2SameRect">
          <a:avLst/>
        </a:prstGeom>
        <a:solidFill>
          <a:sysClr val="window" lastClr="FFFFFF">
            <a:alpha val="90000"/>
            <a:hueOff val="0"/>
            <a:satOff val="0"/>
            <a:lumOff val="0"/>
            <a:alphaOff val="0"/>
          </a:sysClr>
        </a:solidFill>
        <a:ln w="12700" cap="flat" cmpd="sng" algn="ctr">
          <a:noFill/>
          <a:prstDash val="solid"/>
          <a:miter lim="800000"/>
        </a:ln>
        <a:effectLst/>
      </dgm:spPr>
      <dgm:t>
        <a:bodyPr/>
        <a:lstStyle/>
        <a:p>
          <a:pPr>
            <a:buChar char="•"/>
          </a:pPr>
          <a:endParaRPr lang="en-GB" sz="1600" dirty="0">
            <a:solidFill>
              <a:sysClr val="windowText" lastClr="000000">
                <a:hueOff val="0"/>
                <a:satOff val="0"/>
                <a:lumOff val="0"/>
                <a:alphaOff val="0"/>
              </a:sysClr>
            </a:solidFill>
            <a:latin typeface="Arial Narrow" panose="020B0606020202030204" pitchFamily="34" charset="0"/>
            <a:ea typeface="+mn-ea"/>
            <a:cs typeface="+mn-cs"/>
          </a:endParaRPr>
        </a:p>
      </dgm:t>
    </dgm:pt>
    <dgm:pt modelId="{E81E48A5-4D96-4504-BE79-0249D3E076A0}" type="sibTrans" cxnId="{03039F6E-5E1B-4F50-9F73-89805CF583F3}">
      <dgm:prSet/>
      <dgm:spPr/>
      <dgm:t>
        <a:bodyPr/>
        <a:lstStyle/>
        <a:p>
          <a:endParaRPr lang="en-GB"/>
        </a:p>
      </dgm:t>
    </dgm:pt>
    <dgm:pt modelId="{A2CDD3DC-94D0-44C1-BF24-5225A5BCECC9}" type="parTrans" cxnId="{03039F6E-5E1B-4F50-9F73-89805CF583F3}">
      <dgm:prSet/>
      <dgm:spPr/>
      <dgm:t>
        <a:bodyPr/>
        <a:lstStyle/>
        <a:p>
          <a:endParaRPr lang="en-GB"/>
        </a:p>
      </dgm:t>
    </dgm:pt>
    <dgm:pt modelId="{E49A26A7-9D66-4701-8C77-A128A62B7950}">
      <dgm:prSet custT="1"/>
      <dgm:spPr>
        <a:xfrm rot="5400000">
          <a:off x="-414413" y="5667896"/>
          <a:ext cx="2762759" cy="1933931"/>
        </a:xfrm>
        <a:prstGeom prst="chevron">
          <a:avLst/>
        </a:prstGeom>
        <a:solidFill>
          <a:schemeClr val="accent1"/>
        </a:solidFill>
        <a:ln w="12700" cap="flat" cmpd="sng" algn="ctr">
          <a:solidFill>
            <a:srgbClr val="549E39">
              <a:hueOff val="0"/>
              <a:satOff val="0"/>
              <a:lumOff val="0"/>
              <a:alphaOff val="0"/>
            </a:srgbClr>
          </a:solidFill>
          <a:prstDash val="solid"/>
          <a:miter lim="800000"/>
        </a:ln>
        <a:effectLst/>
      </dgm:spPr>
      <dgm:t>
        <a:bodyPr/>
        <a:lstStyle/>
        <a:p>
          <a:pPr>
            <a:buNone/>
          </a:pPr>
          <a:r>
            <a:rPr lang="en-GB" sz="1600" b="1" dirty="0">
              <a:solidFill>
                <a:sysClr val="window" lastClr="FFFFFF"/>
              </a:solidFill>
              <a:latin typeface="Calibri" panose="020F0502020204030204"/>
              <a:ea typeface="+mn-ea"/>
              <a:cs typeface="+mn-cs"/>
            </a:rPr>
            <a:t>Exclusion criteria </a:t>
          </a:r>
        </a:p>
      </dgm:t>
    </dgm:pt>
    <dgm:pt modelId="{B6BFA4DD-535C-47D0-BF9F-883F7284A7C0}" type="sibTrans" cxnId="{0DB0F8A2-EA97-43A7-AA67-5A7066122F87}">
      <dgm:prSet/>
      <dgm:spPr/>
      <dgm:t>
        <a:bodyPr/>
        <a:lstStyle/>
        <a:p>
          <a:endParaRPr lang="en-GB"/>
        </a:p>
      </dgm:t>
    </dgm:pt>
    <dgm:pt modelId="{B1C7355F-EFA0-4627-9B22-70460F0D23F9}" type="parTrans" cxnId="{0DB0F8A2-EA97-43A7-AA67-5A7066122F87}">
      <dgm:prSet/>
      <dgm:spPr/>
      <dgm:t>
        <a:bodyPr/>
        <a:lstStyle/>
        <a:p>
          <a:endParaRPr lang="en-GB"/>
        </a:p>
      </dgm:t>
    </dgm:pt>
    <dgm:pt modelId="{B5BF9B25-5F5C-46A4-89BD-04FA52AF7542}">
      <dgm:prSet custT="1"/>
      <dgm:spPr>
        <a:xfrm rot="5400000">
          <a:off x="8029110" y="-841697"/>
          <a:ext cx="1795793" cy="13986152"/>
        </a:xfrm>
        <a:prstGeom prst="round2SameRect">
          <a:avLst/>
        </a:prstGeom>
        <a:solidFill>
          <a:sysClr val="window" lastClr="FFFFFF">
            <a:alpha val="90000"/>
            <a:hueOff val="0"/>
            <a:satOff val="0"/>
            <a:lumOff val="0"/>
            <a:alphaOff val="0"/>
          </a:sysClr>
        </a:solidFill>
        <a:ln w="12700" cap="flat" cmpd="sng" algn="ctr">
          <a:noFill/>
          <a:prstDash val="solid"/>
          <a:miter lim="800000"/>
        </a:ln>
        <a:effectLst/>
      </dgm:spPr>
      <dgm:t>
        <a:bodyPr/>
        <a:lstStyle/>
        <a:p>
          <a:pPr>
            <a:buChar char="•"/>
          </a:pPr>
          <a:r>
            <a:rPr lang="en-GB" sz="1600" dirty="0">
              <a:solidFill>
                <a:sysClr val="windowText" lastClr="000000">
                  <a:hueOff val="0"/>
                  <a:satOff val="0"/>
                  <a:lumOff val="0"/>
                  <a:alphaOff val="0"/>
                </a:sysClr>
              </a:solidFill>
              <a:latin typeface="Arial Narrow" panose="020B0606020202030204" pitchFamily="34" charset="0"/>
              <a:ea typeface="+mn-ea"/>
              <a:cs typeface="+mn-cs"/>
            </a:rPr>
            <a:t>Patients with other chronic diseases </a:t>
          </a:r>
        </a:p>
      </dgm:t>
    </dgm:pt>
    <dgm:pt modelId="{2CA4224F-CEF4-470F-BADF-987511E685B3}" type="sibTrans" cxnId="{1F251BFB-1E72-49F3-A9E9-A3514CDCC235}">
      <dgm:prSet/>
      <dgm:spPr/>
      <dgm:t>
        <a:bodyPr/>
        <a:lstStyle/>
        <a:p>
          <a:endParaRPr lang="en-GB"/>
        </a:p>
      </dgm:t>
    </dgm:pt>
    <dgm:pt modelId="{2C4F174C-4793-4399-8782-A0809D57D08C}" type="parTrans" cxnId="{1F251BFB-1E72-49F3-A9E9-A3514CDCC235}">
      <dgm:prSet/>
      <dgm:spPr/>
      <dgm:t>
        <a:bodyPr/>
        <a:lstStyle/>
        <a:p>
          <a:endParaRPr lang="en-GB"/>
        </a:p>
      </dgm:t>
    </dgm:pt>
    <dgm:pt modelId="{08417CBC-8C26-47DE-9B79-AA37054125F6}">
      <dgm:prSet custT="1"/>
      <dgm:spPr>
        <a:xfrm rot="5400000">
          <a:off x="8029110" y="-841697"/>
          <a:ext cx="1795793" cy="13986152"/>
        </a:xfrm>
        <a:prstGeom prst="round2SameRect">
          <a:avLst/>
        </a:prstGeom>
        <a:solidFill>
          <a:sysClr val="window" lastClr="FFFFFF">
            <a:alpha val="90000"/>
            <a:hueOff val="0"/>
            <a:satOff val="0"/>
            <a:lumOff val="0"/>
            <a:alphaOff val="0"/>
          </a:sysClr>
        </a:solidFill>
        <a:ln w="12700" cap="flat" cmpd="sng" algn="ctr">
          <a:noFill/>
          <a:prstDash val="solid"/>
          <a:miter lim="800000"/>
        </a:ln>
        <a:effectLst/>
      </dgm:spPr>
      <dgm:t>
        <a:bodyPr/>
        <a:lstStyle/>
        <a:p>
          <a:pPr>
            <a:buChar char="•"/>
          </a:pPr>
          <a:r>
            <a:rPr lang="en-GB" sz="1600" dirty="0">
              <a:solidFill>
                <a:sysClr val="windowText" lastClr="000000">
                  <a:hueOff val="0"/>
                  <a:satOff val="0"/>
                  <a:lumOff val="0"/>
                  <a:alphaOff val="0"/>
                </a:sysClr>
              </a:solidFill>
              <a:latin typeface="Arial Narrow" panose="020B0606020202030204" pitchFamily="34" charset="0"/>
              <a:ea typeface="+mn-ea"/>
              <a:cs typeface="+mn-cs"/>
            </a:rPr>
            <a:t>Type II DM patients suffering from complications other than DR</a:t>
          </a:r>
        </a:p>
      </dgm:t>
    </dgm:pt>
    <dgm:pt modelId="{7F055C38-8303-43BC-BC3B-911B77E9C2AC}" type="sibTrans" cxnId="{EA1D3299-F8CA-4368-ADF0-85A7DBDE0D72}">
      <dgm:prSet/>
      <dgm:spPr/>
      <dgm:t>
        <a:bodyPr/>
        <a:lstStyle/>
        <a:p>
          <a:endParaRPr lang="en-GB"/>
        </a:p>
      </dgm:t>
    </dgm:pt>
    <dgm:pt modelId="{19117661-4C8D-47C4-B2E5-90FE66B000D0}" type="parTrans" cxnId="{EA1D3299-F8CA-4368-ADF0-85A7DBDE0D72}">
      <dgm:prSet/>
      <dgm:spPr/>
      <dgm:t>
        <a:bodyPr/>
        <a:lstStyle/>
        <a:p>
          <a:endParaRPr lang="en-GB"/>
        </a:p>
      </dgm:t>
    </dgm:pt>
    <dgm:pt modelId="{934EC33E-F5FE-4465-B9E9-F6D3E707AB9C}">
      <dgm:prSet custT="1"/>
      <dgm:spPr>
        <a:xfrm rot="5400000">
          <a:off x="8029110" y="-841697"/>
          <a:ext cx="1795793" cy="13986152"/>
        </a:xfrm>
        <a:prstGeom prst="round2SameRect">
          <a:avLst/>
        </a:prstGeom>
        <a:solidFill>
          <a:sysClr val="window" lastClr="FFFFFF">
            <a:alpha val="90000"/>
            <a:hueOff val="0"/>
            <a:satOff val="0"/>
            <a:lumOff val="0"/>
            <a:alphaOff val="0"/>
          </a:sysClr>
        </a:solidFill>
        <a:ln w="12700" cap="flat" cmpd="sng" algn="ctr">
          <a:noFill/>
          <a:prstDash val="solid"/>
          <a:miter lim="800000"/>
        </a:ln>
        <a:effectLst/>
      </dgm:spPr>
      <dgm:t>
        <a:bodyPr/>
        <a:lstStyle/>
        <a:p>
          <a:pPr>
            <a:buChar char="•"/>
          </a:pPr>
          <a:endParaRPr lang="en-GB" sz="1600" dirty="0">
            <a:solidFill>
              <a:sysClr val="windowText" lastClr="000000">
                <a:hueOff val="0"/>
                <a:satOff val="0"/>
                <a:lumOff val="0"/>
                <a:alphaOff val="0"/>
              </a:sysClr>
            </a:solidFill>
            <a:latin typeface="Arial Narrow" panose="020B0606020202030204" pitchFamily="34" charset="0"/>
            <a:ea typeface="+mn-ea"/>
            <a:cs typeface="+mn-cs"/>
          </a:endParaRPr>
        </a:p>
      </dgm:t>
    </dgm:pt>
    <dgm:pt modelId="{993EE073-4F74-4B1A-A9ED-9E51B4BD846D}" type="sibTrans" cxnId="{1400693B-6C35-4155-B6D8-25D696DBF3FA}">
      <dgm:prSet/>
      <dgm:spPr/>
      <dgm:t>
        <a:bodyPr/>
        <a:lstStyle/>
        <a:p>
          <a:endParaRPr lang="en-GB"/>
        </a:p>
      </dgm:t>
    </dgm:pt>
    <dgm:pt modelId="{DA12FB83-3433-4520-ADE5-5C644AD38FAA}" type="parTrans" cxnId="{1400693B-6C35-4155-B6D8-25D696DBF3FA}">
      <dgm:prSet/>
      <dgm:spPr/>
      <dgm:t>
        <a:bodyPr/>
        <a:lstStyle/>
        <a:p>
          <a:endParaRPr lang="en-GB"/>
        </a:p>
      </dgm:t>
    </dgm:pt>
    <dgm:pt modelId="{BB6FE0DB-CFA2-4BD8-B4AB-0602A2227647}">
      <dgm:prSet custT="1"/>
      <dgm:spPr/>
      <dgm:t>
        <a:bodyPr/>
        <a:lstStyle/>
        <a:p>
          <a:r>
            <a:rPr lang="en-GB" sz="1600" dirty="0">
              <a:solidFill>
                <a:sysClr val="windowText" lastClr="000000">
                  <a:hueOff val="0"/>
                  <a:satOff val="0"/>
                  <a:lumOff val="0"/>
                  <a:alphaOff val="0"/>
                </a:sysClr>
              </a:solidFill>
              <a:latin typeface="Arial Narrow" panose="020B0606020202030204" pitchFamily="34" charset="0"/>
              <a:ea typeface="+mn-ea"/>
              <a:cs typeface="+mn-cs"/>
            </a:rPr>
            <a:t>1-healthy controls.
2-diabetes mellitus (DM) patients.
3- and diabetic retinopathy (DR) patients.</a:t>
          </a:r>
        </a:p>
      </dgm:t>
    </dgm:pt>
    <dgm:pt modelId="{1200A7B1-520B-4C1D-827C-EFD49EDCCEB6}" type="parTrans" cxnId="{D6C7E3DD-2D2A-40C8-9786-A627F60C7F04}">
      <dgm:prSet/>
      <dgm:spPr/>
      <dgm:t>
        <a:bodyPr/>
        <a:lstStyle/>
        <a:p>
          <a:endParaRPr lang="en-GB"/>
        </a:p>
      </dgm:t>
    </dgm:pt>
    <dgm:pt modelId="{F1A74079-58A5-4FD5-BD3C-E73D3F670AC7}" type="sibTrans" cxnId="{D6C7E3DD-2D2A-40C8-9786-A627F60C7F04}">
      <dgm:prSet/>
      <dgm:spPr/>
      <dgm:t>
        <a:bodyPr/>
        <a:lstStyle/>
        <a:p>
          <a:endParaRPr lang="en-GB"/>
        </a:p>
      </dgm:t>
    </dgm:pt>
    <dgm:pt modelId="{FE284E48-0C14-48F8-900C-F83415181B81}" type="pres">
      <dgm:prSet presAssocID="{A8CF1E28-600D-46EA-BB0A-A76124848493}" presName="linearFlow" presStyleCnt="0">
        <dgm:presLayoutVars>
          <dgm:dir/>
          <dgm:animLvl val="lvl"/>
          <dgm:resizeHandles val="exact"/>
        </dgm:presLayoutVars>
      </dgm:prSet>
      <dgm:spPr/>
    </dgm:pt>
    <dgm:pt modelId="{11ABC9F3-F332-47C1-AACA-F9C5399B21F8}" type="pres">
      <dgm:prSet presAssocID="{171A471C-04E5-4931-A3CB-C9388B11CC81}" presName="composite" presStyleCnt="0"/>
      <dgm:spPr/>
    </dgm:pt>
    <dgm:pt modelId="{E080C8E4-A49C-4B29-BAB2-5D1E0244065B}" type="pres">
      <dgm:prSet presAssocID="{171A471C-04E5-4931-A3CB-C9388B11CC81}" presName="parentText" presStyleLbl="alignNode1" presStyleIdx="0" presStyleCnt="3" custLinFactNeighborX="0" custLinFactNeighborY="10761">
        <dgm:presLayoutVars>
          <dgm:chMax val="1"/>
          <dgm:bulletEnabled val="1"/>
        </dgm:presLayoutVars>
      </dgm:prSet>
      <dgm:spPr/>
    </dgm:pt>
    <dgm:pt modelId="{52E69DB6-9284-470E-8003-E67D332BFFCB}" type="pres">
      <dgm:prSet presAssocID="{171A471C-04E5-4931-A3CB-C9388B11CC81}" presName="descendantText" presStyleLbl="alignAcc1" presStyleIdx="0" presStyleCnt="3" custScaleX="100000" custScaleY="100000" custLinFactNeighborX="568" custLinFactNeighborY="20646">
        <dgm:presLayoutVars>
          <dgm:bulletEnabled val="1"/>
        </dgm:presLayoutVars>
      </dgm:prSet>
      <dgm:spPr/>
    </dgm:pt>
    <dgm:pt modelId="{0DF65D20-C469-4424-AFEA-94FF2DD05C1C}" type="pres">
      <dgm:prSet presAssocID="{36A078FC-9D09-44FA-B73C-0BC066EA5AEB}" presName="sp" presStyleCnt="0"/>
      <dgm:spPr/>
    </dgm:pt>
    <dgm:pt modelId="{12273DC8-A70D-41C4-A389-98BCE85230A9}" type="pres">
      <dgm:prSet presAssocID="{A3ABAC54-6807-4021-A826-C2FDC0B95B12}" presName="composite" presStyleCnt="0"/>
      <dgm:spPr/>
    </dgm:pt>
    <dgm:pt modelId="{A832DAAC-6B37-4DB4-BEC2-43AD645D0D5C}" type="pres">
      <dgm:prSet presAssocID="{A3ABAC54-6807-4021-A826-C2FDC0B95B12}" presName="parentText" presStyleLbl="alignNode1" presStyleIdx="1" presStyleCnt="3">
        <dgm:presLayoutVars>
          <dgm:chMax val="1"/>
          <dgm:bulletEnabled val="1"/>
        </dgm:presLayoutVars>
      </dgm:prSet>
      <dgm:spPr/>
    </dgm:pt>
    <dgm:pt modelId="{31BF7DEE-5218-4887-9F43-322130FD00A5}" type="pres">
      <dgm:prSet presAssocID="{A3ABAC54-6807-4021-A826-C2FDC0B95B12}" presName="descendantText" presStyleLbl="alignAcc1" presStyleIdx="1" presStyleCnt="3">
        <dgm:presLayoutVars>
          <dgm:bulletEnabled val="1"/>
        </dgm:presLayoutVars>
      </dgm:prSet>
      <dgm:spPr/>
    </dgm:pt>
    <dgm:pt modelId="{7A29A22C-9ADB-4108-9FF5-28F819E0135D}" type="pres">
      <dgm:prSet presAssocID="{E6722D73-AEBD-4F7C-8609-58B938516AC8}" presName="sp" presStyleCnt="0"/>
      <dgm:spPr/>
    </dgm:pt>
    <dgm:pt modelId="{2A391BC5-AE67-4562-8ADA-3A0B60DE4609}" type="pres">
      <dgm:prSet presAssocID="{E49A26A7-9D66-4701-8C77-A128A62B7950}" presName="composite" presStyleCnt="0"/>
      <dgm:spPr/>
    </dgm:pt>
    <dgm:pt modelId="{F4C8D06F-00D2-4EFA-9A0E-64B4ACC2A7BE}" type="pres">
      <dgm:prSet presAssocID="{E49A26A7-9D66-4701-8C77-A128A62B7950}" presName="parentText" presStyleLbl="alignNode1" presStyleIdx="2" presStyleCnt="3" custScaleY="116906">
        <dgm:presLayoutVars>
          <dgm:chMax val="1"/>
          <dgm:bulletEnabled val="1"/>
        </dgm:presLayoutVars>
      </dgm:prSet>
      <dgm:spPr/>
    </dgm:pt>
    <dgm:pt modelId="{1E209BB1-371C-424E-9927-DC66A2B0DF9E}" type="pres">
      <dgm:prSet presAssocID="{E49A26A7-9D66-4701-8C77-A128A62B7950}" presName="descendantText" presStyleLbl="alignAcc1" presStyleIdx="2" presStyleCnt="3">
        <dgm:presLayoutVars>
          <dgm:bulletEnabled val="1"/>
        </dgm:presLayoutVars>
      </dgm:prSet>
      <dgm:spPr/>
    </dgm:pt>
  </dgm:ptLst>
  <dgm:cxnLst>
    <dgm:cxn modelId="{97C7F201-7FC9-4EAA-B40D-3BDA1D6B7482}" srcId="{171A471C-04E5-4931-A3CB-C9388B11CC81}" destId="{6246587B-3542-4637-ACE6-E012EF969FEA}" srcOrd="0" destOrd="0" parTransId="{66BDA734-73B1-412F-BD82-17BDC78ECDDD}" sibTransId="{A2D9D230-7C68-49C2-B832-13CC62FFCEEB}"/>
    <dgm:cxn modelId="{0BE43B02-209D-43E0-B93F-35B16735D2CD}" srcId="{A3ABAC54-6807-4021-A826-C2FDC0B95B12}" destId="{4EBF9B67-D0A8-471B-B405-D88E792F27EB}" srcOrd="2" destOrd="0" parTransId="{C0C3AB8E-8D8C-49C2-B3EB-AFEAE2468E9E}" sibTransId="{DAA8F675-AD57-4ECE-9E82-623B535B99D4}"/>
    <dgm:cxn modelId="{5219EE08-FC47-43B7-94A9-04AD4F449904}" type="presOf" srcId="{4EBF9B67-D0A8-471B-B405-D88E792F27EB}" destId="{31BF7DEE-5218-4887-9F43-322130FD00A5}" srcOrd="0" destOrd="2" presId="urn:microsoft.com/office/officeart/2005/8/layout/chevron2"/>
    <dgm:cxn modelId="{0F796A24-2DA6-4BDC-80AC-E6408239AEB8}" type="presOf" srcId="{08417CBC-8C26-47DE-9B79-AA37054125F6}" destId="{1E209BB1-371C-424E-9927-DC66A2B0DF9E}" srcOrd="0" destOrd="1" presId="urn:microsoft.com/office/officeart/2005/8/layout/chevron2"/>
    <dgm:cxn modelId="{ACDEF637-8518-424F-BD33-81FB10E31A7E}" type="presOf" srcId="{B5BF9B25-5F5C-46A4-89BD-04FA52AF7542}" destId="{1E209BB1-371C-424E-9927-DC66A2B0DF9E}" srcOrd="0" destOrd="0" presId="urn:microsoft.com/office/officeart/2005/8/layout/chevron2"/>
    <dgm:cxn modelId="{1400693B-6C35-4155-B6D8-25D696DBF3FA}" srcId="{E49A26A7-9D66-4701-8C77-A128A62B7950}" destId="{934EC33E-F5FE-4465-B9E9-F6D3E707AB9C}" srcOrd="2" destOrd="0" parTransId="{DA12FB83-3433-4520-ADE5-5C644AD38FAA}" sibTransId="{993EE073-4F74-4B1A-A9ED-9E51B4BD846D}"/>
    <dgm:cxn modelId="{2CE38B42-8C31-40B2-A6BD-BC59F887F571}" type="presOf" srcId="{171A471C-04E5-4931-A3CB-C9388B11CC81}" destId="{E080C8E4-A49C-4B29-BAB2-5D1E0244065B}" srcOrd="0" destOrd="0" presId="urn:microsoft.com/office/officeart/2005/8/layout/chevron2"/>
    <dgm:cxn modelId="{68FEDD4C-ACF0-4A65-9707-62C710622DDC}" type="presOf" srcId="{BB6FE0DB-CFA2-4BD8-B4AB-0602A2227647}" destId="{52E69DB6-9284-470E-8003-E67D332BFFCB}" srcOrd="0" destOrd="1" presId="urn:microsoft.com/office/officeart/2005/8/layout/chevron2"/>
    <dgm:cxn modelId="{03039F6E-5E1B-4F50-9F73-89805CF583F3}" srcId="{A3ABAC54-6807-4021-A826-C2FDC0B95B12}" destId="{35229F9B-4652-45E9-AFAB-925ADDA78704}" srcOrd="3" destOrd="0" parTransId="{A2CDD3DC-94D0-44C1-BF24-5225A5BCECC9}" sibTransId="{E81E48A5-4D96-4504-BE79-0249D3E076A0}"/>
    <dgm:cxn modelId="{60F9FA73-4CF4-42EA-BB03-AB0AE8837863}" type="presOf" srcId="{934EC33E-F5FE-4465-B9E9-F6D3E707AB9C}" destId="{1E209BB1-371C-424E-9927-DC66A2B0DF9E}" srcOrd="0" destOrd="2" presId="urn:microsoft.com/office/officeart/2005/8/layout/chevron2"/>
    <dgm:cxn modelId="{A6ED1474-F584-4B2E-86F1-FBCA76D79C75}" type="presOf" srcId="{A3ABAC54-6807-4021-A826-C2FDC0B95B12}" destId="{A832DAAC-6B37-4DB4-BEC2-43AD645D0D5C}" srcOrd="0" destOrd="0" presId="urn:microsoft.com/office/officeart/2005/8/layout/chevron2"/>
    <dgm:cxn modelId="{BC5D3479-BFAC-44E3-85BD-DB90FDDBCEB3}" srcId="{A3ABAC54-6807-4021-A826-C2FDC0B95B12}" destId="{ED3FD741-4D5C-4834-A7F4-044E8F581A4C}" srcOrd="0" destOrd="0" parTransId="{2B4BCF5D-A54F-4CE5-A90F-2AFAE5117123}" sibTransId="{37B86B82-99A4-426C-9FD9-77877F43152B}"/>
    <dgm:cxn modelId="{71F5928F-9874-4F74-B81D-1C2556131735}" srcId="{A8CF1E28-600D-46EA-BB0A-A76124848493}" destId="{A3ABAC54-6807-4021-A826-C2FDC0B95B12}" srcOrd="1" destOrd="0" parTransId="{D676A216-2B5B-427F-9A10-FC55A3EE1175}" sibTransId="{E6722D73-AEBD-4F7C-8609-58B938516AC8}"/>
    <dgm:cxn modelId="{0DE81D97-0229-441A-B352-076D089CC473}" srcId="{A3ABAC54-6807-4021-A826-C2FDC0B95B12}" destId="{3AE2B46C-69B6-4003-81DD-54435CCA3DF4}" srcOrd="1" destOrd="0" parTransId="{90309D86-9AB6-4988-AB4D-09A73C9FEA8C}" sibTransId="{05C3C404-F966-4C44-8C69-97EEDCFC5530}"/>
    <dgm:cxn modelId="{EA1D3299-F8CA-4368-ADF0-85A7DBDE0D72}" srcId="{E49A26A7-9D66-4701-8C77-A128A62B7950}" destId="{08417CBC-8C26-47DE-9B79-AA37054125F6}" srcOrd="1" destOrd="0" parTransId="{19117661-4C8D-47C4-B2E5-90FE66B000D0}" sibTransId="{7F055C38-8303-43BC-BC3B-911B77E9C2AC}"/>
    <dgm:cxn modelId="{A5786B9E-43AD-4ED9-854C-A3286C101EBE}" type="presOf" srcId="{A8CF1E28-600D-46EA-BB0A-A76124848493}" destId="{FE284E48-0C14-48F8-900C-F83415181B81}" srcOrd="0" destOrd="0" presId="urn:microsoft.com/office/officeart/2005/8/layout/chevron2"/>
    <dgm:cxn modelId="{0DB0F8A2-EA97-43A7-AA67-5A7066122F87}" srcId="{A8CF1E28-600D-46EA-BB0A-A76124848493}" destId="{E49A26A7-9D66-4701-8C77-A128A62B7950}" srcOrd="2" destOrd="0" parTransId="{B1C7355F-EFA0-4627-9B22-70460F0D23F9}" sibTransId="{B6BFA4DD-535C-47D0-BF9F-883F7284A7C0}"/>
    <dgm:cxn modelId="{9CAC31A3-842B-4141-AA70-B3A46E668AA6}" type="presOf" srcId="{3AE2B46C-69B6-4003-81DD-54435CCA3DF4}" destId="{31BF7DEE-5218-4887-9F43-322130FD00A5}" srcOrd="0" destOrd="1" presId="urn:microsoft.com/office/officeart/2005/8/layout/chevron2"/>
    <dgm:cxn modelId="{38F9AEA9-E400-484A-A194-F2C438AF65F6}" type="presOf" srcId="{35229F9B-4652-45E9-AFAB-925ADDA78704}" destId="{31BF7DEE-5218-4887-9F43-322130FD00A5}" srcOrd="0" destOrd="3" presId="urn:microsoft.com/office/officeart/2005/8/layout/chevron2"/>
    <dgm:cxn modelId="{E8D5CECB-A496-4DF6-8FC1-EC23DE1D3BD9}" type="presOf" srcId="{ED3FD741-4D5C-4834-A7F4-044E8F581A4C}" destId="{31BF7DEE-5218-4887-9F43-322130FD00A5}" srcOrd="0" destOrd="0" presId="urn:microsoft.com/office/officeart/2005/8/layout/chevron2"/>
    <dgm:cxn modelId="{97F762D2-C77A-467A-96F3-326F3D3AB464}" srcId="{A8CF1E28-600D-46EA-BB0A-A76124848493}" destId="{171A471C-04E5-4931-A3CB-C9388B11CC81}" srcOrd="0" destOrd="0" parTransId="{D00072A3-AC01-4128-9FC6-DA2320F705F5}" sibTransId="{36A078FC-9D09-44FA-B73C-0BC066EA5AEB}"/>
    <dgm:cxn modelId="{BEF092D3-59B7-4CCF-A62A-22770AE9B841}" type="presOf" srcId="{E49A26A7-9D66-4701-8C77-A128A62B7950}" destId="{F4C8D06F-00D2-4EFA-9A0E-64B4ACC2A7BE}" srcOrd="0" destOrd="0" presId="urn:microsoft.com/office/officeart/2005/8/layout/chevron2"/>
    <dgm:cxn modelId="{D6C7E3DD-2D2A-40C8-9786-A627F60C7F04}" srcId="{171A471C-04E5-4931-A3CB-C9388B11CC81}" destId="{BB6FE0DB-CFA2-4BD8-B4AB-0602A2227647}" srcOrd="1" destOrd="0" parTransId="{1200A7B1-520B-4C1D-827C-EFD49EDCCEB6}" sibTransId="{F1A74079-58A5-4FD5-BD3C-E73D3F670AC7}"/>
    <dgm:cxn modelId="{6CC86EE5-51B0-4A78-AADC-B218A2827ADF}" type="presOf" srcId="{6246587B-3542-4637-ACE6-E012EF969FEA}" destId="{52E69DB6-9284-470E-8003-E67D332BFFCB}" srcOrd="0" destOrd="0" presId="urn:microsoft.com/office/officeart/2005/8/layout/chevron2"/>
    <dgm:cxn modelId="{1F251BFB-1E72-49F3-A9E9-A3514CDCC235}" srcId="{E49A26A7-9D66-4701-8C77-A128A62B7950}" destId="{B5BF9B25-5F5C-46A4-89BD-04FA52AF7542}" srcOrd="0" destOrd="0" parTransId="{2C4F174C-4793-4399-8782-A0809D57D08C}" sibTransId="{2CA4224F-CEF4-470F-BADF-987511E685B3}"/>
    <dgm:cxn modelId="{F6A25488-8BB1-4B0A-AB2F-8BA2205EA024}" type="presParOf" srcId="{FE284E48-0C14-48F8-900C-F83415181B81}" destId="{11ABC9F3-F332-47C1-AACA-F9C5399B21F8}" srcOrd="0" destOrd="0" presId="urn:microsoft.com/office/officeart/2005/8/layout/chevron2"/>
    <dgm:cxn modelId="{F85B9E3C-4A1D-4B69-A697-05C5858F7516}" type="presParOf" srcId="{11ABC9F3-F332-47C1-AACA-F9C5399B21F8}" destId="{E080C8E4-A49C-4B29-BAB2-5D1E0244065B}" srcOrd="0" destOrd="0" presId="urn:microsoft.com/office/officeart/2005/8/layout/chevron2"/>
    <dgm:cxn modelId="{F38C6408-C371-4E64-84AE-48D068F96411}" type="presParOf" srcId="{11ABC9F3-F332-47C1-AACA-F9C5399B21F8}" destId="{52E69DB6-9284-470E-8003-E67D332BFFCB}" srcOrd="1" destOrd="0" presId="urn:microsoft.com/office/officeart/2005/8/layout/chevron2"/>
    <dgm:cxn modelId="{EC1AAC6B-D96F-4492-8245-3AA5710CB4A3}" type="presParOf" srcId="{FE284E48-0C14-48F8-900C-F83415181B81}" destId="{0DF65D20-C469-4424-AFEA-94FF2DD05C1C}" srcOrd="1" destOrd="0" presId="urn:microsoft.com/office/officeart/2005/8/layout/chevron2"/>
    <dgm:cxn modelId="{CDF7FE2F-BFF5-45F0-B9F3-24AE95073018}" type="presParOf" srcId="{FE284E48-0C14-48F8-900C-F83415181B81}" destId="{12273DC8-A70D-41C4-A389-98BCE85230A9}" srcOrd="2" destOrd="0" presId="urn:microsoft.com/office/officeart/2005/8/layout/chevron2"/>
    <dgm:cxn modelId="{F3366D17-3855-4638-BB76-39E0C75078E4}" type="presParOf" srcId="{12273DC8-A70D-41C4-A389-98BCE85230A9}" destId="{A832DAAC-6B37-4DB4-BEC2-43AD645D0D5C}" srcOrd="0" destOrd="0" presId="urn:microsoft.com/office/officeart/2005/8/layout/chevron2"/>
    <dgm:cxn modelId="{C1DB77BC-C405-405B-A2E2-2767F39A2382}" type="presParOf" srcId="{12273DC8-A70D-41C4-A389-98BCE85230A9}" destId="{31BF7DEE-5218-4887-9F43-322130FD00A5}" srcOrd="1" destOrd="0" presId="urn:microsoft.com/office/officeart/2005/8/layout/chevron2"/>
    <dgm:cxn modelId="{977FFD1A-DDF3-4496-B311-F8EEC5EEB150}" type="presParOf" srcId="{FE284E48-0C14-48F8-900C-F83415181B81}" destId="{7A29A22C-9ADB-4108-9FF5-28F819E0135D}" srcOrd="3" destOrd="0" presId="urn:microsoft.com/office/officeart/2005/8/layout/chevron2"/>
    <dgm:cxn modelId="{BA590D90-BC93-442B-8637-B05C0F3982AE}" type="presParOf" srcId="{FE284E48-0C14-48F8-900C-F83415181B81}" destId="{2A391BC5-AE67-4562-8ADA-3A0B60DE4609}" srcOrd="4" destOrd="0" presId="urn:microsoft.com/office/officeart/2005/8/layout/chevron2"/>
    <dgm:cxn modelId="{DA69DDA2-2CB4-40F4-89EE-26B254858D95}" type="presParOf" srcId="{2A391BC5-AE67-4562-8ADA-3A0B60DE4609}" destId="{F4C8D06F-00D2-4EFA-9A0E-64B4ACC2A7BE}" srcOrd="0" destOrd="0" presId="urn:microsoft.com/office/officeart/2005/8/layout/chevron2"/>
    <dgm:cxn modelId="{DD59C4AF-FC9E-4765-85BB-579FAE96E940}" type="presParOf" srcId="{2A391BC5-AE67-4562-8ADA-3A0B60DE4609}" destId="{1E209BB1-371C-424E-9927-DC66A2B0DF9E}" srcOrd="1" destOrd="0" presId="urn:microsoft.com/office/officeart/2005/8/layout/chevron2"/>
  </dgm:cxnLst>
  <dgm:bg/>
  <dgm:whole>
    <a:ln w="38100">
      <a:noFill/>
    </a:ln>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E803F3D-C668-41AD-A57E-4574CD89EB18}"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0F88CB18-66F1-4F76-854E-76EFA85D8F82}">
      <dgm:prSet/>
      <dgm:spPr/>
      <dgm:t>
        <a:bodyPr/>
        <a:lstStyle/>
        <a:p>
          <a:r>
            <a:rPr lang="en-US" b="0" i="0" dirty="0"/>
            <a:t>Requirements</a:t>
          </a:r>
          <a:endParaRPr lang="en-US" dirty="0"/>
        </a:p>
      </dgm:t>
    </dgm:pt>
    <dgm:pt modelId="{49B5E8CD-C16F-4BA9-BF95-35D6A74529A8}" type="parTrans" cxnId="{36E3D821-2590-45DE-BEE1-9A07F579215C}">
      <dgm:prSet/>
      <dgm:spPr/>
      <dgm:t>
        <a:bodyPr/>
        <a:lstStyle/>
        <a:p>
          <a:endParaRPr lang="en-US"/>
        </a:p>
      </dgm:t>
    </dgm:pt>
    <dgm:pt modelId="{1107F706-A428-48C0-948E-F8FDBAC16A58}" type="sibTrans" cxnId="{36E3D821-2590-45DE-BEE1-9A07F579215C}">
      <dgm:prSet/>
      <dgm:spPr/>
      <dgm:t>
        <a:bodyPr/>
        <a:lstStyle/>
        <a:p>
          <a:endParaRPr lang="en-US"/>
        </a:p>
      </dgm:t>
    </dgm:pt>
    <dgm:pt modelId="{8A156DA5-9B5D-4A58-B228-5143E9069190}">
      <dgm:prSet/>
      <dgm:spPr/>
      <dgm:t>
        <a:bodyPr/>
        <a:lstStyle/>
        <a:p>
          <a:r>
            <a:rPr lang="en-US" b="0" i="0"/>
            <a:t>Anticoagulation tubes</a:t>
          </a:r>
          <a:endParaRPr lang="en-US"/>
        </a:p>
      </dgm:t>
    </dgm:pt>
    <dgm:pt modelId="{28B6E830-2A28-4E8E-8340-24D59118C738}" type="parTrans" cxnId="{91CF3961-5208-49D7-A7E8-6FAC1DF319F2}">
      <dgm:prSet/>
      <dgm:spPr/>
      <dgm:t>
        <a:bodyPr/>
        <a:lstStyle/>
        <a:p>
          <a:endParaRPr lang="en-US"/>
        </a:p>
      </dgm:t>
    </dgm:pt>
    <dgm:pt modelId="{21E91CD8-4F77-4778-AFC8-ECD981258C9A}" type="sibTrans" cxnId="{91CF3961-5208-49D7-A7E8-6FAC1DF319F2}">
      <dgm:prSet/>
      <dgm:spPr/>
      <dgm:t>
        <a:bodyPr/>
        <a:lstStyle/>
        <a:p>
          <a:endParaRPr lang="en-US"/>
        </a:p>
      </dgm:t>
    </dgm:pt>
    <dgm:pt modelId="{433258B2-752E-4BFB-95B7-74E17E2C33CA}">
      <dgm:prSet/>
      <dgm:spPr/>
      <dgm:t>
        <a:bodyPr/>
        <a:lstStyle/>
        <a:p>
          <a:r>
            <a:rPr lang="en-US" b="0" i="0"/>
            <a:t>TRIzol  reagent</a:t>
          </a:r>
          <a:endParaRPr lang="en-US"/>
        </a:p>
      </dgm:t>
    </dgm:pt>
    <dgm:pt modelId="{8AA66B33-3CD5-45FC-A00A-9C8874F0D3EA}" type="parTrans" cxnId="{1D147F47-D027-4F11-9831-2E52FB15145A}">
      <dgm:prSet/>
      <dgm:spPr/>
      <dgm:t>
        <a:bodyPr/>
        <a:lstStyle/>
        <a:p>
          <a:endParaRPr lang="en-US"/>
        </a:p>
      </dgm:t>
    </dgm:pt>
    <dgm:pt modelId="{B3AAFE5E-C5DA-4373-AB7C-2CFC3E5002A3}" type="sibTrans" cxnId="{1D147F47-D027-4F11-9831-2E52FB15145A}">
      <dgm:prSet/>
      <dgm:spPr/>
      <dgm:t>
        <a:bodyPr/>
        <a:lstStyle/>
        <a:p>
          <a:endParaRPr lang="en-US"/>
        </a:p>
      </dgm:t>
    </dgm:pt>
    <dgm:pt modelId="{F0249F96-9A3B-4408-B400-2786B4A17BA9}">
      <dgm:prSet/>
      <dgm:spPr/>
      <dgm:t>
        <a:bodyPr/>
        <a:lstStyle/>
        <a:p>
          <a:r>
            <a:rPr lang="en-US" b="0" i="0"/>
            <a:t>PrimeScriptTM RT reagen</a:t>
          </a:r>
          <a:endParaRPr lang="en-US"/>
        </a:p>
      </dgm:t>
    </dgm:pt>
    <dgm:pt modelId="{3E6B6052-C06B-4126-BB1F-F342201DAEBD}" type="parTrans" cxnId="{D125390D-0C02-443C-962B-D538C07E3B75}">
      <dgm:prSet/>
      <dgm:spPr/>
      <dgm:t>
        <a:bodyPr/>
        <a:lstStyle/>
        <a:p>
          <a:endParaRPr lang="en-US"/>
        </a:p>
      </dgm:t>
    </dgm:pt>
    <dgm:pt modelId="{9A9B7F4B-EBF9-44CC-9B47-702BD3F7052D}" type="sibTrans" cxnId="{D125390D-0C02-443C-962B-D538C07E3B75}">
      <dgm:prSet/>
      <dgm:spPr/>
      <dgm:t>
        <a:bodyPr/>
        <a:lstStyle/>
        <a:p>
          <a:endParaRPr lang="en-US"/>
        </a:p>
      </dgm:t>
    </dgm:pt>
    <dgm:pt modelId="{F549E116-C08A-46A5-B6FA-1ED658AE8FC0}">
      <dgm:prSet/>
      <dgm:spPr/>
      <dgm:t>
        <a:bodyPr/>
        <a:lstStyle/>
        <a:p>
          <a:r>
            <a:rPr lang="en-US" b="0" i="0"/>
            <a:t>MiRNA Isolation Kit                                                                                               </a:t>
          </a:r>
          <a:endParaRPr lang="en-US"/>
        </a:p>
      </dgm:t>
    </dgm:pt>
    <dgm:pt modelId="{A047D5D6-F016-43A9-B47B-23CE1CD63A27}" type="parTrans" cxnId="{0BD6FAD0-AD48-4825-8DE1-AADAAA87B6F5}">
      <dgm:prSet/>
      <dgm:spPr/>
      <dgm:t>
        <a:bodyPr/>
        <a:lstStyle/>
        <a:p>
          <a:endParaRPr lang="en-US"/>
        </a:p>
      </dgm:t>
    </dgm:pt>
    <dgm:pt modelId="{03E7C01C-FB86-406A-970F-E86F87E2D468}" type="sibTrans" cxnId="{0BD6FAD0-AD48-4825-8DE1-AADAAA87B6F5}">
      <dgm:prSet/>
      <dgm:spPr/>
      <dgm:t>
        <a:bodyPr/>
        <a:lstStyle/>
        <a:p>
          <a:endParaRPr lang="en-US"/>
        </a:p>
      </dgm:t>
    </dgm:pt>
    <dgm:pt modelId="{162143F9-3D7D-4DE3-8AD2-79373B961A99}">
      <dgm:prSet/>
      <dgm:spPr/>
      <dgm:t>
        <a:bodyPr/>
        <a:lstStyle/>
        <a:p>
          <a:r>
            <a:rPr lang="en-US" b="0" i="0"/>
            <a:t>qRT-PCR</a:t>
          </a:r>
          <a:endParaRPr lang="en-US"/>
        </a:p>
      </dgm:t>
    </dgm:pt>
    <dgm:pt modelId="{D8E3A33D-FE5B-4916-89CD-1905A827AACB}" type="parTrans" cxnId="{FC811696-0081-4491-9240-0EFD664C7D83}">
      <dgm:prSet/>
      <dgm:spPr/>
      <dgm:t>
        <a:bodyPr/>
        <a:lstStyle/>
        <a:p>
          <a:endParaRPr lang="en-US"/>
        </a:p>
      </dgm:t>
    </dgm:pt>
    <dgm:pt modelId="{1ECAC7F9-D1E7-4BD8-9F73-68CEF7A0957B}" type="sibTrans" cxnId="{FC811696-0081-4491-9240-0EFD664C7D83}">
      <dgm:prSet/>
      <dgm:spPr/>
      <dgm:t>
        <a:bodyPr/>
        <a:lstStyle/>
        <a:p>
          <a:endParaRPr lang="en-US"/>
        </a:p>
      </dgm:t>
    </dgm:pt>
    <dgm:pt modelId="{058077B4-F8EC-4B48-AEAF-8607E47A82B9}">
      <dgm:prSet/>
      <dgm:spPr/>
      <dgm:t>
        <a:bodyPr/>
        <a:lstStyle/>
        <a:p>
          <a:r>
            <a:rPr lang="en-US" b="0" i="0"/>
            <a:t>Ambion WT Expression Kit</a:t>
          </a:r>
          <a:endParaRPr lang="en-US"/>
        </a:p>
      </dgm:t>
    </dgm:pt>
    <dgm:pt modelId="{7822C638-D5CF-4127-9B2D-07960C03141A}" type="parTrans" cxnId="{403FC7DE-A3B7-4CA5-92DA-4CAF9E96CBFE}">
      <dgm:prSet/>
      <dgm:spPr/>
      <dgm:t>
        <a:bodyPr/>
        <a:lstStyle/>
        <a:p>
          <a:endParaRPr lang="en-US"/>
        </a:p>
      </dgm:t>
    </dgm:pt>
    <dgm:pt modelId="{777C25E1-CC58-4C03-AFA7-FBE2B8F45E2B}" type="sibTrans" cxnId="{403FC7DE-A3B7-4CA5-92DA-4CAF9E96CBFE}">
      <dgm:prSet/>
      <dgm:spPr/>
      <dgm:t>
        <a:bodyPr/>
        <a:lstStyle/>
        <a:p>
          <a:endParaRPr lang="en-US"/>
        </a:p>
      </dgm:t>
    </dgm:pt>
    <dgm:pt modelId="{7529AAF6-EB85-47E8-AFCB-6A3488051A28}">
      <dgm:prSet/>
      <dgm:spPr/>
      <dgm:t>
        <a:bodyPr/>
        <a:lstStyle/>
        <a:p>
          <a:r>
            <a:rPr lang="en-US" b="0" i="0"/>
            <a:t>Hybridization solution </a:t>
          </a:r>
          <a:endParaRPr lang="en-US"/>
        </a:p>
      </dgm:t>
    </dgm:pt>
    <dgm:pt modelId="{04AC8EB1-A202-44EE-BC7C-EF628B638301}" type="parTrans" cxnId="{99F1AA0B-DB6E-4302-8AE7-05BAC2B12106}">
      <dgm:prSet/>
      <dgm:spPr/>
      <dgm:t>
        <a:bodyPr/>
        <a:lstStyle/>
        <a:p>
          <a:endParaRPr lang="en-US"/>
        </a:p>
      </dgm:t>
    </dgm:pt>
    <dgm:pt modelId="{2F499084-66AF-445B-80E7-5A6659BC5480}" type="sibTrans" cxnId="{99F1AA0B-DB6E-4302-8AE7-05BAC2B12106}">
      <dgm:prSet/>
      <dgm:spPr/>
      <dgm:t>
        <a:bodyPr/>
        <a:lstStyle/>
        <a:p>
          <a:endParaRPr lang="en-US"/>
        </a:p>
      </dgm:t>
    </dgm:pt>
    <dgm:pt modelId="{D4ED1FF2-BC12-4C4E-BC26-B4CDC13FD6A3}">
      <dgm:prSet/>
      <dgm:spPr/>
      <dgm:t>
        <a:bodyPr/>
        <a:lstStyle/>
        <a:p>
          <a:r>
            <a:rPr lang="en-US" b="0" i="0"/>
            <a:t>Capital Bio Technology Human CircRNA Array v2 microarray (Agilent)</a:t>
          </a:r>
          <a:endParaRPr lang="en-US"/>
        </a:p>
      </dgm:t>
    </dgm:pt>
    <dgm:pt modelId="{A04907EB-9265-4E64-9E40-6893298F5A87}" type="parTrans" cxnId="{34C7EF0C-F7AC-41F5-A47F-C7DB9A613361}">
      <dgm:prSet/>
      <dgm:spPr/>
      <dgm:t>
        <a:bodyPr/>
        <a:lstStyle/>
        <a:p>
          <a:endParaRPr lang="en-US"/>
        </a:p>
      </dgm:t>
    </dgm:pt>
    <dgm:pt modelId="{636F2ECA-DF6E-4BB9-AB32-CD9DA1BDE688}" type="sibTrans" cxnId="{34C7EF0C-F7AC-41F5-A47F-C7DB9A613361}">
      <dgm:prSet/>
      <dgm:spPr/>
      <dgm:t>
        <a:bodyPr/>
        <a:lstStyle/>
        <a:p>
          <a:endParaRPr lang="en-US"/>
        </a:p>
      </dgm:t>
    </dgm:pt>
    <dgm:pt modelId="{4DC4177A-C4EB-42CE-A048-CD97C0109773}">
      <dgm:prSet/>
      <dgm:spPr/>
      <dgm:t>
        <a:bodyPr/>
        <a:lstStyle/>
        <a:p>
          <a:r>
            <a:rPr lang="en-US" b="0" i="0"/>
            <a:t>OCT</a:t>
          </a:r>
          <a:endParaRPr lang="en-US"/>
        </a:p>
      </dgm:t>
    </dgm:pt>
    <dgm:pt modelId="{6A262218-62D6-4B0A-AD12-F488AFCCA37E}" type="parTrans" cxnId="{C1F483DE-1F64-4DDC-8646-1D8BCE981588}">
      <dgm:prSet/>
      <dgm:spPr/>
      <dgm:t>
        <a:bodyPr/>
        <a:lstStyle/>
        <a:p>
          <a:endParaRPr lang="en-US"/>
        </a:p>
      </dgm:t>
    </dgm:pt>
    <dgm:pt modelId="{541AD96F-4A1F-4224-8DED-675AA7982A2A}" type="sibTrans" cxnId="{C1F483DE-1F64-4DDC-8646-1D8BCE981588}">
      <dgm:prSet/>
      <dgm:spPr/>
      <dgm:t>
        <a:bodyPr/>
        <a:lstStyle/>
        <a:p>
          <a:endParaRPr lang="en-US"/>
        </a:p>
      </dgm:t>
    </dgm:pt>
    <dgm:pt modelId="{B1A57B7B-2E98-43F7-8407-A223F50A3461}">
      <dgm:prSet/>
      <dgm:spPr/>
      <dgm:t>
        <a:bodyPr/>
        <a:lstStyle/>
        <a:p>
          <a:r>
            <a:rPr lang="en-US" b="0" i="0"/>
            <a:t>OCTA</a:t>
          </a:r>
          <a:endParaRPr lang="en-US"/>
        </a:p>
      </dgm:t>
    </dgm:pt>
    <dgm:pt modelId="{6A46C661-5AE7-4E7D-950E-5B946BDF7869}" type="parTrans" cxnId="{5345C52C-59EB-4192-8251-6B8C2AD68FF3}">
      <dgm:prSet/>
      <dgm:spPr/>
      <dgm:t>
        <a:bodyPr/>
        <a:lstStyle/>
        <a:p>
          <a:endParaRPr lang="en-US"/>
        </a:p>
      </dgm:t>
    </dgm:pt>
    <dgm:pt modelId="{5AEB0FD0-6EED-4ADE-B987-8AD9FCD59935}" type="sibTrans" cxnId="{5345C52C-59EB-4192-8251-6B8C2AD68FF3}">
      <dgm:prSet/>
      <dgm:spPr/>
      <dgm:t>
        <a:bodyPr/>
        <a:lstStyle/>
        <a:p>
          <a:endParaRPr lang="en-US"/>
        </a:p>
      </dgm:t>
    </dgm:pt>
    <dgm:pt modelId="{DEA68D60-6D7A-4D04-A44F-8D63EA5B0A78}">
      <dgm:prSet/>
      <dgm:spPr/>
      <dgm:t>
        <a:bodyPr/>
        <a:lstStyle/>
        <a:p>
          <a:r>
            <a:rPr lang="en-US" b="0" i="0"/>
            <a:t>fundus fluorescein Angiography. </a:t>
          </a:r>
          <a:endParaRPr lang="en-US"/>
        </a:p>
      </dgm:t>
    </dgm:pt>
    <dgm:pt modelId="{AB49D7AD-A5B9-4250-9148-CE70D7ECD689}" type="parTrans" cxnId="{44517506-F912-4A30-8AFD-09069C9606A4}">
      <dgm:prSet/>
      <dgm:spPr/>
      <dgm:t>
        <a:bodyPr/>
        <a:lstStyle/>
        <a:p>
          <a:endParaRPr lang="en-US"/>
        </a:p>
      </dgm:t>
    </dgm:pt>
    <dgm:pt modelId="{FFCDCCBD-4D0C-4ADD-8DEF-7551CD483DC0}" type="sibTrans" cxnId="{44517506-F912-4A30-8AFD-09069C9606A4}">
      <dgm:prSet/>
      <dgm:spPr/>
      <dgm:t>
        <a:bodyPr/>
        <a:lstStyle/>
        <a:p>
          <a:endParaRPr lang="en-US"/>
        </a:p>
      </dgm:t>
    </dgm:pt>
    <dgm:pt modelId="{FEC65E35-B966-428E-A804-40718AE3D470}" type="pres">
      <dgm:prSet presAssocID="{DE803F3D-C668-41AD-A57E-4574CD89EB18}" presName="linear" presStyleCnt="0">
        <dgm:presLayoutVars>
          <dgm:animLvl val="lvl"/>
          <dgm:resizeHandles val="exact"/>
        </dgm:presLayoutVars>
      </dgm:prSet>
      <dgm:spPr/>
    </dgm:pt>
    <dgm:pt modelId="{1AEE616E-28A2-4336-A205-DFA705500930}" type="pres">
      <dgm:prSet presAssocID="{0F88CB18-66F1-4F76-854E-76EFA85D8F82}" presName="parentText" presStyleLbl="node1" presStyleIdx="0" presStyleCnt="1">
        <dgm:presLayoutVars>
          <dgm:chMax val="0"/>
          <dgm:bulletEnabled val="1"/>
        </dgm:presLayoutVars>
      </dgm:prSet>
      <dgm:spPr/>
    </dgm:pt>
    <dgm:pt modelId="{A302F5E3-6828-4E77-9255-8B0B7D3A5967}" type="pres">
      <dgm:prSet presAssocID="{0F88CB18-66F1-4F76-854E-76EFA85D8F82}" presName="childText" presStyleLbl="revTx" presStyleIdx="0" presStyleCnt="1">
        <dgm:presLayoutVars>
          <dgm:bulletEnabled val="1"/>
        </dgm:presLayoutVars>
      </dgm:prSet>
      <dgm:spPr/>
    </dgm:pt>
  </dgm:ptLst>
  <dgm:cxnLst>
    <dgm:cxn modelId="{44517506-F912-4A30-8AFD-09069C9606A4}" srcId="{0F88CB18-66F1-4F76-854E-76EFA85D8F82}" destId="{DEA68D60-6D7A-4D04-A44F-8D63EA5B0A78}" srcOrd="10" destOrd="0" parTransId="{AB49D7AD-A5B9-4250-9148-CE70D7ECD689}" sibTransId="{FFCDCCBD-4D0C-4ADD-8DEF-7551CD483DC0}"/>
    <dgm:cxn modelId="{99F1AA0B-DB6E-4302-8AE7-05BAC2B12106}" srcId="{0F88CB18-66F1-4F76-854E-76EFA85D8F82}" destId="{7529AAF6-EB85-47E8-AFCB-6A3488051A28}" srcOrd="6" destOrd="0" parTransId="{04AC8EB1-A202-44EE-BC7C-EF628B638301}" sibTransId="{2F499084-66AF-445B-80E7-5A6659BC5480}"/>
    <dgm:cxn modelId="{8FA1EE0C-C8EB-4B1E-A202-3F4A7B1F1075}" type="presOf" srcId="{DEA68D60-6D7A-4D04-A44F-8D63EA5B0A78}" destId="{A302F5E3-6828-4E77-9255-8B0B7D3A5967}" srcOrd="0" destOrd="10" presId="urn:microsoft.com/office/officeart/2005/8/layout/vList2"/>
    <dgm:cxn modelId="{34C7EF0C-F7AC-41F5-A47F-C7DB9A613361}" srcId="{0F88CB18-66F1-4F76-854E-76EFA85D8F82}" destId="{D4ED1FF2-BC12-4C4E-BC26-B4CDC13FD6A3}" srcOrd="7" destOrd="0" parTransId="{A04907EB-9265-4E64-9E40-6893298F5A87}" sibTransId="{636F2ECA-DF6E-4BB9-AB32-CD9DA1BDE688}"/>
    <dgm:cxn modelId="{D125390D-0C02-443C-962B-D538C07E3B75}" srcId="{0F88CB18-66F1-4F76-854E-76EFA85D8F82}" destId="{F0249F96-9A3B-4408-B400-2786B4A17BA9}" srcOrd="2" destOrd="0" parTransId="{3E6B6052-C06B-4126-BB1F-F342201DAEBD}" sibTransId="{9A9B7F4B-EBF9-44CC-9B47-702BD3F7052D}"/>
    <dgm:cxn modelId="{92E97A0D-C775-42E0-82B6-744BB1EA8070}" type="presOf" srcId="{0F88CB18-66F1-4F76-854E-76EFA85D8F82}" destId="{1AEE616E-28A2-4336-A205-DFA705500930}" srcOrd="0" destOrd="0" presId="urn:microsoft.com/office/officeart/2005/8/layout/vList2"/>
    <dgm:cxn modelId="{08DF771E-186A-4791-80A9-9C015EB83C71}" type="presOf" srcId="{D4ED1FF2-BC12-4C4E-BC26-B4CDC13FD6A3}" destId="{A302F5E3-6828-4E77-9255-8B0B7D3A5967}" srcOrd="0" destOrd="7" presId="urn:microsoft.com/office/officeart/2005/8/layout/vList2"/>
    <dgm:cxn modelId="{36E3D821-2590-45DE-BEE1-9A07F579215C}" srcId="{DE803F3D-C668-41AD-A57E-4574CD89EB18}" destId="{0F88CB18-66F1-4F76-854E-76EFA85D8F82}" srcOrd="0" destOrd="0" parTransId="{49B5E8CD-C16F-4BA9-BF95-35D6A74529A8}" sibTransId="{1107F706-A428-48C0-948E-F8FDBAC16A58}"/>
    <dgm:cxn modelId="{5345C52C-59EB-4192-8251-6B8C2AD68FF3}" srcId="{0F88CB18-66F1-4F76-854E-76EFA85D8F82}" destId="{B1A57B7B-2E98-43F7-8407-A223F50A3461}" srcOrd="9" destOrd="0" parTransId="{6A46C661-5AE7-4E7D-950E-5B946BDF7869}" sibTransId="{5AEB0FD0-6EED-4ADE-B987-8AD9FCD59935}"/>
    <dgm:cxn modelId="{387E7E5C-D58F-4C2F-8853-D89FE89B3D21}" type="presOf" srcId="{F549E116-C08A-46A5-B6FA-1ED658AE8FC0}" destId="{A302F5E3-6828-4E77-9255-8B0B7D3A5967}" srcOrd="0" destOrd="3" presId="urn:microsoft.com/office/officeart/2005/8/layout/vList2"/>
    <dgm:cxn modelId="{91CF3961-5208-49D7-A7E8-6FAC1DF319F2}" srcId="{0F88CB18-66F1-4F76-854E-76EFA85D8F82}" destId="{8A156DA5-9B5D-4A58-B228-5143E9069190}" srcOrd="0" destOrd="0" parTransId="{28B6E830-2A28-4E8E-8340-24D59118C738}" sibTransId="{21E91CD8-4F77-4778-AFC8-ECD981258C9A}"/>
    <dgm:cxn modelId="{1D147F47-D027-4F11-9831-2E52FB15145A}" srcId="{0F88CB18-66F1-4F76-854E-76EFA85D8F82}" destId="{433258B2-752E-4BFB-95B7-74E17E2C33CA}" srcOrd="1" destOrd="0" parTransId="{8AA66B33-3CD5-45FC-A00A-9C8874F0D3EA}" sibTransId="{B3AAFE5E-C5DA-4373-AB7C-2CFC3E5002A3}"/>
    <dgm:cxn modelId="{AA2D1371-C487-40B5-B5D1-F232FF209C8C}" type="presOf" srcId="{F0249F96-9A3B-4408-B400-2786B4A17BA9}" destId="{A302F5E3-6828-4E77-9255-8B0B7D3A5967}" srcOrd="0" destOrd="2" presId="urn:microsoft.com/office/officeart/2005/8/layout/vList2"/>
    <dgm:cxn modelId="{FC811696-0081-4491-9240-0EFD664C7D83}" srcId="{0F88CB18-66F1-4F76-854E-76EFA85D8F82}" destId="{162143F9-3D7D-4DE3-8AD2-79373B961A99}" srcOrd="4" destOrd="0" parTransId="{D8E3A33D-FE5B-4916-89CD-1905A827AACB}" sibTransId="{1ECAC7F9-D1E7-4BD8-9F73-68CEF7A0957B}"/>
    <dgm:cxn modelId="{EC57B9A9-66D3-4424-9250-CD52B3B1D3E0}" type="presOf" srcId="{058077B4-F8EC-4B48-AEAF-8607E47A82B9}" destId="{A302F5E3-6828-4E77-9255-8B0B7D3A5967}" srcOrd="0" destOrd="5" presId="urn:microsoft.com/office/officeart/2005/8/layout/vList2"/>
    <dgm:cxn modelId="{C936C6C4-8633-4520-BEC2-EA00C18979C9}" type="presOf" srcId="{433258B2-752E-4BFB-95B7-74E17E2C33CA}" destId="{A302F5E3-6828-4E77-9255-8B0B7D3A5967}" srcOrd="0" destOrd="1" presId="urn:microsoft.com/office/officeart/2005/8/layout/vList2"/>
    <dgm:cxn modelId="{8A9C28C6-03D4-4001-88D1-DCD980335956}" type="presOf" srcId="{4DC4177A-C4EB-42CE-A048-CD97C0109773}" destId="{A302F5E3-6828-4E77-9255-8B0B7D3A5967}" srcOrd="0" destOrd="8" presId="urn:microsoft.com/office/officeart/2005/8/layout/vList2"/>
    <dgm:cxn modelId="{76B9F2CF-AD5A-4FA4-A241-5A89F80A5EEF}" type="presOf" srcId="{162143F9-3D7D-4DE3-8AD2-79373B961A99}" destId="{A302F5E3-6828-4E77-9255-8B0B7D3A5967}" srcOrd="0" destOrd="4" presId="urn:microsoft.com/office/officeart/2005/8/layout/vList2"/>
    <dgm:cxn modelId="{0BD6FAD0-AD48-4825-8DE1-AADAAA87B6F5}" srcId="{0F88CB18-66F1-4F76-854E-76EFA85D8F82}" destId="{F549E116-C08A-46A5-B6FA-1ED658AE8FC0}" srcOrd="3" destOrd="0" parTransId="{A047D5D6-F016-43A9-B47B-23CE1CD63A27}" sibTransId="{03E7C01C-FB86-406A-970F-E86F87E2D468}"/>
    <dgm:cxn modelId="{7A932AD6-A89E-4283-9B39-BFBD4C49DD7E}" type="presOf" srcId="{8A156DA5-9B5D-4A58-B228-5143E9069190}" destId="{A302F5E3-6828-4E77-9255-8B0B7D3A5967}" srcOrd="0" destOrd="0" presId="urn:microsoft.com/office/officeart/2005/8/layout/vList2"/>
    <dgm:cxn modelId="{6BD290D6-4D88-4D1F-9BAB-6DC489A1B669}" type="presOf" srcId="{DE803F3D-C668-41AD-A57E-4574CD89EB18}" destId="{FEC65E35-B966-428E-A804-40718AE3D470}" srcOrd="0" destOrd="0" presId="urn:microsoft.com/office/officeart/2005/8/layout/vList2"/>
    <dgm:cxn modelId="{C1F483DE-1F64-4DDC-8646-1D8BCE981588}" srcId="{0F88CB18-66F1-4F76-854E-76EFA85D8F82}" destId="{4DC4177A-C4EB-42CE-A048-CD97C0109773}" srcOrd="8" destOrd="0" parTransId="{6A262218-62D6-4B0A-AD12-F488AFCCA37E}" sibTransId="{541AD96F-4A1F-4224-8DED-675AA7982A2A}"/>
    <dgm:cxn modelId="{403FC7DE-A3B7-4CA5-92DA-4CAF9E96CBFE}" srcId="{0F88CB18-66F1-4F76-854E-76EFA85D8F82}" destId="{058077B4-F8EC-4B48-AEAF-8607E47A82B9}" srcOrd="5" destOrd="0" parTransId="{7822C638-D5CF-4127-9B2D-07960C03141A}" sibTransId="{777C25E1-CC58-4C03-AFA7-FBE2B8F45E2B}"/>
    <dgm:cxn modelId="{D40B41E5-D7F0-4842-A358-6BCB6FF4CE05}" type="presOf" srcId="{B1A57B7B-2E98-43F7-8407-A223F50A3461}" destId="{A302F5E3-6828-4E77-9255-8B0B7D3A5967}" srcOrd="0" destOrd="9" presId="urn:microsoft.com/office/officeart/2005/8/layout/vList2"/>
    <dgm:cxn modelId="{86C8CEF8-0D4A-4881-BB11-5C705F6100D9}" type="presOf" srcId="{7529AAF6-EB85-47E8-AFCB-6A3488051A28}" destId="{A302F5E3-6828-4E77-9255-8B0B7D3A5967}" srcOrd="0" destOrd="6" presId="urn:microsoft.com/office/officeart/2005/8/layout/vList2"/>
    <dgm:cxn modelId="{61EB2CD2-C6F3-4F81-819E-CABC678BD285}" type="presParOf" srcId="{FEC65E35-B966-428E-A804-40718AE3D470}" destId="{1AEE616E-28A2-4336-A205-DFA705500930}" srcOrd="0" destOrd="0" presId="urn:microsoft.com/office/officeart/2005/8/layout/vList2"/>
    <dgm:cxn modelId="{90E72FD1-514C-46F6-A240-92A6CC1634E3}" type="presParOf" srcId="{FEC65E35-B966-428E-A804-40718AE3D470}" destId="{A302F5E3-6828-4E77-9255-8B0B7D3A5967}" srcOrd="1"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14AB7D-CFFE-4551-A1B4-32504421D8DD}">
      <dsp:nvSpPr>
        <dsp:cNvPr id="0" name=""/>
        <dsp:cNvSpPr/>
      </dsp:nvSpPr>
      <dsp:spPr>
        <a:xfrm>
          <a:off x="0" y="685666"/>
          <a:ext cx="1959794" cy="1175876"/>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marR="0" lvl="0" indent="0" algn="ctr" defTabSz="914400" eaLnBrk="1" fontAlgn="auto" latinLnBrk="0" hangingPunct="1">
            <a:lnSpc>
              <a:spcPct val="100000"/>
            </a:lnSpc>
            <a:spcBef>
              <a:spcPct val="0"/>
            </a:spcBef>
            <a:spcAft>
              <a:spcPts val="0"/>
            </a:spcAft>
            <a:buClrTx/>
            <a:buSzTx/>
            <a:buFontTx/>
            <a:buNone/>
            <a:tabLst/>
            <a:defRPr/>
          </a:pPr>
          <a:r>
            <a:rPr lang="en-US" sz="1800" kern="1200" dirty="0">
              <a:effectLst/>
              <a:latin typeface="Arial Rounded MT Bold" panose="020F0704030504030204" pitchFamily="34" charset="0"/>
              <a:ea typeface="Calibri" panose="020F0502020204030204" pitchFamily="34" charset="0"/>
              <a:cs typeface="Arial" panose="020B0604020202020204" pitchFamily="34" charset="0"/>
            </a:rPr>
            <a:t>Gene Regulation</a:t>
          </a:r>
          <a:endParaRPr lang="en-GB" sz="1800" kern="1200" dirty="0">
            <a:latin typeface="Arial Rounded MT Bold" panose="020F0704030504030204" pitchFamily="34" charset="0"/>
          </a:endParaRPr>
        </a:p>
        <a:p>
          <a:pPr marL="0" lvl="0" algn="ctr" defTabSz="2889250">
            <a:lnSpc>
              <a:spcPct val="90000"/>
            </a:lnSpc>
            <a:spcBef>
              <a:spcPct val="0"/>
            </a:spcBef>
            <a:spcAft>
              <a:spcPct val="35000"/>
            </a:spcAft>
            <a:buNone/>
          </a:pPr>
          <a:endParaRPr lang="en-GB" sz="1800" kern="1200" dirty="0">
            <a:latin typeface="Arial Rounded MT Bold" panose="020F0704030504030204" pitchFamily="34" charset="0"/>
          </a:endParaRPr>
        </a:p>
      </dsp:txBody>
      <dsp:txXfrm>
        <a:off x="0" y="685666"/>
        <a:ext cx="1959794" cy="1175876"/>
      </dsp:txXfrm>
    </dsp:sp>
    <dsp:sp modelId="{11829449-204D-44D4-8C98-1D74FD0CEE91}">
      <dsp:nvSpPr>
        <dsp:cNvPr id="0" name=""/>
        <dsp:cNvSpPr/>
      </dsp:nvSpPr>
      <dsp:spPr>
        <a:xfrm>
          <a:off x="2155773" y="685666"/>
          <a:ext cx="1959794" cy="1175876"/>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marR="0" lvl="0" indent="0" algn="ctr" defTabSz="914400" eaLnBrk="1" fontAlgn="auto" latinLnBrk="0" hangingPunct="1">
            <a:lnSpc>
              <a:spcPct val="100000"/>
            </a:lnSpc>
            <a:spcBef>
              <a:spcPct val="0"/>
            </a:spcBef>
            <a:spcAft>
              <a:spcPts val="0"/>
            </a:spcAft>
            <a:buClrTx/>
            <a:buSzTx/>
            <a:buFontTx/>
            <a:buNone/>
            <a:tabLst/>
            <a:defRPr/>
          </a:pPr>
          <a:r>
            <a:rPr lang="en-GB" sz="1800" kern="1200" dirty="0">
              <a:latin typeface="Arial Rounded MT Bold" panose="020F0704030504030204" pitchFamily="34" charset="0"/>
            </a:rPr>
            <a:t>Protein Production</a:t>
          </a:r>
        </a:p>
        <a:p>
          <a:pPr marL="0" lvl="0" algn="ctr" defTabSz="1333500">
            <a:lnSpc>
              <a:spcPct val="90000"/>
            </a:lnSpc>
            <a:spcBef>
              <a:spcPct val="0"/>
            </a:spcBef>
            <a:spcAft>
              <a:spcPct val="35000"/>
            </a:spcAft>
            <a:buNone/>
          </a:pPr>
          <a:endParaRPr lang="en-GB" sz="1800" kern="1200" dirty="0">
            <a:latin typeface="Arial Rounded MT Bold" panose="020F0704030504030204" pitchFamily="34" charset="0"/>
          </a:endParaRPr>
        </a:p>
      </dsp:txBody>
      <dsp:txXfrm>
        <a:off x="2155773" y="685666"/>
        <a:ext cx="1959794" cy="1175876"/>
      </dsp:txXfrm>
    </dsp:sp>
    <dsp:sp modelId="{EC992975-D324-4872-AE48-71CB98651AEB}">
      <dsp:nvSpPr>
        <dsp:cNvPr id="0" name=""/>
        <dsp:cNvSpPr/>
      </dsp:nvSpPr>
      <dsp:spPr>
        <a:xfrm>
          <a:off x="4311547" y="685666"/>
          <a:ext cx="1959794" cy="1175876"/>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marR="0" lvl="0" indent="0" algn="ctr" defTabSz="914400" eaLnBrk="1" fontAlgn="auto" latinLnBrk="0" hangingPunct="1">
            <a:lnSpc>
              <a:spcPct val="100000"/>
            </a:lnSpc>
            <a:spcBef>
              <a:spcPct val="0"/>
            </a:spcBef>
            <a:spcAft>
              <a:spcPts val="0"/>
            </a:spcAft>
            <a:buClrTx/>
            <a:buSzTx/>
            <a:buFontTx/>
            <a:buNone/>
            <a:tabLst/>
            <a:defRPr/>
          </a:pPr>
          <a:r>
            <a:rPr lang="en-GB" sz="1800" kern="1200" dirty="0">
              <a:latin typeface="Arial Rounded MT Bold" panose="020F0704030504030204" pitchFamily="34" charset="0"/>
            </a:rPr>
            <a:t>MicroRNA Sponge</a:t>
          </a:r>
        </a:p>
        <a:p>
          <a:pPr marL="0" lvl="0" algn="ctr" defTabSz="1333500">
            <a:lnSpc>
              <a:spcPct val="90000"/>
            </a:lnSpc>
            <a:spcBef>
              <a:spcPct val="0"/>
            </a:spcBef>
            <a:spcAft>
              <a:spcPct val="35000"/>
            </a:spcAft>
            <a:buNone/>
          </a:pPr>
          <a:endParaRPr lang="en-GB" sz="1800" kern="1200" dirty="0">
            <a:latin typeface="Arial Rounded MT Bold" panose="020F0704030504030204" pitchFamily="34" charset="0"/>
          </a:endParaRPr>
        </a:p>
      </dsp:txBody>
      <dsp:txXfrm>
        <a:off x="4311547" y="685666"/>
        <a:ext cx="1959794" cy="1175876"/>
      </dsp:txXfrm>
    </dsp:sp>
    <dsp:sp modelId="{2C093861-FAF3-4A7F-875F-A869CA4CB986}">
      <dsp:nvSpPr>
        <dsp:cNvPr id="0" name=""/>
        <dsp:cNvSpPr/>
      </dsp:nvSpPr>
      <dsp:spPr>
        <a:xfrm>
          <a:off x="1077886" y="2057522"/>
          <a:ext cx="1959794" cy="1175876"/>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marR="0" lvl="0" indent="0" algn="ctr" defTabSz="914400" eaLnBrk="1" fontAlgn="auto" latinLnBrk="0" hangingPunct="1">
            <a:lnSpc>
              <a:spcPct val="100000"/>
            </a:lnSpc>
            <a:spcBef>
              <a:spcPct val="0"/>
            </a:spcBef>
            <a:spcAft>
              <a:spcPts val="0"/>
            </a:spcAft>
            <a:buClrTx/>
            <a:buSzTx/>
            <a:buFontTx/>
            <a:buNone/>
            <a:tabLst/>
            <a:defRPr/>
          </a:pPr>
          <a:r>
            <a:rPr lang="en-GB" sz="1800" kern="1200" dirty="0">
              <a:latin typeface="Arial Rounded MT Bold" panose="020F0704030504030204" pitchFamily="34" charset="0"/>
            </a:rPr>
            <a:t>Cellular </a:t>
          </a:r>
          <a:r>
            <a:rPr lang="en-GB" sz="1800" kern="1200" dirty="0" err="1">
              <a:latin typeface="Arial Rounded MT Bold" panose="020F0704030504030204" pitchFamily="34" charset="0"/>
            </a:rPr>
            <a:t>Signaling</a:t>
          </a:r>
          <a:endParaRPr lang="en-GB" sz="1800" kern="1200" dirty="0">
            <a:latin typeface="Arial Rounded MT Bold" panose="020F0704030504030204" pitchFamily="34" charset="0"/>
          </a:endParaRPr>
        </a:p>
        <a:p>
          <a:pPr marL="0" lvl="0" algn="ctr" defTabSz="1333500">
            <a:lnSpc>
              <a:spcPct val="90000"/>
            </a:lnSpc>
            <a:spcBef>
              <a:spcPct val="0"/>
            </a:spcBef>
            <a:spcAft>
              <a:spcPct val="35000"/>
            </a:spcAft>
            <a:buNone/>
          </a:pPr>
          <a:endParaRPr lang="en-GB" sz="1800" kern="1200" dirty="0">
            <a:latin typeface="Arial Rounded MT Bold" panose="020F0704030504030204" pitchFamily="34" charset="0"/>
          </a:endParaRPr>
        </a:p>
      </dsp:txBody>
      <dsp:txXfrm>
        <a:off x="1077886" y="2057522"/>
        <a:ext cx="1959794" cy="1175876"/>
      </dsp:txXfrm>
    </dsp:sp>
    <dsp:sp modelId="{5BC491B9-CB5A-4F5E-AFCF-EC01F9047F7D}">
      <dsp:nvSpPr>
        <dsp:cNvPr id="0" name=""/>
        <dsp:cNvSpPr/>
      </dsp:nvSpPr>
      <dsp:spPr>
        <a:xfrm>
          <a:off x="3233660" y="2057522"/>
          <a:ext cx="1959794" cy="1175876"/>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marR="0" lvl="0" indent="0" algn="ctr" defTabSz="914400" eaLnBrk="1" fontAlgn="auto" latinLnBrk="0" hangingPunct="1">
            <a:lnSpc>
              <a:spcPct val="100000"/>
            </a:lnSpc>
            <a:spcBef>
              <a:spcPct val="0"/>
            </a:spcBef>
            <a:spcAft>
              <a:spcPts val="0"/>
            </a:spcAft>
            <a:buClrTx/>
            <a:buSzTx/>
            <a:buFontTx/>
            <a:buNone/>
            <a:tabLst/>
            <a:defRPr/>
          </a:pPr>
          <a:r>
            <a:rPr lang="en-GB" sz="1800" kern="1200" dirty="0">
              <a:latin typeface="Arial Rounded MT Bold" panose="020F0704030504030204" pitchFamily="34" charset="0"/>
            </a:rPr>
            <a:t>Interaction with RNA-Binding Proteins</a:t>
          </a:r>
        </a:p>
        <a:p>
          <a:pPr marL="0" lvl="0" algn="ctr" defTabSz="1333500">
            <a:lnSpc>
              <a:spcPct val="90000"/>
            </a:lnSpc>
            <a:spcBef>
              <a:spcPct val="0"/>
            </a:spcBef>
            <a:spcAft>
              <a:spcPct val="35000"/>
            </a:spcAft>
            <a:buNone/>
          </a:pPr>
          <a:endParaRPr lang="en-GB" sz="1800" kern="1200" dirty="0">
            <a:latin typeface="Arial Rounded MT Bold" panose="020F0704030504030204" pitchFamily="34" charset="0"/>
          </a:endParaRPr>
        </a:p>
      </dsp:txBody>
      <dsp:txXfrm>
        <a:off x="3233660" y="2057522"/>
        <a:ext cx="1959794" cy="117587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C92D60A-1786-4AF5-A40B-C6CAA8BB7A1D}">
      <dsp:nvSpPr>
        <dsp:cNvPr id="0" name=""/>
        <dsp:cNvSpPr/>
      </dsp:nvSpPr>
      <dsp:spPr>
        <a:xfrm>
          <a:off x="53" y="46307"/>
          <a:ext cx="5130968" cy="880296"/>
        </a:xfrm>
        <a:prstGeom prst="rect">
          <a:avLst/>
        </a:prstGeom>
        <a:gradFill rotWithShape="0">
          <a:gsLst>
            <a:gs pos="0">
              <a:schemeClr val="accent1">
                <a:alpha val="90000"/>
                <a:hueOff val="0"/>
                <a:satOff val="0"/>
                <a:lumOff val="0"/>
                <a:alphaOff val="0"/>
                <a:tint val="64000"/>
                <a:lumMod val="118000"/>
              </a:schemeClr>
            </a:gs>
            <a:gs pos="100000">
              <a:schemeClr val="accent1">
                <a:alpha val="90000"/>
                <a:hueOff val="0"/>
                <a:satOff val="0"/>
                <a:lumOff val="0"/>
                <a:alphaOff val="0"/>
                <a:tint val="92000"/>
                <a:alpha val="100000"/>
                <a:lumMod val="110000"/>
              </a:schemeClr>
            </a:gs>
          </a:gsLst>
          <a:lin ang="5400000" scaled="0"/>
        </a:gradFill>
        <a:ln w="9525" cap="rnd" cmpd="sng" algn="ctr">
          <a:solidFill>
            <a:schemeClr val="accent1">
              <a:alpha val="90000"/>
              <a:hueOff val="0"/>
              <a:satOff val="0"/>
              <a:lumOff val="0"/>
              <a:alphaOff val="0"/>
            </a:schemeClr>
          </a:solidFill>
          <a:prstDash val="solid"/>
        </a:ln>
        <a:effectLst/>
      </dsp:spPr>
      <dsp:style>
        <a:lnRef idx="1">
          <a:scrgbClr r="0" g="0" b="0"/>
        </a:lnRef>
        <a:fillRef idx="2">
          <a:scrgbClr r="0" g="0" b="0"/>
        </a:fillRef>
        <a:effectRef idx="1">
          <a:scrgbClr r="0" g="0" b="0"/>
        </a:effectRef>
        <a:fontRef idx="minor">
          <a:schemeClr val="dk1"/>
        </a:fontRef>
      </dsp:style>
      <dsp:txBody>
        <a:bodyPr spcFirstLastPara="0" vert="horz" wrap="square" lIns="199136" tIns="113792" rIns="199136" bIns="113792" numCol="1" spcCol="1270" anchor="ctr" anchorCtr="0">
          <a:noAutofit/>
        </a:bodyPr>
        <a:lstStyle/>
        <a:p>
          <a:pPr marL="0" marR="0" lvl="0" indent="0" algn="ctr" defTabSz="914400" eaLnBrk="1" fontAlgn="auto" latinLnBrk="0" hangingPunct="1">
            <a:lnSpc>
              <a:spcPct val="100000"/>
            </a:lnSpc>
            <a:spcBef>
              <a:spcPct val="0"/>
            </a:spcBef>
            <a:spcAft>
              <a:spcPts val="0"/>
            </a:spcAft>
            <a:buClrTx/>
            <a:buSzTx/>
            <a:buFontTx/>
            <a:buNone/>
            <a:tabLst/>
            <a:defRPr/>
          </a:pPr>
          <a:r>
            <a:rPr lang="en-GB" sz="2800" b="1" i="0" u="none" strike="noStrike" kern="1200" dirty="0">
              <a:solidFill>
                <a:prstClr val="black"/>
              </a:solidFill>
              <a:latin typeface="Arial Rounded MT Bold" panose="020F0704030504030204" pitchFamily="34" charset="0"/>
              <a:ea typeface="Times New Roman" charset="0"/>
              <a:cs typeface="Times New Roman" charset="0"/>
            </a:rPr>
            <a:t>Bioinformatics analysis</a:t>
          </a:r>
        </a:p>
        <a:p>
          <a:pPr marL="0" lvl="0" algn="ctr" defTabSz="2889250">
            <a:lnSpc>
              <a:spcPct val="90000"/>
            </a:lnSpc>
            <a:spcBef>
              <a:spcPct val="0"/>
            </a:spcBef>
            <a:spcAft>
              <a:spcPct val="35000"/>
            </a:spcAft>
            <a:buNone/>
          </a:pPr>
          <a:endParaRPr lang="en-GB" sz="1500" kern="1200" dirty="0">
            <a:latin typeface="Arial Rounded MT Bold" panose="020F0704030504030204" pitchFamily="34" charset="0"/>
          </a:endParaRPr>
        </a:p>
      </dsp:txBody>
      <dsp:txXfrm>
        <a:off x="53" y="46307"/>
        <a:ext cx="5130968" cy="880296"/>
      </dsp:txXfrm>
    </dsp:sp>
    <dsp:sp modelId="{669F0FF9-5C90-4EAB-99AB-90B350FC976B}">
      <dsp:nvSpPr>
        <dsp:cNvPr id="0" name=""/>
        <dsp:cNvSpPr/>
      </dsp:nvSpPr>
      <dsp:spPr>
        <a:xfrm>
          <a:off x="53" y="926604"/>
          <a:ext cx="5130968" cy="5413140"/>
        </a:xfrm>
        <a:prstGeom prst="rect">
          <a:avLst/>
        </a:prstGeom>
        <a:solidFill>
          <a:schemeClr val="accent1">
            <a:alpha val="90000"/>
            <a:tint val="40000"/>
            <a:hueOff val="0"/>
            <a:satOff val="0"/>
            <a:lumOff val="0"/>
            <a:alphaOff val="0"/>
          </a:schemeClr>
        </a:solidFill>
        <a:ln w="9525" cap="rnd"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90678" tIns="90678" rIns="120904" bIns="136017" numCol="1" spcCol="1270" anchor="t" anchorCtr="0">
          <a:noAutofit/>
        </a:bodyPr>
        <a:lstStyle/>
        <a:p>
          <a:pPr marL="0" marR="0" lvl="1" indent="0" algn="l" defTabSz="755650">
            <a:lnSpc>
              <a:spcPct val="115000"/>
            </a:lnSpc>
            <a:spcBef>
              <a:spcPct val="0"/>
            </a:spcBef>
            <a:spcAft>
              <a:spcPts val="1000"/>
            </a:spcAft>
            <a:buFont typeface="Arial" panose="020B0604020202020204" pitchFamily="34" charset="0"/>
            <a:buChar char="•"/>
          </a:pPr>
          <a:r>
            <a:rPr lang="en-GB" sz="1700" b="0" i="0" u="none" strike="noStrike" kern="1200" dirty="0">
              <a:latin typeface="Arial Narrow" panose="020B0606020202030204" pitchFamily="34" charset="0"/>
              <a:ea typeface="Cambria Math" pitchFamily="18" charset="0"/>
              <a:cs typeface="Cambria Math" pitchFamily="18" charset="0"/>
            </a:rPr>
            <a:t>The parent genes of differential </a:t>
          </a:r>
          <a:r>
            <a:rPr lang="en-GB" sz="1700" b="0" i="0" u="none" strike="noStrike" kern="1200" dirty="0" err="1">
              <a:latin typeface="Arial Narrow" panose="020B0606020202030204" pitchFamily="34" charset="0"/>
              <a:ea typeface="Cambria Math" pitchFamily="18" charset="0"/>
              <a:cs typeface="Cambria Math" pitchFamily="18" charset="0"/>
            </a:rPr>
            <a:t>circRNAs</a:t>
          </a:r>
          <a:r>
            <a:rPr lang="en-GB" sz="1700" b="0" i="0" u="none" strike="noStrike" kern="1200" dirty="0">
              <a:latin typeface="Arial Narrow" panose="020B0606020202030204" pitchFamily="34" charset="0"/>
              <a:ea typeface="Cambria Math" pitchFamily="18" charset="0"/>
              <a:cs typeface="Cambria Math" pitchFamily="18" charset="0"/>
            </a:rPr>
            <a:t> were </a:t>
          </a:r>
          <a:r>
            <a:rPr lang="en-GB" sz="1700" b="0" i="0" u="none" strike="noStrike" kern="1200" dirty="0" err="1">
              <a:latin typeface="Arial Narrow" panose="020B0606020202030204" pitchFamily="34" charset="0"/>
              <a:ea typeface="Cambria Math" pitchFamily="18" charset="0"/>
              <a:cs typeface="Cambria Math" pitchFamily="18" charset="0"/>
            </a:rPr>
            <a:t>analyzed</a:t>
          </a:r>
          <a:r>
            <a:rPr lang="en-GB" sz="1700" b="0" i="0" u="none" strike="noStrike" kern="1200" dirty="0">
              <a:latin typeface="Arial Narrow" panose="020B0606020202030204" pitchFamily="34" charset="0"/>
              <a:ea typeface="Cambria Math" pitchFamily="18" charset="0"/>
              <a:cs typeface="Cambria Math" pitchFamily="18" charset="0"/>
            </a:rPr>
            <a:t> using KEGG and GO analyses to predict their biological functions.</a:t>
          </a:r>
        </a:p>
        <a:p>
          <a:pPr marL="0" marR="0" lvl="1" indent="0" algn="l" defTabSz="755650">
            <a:lnSpc>
              <a:spcPct val="115000"/>
            </a:lnSpc>
            <a:spcBef>
              <a:spcPct val="0"/>
            </a:spcBef>
            <a:spcAft>
              <a:spcPts val="1000"/>
            </a:spcAft>
            <a:buFont typeface="Arial" panose="020B0604020202020204" pitchFamily="34" charset="0"/>
            <a:buChar char="•"/>
          </a:pPr>
          <a:r>
            <a:rPr lang="en-GB" sz="1700" b="0" i="0" u="none" strike="noStrike" kern="1200" dirty="0">
              <a:latin typeface="Arial Narrow" panose="020B0606020202030204" pitchFamily="34" charset="0"/>
              <a:ea typeface="Cambria Math" pitchFamily="18" charset="0"/>
              <a:cs typeface="Cambria Math" pitchFamily="18" charset="0"/>
            </a:rPr>
            <a:t>Enriched biological modules and </a:t>
          </a:r>
          <a:r>
            <a:rPr lang="en-GB" sz="1700" b="0" i="0" u="none" strike="noStrike" kern="1200" dirty="0" err="1">
              <a:latin typeface="Arial Narrow" panose="020B0606020202030204" pitchFamily="34" charset="0"/>
              <a:ea typeface="Cambria Math" pitchFamily="18" charset="0"/>
              <a:cs typeface="Cambria Math" pitchFamily="18" charset="0"/>
            </a:rPr>
            <a:t>signaling</a:t>
          </a:r>
          <a:r>
            <a:rPr lang="en-GB" sz="1700" b="0" i="0" u="none" strike="noStrike" kern="1200" dirty="0">
              <a:latin typeface="Arial Narrow" panose="020B0606020202030204" pitchFamily="34" charset="0"/>
              <a:ea typeface="Cambria Math" pitchFamily="18" charset="0"/>
              <a:cs typeface="Cambria Math" pitchFamily="18" charset="0"/>
            </a:rPr>
            <a:t> pathways were </a:t>
          </a:r>
          <a:r>
            <a:rPr lang="en-GB" sz="1700" b="0" i="0" u="none" strike="noStrike" kern="1200" dirty="0" err="1">
              <a:latin typeface="Arial Narrow" panose="020B0606020202030204" pitchFamily="34" charset="0"/>
              <a:ea typeface="Cambria Math" pitchFamily="18" charset="0"/>
              <a:cs typeface="Cambria Math" pitchFamily="18" charset="0"/>
            </a:rPr>
            <a:t>analyzed</a:t>
          </a:r>
          <a:r>
            <a:rPr lang="en-GB" sz="1700" b="0" i="0" u="none" strike="noStrike" kern="1200" dirty="0">
              <a:latin typeface="Arial Narrow" panose="020B0606020202030204" pitchFamily="34" charset="0"/>
              <a:ea typeface="Cambria Math" pitchFamily="18" charset="0"/>
              <a:cs typeface="Cambria Math" pitchFamily="18" charset="0"/>
            </a:rPr>
            <a:t> by Gene Ontology Enrichment and Kyoto </a:t>
          </a:r>
          <a:r>
            <a:rPr lang="en-GB" sz="1700" b="0" i="0" u="none" strike="noStrike" kern="1200" dirty="0" err="1">
              <a:latin typeface="Arial Narrow" panose="020B0606020202030204" pitchFamily="34" charset="0"/>
              <a:ea typeface="Cambria Math" pitchFamily="18" charset="0"/>
              <a:cs typeface="Cambria Math" pitchFamily="18" charset="0"/>
            </a:rPr>
            <a:t>Encyclopedia</a:t>
          </a:r>
          <a:r>
            <a:rPr lang="en-GB" sz="1700" b="0" i="0" u="none" strike="noStrike" kern="1200" dirty="0">
              <a:latin typeface="Arial Narrow" panose="020B0606020202030204" pitchFamily="34" charset="0"/>
              <a:ea typeface="Cambria Math" pitchFamily="18" charset="0"/>
              <a:cs typeface="Cambria Math" pitchFamily="18" charset="0"/>
            </a:rPr>
            <a:t> of Genes and Genomes analysis, respectively.</a:t>
          </a:r>
        </a:p>
        <a:p>
          <a:pPr marL="0" marR="0" lvl="1" indent="0" algn="l" defTabSz="755650">
            <a:lnSpc>
              <a:spcPct val="115000"/>
            </a:lnSpc>
            <a:spcBef>
              <a:spcPct val="0"/>
            </a:spcBef>
            <a:spcAft>
              <a:spcPts val="1000"/>
            </a:spcAft>
            <a:buFont typeface="Arial" panose="020B0604020202020204" pitchFamily="34" charset="0"/>
            <a:buChar char="•"/>
          </a:pPr>
          <a:r>
            <a:rPr lang="en-GB" sz="1700" b="0" i="0" u="none" strike="noStrike" kern="1200" dirty="0">
              <a:latin typeface="Arial Narrow" panose="020B0606020202030204" pitchFamily="34" charset="0"/>
              <a:ea typeface="Cambria Math" pitchFamily="18" charset="0"/>
              <a:cs typeface="Cambria Math" pitchFamily="18" charset="0"/>
            </a:rPr>
            <a:t>Circular RNA microarray analysis was performed to screen differential </a:t>
          </a:r>
          <a:r>
            <a:rPr lang="en-GB" sz="1700" b="0" i="0" u="none" strike="noStrike" kern="1200" dirty="0" err="1">
              <a:latin typeface="Arial Narrow" panose="020B0606020202030204" pitchFamily="34" charset="0"/>
              <a:ea typeface="Cambria Math" pitchFamily="18" charset="0"/>
              <a:cs typeface="Cambria Math" pitchFamily="18" charset="0"/>
            </a:rPr>
            <a:t>circRNAs</a:t>
          </a:r>
          <a:r>
            <a:rPr lang="en-GB" sz="1700" b="0" i="0" u="none" strike="noStrike" kern="1200" dirty="0">
              <a:latin typeface="Arial Narrow" panose="020B0606020202030204" pitchFamily="34" charset="0"/>
              <a:ea typeface="Cambria Math" pitchFamily="18" charset="0"/>
              <a:cs typeface="Cambria Math" pitchFamily="18" charset="0"/>
            </a:rPr>
            <a:t> in DR patients compared to healthy controls and DM patients.</a:t>
          </a:r>
        </a:p>
        <a:p>
          <a:pPr marL="0" marR="0" lvl="1" indent="0" algn="l" defTabSz="755650">
            <a:lnSpc>
              <a:spcPct val="115000"/>
            </a:lnSpc>
            <a:spcBef>
              <a:spcPct val="0"/>
            </a:spcBef>
            <a:spcAft>
              <a:spcPts val="1000"/>
            </a:spcAft>
            <a:buFont typeface="Arial" panose="020B0604020202020204" pitchFamily="34" charset="0"/>
            <a:buChar char="•"/>
          </a:pPr>
          <a:r>
            <a:rPr lang="en-GB" sz="1700" b="0" i="0" u="none" strike="noStrike" kern="1200" dirty="0">
              <a:latin typeface="Arial Narrow" panose="020B0606020202030204" pitchFamily="34" charset="0"/>
              <a:ea typeface="Cambria Math" pitchFamily="18" charset="0"/>
              <a:cs typeface="Cambria Math" pitchFamily="18" charset="0"/>
            </a:rPr>
            <a:t>Real-time quantitative reverse transcription PCR (RT-qPCR) was performed to validate differentiated levels of several </a:t>
          </a:r>
          <a:r>
            <a:rPr lang="en-GB" sz="1700" b="0" i="0" u="none" strike="noStrike" kern="1200" dirty="0" err="1">
              <a:latin typeface="Arial Narrow" panose="020B0606020202030204" pitchFamily="34" charset="0"/>
              <a:ea typeface="Cambria Math" pitchFamily="18" charset="0"/>
              <a:cs typeface="Cambria Math" pitchFamily="18" charset="0"/>
            </a:rPr>
            <a:t>circRNAs</a:t>
          </a:r>
          <a:r>
            <a:rPr lang="en-GB" sz="1700" b="0" i="0" u="none" strike="noStrike" kern="1200" dirty="0">
              <a:latin typeface="Arial Narrow" panose="020B0606020202030204" pitchFamily="34" charset="0"/>
              <a:ea typeface="Cambria Math" pitchFamily="18" charset="0"/>
              <a:cs typeface="Cambria Math" pitchFamily="18" charset="0"/>
            </a:rPr>
            <a:t> in different groups of healthy control subjects, DM patients, and DR patients.</a:t>
          </a:r>
        </a:p>
        <a:p>
          <a:pPr marL="0" marR="0" lvl="1" indent="0" algn="l" defTabSz="755650">
            <a:lnSpc>
              <a:spcPct val="115000"/>
            </a:lnSpc>
            <a:spcBef>
              <a:spcPct val="0"/>
            </a:spcBef>
            <a:spcAft>
              <a:spcPts val="1000"/>
            </a:spcAft>
            <a:buFont typeface="Arial" panose="020B0604020202020204" pitchFamily="34" charset="0"/>
            <a:buChar char="•"/>
          </a:pPr>
          <a:r>
            <a:rPr lang="en-GB" sz="1700" b="0" i="0" u="none" strike="noStrike" kern="1200" dirty="0">
              <a:latin typeface="Arial Narrow" panose="020B0606020202030204" pitchFamily="34" charset="0"/>
              <a:ea typeface="Cambria Math" pitchFamily="18" charset="0"/>
              <a:cs typeface="Cambria Math" pitchFamily="18" charset="0"/>
            </a:rPr>
            <a:t>The diagnostic performance of candidate </a:t>
          </a:r>
          <a:r>
            <a:rPr lang="en-GB" sz="1700" b="0" i="0" u="none" strike="noStrike" kern="1200" dirty="0" err="1">
              <a:latin typeface="Arial Narrow" panose="020B0606020202030204" pitchFamily="34" charset="0"/>
              <a:ea typeface="Cambria Math" pitchFamily="18" charset="0"/>
              <a:cs typeface="Cambria Math" pitchFamily="18" charset="0"/>
            </a:rPr>
            <a:t>circRNAs</a:t>
          </a:r>
          <a:r>
            <a:rPr lang="en-GB" sz="1700" b="0" i="0" u="none" strike="noStrike" kern="1200" dirty="0">
              <a:latin typeface="Arial Narrow" panose="020B0606020202030204" pitchFamily="34" charset="0"/>
              <a:ea typeface="Cambria Math" pitchFamily="18" charset="0"/>
              <a:cs typeface="Cambria Math" pitchFamily="18" charset="0"/>
            </a:rPr>
            <a:t> was measured by operating characteristic curves (ROCs).</a:t>
          </a:r>
          <a:endParaRPr lang="en-GB" sz="1700" kern="1200" dirty="0">
            <a:latin typeface="Arial Narrow" panose="020B0606020202030204" pitchFamily="34" charset="0"/>
            <a:ea typeface="Cambria Math" pitchFamily="18" charset="0"/>
            <a:cs typeface="Cambria Math" pitchFamily="18" charset="0"/>
          </a:endParaRPr>
        </a:p>
        <a:p>
          <a:pPr lvl="1" defTabSz="755650">
            <a:spcBef>
              <a:spcPct val="0"/>
            </a:spcBef>
            <a:buFont typeface="Arial" panose="020B0604020202020204" pitchFamily="34" charset="0"/>
            <a:buChar char="•"/>
          </a:pPr>
          <a:endParaRPr lang="en-GB" sz="1700" kern="1200" dirty="0">
            <a:latin typeface="Arial Narrow" panose="020B0606020202030204" pitchFamily="34" charset="0"/>
          </a:endParaRPr>
        </a:p>
      </dsp:txBody>
      <dsp:txXfrm>
        <a:off x="53" y="926604"/>
        <a:ext cx="5130968" cy="5413140"/>
      </dsp:txXfrm>
    </dsp:sp>
    <dsp:sp modelId="{608AB357-7654-47B9-8B9E-98B5B58D9182}">
      <dsp:nvSpPr>
        <dsp:cNvPr id="0" name=""/>
        <dsp:cNvSpPr/>
      </dsp:nvSpPr>
      <dsp:spPr>
        <a:xfrm>
          <a:off x="5849411" y="47777"/>
          <a:ext cx="5130968" cy="880296"/>
        </a:xfrm>
        <a:prstGeom prst="rect">
          <a:avLst/>
        </a:prstGeom>
        <a:gradFill rotWithShape="0">
          <a:gsLst>
            <a:gs pos="0">
              <a:schemeClr val="accent1">
                <a:alpha val="90000"/>
                <a:hueOff val="0"/>
                <a:satOff val="0"/>
                <a:lumOff val="0"/>
                <a:alphaOff val="-40000"/>
                <a:tint val="64000"/>
                <a:lumMod val="118000"/>
              </a:schemeClr>
            </a:gs>
            <a:gs pos="100000">
              <a:schemeClr val="accent1">
                <a:alpha val="90000"/>
                <a:hueOff val="0"/>
                <a:satOff val="0"/>
                <a:lumOff val="0"/>
                <a:alphaOff val="-40000"/>
                <a:tint val="92000"/>
                <a:alpha val="100000"/>
                <a:lumMod val="110000"/>
              </a:schemeClr>
            </a:gs>
          </a:gsLst>
          <a:lin ang="5400000" scaled="0"/>
        </a:gradFill>
        <a:ln w="9525" cap="rnd" cmpd="sng" algn="ctr">
          <a:solidFill>
            <a:schemeClr val="accent1">
              <a:alpha val="90000"/>
              <a:hueOff val="0"/>
              <a:satOff val="0"/>
              <a:lumOff val="0"/>
              <a:alphaOff val="-40000"/>
            </a:schemeClr>
          </a:solidFill>
          <a:prstDash val="solid"/>
        </a:ln>
        <a:effectLst/>
      </dsp:spPr>
      <dsp:style>
        <a:lnRef idx="1">
          <a:scrgbClr r="0" g="0" b="0"/>
        </a:lnRef>
        <a:fillRef idx="2">
          <a:scrgbClr r="0" g="0" b="0"/>
        </a:fillRef>
        <a:effectRef idx="1">
          <a:scrgbClr r="0" g="0" b="0"/>
        </a:effectRef>
        <a:fontRef idx="minor">
          <a:schemeClr val="dk1"/>
        </a:fontRef>
      </dsp:style>
      <dsp:txBody>
        <a:bodyPr spcFirstLastPara="0" vert="horz" wrap="square" lIns="199136" tIns="113792" rIns="199136" bIns="113792" numCol="1" spcCol="1270" anchor="ctr" anchorCtr="0">
          <a:noAutofit/>
        </a:bodyPr>
        <a:lstStyle/>
        <a:p>
          <a:pPr marL="0" marR="0" lvl="0" indent="0" algn="ctr" defTabSz="914400" eaLnBrk="1" fontAlgn="auto" latinLnBrk="0" hangingPunct="1">
            <a:lnSpc>
              <a:spcPct val="100000"/>
            </a:lnSpc>
            <a:spcBef>
              <a:spcPct val="0"/>
            </a:spcBef>
            <a:spcAft>
              <a:spcPts val="0"/>
            </a:spcAft>
            <a:buClrTx/>
            <a:buSzTx/>
            <a:buFontTx/>
            <a:buNone/>
            <a:tabLst/>
            <a:defRPr/>
          </a:pPr>
          <a:r>
            <a:rPr lang="en-US" sz="2800" b="1" i="0" u="none" strike="noStrike" kern="1200" dirty="0">
              <a:latin typeface="Arial Rounded MT Bold" panose="020F0704030504030204" pitchFamily="34" charset="0"/>
              <a:ea typeface="Times New Roman" charset="0"/>
              <a:cs typeface="Times New Roman" charset="0"/>
            </a:rPr>
            <a:t>Statistical Analysis </a:t>
          </a:r>
          <a:endParaRPr lang="en-US" sz="2800" kern="1200" dirty="0">
            <a:latin typeface="Arial Rounded MT Bold" panose="020F0704030504030204" pitchFamily="34" charset="0"/>
          </a:endParaRPr>
        </a:p>
        <a:p>
          <a:pPr marL="0" lvl="0" algn="ctr" defTabSz="1244600">
            <a:lnSpc>
              <a:spcPct val="90000"/>
            </a:lnSpc>
            <a:spcBef>
              <a:spcPct val="0"/>
            </a:spcBef>
            <a:spcAft>
              <a:spcPct val="35000"/>
            </a:spcAft>
            <a:buNone/>
          </a:pPr>
          <a:endParaRPr lang="en-GB" sz="1400" kern="1200" dirty="0">
            <a:latin typeface="Arial Rounded MT Bold" panose="020F0704030504030204" pitchFamily="34" charset="0"/>
          </a:endParaRPr>
        </a:p>
      </dsp:txBody>
      <dsp:txXfrm>
        <a:off x="5849411" y="47777"/>
        <a:ext cx="5130968" cy="880296"/>
      </dsp:txXfrm>
    </dsp:sp>
    <dsp:sp modelId="{59EE5976-C139-4F2F-9D40-6D129CD5ECB2}">
      <dsp:nvSpPr>
        <dsp:cNvPr id="0" name=""/>
        <dsp:cNvSpPr/>
      </dsp:nvSpPr>
      <dsp:spPr>
        <a:xfrm>
          <a:off x="5849357" y="926604"/>
          <a:ext cx="5130968" cy="5413140"/>
        </a:xfrm>
        <a:prstGeom prst="rect">
          <a:avLst/>
        </a:prstGeom>
        <a:solidFill>
          <a:schemeClr val="accent1">
            <a:alpha val="90000"/>
            <a:tint val="40000"/>
            <a:hueOff val="0"/>
            <a:satOff val="0"/>
            <a:lumOff val="0"/>
            <a:alphaOff val="0"/>
          </a:schemeClr>
        </a:solidFill>
        <a:ln w="9525" cap="rnd"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0" marR="0" lvl="1" indent="0" algn="l" defTabSz="800100">
            <a:lnSpc>
              <a:spcPct val="150000"/>
            </a:lnSpc>
            <a:spcBef>
              <a:spcPct val="0"/>
            </a:spcBef>
            <a:spcAft>
              <a:spcPts val="1000"/>
            </a:spcAft>
            <a:buChar char="•"/>
          </a:pPr>
          <a:r>
            <a:rPr lang="en-GB" sz="1800" b="0" i="0" u="none" strike="noStrike" kern="1200" dirty="0">
              <a:latin typeface="Arial Narrow" panose="020B0606020202030204" pitchFamily="34" charset="0"/>
              <a:ea typeface="Times New Roman" charset="0"/>
              <a:cs typeface="Times New Roman" charset="0"/>
            </a:rPr>
            <a:t>Statistical analysis will be performed by SPSS for Windows software. The obtained results will be correlated with the different clinicopathological factors of the patients.</a:t>
          </a:r>
          <a:r>
            <a:rPr lang="en-GB" sz="1800" b="0" i="0" u="none" strike="noStrike" kern="1200" dirty="0">
              <a:latin typeface="Arial Narrow" panose="020B0606020202030204" pitchFamily="34" charset="0"/>
              <a:ea typeface="AdvOT1ef757c0" charset="0"/>
              <a:cs typeface="AdvOT1ef757c0" charset="0"/>
            </a:rPr>
            <a:t> </a:t>
          </a:r>
          <a:r>
            <a:rPr lang="en-GB" sz="1800" b="0" i="0" u="none" strike="noStrike" kern="1200" dirty="0">
              <a:latin typeface="Arial Narrow" panose="020B0606020202030204" pitchFamily="34" charset="0"/>
              <a:ea typeface="Times New Roman" charset="0"/>
              <a:cs typeface="Times New Roman" charset="0"/>
            </a:rPr>
            <a:t>The significant</a:t>
          </a:r>
        </a:p>
        <a:p>
          <a:pPr marL="0" marR="0" lvl="1" indent="0" algn="l" defTabSz="800100">
            <a:lnSpc>
              <a:spcPct val="107916"/>
            </a:lnSpc>
            <a:spcBef>
              <a:spcPct val="0"/>
            </a:spcBef>
            <a:spcAft>
              <a:spcPts val="800"/>
            </a:spcAft>
            <a:buChar char="•"/>
          </a:pPr>
          <a:r>
            <a:rPr lang="en-GB" sz="1800" b="0" i="0" u="none" strike="noStrike" kern="1200" dirty="0">
              <a:latin typeface="Arial Narrow" panose="020B0606020202030204" pitchFamily="34" charset="0"/>
              <a:ea typeface="Times New Roman" charset="0"/>
              <a:cs typeface="Times New Roman" charset="0"/>
            </a:rPr>
            <a:t>difference of RT-qPCR results will be </a:t>
          </a:r>
          <a:r>
            <a:rPr lang="en-GB" sz="1800" b="0" i="0" u="none" strike="noStrike" kern="1200" dirty="0" err="1">
              <a:latin typeface="Arial Narrow" panose="020B0606020202030204" pitchFamily="34" charset="0"/>
              <a:ea typeface="Times New Roman" charset="0"/>
              <a:cs typeface="Times New Roman" charset="0"/>
            </a:rPr>
            <a:t>analyzed</a:t>
          </a:r>
          <a:r>
            <a:rPr lang="en-GB" sz="1800" b="0" i="0" u="none" strike="noStrike" kern="1200" dirty="0">
              <a:latin typeface="Arial Narrow" panose="020B0606020202030204" pitchFamily="34" charset="0"/>
              <a:ea typeface="Times New Roman" charset="0"/>
              <a:cs typeface="Times New Roman" charset="0"/>
            </a:rPr>
            <a:t> by using independent t test. For the comparison of each group, p &lt; 0.05 will be considered statistically significant. </a:t>
          </a:r>
          <a:endParaRPr lang="en-GB" sz="1800" kern="1200" dirty="0">
            <a:latin typeface="Arial Narrow" panose="020B0606020202030204" pitchFamily="34" charset="0"/>
          </a:endParaRPr>
        </a:p>
        <a:p>
          <a:pPr lvl="1" defTabSz="800100">
            <a:spcBef>
              <a:spcPct val="0"/>
            </a:spcBef>
            <a:buChar char="•"/>
          </a:pPr>
          <a:endParaRPr lang="en-GB" sz="1200" kern="1200" dirty="0">
            <a:latin typeface="Arial Narrow" panose="020B0606020202030204" pitchFamily="34" charset="0"/>
          </a:endParaRPr>
        </a:p>
      </dsp:txBody>
      <dsp:txXfrm>
        <a:off x="5849357" y="926604"/>
        <a:ext cx="5130968" cy="541314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80C8E4-A49C-4B29-BAB2-5D1E0244065B}">
      <dsp:nvSpPr>
        <dsp:cNvPr id="0" name=""/>
        <dsp:cNvSpPr/>
      </dsp:nvSpPr>
      <dsp:spPr>
        <a:xfrm rot="5400000">
          <a:off x="-224476" y="388486"/>
          <a:ext cx="1496511" cy="1047558"/>
        </a:xfrm>
        <a:prstGeom prst="chevron">
          <a:avLst/>
        </a:prstGeom>
        <a:solidFill>
          <a:schemeClr val="accent1"/>
        </a:solidFill>
        <a:ln w="12700" cap="flat" cmpd="sng" algn="ctr">
          <a:solidFill>
            <a:srgbClr val="029676">
              <a:lumMod val="7500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GB" sz="1800" b="1" kern="1200" dirty="0">
              <a:solidFill>
                <a:sysClr val="window" lastClr="FFFFFF"/>
              </a:solidFill>
              <a:latin typeface="Calibri" panose="020F0502020204030204"/>
              <a:ea typeface="+mn-ea"/>
              <a:cs typeface="+mn-cs"/>
            </a:rPr>
            <a:t>patient groups</a:t>
          </a:r>
        </a:p>
      </dsp:txBody>
      <dsp:txXfrm rot="-5400000">
        <a:off x="1" y="687788"/>
        <a:ext cx="1047558" cy="448953"/>
      </dsp:txXfrm>
    </dsp:sp>
    <dsp:sp modelId="{52E69DB6-9284-470E-8003-E67D332BFFCB}">
      <dsp:nvSpPr>
        <dsp:cNvPr id="0" name=""/>
        <dsp:cNvSpPr/>
      </dsp:nvSpPr>
      <dsp:spPr>
        <a:xfrm rot="5400000">
          <a:off x="3145825" y="-1865434"/>
          <a:ext cx="972732" cy="5111203"/>
        </a:xfrm>
        <a:prstGeom prst="round2SameRect">
          <a:avLst/>
        </a:prstGeom>
        <a:solidFill>
          <a:sysClr val="window" lastClr="FFFFFF">
            <a:alpha val="90000"/>
            <a:hueOff val="0"/>
            <a:satOff val="0"/>
            <a:lumOff val="0"/>
            <a:alphaOff val="0"/>
          </a:sys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endParaRPr lang="en-GB" sz="1600" kern="1200" dirty="0">
            <a:solidFill>
              <a:sysClr val="windowText" lastClr="000000">
                <a:hueOff val="0"/>
                <a:satOff val="0"/>
                <a:lumOff val="0"/>
                <a:alphaOff val="0"/>
              </a:sysClr>
            </a:solidFill>
            <a:latin typeface="Arial Narrow" panose="020B0606020202030204" pitchFamily="34" charset="0"/>
            <a:ea typeface="+mn-ea"/>
            <a:cs typeface="+mn-cs"/>
          </a:endParaRPr>
        </a:p>
        <a:p>
          <a:pPr marL="171450" lvl="1" indent="-171450" algn="l" defTabSz="711200">
            <a:lnSpc>
              <a:spcPct val="90000"/>
            </a:lnSpc>
            <a:spcBef>
              <a:spcPct val="0"/>
            </a:spcBef>
            <a:spcAft>
              <a:spcPct val="15000"/>
            </a:spcAft>
            <a:buChar char="•"/>
          </a:pPr>
          <a:r>
            <a:rPr lang="en-GB" sz="1600" kern="1200" dirty="0">
              <a:solidFill>
                <a:sysClr val="windowText" lastClr="000000">
                  <a:hueOff val="0"/>
                  <a:satOff val="0"/>
                  <a:lumOff val="0"/>
                  <a:alphaOff val="0"/>
                </a:sysClr>
              </a:solidFill>
              <a:latin typeface="Arial Narrow" panose="020B0606020202030204" pitchFamily="34" charset="0"/>
              <a:ea typeface="+mn-ea"/>
              <a:cs typeface="+mn-cs"/>
            </a:rPr>
            <a:t>1-healthy controls.
2-diabetes mellitus (DM) patients.
3- and diabetic retinopathy (DR) patients.</a:t>
          </a:r>
        </a:p>
      </dsp:txBody>
      <dsp:txXfrm rot="-5400000">
        <a:off x="1076590" y="251286"/>
        <a:ext cx="5063718" cy="877762"/>
      </dsp:txXfrm>
    </dsp:sp>
    <dsp:sp modelId="{A832DAAC-6B37-4DB4-BEC2-43AD645D0D5C}">
      <dsp:nvSpPr>
        <dsp:cNvPr id="0" name=""/>
        <dsp:cNvSpPr/>
      </dsp:nvSpPr>
      <dsp:spPr>
        <a:xfrm rot="5400000">
          <a:off x="-224476" y="1541043"/>
          <a:ext cx="1496511" cy="1047558"/>
        </a:xfrm>
        <a:prstGeom prst="chevron">
          <a:avLst/>
        </a:prstGeom>
        <a:solidFill>
          <a:schemeClr val="accent1"/>
        </a:solidFill>
        <a:ln w="12700" cap="flat" cmpd="sng" algn="ctr">
          <a:solidFill>
            <a:srgbClr val="549E39">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marR="0" lvl="0" indent="0" algn="ctr" defTabSz="914400" eaLnBrk="1" fontAlgn="auto" latinLnBrk="0" hangingPunct="1">
            <a:lnSpc>
              <a:spcPct val="100000"/>
            </a:lnSpc>
            <a:spcBef>
              <a:spcPct val="0"/>
            </a:spcBef>
            <a:spcAft>
              <a:spcPts val="0"/>
            </a:spcAft>
            <a:buClrTx/>
            <a:buSzTx/>
            <a:buFontTx/>
            <a:buNone/>
            <a:tabLst/>
            <a:defRPr/>
          </a:pPr>
          <a:r>
            <a:rPr lang="en-GB" sz="1600" b="1" kern="1200" dirty="0">
              <a:solidFill>
                <a:sysClr val="window" lastClr="FFFFFF"/>
              </a:solidFill>
              <a:latin typeface="Calibri" panose="020F0502020204030204"/>
              <a:ea typeface="+mn-ea"/>
              <a:cs typeface="+mn-cs"/>
            </a:rPr>
            <a:t>Inclusion criteria </a:t>
          </a:r>
        </a:p>
        <a:p>
          <a:pPr marL="0" lvl="0" algn="ctr" defTabSz="933450">
            <a:lnSpc>
              <a:spcPct val="90000"/>
            </a:lnSpc>
            <a:spcBef>
              <a:spcPct val="0"/>
            </a:spcBef>
            <a:spcAft>
              <a:spcPct val="35000"/>
            </a:spcAft>
            <a:buNone/>
          </a:pPr>
          <a:endParaRPr lang="en-GB" sz="1100" kern="1200" dirty="0">
            <a:solidFill>
              <a:sysClr val="window" lastClr="FFFFFF"/>
            </a:solidFill>
            <a:latin typeface="Calibri" panose="020F0502020204030204"/>
            <a:ea typeface="+mn-ea"/>
            <a:cs typeface="+mn-cs"/>
          </a:endParaRPr>
        </a:p>
      </dsp:txBody>
      <dsp:txXfrm rot="-5400000">
        <a:off x="1" y="1840345"/>
        <a:ext cx="1047558" cy="448953"/>
      </dsp:txXfrm>
    </dsp:sp>
    <dsp:sp modelId="{31BF7DEE-5218-4887-9F43-322130FD00A5}">
      <dsp:nvSpPr>
        <dsp:cNvPr id="0" name=""/>
        <dsp:cNvSpPr/>
      </dsp:nvSpPr>
      <dsp:spPr>
        <a:xfrm rot="5400000">
          <a:off x="3640572" y="-1276447"/>
          <a:ext cx="972732" cy="6158761"/>
        </a:xfrm>
        <a:prstGeom prst="round2SameRect">
          <a:avLst/>
        </a:prstGeom>
        <a:solidFill>
          <a:sysClr val="window" lastClr="FFFFFF">
            <a:alpha val="90000"/>
            <a:hueOff val="0"/>
            <a:satOff val="0"/>
            <a:lumOff val="0"/>
            <a:alphaOff val="0"/>
          </a:sys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GB" sz="1600" kern="1200" dirty="0">
              <a:solidFill>
                <a:sysClr val="windowText" lastClr="000000">
                  <a:hueOff val="0"/>
                  <a:satOff val="0"/>
                  <a:lumOff val="0"/>
                  <a:alphaOff val="0"/>
                </a:sysClr>
              </a:solidFill>
              <a:latin typeface="Arial Narrow" panose="020B0606020202030204" pitchFamily="34" charset="0"/>
              <a:ea typeface="+mn-ea"/>
              <a:cs typeface="+mn-cs"/>
            </a:rPr>
            <a:t>Age of &gt; 18 years .</a:t>
          </a:r>
        </a:p>
        <a:p>
          <a:pPr marL="171450" lvl="1" indent="-171450" algn="l" defTabSz="711200">
            <a:lnSpc>
              <a:spcPct val="90000"/>
            </a:lnSpc>
            <a:spcBef>
              <a:spcPct val="0"/>
            </a:spcBef>
            <a:spcAft>
              <a:spcPct val="15000"/>
            </a:spcAft>
            <a:buChar char="•"/>
          </a:pPr>
          <a:r>
            <a:rPr lang="en-GB" sz="1600" kern="1200" dirty="0">
              <a:solidFill>
                <a:sysClr val="windowText" lastClr="000000">
                  <a:hueOff val="0"/>
                  <a:satOff val="0"/>
                  <a:lumOff val="0"/>
                  <a:alphaOff val="0"/>
                </a:sysClr>
              </a:solidFill>
              <a:latin typeface="Arial Narrow" panose="020B0606020202030204" pitchFamily="34" charset="0"/>
              <a:ea typeface="+mn-ea"/>
              <a:cs typeface="+mn-cs"/>
            </a:rPr>
            <a:t>Mental and physical ability .</a:t>
          </a:r>
        </a:p>
        <a:p>
          <a:pPr marL="171450" lvl="1" indent="-171450" algn="l" defTabSz="711200">
            <a:lnSpc>
              <a:spcPct val="90000"/>
            </a:lnSpc>
            <a:spcBef>
              <a:spcPct val="0"/>
            </a:spcBef>
            <a:spcAft>
              <a:spcPct val="15000"/>
            </a:spcAft>
            <a:buChar char="•"/>
          </a:pPr>
          <a:r>
            <a:rPr lang="en-GB" sz="1600" kern="1200" dirty="0">
              <a:solidFill>
                <a:sysClr val="windowText" lastClr="000000">
                  <a:hueOff val="0"/>
                  <a:satOff val="0"/>
                  <a:lumOff val="0"/>
                  <a:alphaOff val="0"/>
                </a:sysClr>
              </a:solidFill>
              <a:latin typeface="Arial Narrow" panose="020B0606020202030204" pitchFamily="34" charset="0"/>
              <a:ea typeface="+mn-ea"/>
              <a:cs typeface="+mn-cs"/>
            </a:rPr>
            <a:t>Proved diagnosis of Diabetes according to AASLD .</a:t>
          </a:r>
        </a:p>
        <a:p>
          <a:pPr marL="171450" lvl="1" indent="-171450" algn="l" defTabSz="711200">
            <a:lnSpc>
              <a:spcPct val="90000"/>
            </a:lnSpc>
            <a:spcBef>
              <a:spcPct val="0"/>
            </a:spcBef>
            <a:spcAft>
              <a:spcPct val="15000"/>
            </a:spcAft>
            <a:buChar char="•"/>
          </a:pPr>
          <a:endParaRPr lang="en-GB" sz="1600" kern="1200" dirty="0">
            <a:solidFill>
              <a:sysClr val="windowText" lastClr="000000">
                <a:hueOff val="0"/>
                <a:satOff val="0"/>
                <a:lumOff val="0"/>
                <a:alphaOff val="0"/>
              </a:sysClr>
            </a:solidFill>
            <a:latin typeface="Arial Narrow" panose="020B0606020202030204" pitchFamily="34" charset="0"/>
            <a:ea typeface="+mn-ea"/>
            <a:cs typeface="+mn-cs"/>
          </a:endParaRPr>
        </a:p>
      </dsp:txBody>
      <dsp:txXfrm rot="-5400000">
        <a:off x="1047558" y="1364052"/>
        <a:ext cx="6111276" cy="877762"/>
      </dsp:txXfrm>
    </dsp:sp>
    <dsp:sp modelId="{F4C8D06F-00D2-4EFA-9A0E-64B4ACC2A7BE}">
      <dsp:nvSpPr>
        <dsp:cNvPr id="0" name=""/>
        <dsp:cNvSpPr/>
      </dsp:nvSpPr>
      <dsp:spPr>
        <a:xfrm rot="5400000">
          <a:off x="-350976" y="2981140"/>
          <a:ext cx="1749512" cy="1047558"/>
        </a:xfrm>
        <a:prstGeom prst="chevron">
          <a:avLst/>
        </a:prstGeom>
        <a:solidFill>
          <a:schemeClr val="accent1"/>
        </a:solidFill>
        <a:ln w="12700" cap="flat" cmpd="sng" algn="ctr">
          <a:solidFill>
            <a:srgbClr val="549E39">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GB" sz="1600" b="1" kern="1200" dirty="0">
              <a:solidFill>
                <a:sysClr val="window" lastClr="FFFFFF"/>
              </a:solidFill>
              <a:latin typeface="Calibri" panose="020F0502020204030204"/>
              <a:ea typeface="+mn-ea"/>
              <a:cs typeface="+mn-cs"/>
            </a:rPr>
            <a:t>Exclusion criteria </a:t>
          </a:r>
        </a:p>
      </dsp:txBody>
      <dsp:txXfrm rot="-5400000">
        <a:off x="1" y="3153942"/>
        <a:ext cx="1047558" cy="701954"/>
      </dsp:txXfrm>
    </dsp:sp>
    <dsp:sp modelId="{1E209BB1-371C-424E-9927-DC66A2B0DF9E}">
      <dsp:nvSpPr>
        <dsp:cNvPr id="0" name=""/>
        <dsp:cNvSpPr/>
      </dsp:nvSpPr>
      <dsp:spPr>
        <a:xfrm rot="5400000">
          <a:off x="3640572" y="163649"/>
          <a:ext cx="972732" cy="6158761"/>
        </a:xfrm>
        <a:prstGeom prst="round2SameRect">
          <a:avLst/>
        </a:prstGeom>
        <a:solidFill>
          <a:sysClr val="window" lastClr="FFFFFF">
            <a:alpha val="90000"/>
            <a:hueOff val="0"/>
            <a:satOff val="0"/>
            <a:lumOff val="0"/>
            <a:alphaOff val="0"/>
          </a:sys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GB" sz="1600" kern="1200" dirty="0">
              <a:solidFill>
                <a:sysClr val="windowText" lastClr="000000">
                  <a:hueOff val="0"/>
                  <a:satOff val="0"/>
                  <a:lumOff val="0"/>
                  <a:alphaOff val="0"/>
                </a:sysClr>
              </a:solidFill>
              <a:latin typeface="Arial Narrow" panose="020B0606020202030204" pitchFamily="34" charset="0"/>
              <a:ea typeface="+mn-ea"/>
              <a:cs typeface="+mn-cs"/>
            </a:rPr>
            <a:t>Patients with other chronic diseases </a:t>
          </a:r>
        </a:p>
        <a:p>
          <a:pPr marL="171450" lvl="1" indent="-171450" algn="l" defTabSz="711200">
            <a:lnSpc>
              <a:spcPct val="90000"/>
            </a:lnSpc>
            <a:spcBef>
              <a:spcPct val="0"/>
            </a:spcBef>
            <a:spcAft>
              <a:spcPct val="15000"/>
            </a:spcAft>
            <a:buChar char="•"/>
          </a:pPr>
          <a:r>
            <a:rPr lang="en-GB" sz="1600" kern="1200" dirty="0">
              <a:solidFill>
                <a:sysClr val="windowText" lastClr="000000">
                  <a:hueOff val="0"/>
                  <a:satOff val="0"/>
                  <a:lumOff val="0"/>
                  <a:alphaOff val="0"/>
                </a:sysClr>
              </a:solidFill>
              <a:latin typeface="Arial Narrow" panose="020B0606020202030204" pitchFamily="34" charset="0"/>
              <a:ea typeface="+mn-ea"/>
              <a:cs typeface="+mn-cs"/>
            </a:rPr>
            <a:t>Type II DM patients suffering from complications other than DR</a:t>
          </a:r>
        </a:p>
        <a:p>
          <a:pPr marL="171450" lvl="1" indent="-171450" algn="l" defTabSz="711200">
            <a:lnSpc>
              <a:spcPct val="90000"/>
            </a:lnSpc>
            <a:spcBef>
              <a:spcPct val="0"/>
            </a:spcBef>
            <a:spcAft>
              <a:spcPct val="15000"/>
            </a:spcAft>
            <a:buChar char="•"/>
          </a:pPr>
          <a:endParaRPr lang="en-GB" sz="1600" kern="1200" dirty="0">
            <a:solidFill>
              <a:sysClr val="windowText" lastClr="000000">
                <a:hueOff val="0"/>
                <a:satOff val="0"/>
                <a:lumOff val="0"/>
                <a:alphaOff val="0"/>
              </a:sysClr>
            </a:solidFill>
            <a:latin typeface="Arial Narrow" panose="020B0606020202030204" pitchFamily="34" charset="0"/>
            <a:ea typeface="+mn-ea"/>
            <a:cs typeface="+mn-cs"/>
          </a:endParaRPr>
        </a:p>
      </dsp:txBody>
      <dsp:txXfrm rot="-5400000">
        <a:off x="1047558" y="2804149"/>
        <a:ext cx="6111276" cy="87776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EE616E-28A2-4336-A205-DFA705500930}">
      <dsp:nvSpPr>
        <dsp:cNvPr id="0" name=""/>
        <dsp:cNvSpPr/>
      </dsp:nvSpPr>
      <dsp:spPr>
        <a:xfrm>
          <a:off x="0" y="27113"/>
          <a:ext cx="6391275" cy="671580"/>
        </a:xfrm>
        <a:prstGeom prst="round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0" i="0" kern="1200" dirty="0"/>
            <a:t>Requirements</a:t>
          </a:r>
          <a:endParaRPr lang="en-US" sz="2800" kern="1200" dirty="0"/>
        </a:p>
      </dsp:txBody>
      <dsp:txXfrm>
        <a:off x="32784" y="59897"/>
        <a:ext cx="6325707" cy="606012"/>
      </dsp:txXfrm>
    </dsp:sp>
    <dsp:sp modelId="{A302F5E3-6828-4E77-9255-8B0B7D3A5967}">
      <dsp:nvSpPr>
        <dsp:cNvPr id="0" name=""/>
        <dsp:cNvSpPr/>
      </dsp:nvSpPr>
      <dsp:spPr>
        <a:xfrm>
          <a:off x="0" y="698693"/>
          <a:ext cx="6391275" cy="45208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2923" tIns="35560" rIns="199136" bIns="35560" numCol="1" spcCol="1270" anchor="t" anchorCtr="0">
          <a:noAutofit/>
        </a:bodyPr>
        <a:lstStyle/>
        <a:p>
          <a:pPr marL="228600" lvl="1" indent="-228600" algn="l" defTabSz="977900">
            <a:lnSpc>
              <a:spcPct val="90000"/>
            </a:lnSpc>
            <a:spcBef>
              <a:spcPct val="0"/>
            </a:spcBef>
            <a:spcAft>
              <a:spcPct val="20000"/>
            </a:spcAft>
            <a:buChar char="•"/>
          </a:pPr>
          <a:r>
            <a:rPr lang="en-US" sz="2200" b="0" i="0" kern="1200"/>
            <a:t>Anticoagulation tubes</a:t>
          </a:r>
          <a:endParaRPr lang="en-US" sz="2200" kern="1200"/>
        </a:p>
        <a:p>
          <a:pPr marL="228600" lvl="1" indent="-228600" algn="l" defTabSz="977900">
            <a:lnSpc>
              <a:spcPct val="90000"/>
            </a:lnSpc>
            <a:spcBef>
              <a:spcPct val="0"/>
            </a:spcBef>
            <a:spcAft>
              <a:spcPct val="20000"/>
            </a:spcAft>
            <a:buChar char="•"/>
          </a:pPr>
          <a:r>
            <a:rPr lang="en-US" sz="2200" b="0" i="0" kern="1200"/>
            <a:t>TRIzol  reagent</a:t>
          </a:r>
          <a:endParaRPr lang="en-US" sz="2200" kern="1200"/>
        </a:p>
        <a:p>
          <a:pPr marL="228600" lvl="1" indent="-228600" algn="l" defTabSz="977900">
            <a:lnSpc>
              <a:spcPct val="90000"/>
            </a:lnSpc>
            <a:spcBef>
              <a:spcPct val="0"/>
            </a:spcBef>
            <a:spcAft>
              <a:spcPct val="20000"/>
            </a:spcAft>
            <a:buChar char="•"/>
          </a:pPr>
          <a:r>
            <a:rPr lang="en-US" sz="2200" b="0" i="0" kern="1200"/>
            <a:t>PrimeScriptTM RT reagen</a:t>
          </a:r>
          <a:endParaRPr lang="en-US" sz="2200" kern="1200"/>
        </a:p>
        <a:p>
          <a:pPr marL="228600" lvl="1" indent="-228600" algn="l" defTabSz="977900">
            <a:lnSpc>
              <a:spcPct val="90000"/>
            </a:lnSpc>
            <a:spcBef>
              <a:spcPct val="0"/>
            </a:spcBef>
            <a:spcAft>
              <a:spcPct val="20000"/>
            </a:spcAft>
            <a:buChar char="•"/>
          </a:pPr>
          <a:r>
            <a:rPr lang="en-US" sz="2200" b="0" i="0" kern="1200"/>
            <a:t>MiRNA Isolation Kit                                                                                               </a:t>
          </a:r>
          <a:endParaRPr lang="en-US" sz="2200" kern="1200"/>
        </a:p>
        <a:p>
          <a:pPr marL="228600" lvl="1" indent="-228600" algn="l" defTabSz="977900">
            <a:lnSpc>
              <a:spcPct val="90000"/>
            </a:lnSpc>
            <a:spcBef>
              <a:spcPct val="0"/>
            </a:spcBef>
            <a:spcAft>
              <a:spcPct val="20000"/>
            </a:spcAft>
            <a:buChar char="•"/>
          </a:pPr>
          <a:r>
            <a:rPr lang="en-US" sz="2200" b="0" i="0" kern="1200"/>
            <a:t>qRT-PCR</a:t>
          </a:r>
          <a:endParaRPr lang="en-US" sz="2200" kern="1200"/>
        </a:p>
        <a:p>
          <a:pPr marL="228600" lvl="1" indent="-228600" algn="l" defTabSz="977900">
            <a:lnSpc>
              <a:spcPct val="90000"/>
            </a:lnSpc>
            <a:spcBef>
              <a:spcPct val="0"/>
            </a:spcBef>
            <a:spcAft>
              <a:spcPct val="20000"/>
            </a:spcAft>
            <a:buChar char="•"/>
          </a:pPr>
          <a:r>
            <a:rPr lang="en-US" sz="2200" b="0" i="0" kern="1200"/>
            <a:t>Ambion WT Expression Kit</a:t>
          </a:r>
          <a:endParaRPr lang="en-US" sz="2200" kern="1200"/>
        </a:p>
        <a:p>
          <a:pPr marL="228600" lvl="1" indent="-228600" algn="l" defTabSz="977900">
            <a:lnSpc>
              <a:spcPct val="90000"/>
            </a:lnSpc>
            <a:spcBef>
              <a:spcPct val="0"/>
            </a:spcBef>
            <a:spcAft>
              <a:spcPct val="20000"/>
            </a:spcAft>
            <a:buChar char="•"/>
          </a:pPr>
          <a:r>
            <a:rPr lang="en-US" sz="2200" b="0" i="0" kern="1200"/>
            <a:t>Hybridization solution </a:t>
          </a:r>
          <a:endParaRPr lang="en-US" sz="2200" kern="1200"/>
        </a:p>
        <a:p>
          <a:pPr marL="228600" lvl="1" indent="-228600" algn="l" defTabSz="977900">
            <a:lnSpc>
              <a:spcPct val="90000"/>
            </a:lnSpc>
            <a:spcBef>
              <a:spcPct val="0"/>
            </a:spcBef>
            <a:spcAft>
              <a:spcPct val="20000"/>
            </a:spcAft>
            <a:buChar char="•"/>
          </a:pPr>
          <a:r>
            <a:rPr lang="en-US" sz="2200" b="0" i="0" kern="1200"/>
            <a:t>Capital Bio Technology Human CircRNA Array v2 microarray (Agilent)</a:t>
          </a:r>
          <a:endParaRPr lang="en-US" sz="2200" kern="1200"/>
        </a:p>
        <a:p>
          <a:pPr marL="228600" lvl="1" indent="-228600" algn="l" defTabSz="977900">
            <a:lnSpc>
              <a:spcPct val="90000"/>
            </a:lnSpc>
            <a:spcBef>
              <a:spcPct val="0"/>
            </a:spcBef>
            <a:spcAft>
              <a:spcPct val="20000"/>
            </a:spcAft>
            <a:buChar char="•"/>
          </a:pPr>
          <a:r>
            <a:rPr lang="en-US" sz="2200" b="0" i="0" kern="1200"/>
            <a:t>OCT</a:t>
          </a:r>
          <a:endParaRPr lang="en-US" sz="2200" kern="1200"/>
        </a:p>
        <a:p>
          <a:pPr marL="228600" lvl="1" indent="-228600" algn="l" defTabSz="977900">
            <a:lnSpc>
              <a:spcPct val="90000"/>
            </a:lnSpc>
            <a:spcBef>
              <a:spcPct val="0"/>
            </a:spcBef>
            <a:spcAft>
              <a:spcPct val="20000"/>
            </a:spcAft>
            <a:buChar char="•"/>
          </a:pPr>
          <a:r>
            <a:rPr lang="en-US" sz="2200" b="0" i="0" kern="1200"/>
            <a:t>OCTA</a:t>
          </a:r>
          <a:endParaRPr lang="en-US" sz="2200" kern="1200"/>
        </a:p>
        <a:p>
          <a:pPr marL="228600" lvl="1" indent="-228600" algn="l" defTabSz="977900">
            <a:lnSpc>
              <a:spcPct val="90000"/>
            </a:lnSpc>
            <a:spcBef>
              <a:spcPct val="0"/>
            </a:spcBef>
            <a:spcAft>
              <a:spcPct val="20000"/>
            </a:spcAft>
            <a:buChar char="•"/>
          </a:pPr>
          <a:r>
            <a:rPr lang="en-US" sz="2200" b="0" i="0" kern="1200"/>
            <a:t>fundus fluorescein Angiography. </a:t>
          </a:r>
          <a:endParaRPr lang="en-US" sz="2200" kern="1200"/>
        </a:p>
      </dsp:txBody>
      <dsp:txXfrm>
        <a:off x="0" y="698693"/>
        <a:ext cx="6391275" cy="4520880"/>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B4D6A4-FCD1-4285-958E-2F4425520326}" type="datetimeFigureOut">
              <a:rPr lang="en-GB" smtClean="0"/>
              <a:t>09/10/2023</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38008C-D5B4-457B-91ED-77638ADB5CE0}" type="slidenum">
              <a:rPr lang="en-GB" smtClean="0"/>
              <a:t>‹#›</a:t>
            </a:fld>
            <a:endParaRPr lang="en-GB"/>
          </a:p>
        </p:txBody>
      </p:sp>
    </p:spTree>
    <p:extLst>
      <p:ext uri="{BB962C8B-B14F-4D97-AF65-F5344CB8AC3E}">
        <p14:creationId xmlns:p14="http://schemas.microsoft.com/office/powerpoint/2010/main" val="20204669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EditPoints="1"/>
          </p:cNvSpPr>
          <p:nvPr>
            <p:ph type="sldImg"/>
          </p:nvPr>
        </p:nvSpPr>
        <p:spPr>
          <a:xfrm>
            <a:off x="381000" y="685800"/>
            <a:ext cx="6096000" cy="3429000"/>
          </a:xfrm>
          <a:prstGeom prst="rect">
            <a:avLst/>
          </a:prstGeom>
        </p:spPr>
        <p:txBody>
          <a:bodyPr/>
          <a:lstStyle/>
          <a:p>
            <a:endParaRPr/>
          </a:p>
        </p:txBody>
      </p:sp>
      <p:sp>
        <p:nvSpPr>
          <p:cNvPr id="3" name="Text Placeholder 2"/>
          <p:cNvSpPr>
            <a:spLocks noGrp="1" noEditPoints="1"/>
          </p:cNvSpPr>
          <p:nvPr>
            <p:ph type="body" idx="3"/>
          </p:nvPr>
        </p:nvSpPr>
        <p:spPr>
          <a:prstGeom prst="rect">
            <a:avLst/>
          </a:prstGeom>
        </p:spPr>
        <p:txBody>
          <a:bodyPr/>
          <a:lstStyle/>
          <a:p>
            <a:endParaRPr lang="en-US"/>
          </a:p>
        </p:txBody>
      </p:sp>
      <p:sp>
        <p:nvSpPr>
          <p:cNvPr id="4" name="Slide Number Placeholder 3"/>
          <p:cNvSpPr>
            <a:spLocks noGrp="1" noEditPoints="1"/>
          </p:cNvSpPr>
          <p:nvPr>
            <p:ph type="sldNum" sz="quarter" idx="5"/>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112A56-ACD1-4991-9F8B-C9FF2BD17B1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47130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EditPoints="1"/>
          </p:cNvSpPr>
          <p:nvPr>
            <p:ph type="sldImg"/>
          </p:nvPr>
        </p:nvSpPr>
        <p:spPr>
          <a:xfrm>
            <a:off x="381000" y="685800"/>
            <a:ext cx="6096000" cy="3429000"/>
          </a:xfrm>
          <a:prstGeom prst="rect">
            <a:avLst/>
          </a:prstGeom>
        </p:spPr>
        <p:txBody>
          <a:bodyPr/>
          <a:lstStyle/>
          <a:p>
            <a:endParaRPr/>
          </a:p>
        </p:txBody>
      </p:sp>
      <p:sp>
        <p:nvSpPr>
          <p:cNvPr id="3" name="Text Placeholder 2"/>
          <p:cNvSpPr>
            <a:spLocks noGrp="1" noEditPoints="1"/>
          </p:cNvSpPr>
          <p:nvPr>
            <p:ph type="body" idx="3"/>
          </p:nvPr>
        </p:nvSpPr>
        <p:spPr>
          <a:prstGeom prst="rect">
            <a:avLst/>
          </a:prstGeom>
        </p:spPr>
        <p:txBody>
          <a:bodyPr/>
          <a:lstStyle/>
          <a:p>
            <a:endParaRPr lang="en-US"/>
          </a:p>
        </p:txBody>
      </p:sp>
      <p:sp>
        <p:nvSpPr>
          <p:cNvPr id="4" name="Slide Number Placeholder 3"/>
          <p:cNvSpPr>
            <a:spLocks noGrp="1" noEditPoints="1"/>
          </p:cNvSpPr>
          <p:nvPr>
            <p:ph type="sldNum" sz="quarter" idx="5"/>
          </p:nvPr>
        </p:nvSpPr>
        <p:spPr>
          <a:prstGeom prst="rect">
            <a:avLst/>
          </a:prstGeom>
        </p:spPr>
        <p:txBody>
          <a:bodyPr/>
          <a:lstStyle/>
          <a:p>
            <a:fld id="{A183248E-9F6C-4D1E-B03B-7C5D22233F31}" type="slidenum">
              <a:rPr lang="en-US" smtClean="0"/>
              <a:t>10</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EditPoints="1"/>
          </p:cNvSpPr>
          <p:nvPr>
            <p:ph type="sldImg"/>
          </p:nvPr>
        </p:nvSpPr>
        <p:spPr>
          <a:xfrm>
            <a:off x="381000" y="685800"/>
            <a:ext cx="6096000" cy="3429000"/>
          </a:xfrm>
          <a:prstGeom prst="rect">
            <a:avLst/>
          </a:prstGeom>
        </p:spPr>
        <p:txBody>
          <a:bodyPr/>
          <a:lstStyle/>
          <a:p>
            <a:endParaRPr/>
          </a:p>
        </p:txBody>
      </p:sp>
      <p:sp>
        <p:nvSpPr>
          <p:cNvPr id="3" name="Text Placeholder 2"/>
          <p:cNvSpPr>
            <a:spLocks noGrp="1" noEditPoints="1"/>
          </p:cNvSpPr>
          <p:nvPr>
            <p:ph type="body" idx="3"/>
          </p:nvPr>
        </p:nvSpPr>
        <p:spPr>
          <a:prstGeom prst="rect">
            <a:avLst/>
          </a:prstGeom>
        </p:spPr>
        <p:txBody>
          <a:bodyPr/>
          <a:lstStyle/>
          <a:p>
            <a:endParaRPr lang="en-US"/>
          </a:p>
        </p:txBody>
      </p:sp>
      <p:sp>
        <p:nvSpPr>
          <p:cNvPr id="4" name="Slide Number Placeholder 3"/>
          <p:cNvSpPr>
            <a:spLocks noGrp="1" noEditPoints="1"/>
          </p:cNvSpPr>
          <p:nvPr>
            <p:ph type="sldNum" sz="quarter" idx="5"/>
          </p:nvPr>
        </p:nvSpPr>
        <p:spPr>
          <a:prstGeom prst="rect">
            <a:avLst/>
          </a:prstGeom>
        </p:spPr>
        <p:txBody>
          <a:bodyPr/>
          <a:lstStyle/>
          <a:p>
            <a:fld id="{45FC83D9-6F9F-42B2-AF12-D7B532C3FCE0}" type="slidenum">
              <a:rPr lang="en-US" smtClean="0"/>
              <a:t>11</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EditPoints="1"/>
          </p:cNvSpPr>
          <p:nvPr>
            <p:ph type="sldImg"/>
          </p:nvPr>
        </p:nvSpPr>
        <p:spPr>
          <a:xfrm>
            <a:off x="381000" y="685800"/>
            <a:ext cx="6096000" cy="3429000"/>
          </a:xfrm>
          <a:prstGeom prst="rect">
            <a:avLst/>
          </a:prstGeom>
        </p:spPr>
        <p:txBody>
          <a:bodyPr/>
          <a:lstStyle/>
          <a:p>
            <a:endParaRPr/>
          </a:p>
        </p:txBody>
      </p:sp>
      <p:sp>
        <p:nvSpPr>
          <p:cNvPr id="3" name="Text Placeholder 2"/>
          <p:cNvSpPr>
            <a:spLocks noGrp="1" noEditPoints="1"/>
          </p:cNvSpPr>
          <p:nvPr>
            <p:ph type="body" idx="3"/>
          </p:nvPr>
        </p:nvSpPr>
        <p:spPr>
          <a:prstGeom prst="rect">
            <a:avLst/>
          </a:prstGeom>
        </p:spPr>
        <p:txBody>
          <a:bodyPr/>
          <a:lstStyle/>
          <a:p>
            <a:endParaRPr lang="en-US"/>
          </a:p>
        </p:txBody>
      </p:sp>
      <p:sp>
        <p:nvSpPr>
          <p:cNvPr id="4" name="Slide Number Placeholder 3"/>
          <p:cNvSpPr>
            <a:spLocks noGrp="1" noEditPoints="1"/>
          </p:cNvSpPr>
          <p:nvPr>
            <p:ph type="sldNum" sz="quarter" idx="5"/>
          </p:nvPr>
        </p:nvSpPr>
        <p:spPr>
          <a:prstGeom prst="rect">
            <a:avLst/>
          </a:prstGeom>
        </p:spPr>
        <p:txBody>
          <a:bodyPr/>
          <a:lstStyle/>
          <a:p>
            <a:fld id="{DDF8D2B7-B28D-44CE-9856-1B76168B996F}" type="slidenum">
              <a:rPr lang="en-US" smtClean="0"/>
              <a:t>14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F9FD13CF-1A61-4336-9DBD-7DE58C63C0BB}" type="datetimeFigureOut">
              <a:rPr lang="ar-SA" smtClean="0"/>
              <a:t>25/03/1445</a:t>
            </a:fld>
            <a:endParaRPr lang="ar-SA"/>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ar-SA"/>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E079110B-0AE0-489E-A408-064C1D87B34A}" type="slidenum">
              <a:rPr lang="ar-SA" smtClean="0"/>
              <a:t>‹#›</a:t>
            </a:fld>
            <a:endParaRPr lang="ar-SA"/>
          </a:p>
        </p:txBody>
      </p:sp>
    </p:spTree>
    <p:extLst>
      <p:ext uri="{BB962C8B-B14F-4D97-AF65-F5344CB8AC3E}">
        <p14:creationId xmlns:p14="http://schemas.microsoft.com/office/powerpoint/2010/main" val="4746233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226FD2B-3702-4A86-AB14-D6E689743F37}" type="datetimeFigureOut">
              <a:rPr lang="en-GB" smtClean="0"/>
              <a:t>09/10/2023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0EE087B-884B-4745-AB1E-51AEE07DC67B}" type="slidenum">
              <a:rPr lang="en-GB" smtClean="0"/>
              <a:t>‹#›</a:t>
            </a:fld>
            <a:endParaRPr lang="en-GB"/>
          </a:p>
        </p:txBody>
      </p:sp>
    </p:spTree>
    <p:extLst>
      <p:ext uri="{BB962C8B-B14F-4D97-AF65-F5344CB8AC3E}">
        <p14:creationId xmlns:p14="http://schemas.microsoft.com/office/powerpoint/2010/main" val="5491863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9FD13CF-1A61-4336-9DBD-7DE58C63C0BB}" type="datetimeFigureOut">
              <a:rPr lang="ar-SA" smtClean="0"/>
              <a:t>25/03/1445</a:t>
            </a:fld>
            <a:endParaRPr lang="ar-SA"/>
          </a:p>
        </p:txBody>
      </p:sp>
      <p:sp>
        <p:nvSpPr>
          <p:cNvPr id="5" name="Footer Placeholder 4"/>
          <p:cNvSpPr>
            <a:spLocks noGrp="1"/>
          </p:cNvSpPr>
          <p:nvPr>
            <p:ph type="ftr" sz="quarter" idx="11"/>
          </p:nvPr>
        </p:nvSpPr>
        <p:spPr/>
        <p:txBody>
          <a:bodyPr/>
          <a:lstStyle/>
          <a:p>
            <a:endParaRPr lang="ar-SA"/>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E079110B-0AE0-489E-A408-064C1D87B34A}" type="slidenum">
              <a:rPr lang="ar-SA" smtClean="0"/>
              <a:t>‹#›</a:t>
            </a:fld>
            <a:endParaRPr lang="ar-SA"/>
          </a:p>
        </p:txBody>
      </p:sp>
    </p:spTree>
    <p:extLst>
      <p:ext uri="{BB962C8B-B14F-4D97-AF65-F5344CB8AC3E}">
        <p14:creationId xmlns:p14="http://schemas.microsoft.com/office/powerpoint/2010/main" val="16168282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226FD2B-3702-4A86-AB14-D6E689743F37}" type="datetimeFigureOut">
              <a:rPr lang="en-GB" smtClean="0"/>
              <a:t>09/10/2023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0EE087B-884B-4745-AB1E-51AEE07DC67B}" type="slidenum">
              <a:rPr lang="en-GB" smtClean="0"/>
              <a:t>‹#›</a:t>
            </a:fld>
            <a:endParaRPr lang="en-GB"/>
          </a:p>
        </p:txBody>
      </p:sp>
    </p:spTree>
    <p:extLst>
      <p:ext uri="{BB962C8B-B14F-4D97-AF65-F5344CB8AC3E}">
        <p14:creationId xmlns:p14="http://schemas.microsoft.com/office/powerpoint/2010/main" val="41161614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226FD2B-3702-4A86-AB14-D6E689743F37}" type="datetimeFigureOut">
              <a:rPr lang="en-GB" smtClean="0"/>
              <a:t>09/10/2023</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40EE087B-884B-4745-AB1E-51AEE07DC67B}" type="slidenum">
              <a:rPr lang="en-GB" smtClean="0"/>
              <a:t>‹#›</a:t>
            </a:fld>
            <a:endParaRPr lang="en-GB"/>
          </a:p>
        </p:txBody>
      </p:sp>
    </p:spTree>
    <p:extLst>
      <p:ext uri="{BB962C8B-B14F-4D97-AF65-F5344CB8AC3E}">
        <p14:creationId xmlns:p14="http://schemas.microsoft.com/office/powerpoint/2010/main" val="13840540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9FD13CF-1A61-4336-9DBD-7DE58C63C0BB}" type="datetimeFigureOut">
              <a:rPr lang="ar-SA" smtClean="0"/>
              <a:t>25/03/1445</a:t>
            </a:fld>
            <a:endParaRPr lang="ar-SA"/>
          </a:p>
        </p:txBody>
      </p:sp>
      <p:sp>
        <p:nvSpPr>
          <p:cNvPr id="4" name="Footer Placeholder 3"/>
          <p:cNvSpPr>
            <a:spLocks noGrp="1"/>
          </p:cNvSpPr>
          <p:nvPr>
            <p:ph type="ftr" sz="quarter" idx="11"/>
          </p:nvPr>
        </p:nvSpPr>
        <p:spPr/>
        <p:txBody>
          <a:bodyPr/>
          <a:lstStyle/>
          <a:p>
            <a:endParaRPr lang="ar-SA"/>
          </a:p>
        </p:txBody>
      </p:sp>
      <p:sp>
        <p:nvSpPr>
          <p:cNvPr id="5" name="Slide Number Placeholder 4"/>
          <p:cNvSpPr>
            <a:spLocks noGrp="1"/>
          </p:cNvSpPr>
          <p:nvPr>
            <p:ph type="sldNum" sz="quarter" idx="12"/>
          </p:nvPr>
        </p:nvSpPr>
        <p:spPr/>
        <p:txBody>
          <a:bodyPr/>
          <a:lstStyle/>
          <a:p>
            <a:fld id="{E079110B-0AE0-489E-A408-064C1D87B34A}" type="slidenum">
              <a:rPr lang="ar-SA" smtClean="0"/>
              <a:t>‹#›</a:t>
            </a:fld>
            <a:endParaRPr lang="ar-SA"/>
          </a:p>
        </p:txBody>
      </p:sp>
    </p:spTree>
    <p:extLst>
      <p:ext uri="{BB962C8B-B14F-4D97-AF65-F5344CB8AC3E}">
        <p14:creationId xmlns:p14="http://schemas.microsoft.com/office/powerpoint/2010/main" val="1889294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9FD13CF-1A61-4336-9DBD-7DE58C63C0BB}" type="datetimeFigureOut">
              <a:rPr lang="ar-SA" smtClean="0"/>
              <a:t>25/03/1445</a:t>
            </a:fld>
            <a:endParaRPr lang="ar-SA"/>
          </a:p>
        </p:txBody>
      </p:sp>
      <p:sp>
        <p:nvSpPr>
          <p:cNvPr id="3" name="Footer Placeholder 2"/>
          <p:cNvSpPr>
            <a:spLocks noGrp="1"/>
          </p:cNvSpPr>
          <p:nvPr>
            <p:ph type="ftr" sz="quarter" idx="11"/>
          </p:nvPr>
        </p:nvSpPr>
        <p:spPr/>
        <p:txBody>
          <a:bodyPr/>
          <a:lstStyle/>
          <a:p>
            <a:endParaRPr lang="ar-SA"/>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E079110B-0AE0-489E-A408-064C1D87B34A}" type="slidenum">
              <a:rPr lang="ar-SA" smtClean="0"/>
              <a:t>‹#›</a:t>
            </a:fld>
            <a:endParaRPr lang="ar-SA"/>
          </a:p>
        </p:txBody>
      </p:sp>
    </p:spTree>
    <p:extLst>
      <p:ext uri="{BB962C8B-B14F-4D97-AF65-F5344CB8AC3E}">
        <p14:creationId xmlns:p14="http://schemas.microsoft.com/office/powerpoint/2010/main" val="19768484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226FD2B-3702-4A86-AB14-D6E689743F37}" type="datetimeFigureOut">
              <a:rPr lang="en-GB" smtClean="0"/>
              <a:t>09/10/2023</a:t>
            </a:fld>
            <a:endParaRPr lang="en-GB"/>
          </a:p>
        </p:txBody>
      </p:sp>
      <p:sp>
        <p:nvSpPr>
          <p:cNvPr id="6" name="Footer Placeholder 5"/>
          <p:cNvSpPr>
            <a:spLocks noGrp="1"/>
          </p:cNvSpPr>
          <p:nvPr>
            <p:ph type="ftr" sz="quarter" idx="11"/>
          </p:nvPr>
        </p:nvSpPr>
        <p:spPr/>
        <p:txBody>
          <a:bodyPr/>
          <a:lstStyle/>
          <a:p>
            <a:endParaRPr lang="en-GB"/>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40EE087B-884B-4745-AB1E-51AEE07DC67B}" type="slidenum">
              <a:rPr lang="en-GB" smtClean="0"/>
              <a:t>‹#›</a:t>
            </a:fld>
            <a:endParaRPr lang="en-GB"/>
          </a:p>
        </p:txBody>
      </p:sp>
    </p:spTree>
    <p:extLst>
      <p:ext uri="{BB962C8B-B14F-4D97-AF65-F5344CB8AC3E}">
        <p14:creationId xmlns:p14="http://schemas.microsoft.com/office/powerpoint/2010/main" val="1826094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226FD2B-3702-4A86-AB14-D6E689743F37}" type="datetimeFigureOut">
              <a:rPr lang="en-GB" smtClean="0"/>
              <a:t>09/10/2023</a:t>
            </a:fld>
            <a:endParaRPr lang="en-GB"/>
          </a:p>
        </p:txBody>
      </p:sp>
      <p:sp>
        <p:nvSpPr>
          <p:cNvPr id="6" name="Footer Placeholder 5"/>
          <p:cNvSpPr>
            <a:spLocks noGrp="1"/>
          </p:cNvSpPr>
          <p:nvPr>
            <p:ph type="ftr" sz="quarter" idx="11"/>
          </p:nvPr>
        </p:nvSpPr>
        <p:spPr/>
        <p:txBody>
          <a:bodyPr/>
          <a:lstStyle/>
          <a:p>
            <a:endParaRPr lang="en-GB"/>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40EE087B-884B-4745-AB1E-51AEE07DC67B}" type="slidenum">
              <a:rPr lang="en-GB" smtClean="0"/>
              <a:t>‹#›</a:t>
            </a:fld>
            <a:endParaRPr lang="en-GB"/>
          </a:p>
        </p:txBody>
      </p:sp>
    </p:spTree>
    <p:extLst>
      <p:ext uri="{BB962C8B-B14F-4D97-AF65-F5344CB8AC3E}">
        <p14:creationId xmlns:p14="http://schemas.microsoft.com/office/powerpoint/2010/main" val="41486114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226FD2B-3702-4A86-AB14-D6E689743F37}" type="datetimeFigureOut">
              <a:rPr lang="en-GB" smtClean="0"/>
              <a:t>09/10/2023</a:t>
            </a:fld>
            <a:endParaRPr lang="en-GB"/>
          </a:p>
        </p:txBody>
      </p:sp>
      <p:sp>
        <p:nvSpPr>
          <p:cNvPr id="6" name="Footer Placeholder 5"/>
          <p:cNvSpPr>
            <a:spLocks noGrp="1"/>
          </p:cNvSpPr>
          <p:nvPr>
            <p:ph type="ftr" sz="quarter" idx="11"/>
          </p:nvPr>
        </p:nvSpPr>
        <p:spPr/>
        <p:txBody>
          <a:bodyPr/>
          <a:lstStyle/>
          <a:p>
            <a:endParaRPr lang="en-GB"/>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40EE087B-884B-4745-AB1E-51AEE07DC67B}" type="slidenum">
              <a:rPr lang="en-GB" smtClean="0"/>
              <a:t>‹#›</a:t>
            </a:fld>
            <a:endParaRPr lang="en-GB"/>
          </a:p>
        </p:txBody>
      </p:sp>
    </p:spTree>
    <p:extLst>
      <p:ext uri="{BB962C8B-B14F-4D97-AF65-F5344CB8AC3E}">
        <p14:creationId xmlns:p14="http://schemas.microsoft.com/office/powerpoint/2010/main" val="569594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7226FD2B-3702-4A86-AB14-D6E689743F37}" type="datetimeFigureOut">
              <a:rPr lang="en-GB" smtClean="0"/>
              <a:t>09/10/2023</a:t>
            </a:fld>
            <a:endParaRPr lang="en-GB"/>
          </a:p>
        </p:txBody>
      </p:sp>
      <p:sp>
        <p:nvSpPr>
          <p:cNvPr id="5" name="Footer Placeholder 4"/>
          <p:cNvSpPr>
            <a:spLocks noGrp="1"/>
          </p:cNvSpPr>
          <p:nvPr>
            <p:ph type="ftr" sz="quarter" idx="11"/>
          </p:nvPr>
        </p:nvSpPr>
        <p:spPr/>
        <p:txBody>
          <a:bodyPr/>
          <a:lstStyle/>
          <a:p>
            <a:endParaRPr lang="en-GB"/>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40EE087B-884B-4745-AB1E-51AEE07DC67B}" type="slidenum">
              <a:rPr lang="en-GB" smtClean="0"/>
              <a:t>‹#›</a:t>
            </a:fld>
            <a:endParaRPr lang="en-GB"/>
          </a:p>
        </p:txBody>
      </p:sp>
    </p:spTree>
    <p:extLst>
      <p:ext uri="{BB962C8B-B14F-4D97-AF65-F5344CB8AC3E}">
        <p14:creationId xmlns:p14="http://schemas.microsoft.com/office/powerpoint/2010/main" val="35520951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7226FD2B-3702-4A86-AB14-D6E689743F37}" type="datetimeFigureOut">
              <a:rPr lang="en-GB" smtClean="0"/>
              <a:t>09/10/2023</a:t>
            </a:fld>
            <a:endParaRPr lang="en-GB"/>
          </a:p>
        </p:txBody>
      </p:sp>
      <p:sp>
        <p:nvSpPr>
          <p:cNvPr id="5" name="Footer Placeholder 4"/>
          <p:cNvSpPr>
            <a:spLocks noGrp="1"/>
          </p:cNvSpPr>
          <p:nvPr>
            <p:ph type="ftr" sz="quarter" idx="11"/>
          </p:nvPr>
        </p:nvSpPr>
        <p:spPr/>
        <p:txBody>
          <a:bodyPr/>
          <a:lstStyle/>
          <a:p>
            <a:endParaRPr lang="en-GB"/>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40EE087B-884B-4745-AB1E-51AEE07DC67B}" type="slidenum">
              <a:rPr lang="en-GB" smtClean="0"/>
              <a:t>‹#›</a:t>
            </a:fld>
            <a:endParaRPr lang="en-GB"/>
          </a:p>
        </p:txBody>
      </p:sp>
    </p:spTree>
    <p:extLst>
      <p:ext uri="{BB962C8B-B14F-4D97-AF65-F5344CB8AC3E}">
        <p14:creationId xmlns:p14="http://schemas.microsoft.com/office/powerpoint/2010/main" val="10001777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226FD2B-3702-4A86-AB14-D6E689743F37}" type="datetimeFigureOut">
              <a:rPr lang="en-GB" smtClean="0"/>
              <a:t>09/10/2023</a:t>
            </a:fld>
            <a:endParaRPr lang="en-GB"/>
          </a:p>
        </p:txBody>
      </p:sp>
      <p:sp>
        <p:nvSpPr>
          <p:cNvPr id="5" name="Footer Placeholder 4"/>
          <p:cNvSpPr>
            <a:spLocks noGrp="1"/>
          </p:cNvSpPr>
          <p:nvPr>
            <p:ph type="ftr" sz="quarter" idx="11"/>
          </p:nvPr>
        </p:nvSpPr>
        <p:spPr/>
        <p:txBody>
          <a:bodyPr/>
          <a:lstStyle/>
          <a:p>
            <a:endParaRPr lang="en-GB"/>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40EE087B-884B-4745-AB1E-51AEE07DC67B}" type="slidenum">
              <a:rPr lang="en-GB" smtClean="0"/>
              <a:t>‹#›</a:t>
            </a:fld>
            <a:endParaRPr lang="en-GB"/>
          </a:p>
        </p:txBody>
      </p:sp>
    </p:spTree>
    <p:extLst>
      <p:ext uri="{BB962C8B-B14F-4D97-AF65-F5344CB8AC3E}">
        <p14:creationId xmlns:p14="http://schemas.microsoft.com/office/powerpoint/2010/main" val="33153022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7226FD2B-3702-4A86-AB14-D6E689743F37}" type="datetimeFigureOut">
              <a:rPr lang="en-GB" smtClean="0"/>
              <a:t>09/10/2023</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40EE087B-884B-4745-AB1E-51AEE07DC67B}" type="slidenum">
              <a:rPr lang="en-GB" smtClean="0"/>
              <a:t>‹#›</a:t>
            </a:fld>
            <a:endParaRPr lang="en-GB"/>
          </a:p>
        </p:txBody>
      </p:sp>
    </p:spTree>
    <p:extLst>
      <p:ext uri="{BB962C8B-B14F-4D97-AF65-F5344CB8AC3E}">
        <p14:creationId xmlns:p14="http://schemas.microsoft.com/office/powerpoint/2010/main" val="10290545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7226FD2B-3702-4A86-AB14-D6E689743F37}" type="datetimeFigureOut">
              <a:rPr lang="en-GB" smtClean="0"/>
              <a:t>09/10/2023</a:t>
            </a:fld>
            <a:endParaRPr lang="en-GB"/>
          </a:p>
        </p:txBody>
      </p:sp>
      <p:sp>
        <p:nvSpPr>
          <p:cNvPr id="8" name="Footer Placeholder 7"/>
          <p:cNvSpPr>
            <a:spLocks noGrp="1"/>
          </p:cNvSpPr>
          <p:nvPr>
            <p:ph type="ftr" sz="quarter" idx="11"/>
          </p:nvPr>
        </p:nvSpPr>
        <p:spPr>
          <a:xfrm>
            <a:off x="561111" y="6391838"/>
            <a:ext cx="3644282" cy="304801"/>
          </a:xfrm>
        </p:spPr>
        <p:txBody>
          <a:bodyPr/>
          <a:lstStyle/>
          <a:p>
            <a:endParaRPr lang="en-GB"/>
          </a:p>
        </p:txBody>
      </p:sp>
      <p:sp>
        <p:nvSpPr>
          <p:cNvPr id="9" name="Slide Number Placeholder 8"/>
          <p:cNvSpPr>
            <a:spLocks noGrp="1"/>
          </p:cNvSpPr>
          <p:nvPr>
            <p:ph type="sldNum" sz="quarter" idx="12"/>
          </p:nvPr>
        </p:nvSpPr>
        <p:spPr/>
        <p:txBody>
          <a:bodyPr/>
          <a:lstStyle/>
          <a:p>
            <a:fld id="{40EE087B-884B-4745-AB1E-51AEE07DC67B}" type="slidenum">
              <a:rPr lang="en-GB" smtClean="0"/>
              <a:t>‹#›</a:t>
            </a:fld>
            <a:endParaRPr lang="en-GB"/>
          </a:p>
        </p:txBody>
      </p:sp>
    </p:spTree>
    <p:extLst>
      <p:ext uri="{BB962C8B-B14F-4D97-AF65-F5344CB8AC3E}">
        <p14:creationId xmlns:p14="http://schemas.microsoft.com/office/powerpoint/2010/main" val="2976569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7226FD2B-3702-4A86-AB14-D6E689743F37}" type="datetimeFigureOut">
              <a:rPr lang="en-GB" smtClean="0"/>
              <a:t>09/10/2023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0EE087B-884B-4745-AB1E-51AEE07DC67B}" type="slidenum">
              <a:rPr lang="en-GB" smtClean="0"/>
              <a:t>‹#›</a:t>
            </a:fld>
            <a:endParaRPr lang="en-GB"/>
          </a:p>
        </p:txBody>
      </p:sp>
    </p:spTree>
    <p:extLst>
      <p:ext uri="{BB962C8B-B14F-4D97-AF65-F5344CB8AC3E}">
        <p14:creationId xmlns:p14="http://schemas.microsoft.com/office/powerpoint/2010/main" val="355823138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7226FD2B-3702-4A86-AB14-D6E689743F37}" type="datetimeFigureOut">
              <a:rPr lang="en-GB" smtClean="0"/>
              <a:t>09/10/2023</a:t>
            </a:fld>
            <a:endParaRPr lang="en-GB"/>
          </a:p>
        </p:txBody>
      </p:sp>
      <p:sp>
        <p:nvSpPr>
          <p:cNvPr id="5" name="Footer Placeholder 4"/>
          <p:cNvSpPr>
            <a:spLocks noGrp="1"/>
          </p:cNvSpPr>
          <p:nvPr>
            <p:ph type="ftr" sz="quarter" idx="11"/>
          </p:nvPr>
        </p:nvSpPr>
        <p:spPr/>
        <p:txBody>
          <a:bodyPr/>
          <a:lstStyle/>
          <a:p>
            <a:endParaRPr lang="en-GB"/>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40EE087B-884B-4745-AB1E-51AEE07DC67B}" type="slidenum">
              <a:rPr lang="en-GB" smtClean="0"/>
              <a:t>‹#›</a:t>
            </a:fld>
            <a:endParaRPr lang="en-GB"/>
          </a:p>
        </p:txBody>
      </p:sp>
    </p:spTree>
    <p:extLst>
      <p:ext uri="{BB962C8B-B14F-4D97-AF65-F5344CB8AC3E}">
        <p14:creationId xmlns:p14="http://schemas.microsoft.com/office/powerpoint/2010/main" val="149507603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3578975"/>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20">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7226FD2B-3702-4A86-AB14-D6E689743F37}" type="datetimeFigureOut">
              <a:rPr lang="en-GB" smtClean="0"/>
              <a:t>09/10/2023</a:t>
            </a:fld>
            <a:endParaRPr lang="en-GB"/>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GB"/>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40EE087B-884B-4745-AB1E-51AEE07DC67B}" type="slidenum">
              <a:rPr lang="en-GB" smtClean="0"/>
              <a:t>‹#›</a:t>
            </a:fld>
            <a:endParaRPr lang="en-GB"/>
          </a:p>
        </p:txBody>
      </p:sp>
    </p:spTree>
    <p:extLst>
      <p:ext uri="{BB962C8B-B14F-4D97-AF65-F5344CB8AC3E}">
        <p14:creationId xmlns:p14="http://schemas.microsoft.com/office/powerpoint/2010/main" val="143941225"/>
      </p:ext>
    </p:extLst>
  </p:cSld>
  <p:clrMap bg1="lt1" tx1="dk1" bg2="lt2" tx2="dk2" accent1="accent1" accent2="accent2" accent3="accent3" accent4="accent4" accent5="accent5" accent6="accent6" hlink="hlink" folHlink="folHlink"/>
  <p:sldLayoutIdLst>
    <p:sldLayoutId id="2147483937" r:id="rId1"/>
    <p:sldLayoutId id="2147483938" r:id="rId2"/>
    <p:sldLayoutId id="2147483939" r:id="rId3"/>
    <p:sldLayoutId id="2147483940" r:id="rId4"/>
    <p:sldLayoutId id="2147483941" r:id="rId5"/>
    <p:sldLayoutId id="2147483942" r:id="rId6"/>
    <p:sldLayoutId id="2147483943" r:id="rId7"/>
    <p:sldLayoutId id="2147483944" r:id="rId8"/>
    <p:sldLayoutId id="2147483945" r:id="rId9"/>
    <p:sldLayoutId id="2147483946" r:id="rId10"/>
    <p:sldLayoutId id="2147483947" r:id="rId11"/>
    <p:sldLayoutId id="2147483948" r:id="rId12"/>
    <p:sldLayoutId id="2147483949" r:id="rId13"/>
    <p:sldLayoutId id="2147483950" r:id="rId14"/>
    <p:sldLayoutId id="2147483951" r:id="rId15"/>
    <p:sldLayoutId id="2147483952" r:id="rId16"/>
    <p:sldLayoutId id="2147483953" r:id="rId17"/>
    <p:sldLayoutId id="2147483954" r:id="rId18"/>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3.xml"/><Relationship Id="rId7" Type="http://schemas.openxmlformats.org/officeDocument/2006/relationships/image" Target="../media/image6.png"/><Relationship Id="rId2" Type="http://schemas.openxmlformats.org/officeDocument/2006/relationships/diagramData" Target="../diagrams/data3.xml"/><Relationship Id="rId1" Type="http://schemas.openxmlformats.org/officeDocument/2006/relationships/slideLayout" Target="../slideLayouts/slideLayout6.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1.jpeg"/><Relationship Id="rId7" Type="http://schemas.openxmlformats.org/officeDocument/2006/relationships/diagramColors" Target="../diagrams/colors4.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8C962E-7B11-B414-1685-C649BCF41DB4}"/>
              </a:ext>
            </a:extLst>
          </p:cNvPr>
          <p:cNvSpPr>
            <a:spLocks noGrp="1"/>
          </p:cNvSpPr>
          <p:nvPr>
            <p:ph type="title"/>
          </p:nvPr>
        </p:nvSpPr>
        <p:spPr>
          <a:xfrm>
            <a:off x="590550" y="2525244"/>
            <a:ext cx="5886450" cy="2283825"/>
          </a:xfrm>
        </p:spPr>
        <p:txBody>
          <a:bodyPr/>
          <a:lstStyle/>
          <a:p>
            <a:r>
              <a:rPr lang="en-GB" sz="2800" b="1" spc="50" dirty="0">
                <a:ln w="0"/>
                <a:effectLst>
                  <a:innerShdw blurRad="63500" dist="50800" dir="13500000">
                    <a:srgbClr val="000000">
                      <a:alpha val="50000"/>
                    </a:srgbClr>
                  </a:innerShdw>
                </a:effectLst>
              </a:rPr>
              <a:t>Validation of Circular RNA (hsa_circ_0012107) Expression Profile as an Efficient Diagnostic Biomarker for Diabetic Retinopathy</a:t>
            </a:r>
          </a:p>
        </p:txBody>
      </p:sp>
      <p:sp>
        <p:nvSpPr>
          <p:cNvPr id="3" name="Text Placeholder 2">
            <a:extLst>
              <a:ext uri="{FF2B5EF4-FFF2-40B4-BE49-F238E27FC236}">
                <a16:creationId xmlns:a16="http://schemas.microsoft.com/office/drawing/2014/main" id="{BAFEF0EB-674F-17C2-ED91-72C71163E7EF}"/>
              </a:ext>
            </a:extLst>
          </p:cNvPr>
          <p:cNvSpPr>
            <a:spLocks noGrp="1"/>
          </p:cNvSpPr>
          <p:nvPr>
            <p:ph type="body" idx="1"/>
          </p:nvPr>
        </p:nvSpPr>
        <p:spPr>
          <a:xfrm>
            <a:off x="6648450" y="742950"/>
            <a:ext cx="6362699" cy="6286500"/>
          </a:xfrm>
        </p:spPr>
        <p:txBody>
          <a:bodyPr/>
          <a:lstStyle/>
          <a:p>
            <a:r>
              <a:rPr lang="en-GB" b="1" dirty="0">
                <a:solidFill>
                  <a:schemeClr val="tx1"/>
                </a:solidFill>
              </a:rPr>
              <a:t>Research Team members:</a:t>
            </a:r>
          </a:p>
          <a:p>
            <a:r>
              <a:rPr lang="en-GB" dirty="0" err="1">
                <a:solidFill>
                  <a:srgbClr val="002060"/>
                </a:solidFill>
              </a:rPr>
              <a:t>Dr.Doaa</a:t>
            </a:r>
            <a:r>
              <a:rPr lang="en-GB" dirty="0">
                <a:solidFill>
                  <a:srgbClr val="002060"/>
                </a:solidFill>
              </a:rPr>
              <a:t> Hussein Hassan </a:t>
            </a:r>
            <a:r>
              <a:rPr lang="en-GB" dirty="0" err="1">
                <a:solidFill>
                  <a:srgbClr val="002060"/>
                </a:solidFill>
              </a:rPr>
              <a:t>Dewedar</a:t>
            </a:r>
            <a:endParaRPr lang="en-GB" dirty="0">
              <a:solidFill>
                <a:srgbClr val="002060"/>
              </a:solidFill>
            </a:endParaRPr>
          </a:p>
          <a:p>
            <a:r>
              <a:rPr lang="en-GB" dirty="0">
                <a:solidFill>
                  <a:srgbClr val="002060"/>
                </a:solidFill>
              </a:rPr>
              <a:t> Ahmed Mohamed </a:t>
            </a:r>
            <a:r>
              <a:rPr lang="en-GB" dirty="0" err="1">
                <a:solidFill>
                  <a:srgbClr val="002060"/>
                </a:solidFill>
              </a:rPr>
              <a:t>abd</a:t>
            </a:r>
            <a:r>
              <a:rPr lang="en-GB" dirty="0">
                <a:solidFill>
                  <a:srgbClr val="002060"/>
                </a:solidFill>
              </a:rPr>
              <a:t> </a:t>
            </a:r>
            <a:r>
              <a:rPr lang="en-GB" dirty="0" err="1">
                <a:solidFill>
                  <a:srgbClr val="002060"/>
                </a:solidFill>
              </a:rPr>
              <a:t>alhamed</a:t>
            </a:r>
            <a:endParaRPr lang="en-GB" dirty="0">
              <a:solidFill>
                <a:srgbClr val="002060"/>
              </a:solidFill>
            </a:endParaRPr>
          </a:p>
          <a:p>
            <a:r>
              <a:rPr lang="en-GB" dirty="0" err="1">
                <a:solidFill>
                  <a:srgbClr val="002060"/>
                </a:solidFill>
              </a:rPr>
              <a:t>Mahamed</a:t>
            </a:r>
            <a:r>
              <a:rPr lang="en-GB" dirty="0">
                <a:solidFill>
                  <a:srgbClr val="002060"/>
                </a:solidFill>
              </a:rPr>
              <a:t> Adel Mohamed</a:t>
            </a:r>
          </a:p>
          <a:p>
            <a:r>
              <a:rPr lang="en-GB" dirty="0">
                <a:solidFill>
                  <a:srgbClr val="002060"/>
                </a:solidFill>
              </a:rPr>
              <a:t>Magdy Ahmed Mahmoud</a:t>
            </a:r>
          </a:p>
          <a:p>
            <a:endParaRPr lang="en-GB" dirty="0">
              <a:solidFill>
                <a:srgbClr val="002060"/>
              </a:solidFill>
            </a:endParaRPr>
          </a:p>
          <a:p>
            <a:r>
              <a:rPr lang="en-GB" b="1" dirty="0">
                <a:solidFill>
                  <a:schemeClr val="tx1"/>
                </a:solidFill>
              </a:rPr>
              <a:t>Mentor</a:t>
            </a:r>
          </a:p>
          <a:p>
            <a:r>
              <a:rPr lang="en-GB" dirty="0">
                <a:solidFill>
                  <a:srgbClr val="002060"/>
                </a:solidFill>
              </a:rPr>
              <a:t>Assistant Professor Dr: Rania </a:t>
            </a:r>
            <a:r>
              <a:rPr lang="en-GB" dirty="0" err="1">
                <a:solidFill>
                  <a:srgbClr val="002060"/>
                </a:solidFill>
              </a:rPr>
              <a:t>Serag</a:t>
            </a:r>
            <a:endParaRPr lang="en-GB" dirty="0">
              <a:solidFill>
                <a:srgbClr val="002060"/>
              </a:solidFill>
            </a:endParaRPr>
          </a:p>
          <a:p>
            <a:endParaRPr lang="en-GB" dirty="0"/>
          </a:p>
          <a:p>
            <a:endParaRPr lang="en-GB" dirty="0"/>
          </a:p>
          <a:p>
            <a:endParaRPr lang="en-GB" dirty="0"/>
          </a:p>
        </p:txBody>
      </p:sp>
    </p:spTree>
    <p:extLst>
      <p:ext uri="{BB962C8B-B14F-4D97-AF65-F5344CB8AC3E}">
        <p14:creationId xmlns:p14="http://schemas.microsoft.com/office/powerpoint/2010/main" val="9497189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6CE317-23CF-46C1-7B77-C69A644E6660}"/>
              </a:ext>
            </a:extLst>
          </p:cNvPr>
          <p:cNvSpPr>
            <a:spLocks noGrp="1"/>
          </p:cNvSpPr>
          <p:nvPr>
            <p:ph type="title"/>
          </p:nvPr>
        </p:nvSpPr>
        <p:spPr/>
        <p:txBody>
          <a:bodyPr/>
          <a:lstStyle/>
          <a:p>
            <a:r>
              <a:rPr lang="en-GB" dirty="0">
                <a:latin typeface="Arial Rounded MT Bold" panose="020F0704030504030204" pitchFamily="34" charset="0"/>
              </a:rPr>
              <a:t>Background </a:t>
            </a:r>
          </a:p>
        </p:txBody>
      </p:sp>
      <p:sp>
        <p:nvSpPr>
          <p:cNvPr id="4" name="TextBox 3">
            <a:extLst>
              <a:ext uri="{FF2B5EF4-FFF2-40B4-BE49-F238E27FC236}">
                <a16:creationId xmlns:a16="http://schemas.microsoft.com/office/drawing/2014/main" id="{49EB2293-7DFC-9AA0-4C0B-5DD3CF5E3856}"/>
              </a:ext>
            </a:extLst>
          </p:cNvPr>
          <p:cNvSpPr txBox="1"/>
          <p:nvPr/>
        </p:nvSpPr>
        <p:spPr>
          <a:xfrm>
            <a:off x="541389" y="2357985"/>
            <a:ext cx="11109222" cy="3693319"/>
          </a:xfrm>
          <a:prstGeom prst="rect">
            <a:avLst/>
          </a:prstGeom>
          <a:noFill/>
        </p:spPr>
        <p:txBody>
          <a:bodyPr wrap="square">
            <a:spAutoFit/>
          </a:bodyPr>
          <a:lstStyle/>
          <a:p>
            <a:pPr marL="285750" indent="-285750">
              <a:buFont typeface="Arial" panose="020B0604020202020204" pitchFamily="34" charset="0"/>
              <a:buChar char="•"/>
            </a:pPr>
            <a:r>
              <a:rPr lang="en-GB" dirty="0">
                <a:latin typeface="Arial Narrow" panose="020B0606020202030204" pitchFamily="34" charset="0"/>
              </a:rPr>
              <a:t>The prevalence of diabetes mellitus (DM), which is a significant global health concern, is predicted to rise to an alarming 8.8% of the adult population by 2025. The percentage of adults worldwide who have diabetes is predicted to rise to 10.4% in 2040, totalling 642 million diabetic patients ( </a:t>
            </a:r>
            <a:r>
              <a:rPr lang="en-GB" dirty="0" err="1">
                <a:latin typeface="Arial Narrow" panose="020B0606020202030204" pitchFamily="34" charset="0"/>
              </a:rPr>
              <a:t>Ogurtsova</a:t>
            </a:r>
            <a:r>
              <a:rPr lang="en-GB" dirty="0">
                <a:latin typeface="Arial Narrow" panose="020B0606020202030204" pitchFamily="34" charset="0"/>
              </a:rPr>
              <a:t> et al.,2017) . Ninety percent of all diabetes cases are Type II. (</a:t>
            </a:r>
            <a:r>
              <a:rPr lang="en-GB" dirty="0" err="1">
                <a:latin typeface="Arial Narrow" panose="020B0606020202030204" pitchFamily="34" charset="0"/>
              </a:rPr>
              <a:t>DeFronzo</a:t>
            </a:r>
            <a:r>
              <a:rPr lang="en-GB" dirty="0">
                <a:latin typeface="Arial Narrow" panose="020B0606020202030204" pitchFamily="34" charset="0"/>
              </a:rPr>
              <a:t> et al.,2010). </a:t>
            </a:r>
          </a:p>
          <a:p>
            <a:pPr marL="285750" indent="-285750">
              <a:buFont typeface="Arial" panose="020B0604020202020204" pitchFamily="34" charset="0"/>
              <a:buChar char="•"/>
            </a:pPr>
            <a:endParaRPr lang="en-GB" dirty="0">
              <a:latin typeface="Arial Narrow" panose="020B0606020202030204" pitchFamily="34" charset="0"/>
            </a:endParaRPr>
          </a:p>
          <a:p>
            <a:pPr marL="285750" indent="-285750">
              <a:buFont typeface="Arial" panose="020B0604020202020204" pitchFamily="34" charset="0"/>
              <a:buChar char="•"/>
            </a:pPr>
            <a:r>
              <a:rPr lang="en-GB" dirty="0">
                <a:latin typeface="Arial Narrow" panose="020B0606020202030204" pitchFamily="34" charset="0"/>
              </a:rPr>
              <a:t>Microvascular complications associated with type 2 DM are becoming much more common. Chronic </a:t>
            </a:r>
            <a:r>
              <a:rPr lang="en-GB" dirty="0" err="1">
                <a:latin typeface="Arial Narrow" panose="020B0606020202030204" pitchFamily="34" charset="0"/>
              </a:rPr>
              <a:t>hyperglycemia</a:t>
            </a:r>
            <a:r>
              <a:rPr lang="en-GB" dirty="0">
                <a:latin typeface="Arial Narrow" panose="020B0606020202030204" pitchFamily="34" charset="0"/>
              </a:rPr>
              <a:t> damages the microvasculature, which eventually results in diabetic nephropathy, retinopathy, and neuropathy, which have a significant negative impact on quality of life and overall life expectancy. ( </a:t>
            </a:r>
            <a:r>
              <a:rPr lang="en-GB" dirty="0" err="1">
                <a:latin typeface="Arial Narrow" panose="020B0606020202030204" pitchFamily="34" charset="0"/>
              </a:rPr>
              <a:t>Faselis</a:t>
            </a:r>
            <a:r>
              <a:rPr lang="en-GB" dirty="0">
                <a:latin typeface="Arial Narrow" panose="020B0606020202030204" pitchFamily="34" charset="0"/>
              </a:rPr>
              <a:t> Khan et al.,2020) .</a:t>
            </a:r>
          </a:p>
          <a:p>
            <a:pPr marL="285750" indent="-285750">
              <a:buFont typeface="Arial" panose="020B0604020202020204" pitchFamily="34" charset="0"/>
              <a:buChar char="•"/>
            </a:pPr>
            <a:endParaRPr lang="en-GB" dirty="0">
              <a:latin typeface="Arial Narrow" panose="020B0606020202030204" pitchFamily="34" charset="0"/>
            </a:endParaRPr>
          </a:p>
          <a:p>
            <a:pPr marL="285750" indent="-285750">
              <a:buFont typeface="Arial" panose="020B0604020202020204" pitchFamily="34" charset="0"/>
              <a:buChar char="•"/>
            </a:pPr>
            <a:r>
              <a:rPr lang="en-GB" dirty="0">
                <a:latin typeface="Arial Narrow" panose="020B0606020202030204" pitchFamily="34" charset="0"/>
              </a:rPr>
              <a:t>One of the leading causes of vision loss in young ages is diabetic retinopathy (DR) (Antonetti et al., 2021)</a:t>
            </a:r>
          </a:p>
          <a:p>
            <a:pPr marL="285750" indent="-285750">
              <a:buFont typeface="Arial" panose="020B0604020202020204" pitchFamily="34" charset="0"/>
              <a:buChar char="•"/>
            </a:pPr>
            <a:endParaRPr lang="en-GB" dirty="0">
              <a:latin typeface="Arial Narrow" panose="020B0606020202030204" pitchFamily="34" charset="0"/>
            </a:endParaRPr>
          </a:p>
          <a:p>
            <a:pPr marL="285750" indent="-285750">
              <a:buFont typeface="Arial" panose="020B0604020202020204" pitchFamily="34" charset="0"/>
              <a:buChar char="•"/>
            </a:pPr>
            <a:r>
              <a:rPr lang="en-GB" dirty="0">
                <a:latin typeface="Arial Narrow" panose="020B0606020202030204" pitchFamily="34" charset="0"/>
              </a:rPr>
              <a:t>Over 50% of people with diabetes, primarily type II DM, pass undiagnosed (International Diabetes Federation;2019)</a:t>
            </a:r>
          </a:p>
          <a:p>
            <a:pPr marL="342900" indent="-342900">
              <a:buFont typeface="+mj-lt"/>
              <a:buAutoNum type="arabicPeriod"/>
            </a:pPr>
            <a:endParaRPr lang="en-GB" dirty="0">
              <a:latin typeface="Arial Narrow" panose="020B0606020202030204" pitchFamily="34" charset="0"/>
            </a:endParaRPr>
          </a:p>
        </p:txBody>
      </p:sp>
    </p:spTree>
    <p:extLst>
      <p:ext uri="{BB962C8B-B14F-4D97-AF65-F5344CB8AC3E}">
        <p14:creationId xmlns:p14="http://schemas.microsoft.com/office/powerpoint/2010/main" val="42190584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25FB20B-4531-8594-95C4-2207CF5BF90D}"/>
              </a:ext>
            </a:extLst>
          </p:cNvPr>
          <p:cNvSpPr txBox="1"/>
          <p:nvPr/>
        </p:nvSpPr>
        <p:spPr>
          <a:xfrm>
            <a:off x="1049449" y="1008178"/>
            <a:ext cx="8395519" cy="5539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000" b="0" i="0" u="none" strike="noStrike" kern="1200" cap="none" spc="0" normalizeH="0" baseline="0" noProof="0" dirty="0">
                <a:ln>
                  <a:noFill/>
                </a:ln>
                <a:solidFill>
                  <a:prstClr val="black"/>
                </a:solidFill>
                <a:effectLst/>
                <a:uLnTx/>
                <a:uFillTx/>
                <a:latin typeface="Arial Narrow" panose="020B0606020202030204" pitchFamily="34" charset="0"/>
                <a:ea typeface="+mn-ea"/>
                <a:cs typeface="+mn-cs"/>
              </a:rPr>
              <a:t>Significant functions </a:t>
            </a:r>
            <a:r>
              <a:rPr lang="en-GB" sz="3000" dirty="0">
                <a:solidFill>
                  <a:prstClr val="black"/>
                </a:solidFill>
                <a:latin typeface="Arial Narrow" panose="020B0606020202030204" pitchFamily="34" charset="0"/>
              </a:rPr>
              <a:t>of </a:t>
            </a:r>
            <a:r>
              <a:rPr kumimoji="0" lang="en-GB" sz="3000" b="0" i="0" u="none" strike="noStrike" kern="1200" cap="none" spc="0" normalizeH="0" baseline="0" noProof="0" dirty="0">
                <a:ln>
                  <a:noFill/>
                </a:ln>
                <a:solidFill>
                  <a:prstClr val="black"/>
                </a:solidFill>
                <a:effectLst/>
                <a:uLnTx/>
                <a:uFillTx/>
                <a:latin typeface="Arial Narrow" panose="020B0606020202030204" pitchFamily="34" charset="0"/>
                <a:ea typeface="+mn-ea"/>
                <a:cs typeface="+mn-cs"/>
              </a:rPr>
              <a:t>circular RNA (</a:t>
            </a:r>
            <a:r>
              <a:rPr kumimoji="0" lang="en-GB" sz="3000" b="0" i="0" u="none" strike="noStrike" kern="1200" cap="none" spc="0" normalizeH="0" baseline="0" noProof="0" dirty="0" err="1">
                <a:ln>
                  <a:noFill/>
                </a:ln>
                <a:solidFill>
                  <a:prstClr val="black"/>
                </a:solidFill>
                <a:effectLst/>
                <a:uLnTx/>
                <a:uFillTx/>
                <a:latin typeface="Arial Narrow" panose="020B0606020202030204" pitchFamily="34" charset="0"/>
                <a:ea typeface="+mn-ea"/>
                <a:cs typeface="+mn-cs"/>
              </a:rPr>
              <a:t>circRNA</a:t>
            </a:r>
            <a:r>
              <a:rPr kumimoji="0" lang="en-GB" sz="3000" b="0" i="0" u="none" strike="noStrike" kern="1200" cap="none" spc="0" normalizeH="0" baseline="0" noProof="0" dirty="0">
                <a:ln>
                  <a:noFill/>
                </a:ln>
                <a:solidFill>
                  <a:prstClr val="black"/>
                </a:solidFill>
                <a:effectLst/>
                <a:uLnTx/>
                <a:uFillTx/>
                <a:latin typeface="Arial Narrow" panose="020B0606020202030204" pitchFamily="34" charset="0"/>
                <a:ea typeface="+mn-ea"/>
                <a:cs typeface="+mn-cs"/>
              </a:rPr>
              <a:t>)</a:t>
            </a:r>
          </a:p>
        </p:txBody>
      </p:sp>
      <p:graphicFrame>
        <p:nvGraphicFramePr>
          <p:cNvPr id="6" name="Diagram 5">
            <a:extLst>
              <a:ext uri="{FF2B5EF4-FFF2-40B4-BE49-F238E27FC236}">
                <a16:creationId xmlns:a16="http://schemas.microsoft.com/office/drawing/2014/main" id="{42B3E7C6-494E-BFA6-5BE2-415CDBA96EE3}"/>
              </a:ext>
            </a:extLst>
          </p:cNvPr>
          <p:cNvGraphicFramePr/>
          <p:nvPr>
            <p:extLst>
              <p:ext uri="{D42A27DB-BD31-4B8C-83A1-F6EECF244321}">
                <p14:modId xmlns:p14="http://schemas.microsoft.com/office/powerpoint/2010/main" val="297794573"/>
              </p:ext>
            </p:extLst>
          </p:nvPr>
        </p:nvGraphicFramePr>
        <p:xfrm>
          <a:off x="2048784" y="1561424"/>
          <a:ext cx="6271342" cy="391906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927798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DDB9F-1E09-1A1D-B0D3-BF05BB5DC92F}"/>
              </a:ext>
            </a:extLst>
          </p:cNvPr>
          <p:cNvSpPr>
            <a:spLocks noGrp="1"/>
          </p:cNvSpPr>
          <p:nvPr>
            <p:ph type="title"/>
          </p:nvPr>
        </p:nvSpPr>
        <p:spPr/>
        <p:txBody>
          <a:bodyPr/>
          <a:lstStyle/>
          <a:p>
            <a:r>
              <a:rPr lang="en-GB" sz="2800" dirty="0"/>
              <a:t>Relation between Circular RNA (</a:t>
            </a:r>
            <a:r>
              <a:rPr lang="en-GB" sz="2800" dirty="0" err="1"/>
              <a:t>circRNA</a:t>
            </a:r>
            <a:r>
              <a:rPr lang="en-GB" sz="2800" dirty="0"/>
              <a:t>), messenger RNA (mRNA), and microRNA (miRNA) and </a:t>
            </a:r>
            <a:r>
              <a:rPr lang="en-GB" sz="2800" dirty="0" err="1"/>
              <a:t>sirna</a:t>
            </a:r>
            <a:endParaRPr lang="en-GB" sz="2800" dirty="0"/>
          </a:p>
        </p:txBody>
      </p:sp>
      <p:pic>
        <p:nvPicPr>
          <p:cNvPr id="4" name="Picture 3">
            <a:extLst>
              <a:ext uri="{FF2B5EF4-FFF2-40B4-BE49-F238E27FC236}">
                <a16:creationId xmlns:a16="http://schemas.microsoft.com/office/drawing/2014/main" id="{FD1A96E4-EAEA-5B43-CA1A-2F4B04F8C6E9}"/>
              </a:ext>
            </a:extLst>
          </p:cNvPr>
          <p:cNvPicPr>
            <a:picLocks noChangeAspect="1"/>
          </p:cNvPicPr>
          <p:nvPr/>
        </p:nvPicPr>
        <p:blipFill>
          <a:blip r:embed="rId2"/>
          <a:stretch>
            <a:fillRect/>
          </a:stretch>
        </p:blipFill>
        <p:spPr>
          <a:xfrm>
            <a:off x="7131768" y="2326224"/>
            <a:ext cx="4379376" cy="4379376"/>
          </a:xfrm>
          <a:prstGeom prst="rect">
            <a:avLst/>
          </a:prstGeom>
        </p:spPr>
      </p:pic>
      <p:pic>
        <p:nvPicPr>
          <p:cNvPr id="5" name="Picture 4">
            <a:extLst>
              <a:ext uri="{FF2B5EF4-FFF2-40B4-BE49-F238E27FC236}">
                <a16:creationId xmlns:a16="http://schemas.microsoft.com/office/drawing/2014/main" id="{ED2BE452-42EB-5092-A2D0-07CF1AC299BD}"/>
              </a:ext>
            </a:extLst>
          </p:cNvPr>
          <p:cNvPicPr>
            <a:picLocks noChangeAspect="1"/>
          </p:cNvPicPr>
          <p:nvPr/>
        </p:nvPicPr>
        <p:blipFill>
          <a:blip r:embed="rId3"/>
          <a:stretch>
            <a:fillRect/>
          </a:stretch>
        </p:blipFill>
        <p:spPr>
          <a:xfrm>
            <a:off x="419101" y="2478624"/>
            <a:ext cx="5810249" cy="3405708"/>
          </a:xfrm>
          <a:prstGeom prst="rect">
            <a:avLst/>
          </a:prstGeom>
        </p:spPr>
      </p:pic>
    </p:spTree>
    <p:extLst>
      <p:ext uri="{BB962C8B-B14F-4D97-AF65-F5344CB8AC3E}">
        <p14:creationId xmlns:p14="http://schemas.microsoft.com/office/powerpoint/2010/main" val="19388807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3BA3F84-6911-FE81-A8E8-9FE82C3C5B6D}"/>
              </a:ext>
            </a:extLst>
          </p:cNvPr>
          <p:cNvSpPr txBox="1"/>
          <p:nvPr/>
        </p:nvSpPr>
        <p:spPr>
          <a:xfrm>
            <a:off x="484094" y="2402541"/>
            <a:ext cx="11286565" cy="4247317"/>
          </a:xfrm>
          <a:prstGeom prst="rect">
            <a:avLst/>
          </a:prstGeom>
          <a:noFill/>
        </p:spPr>
        <p:txBody>
          <a:bodyPr wrap="square" rtlCol="1">
            <a:spAutoFit/>
          </a:bodyPr>
          <a:lstStyle/>
          <a:p>
            <a:pPr marL="285750" indent="-285750">
              <a:buFont typeface="Arial" panose="020B0604020202020204" pitchFamily="34" charset="0"/>
              <a:buChar char="•"/>
            </a:pPr>
            <a:r>
              <a:rPr lang="en-GB" dirty="0"/>
              <a:t>To assess the potential diagnostic capabilities of the  circular RNAs, a systematic review was conducted, with a particular emphasis on preclinical studies ( Lu et al. in 2021 ) and a clinical trial  to measure its diagnostic performance (He et al. 2022).</a:t>
            </a:r>
          </a:p>
          <a:p>
            <a:endParaRPr lang="en-GB" dirty="0"/>
          </a:p>
          <a:p>
            <a:pPr marL="285750" indent="-285750">
              <a:buFont typeface="Arial" panose="020B0604020202020204" pitchFamily="34" charset="0"/>
              <a:buChar char="•"/>
            </a:pPr>
            <a:r>
              <a:rPr lang="en-GB" dirty="0"/>
              <a:t>circular RNA-based therapy could become a reliable tool in diabetes management based on preclinical and clinical data </a:t>
            </a:r>
            <a:r>
              <a:rPr lang="fr-FR" dirty="0"/>
              <a:t>(</a:t>
            </a:r>
            <a:r>
              <a:rPr lang="fr-FR" dirty="0" err="1"/>
              <a:t>Zaiou</a:t>
            </a:r>
            <a:r>
              <a:rPr lang="fr-FR" dirty="0"/>
              <a:t> et al ;2020)</a:t>
            </a:r>
            <a:r>
              <a:rPr lang="en-GB" dirty="0"/>
              <a:t>. </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circular RNA could potentially be used as a diagnostic tool in clinical settings which is importance for early diagnosis of diabetic retinopathy in primary care(Jimenez-Baez et al ;2015)</a:t>
            </a:r>
          </a:p>
          <a:p>
            <a:r>
              <a:rPr lang="en-GB" dirty="0"/>
              <a:t> </a:t>
            </a:r>
          </a:p>
          <a:p>
            <a:pPr marL="285750" indent="-285750">
              <a:buFont typeface="Arial" panose="020B0604020202020204" pitchFamily="34" charset="0"/>
              <a:buChar char="•"/>
            </a:pPr>
            <a:r>
              <a:rPr lang="en-GB" dirty="0"/>
              <a:t>Therefore, they appears that circular RNA has been studied in both preclinical and clinical settings for its potential diagnostic and therapeutic value in diabetic retinopathy.</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a:p>
            <a:endParaRPr lang="en-GB" dirty="0"/>
          </a:p>
        </p:txBody>
      </p:sp>
      <p:sp>
        <p:nvSpPr>
          <p:cNvPr id="5" name="Title 1">
            <a:extLst>
              <a:ext uri="{FF2B5EF4-FFF2-40B4-BE49-F238E27FC236}">
                <a16:creationId xmlns:a16="http://schemas.microsoft.com/office/drawing/2014/main" id="{29ADD4C3-32CC-DF12-5E18-2330EF2A3E67}"/>
              </a:ext>
            </a:extLst>
          </p:cNvPr>
          <p:cNvSpPr txBox="1">
            <a:spLocks/>
          </p:cNvSpPr>
          <p:nvPr/>
        </p:nvSpPr>
        <p:spPr>
          <a:xfrm>
            <a:off x="1208742" y="704727"/>
            <a:ext cx="8761413" cy="706964"/>
          </a:xfrm>
          <a:prstGeom prst="rect">
            <a:avLst/>
          </a:prstGeom>
        </p:spPr>
        <p:txBody>
          <a:bodyPr/>
          <a:lst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Is circular RNA (</a:t>
            </a:r>
            <a:r>
              <a:rPr lang="en-GB" dirty="0" err="1"/>
              <a:t>circRNA</a:t>
            </a:r>
            <a:r>
              <a:rPr lang="en-GB" dirty="0"/>
              <a:t>),  used in clinical or  preclinical stage?</a:t>
            </a:r>
          </a:p>
        </p:txBody>
      </p:sp>
    </p:spTree>
    <p:extLst>
      <p:ext uri="{BB962C8B-B14F-4D97-AF65-F5344CB8AC3E}">
        <p14:creationId xmlns:p14="http://schemas.microsoft.com/office/powerpoint/2010/main" val="1437094467"/>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noEditPoints="1"/>
          </p:cNvSpPr>
          <p:nvPr>
            <p:ph type="title"/>
          </p:nvPr>
        </p:nvSpPr>
        <p:spPr/>
        <p:txBody>
          <a:bodyPr>
            <a:normAutofit fontScale="90000"/>
          </a:bodyPr>
          <a:lstStyle/>
          <a:p>
            <a:r>
              <a:rPr lang="en-AU" b="1" dirty="0">
                <a:solidFill>
                  <a:schemeClr val="bg1"/>
                </a:solidFill>
                <a:latin typeface="Arial Rounded MT Bold" panose="020F0704030504030204" pitchFamily="34" charset="0"/>
              </a:rPr>
              <a:t>At which stage of diabetes circular RNA (</a:t>
            </a:r>
            <a:r>
              <a:rPr lang="en-AU" b="1" dirty="0" err="1">
                <a:solidFill>
                  <a:schemeClr val="bg1"/>
                </a:solidFill>
                <a:latin typeface="Arial Rounded MT Bold" panose="020F0704030504030204" pitchFamily="34" charset="0"/>
              </a:rPr>
              <a:t>circRNA</a:t>
            </a:r>
            <a:r>
              <a:rPr lang="en-AU" b="1" dirty="0">
                <a:solidFill>
                  <a:schemeClr val="bg1"/>
                </a:solidFill>
                <a:latin typeface="Arial Rounded MT Bold" panose="020F0704030504030204" pitchFamily="34" charset="0"/>
              </a:rPr>
              <a:t>) used ?</a:t>
            </a:r>
            <a:endParaRPr b="1" dirty="0">
              <a:solidFill>
                <a:schemeClr val="bg1"/>
              </a:solidFill>
              <a:latin typeface="Arial Rounded MT Bold" panose="020F0704030504030204" pitchFamily="34" charset="0"/>
            </a:endParaRPr>
          </a:p>
        </p:txBody>
      </p:sp>
      <p:sp>
        <p:nvSpPr>
          <p:cNvPr id="3" name="Content Placeholder 2"/>
          <p:cNvSpPr>
            <a:spLocks noGrp="1" noEditPoints="1"/>
          </p:cNvSpPr>
          <p:nvPr>
            <p:ph idx="1"/>
          </p:nvPr>
        </p:nvSpPr>
        <p:spPr>
          <a:xfrm>
            <a:off x="1154954" y="2603500"/>
            <a:ext cx="10337799" cy="3416300"/>
          </a:xfrm>
        </p:spPr>
        <p:txBody>
          <a:bodyPr>
            <a:normAutofit fontScale="92500"/>
          </a:bodyPr>
          <a:lstStyle/>
          <a:p>
            <a:r>
              <a:rPr lang="en-AU" sz="3200" dirty="0">
                <a:latin typeface="Arial Narrow" panose="020B0606020202030204" pitchFamily="34" charset="0"/>
              </a:rPr>
              <a:t>It is commonly used for early diagnosis in mild non proliferative diabetic retinopathy (NPDR). Mild NPDR is the earliest stage of diabetic retinopathy and is characterized by the presence of at least one micro aneurysm. At this stage, patients are generally asymptomatic, and vision is not affected. However, it is important to detect mild NPDR early to prevent the progression of the disease to more advanced stages, which can cause severe vision loss.</a:t>
            </a:r>
            <a:endParaRPr sz="3200" dirty="0">
              <a:latin typeface="Arial Narrow" panose="020B0606020202030204" pitchFamily="34" charset="0"/>
            </a:endParaRPr>
          </a:p>
        </p:txBody>
      </p:sp>
    </p:spTree>
    <p:extLst>
      <p:ext uri="{BB962C8B-B14F-4D97-AF65-F5344CB8AC3E}">
        <p14:creationId xmlns:p14="http://schemas.microsoft.com/office/powerpoint/2010/main" val="14599980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FACCE-AA73-7CBC-1482-68645B58E99D}"/>
              </a:ext>
            </a:extLst>
          </p:cNvPr>
          <p:cNvSpPr>
            <a:spLocks noGrp="1"/>
          </p:cNvSpPr>
          <p:nvPr>
            <p:ph type="title"/>
          </p:nvPr>
        </p:nvSpPr>
        <p:spPr/>
        <p:txBody>
          <a:bodyPr/>
          <a:lstStyle/>
          <a:p>
            <a:r>
              <a:rPr lang="en-US" dirty="0"/>
              <a:t>State of Art </a:t>
            </a:r>
            <a:endParaRPr lang="ar-EG" dirty="0"/>
          </a:p>
        </p:txBody>
      </p:sp>
      <p:sp>
        <p:nvSpPr>
          <p:cNvPr id="3" name="TextBox 2">
            <a:extLst>
              <a:ext uri="{FF2B5EF4-FFF2-40B4-BE49-F238E27FC236}">
                <a16:creationId xmlns:a16="http://schemas.microsoft.com/office/drawing/2014/main" id="{0289D1ED-FD9F-CCC2-2368-25E69556BD0B}"/>
              </a:ext>
            </a:extLst>
          </p:cNvPr>
          <p:cNvSpPr txBox="1"/>
          <p:nvPr/>
        </p:nvSpPr>
        <p:spPr>
          <a:xfrm>
            <a:off x="757472" y="2635624"/>
            <a:ext cx="10932504" cy="2949269"/>
          </a:xfrm>
          <a:prstGeom prst="rect">
            <a:avLst/>
          </a:prstGeom>
          <a:noFill/>
        </p:spPr>
        <p:txBody>
          <a:bodyPr wrap="square" rtlCol="1">
            <a:spAutoFit/>
          </a:bodyPr>
          <a:lstStyle/>
          <a:p>
            <a:pPr marL="285750" indent="-285750" algn="just">
              <a:lnSpc>
                <a:spcPct val="150000"/>
              </a:lnSpc>
              <a:buFont typeface="Arial" panose="020B0604020202020204" pitchFamily="34" charset="0"/>
              <a:buChar char="•"/>
            </a:pPr>
            <a:r>
              <a:rPr lang="en-GB" dirty="0"/>
              <a:t>In the field of </a:t>
            </a:r>
            <a:r>
              <a:rPr lang="en-GB" dirty="0" err="1"/>
              <a:t>circRNA</a:t>
            </a:r>
            <a:r>
              <a:rPr lang="en-GB" dirty="0"/>
              <a:t> research, the focus on retinal development and disease has revealed important insights. </a:t>
            </a:r>
            <a:r>
              <a:rPr lang="en-GB" dirty="0" err="1"/>
              <a:t>CircRNAs</a:t>
            </a:r>
            <a:r>
              <a:rPr lang="en-GB" dirty="0"/>
              <a:t> are abundant in the retina, crucial for its development, and associated with various retinal diseases, including diabetic retinopathy. They also show promise as early disease markers in retinal degeneration. While the broader biological roles of </a:t>
            </a:r>
            <a:r>
              <a:rPr lang="en-GB" dirty="0" err="1"/>
              <a:t>circRNAs</a:t>
            </a:r>
            <a:r>
              <a:rPr lang="en-GB" dirty="0"/>
              <a:t> remain under investigation, these findings represent the state of the art in </a:t>
            </a:r>
            <a:r>
              <a:rPr lang="en-GB" dirty="0" err="1"/>
              <a:t>circRNA</a:t>
            </a:r>
            <a:r>
              <a:rPr lang="en-GB" dirty="0"/>
              <a:t> research within the context of retinal biology and pathology, holding potential for diagnostic and therapeutic applications.</a:t>
            </a:r>
            <a:endParaRPr lang="ar-EG" dirty="0"/>
          </a:p>
        </p:txBody>
      </p:sp>
    </p:spTree>
    <p:extLst>
      <p:ext uri="{BB962C8B-B14F-4D97-AF65-F5344CB8AC3E}">
        <p14:creationId xmlns:p14="http://schemas.microsoft.com/office/powerpoint/2010/main" val="41109657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5522C2-64CD-1134-E562-4C32DF4C5CD6}"/>
              </a:ext>
            </a:extLst>
          </p:cNvPr>
          <p:cNvSpPr>
            <a:spLocks noGrp="1"/>
          </p:cNvSpPr>
          <p:nvPr>
            <p:ph type="title"/>
          </p:nvPr>
        </p:nvSpPr>
        <p:spPr/>
        <p:txBody>
          <a:bodyPr/>
          <a:lstStyle/>
          <a:p>
            <a:r>
              <a:rPr lang="en-GB" dirty="0"/>
              <a:t>Aim of the study </a:t>
            </a:r>
            <a:endParaRPr lang="ar-EG" dirty="0"/>
          </a:p>
        </p:txBody>
      </p:sp>
      <p:sp>
        <p:nvSpPr>
          <p:cNvPr id="3" name="TextBox 2">
            <a:extLst>
              <a:ext uri="{FF2B5EF4-FFF2-40B4-BE49-F238E27FC236}">
                <a16:creationId xmlns:a16="http://schemas.microsoft.com/office/drawing/2014/main" id="{FDA653F8-E53B-E229-C142-2E7DBC168F6A}"/>
              </a:ext>
            </a:extLst>
          </p:cNvPr>
          <p:cNvSpPr txBox="1"/>
          <p:nvPr/>
        </p:nvSpPr>
        <p:spPr>
          <a:xfrm>
            <a:off x="757472" y="2635624"/>
            <a:ext cx="10932504" cy="1702774"/>
          </a:xfrm>
          <a:prstGeom prst="rect">
            <a:avLst/>
          </a:prstGeom>
          <a:noFill/>
        </p:spPr>
        <p:txBody>
          <a:bodyPr wrap="square" rtlCol="1">
            <a:spAutoFit/>
          </a:bodyPr>
          <a:lstStyle/>
          <a:p>
            <a:pPr marL="285750" indent="-285750" algn="just">
              <a:lnSpc>
                <a:spcPct val="150000"/>
              </a:lnSpc>
              <a:buFont typeface="Arial" panose="020B0604020202020204" pitchFamily="34" charset="0"/>
              <a:buChar char="•"/>
            </a:pPr>
            <a:r>
              <a:rPr lang="en-GB" dirty="0"/>
              <a:t>Investigate Circular RNA (hsa_circ_0012107) to ascertain its potential as a diagnostic biomarker for diabetic retinopathy and simultaneously explore its expression patterns, related pathways, and functions to gain comprehensive insights into its role in the disease's pathogenesis and clinical applicability.</a:t>
            </a:r>
            <a:endParaRPr lang="ar-EG" dirty="0"/>
          </a:p>
        </p:txBody>
      </p:sp>
    </p:spTree>
    <p:extLst>
      <p:ext uri="{BB962C8B-B14F-4D97-AF65-F5344CB8AC3E}">
        <p14:creationId xmlns:p14="http://schemas.microsoft.com/office/powerpoint/2010/main" val="5244460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3B29F83-BACE-56BA-6D4C-8C041BE48991}"/>
              </a:ext>
            </a:extLst>
          </p:cNvPr>
          <p:cNvSpPr txBox="1"/>
          <p:nvPr/>
        </p:nvSpPr>
        <p:spPr>
          <a:xfrm>
            <a:off x="4685436" y="78376"/>
            <a:ext cx="6099242"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dirty="0">
                <a:ln>
                  <a:noFill/>
                </a:ln>
                <a:solidFill>
                  <a:prstClr val="black"/>
                </a:solidFill>
                <a:effectLst/>
                <a:uLnTx/>
                <a:uFillTx/>
                <a:latin typeface="Century Gothic" panose="020B0502020202020204"/>
                <a:ea typeface="+mn-ea"/>
                <a:cs typeface="+mn-cs"/>
              </a:rPr>
              <a:t>hypothesis </a:t>
            </a:r>
          </a:p>
        </p:txBody>
      </p:sp>
      <p:pic>
        <p:nvPicPr>
          <p:cNvPr id="6" name="Picture 5">
            <a:extLst>
              <a:ext uri="{FF2B5EF4-FFF2-40B4-BE49-F238E27FC236}">
                <a16:creationId xmlns:a16="http://schemas.microsoft.com/office/drawing/2014/main" id="{5281534F-E695-B645-44F8-CBAD49EBE186}"/>
              </a:ext>
            </a:extLst>
          </p:cNvPr>
          <p:cNvPicPr>
            <a:picLocks noChangeAspect="1"/>
          </p:cNvPicPr>
          <p:nvPr/>
        </p:nvPicPr>
        <p:blipFill rotWithShape="1">
          <a:blip r:embed="rId2"/>
          <a:srcRect l="17981" t="-66" r="2876" b="217"/>
          <a:stretch/>
        </p:blipFill>
        <p:spPr>
          <a:xfrm>
            <a:off x="1407322" y="704835"/>
            <a:ext cx="8399363" cy="5960837"/>
          </a:xfrm>
          <a:prstGeom prst="rect">
            <a:avLst/>
          </a:prstGeom>
        </p:spPr>
      </p:pic>
    </p:spTree>
    <p:extLst>
      <p:ext uri="{BB962C8B-B14F-4D97-AF65-F5344CB8AC3E}">
        <p14:creationId xmlns:p14="http://schemas.microsoft.com/office/powerpoint/2010/main" val="16215910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noEditPoints="1"/>
          </p:cNvSpPr>
          <p:nvPr>
            <p:ph type="title" idx="4294967295"/>
          </p:nvPr>
        </p:nvSpPr>
        <p:spPr>
          <a:xfrm>
            <a:off x="1715293" y="249238"/>
            <a:ext cx="8761413" cy="708025"/>
          </a:xfrm>
          <a:solidFill>
            <a:schemeClr val="accent1"/>
          </a:solidFill>
        </p:spPr>
        <p:txBody>
          <a:bodyPr/>
          <a:lstStyle/>
          <a:p>
            <a:pPr algn="ctr"/>
            <a:r>
              <a:rPr lang="en-US" sz="4400" b="0" i="0" u="none" strike="noStrike" dirty="0">
                <a:latin typeface="Arial Rounded MT Bold" panose="020F0704030504030204" pitchFamily="34" charset="0"/>
                <a:ea typeface="Arial Black" charset="0"/>
                <a:cs typeface="Arial Black" charset="0"/>
              </a:rPr>
              <a:t>Methodology </a:t>
            </a:r>
          </a:p>
        </p:txBody>
      </p:sp>
      <p:pic>
        <p:nvPicPr>
          <p:cNvPr id="6" name="Picture 5">
            <a:extLst>
              <a:ext uri="{FF2B5EF4-FFF2-40B4-BE49-F238E27FC236}">
                <a16:creationId xmlns:a16="http://schemas.microsoft.com/office/drawing/2014/main" id="{C6DADD75-111D-2FB8-2A32-4DF516C6861A}"/>
              </a:ext>
            </a:extLst>
          </p:cNvPr>
          <p:cNvPicPr>
            <a:picLocks noChangeAspect="1"/>
          </p:cNvPicPr>
          <p:nvPr/>
        </p:nvPicPr>
        <p:blipFill>
          <a:blip r:embed="rId3"/>
          <a:stretch>
            <a:fillRect/>
          </a:stretch>
        </p:blipFill>
        <p:spPr>
          <a:xfrm>
            <a:off x="304800" y="1030286"/>
            <a:ext cx="11582400" cy="558178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a:extLst>
              <a:ext uri="{FF2B5EF4-FFF2-40B4-BE49-F238E27FC236}">
                <a16:creationId xmlns:a16="http://schemas.microsoft.com/office/drawing/2014/main" id="{18508C58-4294-270F-C01C-357DF2D6C085}"/>
              </a:ext>
            </a:extLst>
          </p:cNvPr>
          <p:cNvGraphicFramePr/>
          <p:nvPr>
            <p:extLst>
              <p:ext uri="{D42A27DB-BD31-4B8C-83A1-F6EECF244321}">
                <p14:modId xmlns:p14="http://schemas.microsoft.com/office/powerpoint/2010/main" val="942123386"/>
              </p:ext>
            </p:extLst>
          </p:nvPr>
        </p:nvGraphicFramePr>
        <p:xfrm>
          <a:off x="335320" y="235974"/>
          <a:ext cx="10980380" cy="638605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CAF816-0CFE-4C5B-8DB4-2A620CCC49F4}"/>
              </a:ext>
            </a:extLst>
          </p:cNvPr>
          <p:cNvSpPr/>
          <p:nvPr/>
        </p:nvSpPr>
        <p:spPr>
          <a:xfrm>
            <a:off x="269475" y="2142786"/>
            <a:ext cx="10714892" cy="1697901"/>
          </a:xfrm>
          <a:prstGeom prst="rect">
            <a:avLst/>
          </a:prstGeom>
        </p:spPr>
        <p:txBody>
          <a:bodyPr wrap="square">
            <a:spAutoFit/>
          </a:bodyPr>
          <a:lstStyle/>
          <a:p>
            <a:pPr>
              <a:lnSpc>
                <a:spcPct val="150000"/>
              </a:lnSpc>
              <a:spcAft>
                <a:spcPts val="800"/>
              </a:spcAft>
            </a:pPr>
            <a:r>
              <a:rPr lang="en-US" b="1" dirty="0">
                <a:solidFill>
                  <a:srgbClr val="000000"/>
                </a:solidFill>
                <a:latin typeface="Times New Roman" panose="02020603050405020304" pitchFamily="18" charset="0"/>
                <a:ea typeface="Times New Roman" panose="02020603050405020304" pitchFamily="18" charset="0"/>
              </a:rPr>
              <a:t>Type of study: </a:t>
            </a:r>
            <a:r>
              <a:rPr lang="en-US" dirty="0">
                <a:solidFill>
                  <a:srgbClr val="000000"/>
                </a:solidFill>
                <a:latin typeface="Times New Roman" panose="02020603050405020304" pitchFamily="18" charset="0"/>
                <a:ea typeface="Times New Roman" panose="02020603050405020304" pitchFamily="18" charset="0"/>
              </a:rPr>
              <a:t>Pilot study. </a:t>
            </a:r>
            <a:endParaRPr lang="en-US" dirty="0">
              <a:latin typeface="Calibri" panose="020F0502020204030204" pitchFamily="34" charset="0"/>
              <a:ea typeface="Calibri" panose="020F0502020204030204" pitchFamily="34" charset="0"/>
            </a:endParaRPr>
          </a:p>
          <a:p>
            <a:pPr>
              <a:lnSpc>
                <a:spcPct val="150000"/>
              </a:lnSpc>
              <a:spcAft>
                <a:spcPts val="800"/>
              </a:spcAft>
            </a:pPr>
            <a:endParaRPr lang="en-US" sz="2400" dirty="0">
              <a:latin typeface="Calibri" panose="020F0502020204030204" pitchFamily="34" charset="0"/>
              <a:ea typeface="Calibri" panose="020F0502020204030204" pitchFamily="34" charset="0"/>
            </a:endParaRPr>
          </a:p>
          <a:p>
            <a:endParaRPr lang="ar-SA" sz="2800" dirty="0"/>
          </a:p>
        </p:txBody>
      </p:sp>
      <p:graphicFrame>
        <p:nvGraphicFramePr>
          <p:cNvPr id="3" name="Diagram 2">
            <a:extLst>
              <a:ext uri="{FF2B5EF4-FFF2-40B4-BE49-F238E27FC236}">
                <a16:creationId xmlns:a16="http://schemas.microsoft.com/office/drawing/2014/main" id="{8D3629FE-08FE-0E44-2A19-74A86C00B296}"/>
              </a:ext>
            </a:extLst>
          </p:cNvPr>
          <p:cNvGraphicFramePr/>
          <p:nvPr>
            <p:extLst>
              <p:ext uri="{D42A27DB-BD31-4B8C-83A1-F6EECF244321}">
                <p14:modId xmlns:p14="http://schemas.microsoft.com/office/powerpoint/2010/main" val="1344032741"/>
              </p:ext>
            </p:extLst>
          </p:nvPr>
        </p:nvGraphicFramePr>
        <p:xfrm>
          <a:off x="269475" y="2492857"/>
          <a:ext cx="7206320" cy="438264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Picture 3">
            <a:extLst>
              <a:ext uri="{FF2B5EF4-FFF2-40B4-BE49-F238E27FC236}">
                <a16:creationId xmlns:a16="http://schemas.microsoft.com/office/drawing/2014/main" id="{AC13D4AF-FEB4-071E-36F7-AF6C7E4E4AE7}"/>
              </a:ext>
            </a:extLst>
          </p:cNvPr>
          <p:cNvPicPr>
            <a:picLocks noChangeAspect="1"/>
          </p:cNvPicPr>
          <p:nvPr/>
        </p:nvPicPr>
        <p:blipFill>
          <a:blip r:embed="rId7"/>
          <a:stretch>
            <a:fillRect/>
          </a:stretch>
        </p:blipFill>
        <p:spPr>
          <a:xfrm>
            <a:off x="6761217" y="2629076"/>
            <a:ext cx="5279295" cy="3866263"/>
          </a:xfrm>
          <a:prstGeom prst="rect">
            <a:avLst/>
          </a:prstGeom>
        </p:spPr>
      </p:pic>
      <p:sp>
        <p:nvSpPr>
          <p:cNvPr id="6" name="TextBox 5">
            <a:extLst>
              <a:ext uri="{FF2B5EF4-FFF2-40B4-BE49-F238E27FC236}">
                <a16:creationId xmlns:a16="http://schemas.microsoft.com/office/drawing/2014/main" id="{485CC98B-71C0-5EA0-9D6D-CA8297DA2ABF}"/>
              </a:ext>
            </a:extLst>
          </p:cNvPr>
          <p:cNvSpPr txBox="1"/>
          <p:nvPr/>
        </p:nvSpPr>
        <p:spPr>
          <a:xfrm>
            <a:off x="8315727" y="2241823"/>
            <a:ext cx="6275438" cy="369332"/>
          </a:xfrm>
          <a:prstGeom prst="rect">
            <a:avLst/>
          </a:prstGeom>
          <a:noFill/>
        </p:spPr>
        <p:txBody>
          <a:bodyPr wrap="square">
            <a:spAutoFit/>
          </a:bodyPr>
          <a:lstStyle/>
          <a:p>
            <a:r>
              <a:rPr lang="en-GB" dirty="0"/>
              <a:t>Validation steps</a:t>
            </a:r>
          </a:p>
        </p:txBody>
      </p:sp>
      <p:sp>
        <p:nvSpPr>
          <p:cNvPr id="7" name="Title 6">
            <a:extLst>
              <a:ext uri="{FF2B5EF4-FFF2-40B4-BE49-F238E27FC236}">
                <a16:creationId xmlns:a16="http://schemas.microsoft.com/office/drawing/2014/main" id="{A06BA079-CDF4-7AB1-553E-CEC9B1CEDF35}"/>
              </a:ext>
            </a:extLst>
          </p:cNvPr>
          <p:cNvSpPr>
            <a:spLocks noGrp="1"/>
          </p:cNvSpPr>
          <p:nvPr>
            <p:ph type="title"/>
          </p:nvPr>
        </p:nvSpPr>
        <p:spPr>
          <a:xfrm>
            <a:off x="1464670" y="1269656"/>
            <a:ext cx="8761413" cy="706964"/>
          </a:xfrm>
        </p:spPr>
        <p:txBody>
          <a:bodyPr/>
          <a:lstStyle/>
          <a:p>
            <a:r>
              <a:rPr lang="en-US" b="1" dirty="0">
                <a:solidFill>
                  <a:schemeClr val="bg1"/>
                </a:solidFill>
                <a:latin typeface="Times New Roman" panose="02020603050405020304" pitchFamily="18" charset="0"/>
                <a:ea typeface="Times New Roman" panose="02020603050405020304" pitchFamily="18" charset="0"/>
              </a:rPr>
              <a:t>Plan for </a:t>
            </a:r>
            <a:r>
              <a:rPr lang="en-US" b="1" dirty="0" err="1">
                <a:solidFill>
                  <a:schemeClr val="bg1"/>
                </a:solidFill>
                <a:latin typeface="Times New Roman" panose="02020603050405020304" pitchFamily="18" charset="0"/>
                <a:ea typeface="Times New Roman" panose="02020603050405020304" pitchFamily="18" charset="0"/>
              </a:rPr>
              <a:t>execusion</a:t>
            </a:r>
            <a:r>
              <a:rPr lang="en-US" b="1" dirty="0">
                <a:solidFill>
                  <a:schemeClr val="bg1"/>
                </a:solidFill>
                <a:latin typeface="Times New Roman" panose="02020603050405020304" pitchFamily="18" charset="0"/>
                <a:ea typeface="Times New Roman" panose="02020603050405020304" pitchFamily="18" charset="0"/>
              </a:rPr>
              <a:t> of the study:</a:t>
            </a:r>
            <a:br>
              <a:rPr lang="en-US" b="1" dirty="0">
                <a:solidFill>
                  <a:schemeClr val="bg1"/>
                </a:solidFill>
                <a:latin typeface="Times New Roman" panose="02020603050405020304" pitchFamily="18" charset="0"/>
                <a:ea typeface="Times New Roman" panose="02020603050405020304" pitchFamily="18" charset="0"/>
              </a:rPr>
            </a:br>
            <a:endParaRPr lang="en-GB" dirty="0">
              <a:solidFill>
                <a:schemeClr val="bg1"/>
              </a:solidFill>
            </a:endParaRPr>
          </a:p>
        </p:txBody>
      </p:sp>
    </p:spTree>
    <p:extLst>
      <p:ext uri="{BB962C8B-B14F-4D97-AF65-F5344CB8AC3E}">
        <p14:creationId xmlns:p14="http://schemas.microsoft.com/office/powerpoint/2010/main" val="435886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4091D54B-59AB-4A5E-8E9E-0421BD66D4F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3" name="Rectangle 12">
              <a:extLst>
                <a:ext uri="{FF2B5EF4-FFF2-40B4-BE49-F238E27FC236}">
                  <a16:creationId xmlns:a16="http://schemas.microsoft.com/office/drawing/2014/main" id="{547CE62E-FFFD-4A1F-BA78-C3B89C36FC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ar-EG"/>
            </a:p>
          </p:txBody>
        </p:sp>
        <p:sp>
          <p:nvSpPr>
            <p:cNvPr id="14" name="Freeform 5">
              <a:extLst>
                <a:ext uri="{FF2B5EF4-FFF2-40B4-BE49-F238E27FC236}">
                  <a16:creationId xmlns:a16="http://schemas.microsoft.com/office/drawing/2014/main" id="{AE51FD27-6B6A-4D21-BF22-245DA9BD0B3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ar-EG"/>
            </a:p>
          </p:txBody>
        </p:sp>
      </p:grpSp>
      <p:sp>
        <p:nvSpPr>
          <p:cNvPr id="16" name="Rectangle 15">
            <a:extLst>
              <a:ext uri="{FF2B5EF4-FFF2-40B4-BE49-F238E27FC236}">
                <a16:creationId xmlns:a16="http://schemas.microsoft.com/office/drawing/2014/main" id="{B8144315-1C5A-4185-A952-25D98D303D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ar-EG"/>
          </a:p>
        </p:txBody>
      </p:sp>
      <p:sp>
        <p:nvSpPr>
          <p:cNvPr id="7" name="Title 6">
            <a:extLst>
              <a:ext uri="{FF2B5EF4-FFF2-40B4-BE49-F238E27FC236}">
                <a16:creationId xmlns:a16="http://schemas.microsoft.com/office/drawing/2014/main" id="{A06BA079-CDF4-7AB1-553E-CEC9B1CEDF35}"/>
              </a:ext>
            </a:extLst>
          </p:cNvPr>
          <p:cNvSpPr>
            <a:spLocks noGrp="1"/>
          </p:cNvSpPr>
          <p:nvPr>
            <p:ph type="title"/>
          </p:nvPr>
        </p:nvSpPr>
        <p:spPr>
          <a:xfrm>
            <a:off x="8382055" y="1241266"/>
            <a:ext cx="3161016" cy="3153753"/>
          </a:xfrm>
        </p:spPr>
        <p:txBody>
          <a:bodyPr vert="horz" lIns="91440" tIns="45720" rIns="91440" bIns="45720" rtlCol="0" anchor="b">
            <a:normAutofit/>
          </a:bodyPr>
          <a:lstStyle/>
          <a:p>
            <a:pPr>
              <a:lnSpc>
                <a:spcPct val="90000"/>
              </a:lnSpc>
            </a:pPr>
            <a:r>
              <a:rPr lang="en-US" sz="4200" b="0" i="0" kern="1200" dirty="0">
                <a:solidFill>
                  <a:srgbClr val="EBEBEB"/>
                </a:solidFill>
                <a:latin typeface="+mj-lt"/>
                <a:ea typeface="+mj-ea"/>
                <a:cs typeface="+mj-cs"/>
              </a:rPr>
              <a:t>Plan for </a:t>
            </a:r>
            <a:r>
              <a:rPr lang="en-US" sz="4200" b="0" i="0" kern="1200" dirty="0" err="1">
                <a:solidFill>
                  <a:srgbClr val="EBEBEB"/>
                </a:solidFill>
                <a:latin typeface="+mj-lt"/>
                <a:ea typeface="+mj-ea"/>
                <a:cs typeface="+mj-cs"/>
              </a:rPr>
              <a:t>execusion</a:t>
            </a:r>
            <a:r>
              <a:rPr lang="en-US" sz="4200" b="0" i="0" kern="1200" dirty="0">
                <a:solidFill>
                  <a:srgbClr val="EBEBEB"/>
                </a:solidFill>
                <a:latin typeface="+mj-lt"/>
                <a:ea typeface="+mj-ea"/>
                <a:cs typeface="+mj-cs"/>
              </a:rPr>
              <a:t> of the study:</a:t>
            </a:r>
            <a:br>
              <a:rPr lang="en-US" sz="4200" b="0" i="0" kern="1200" dirty="0">
                <a:solidFill>
                  <a:srgbClr val="EBEBEB"/>
                </a:solidFill>
                <a:latin typeface="+mj-lt"/>
                <a:ea typeface="+mj-ea"/>
                <a:cs typeface="+mj-cs"/>
              </a:rPr>
            </a:br>
            <a:endParaRPr lang="en-US" sz="4200" b="0" i="0" kern="1200" dirty="0">
              <a:solidFill>
                <a:srgbClr val="EBEBEB"/>
              </a:solidFill>
              <a:latin typeface="+mj-lt"/>
              <a:ea typeface="+mj-ea"/>
              <a:cs typeface="+mj-cs"/>
            </a:endParaRPr>
          </a:p>
        </p:txBody>
      </p:sp>
      <p:grpSp>
        <p:nvGrpSpPr>
          <p:cNvPr id="18" name="Group 17">
            <a:extLst>
              <a:ext uri="{FF2B5EF4-FFF2-40B4-BE49-F238E27FC236}">
                <a16:creationId xmlns:a16="http://schemas.microsoft.com/office/drawing/2014/main" id="{25A657F0-42F3-40D3-BC75-7DA1F5C6A22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3332" y="396837"/>
            <a:ext cx="7906665" cy="6058999"/>
            <a:chOff x="423332" y="396837"/>
            <a:chExt cx="7906665" cy="6058999"/>
          </a:xfrm>
        </p:grpSpPr>
        <p:sp>
          <p:nvSpPr>
            <p:cNvPr id="19" name="Rectangle 18">
              <a:extLst>
                <a:ext uri="{FF2B5EF4-FFF2-40B4-BE49-F238E27FC236}">
                  <a16:creationId xmlns:a16="http://schemas.microsoft.com/office/drawing/2014/main" id="{2E94FF68-7A60-47B7-AB98-1674FC7F2D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flipH="1">
              <a:off x="423332" y="402165"/>
              <a:ext cx="678513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ar-EG"/>
            </a:p>
          </p:txBody>
        </p:sp>
        <p:sp>
          <p:nvSpPr>
            <p:cNvPr id="20" name="Freeform 5">
              <a:extLst>
                <a:ext uri="{FF2B5EF4-FFF2-40B4-BE49-F238E27FC236}">
                  <a16:creationId xmlns:a16="http://schemas.microsoft.com/office/drawing/2014/main" id="{42B4F8D7-4E9C-45EF-9072-1AF32CEF71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5400000" flipH="1">
              <a:off x="4616676" y="2801722"/>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ar-EG"/>
            </a:p>
          </p:txBody>
        </p:sp>
        <p:sp>
          <p:nvSpPr>
            <p:cNvPr id="21" name="Freeform 5">
              <a:extLst>
                <a:ext uri="{FF2B5EF4-FFF2-40B4-BE49-F238E27FC236}">
                  <a16:creationId xmlns:a16="http://schemas.microsoft.com/office/drawing/2014/main" id="{3ECBDDDB-593C-40F0-8E80-AA75798EE4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5677511" flipH="1">
              <a:off x="6459831" y="1826079"/>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ar-EG"/>
            </a:p>
          </p:txBody>
        </p:sp>
      </p:grpSp>
      <p:sp>
        <p:nvSpPr>
          <p:cNvPr id="8" name="Rectangle 7">
            <a:extLst>
              <a:ext uri="{FF2B5EF4-FFF2-40B4-BE49-F238E27FC236}">
                <a16:creationId xmlns:a16="http://schemas.microsoft.com/office/drawing/2014/main" id="{C9884F73-F339-B0CE-01C6-4573C7422970}"/>
              </a:ext>
            </a:extLst>
          </p:cNvPr>
          <p:cNvSpPr/>
          <p:nvPr/>
        </p:nvSpPr>
        <p:spPr>
          <a:xfrm>
            <a:off x="405280" y="460091"/>
            <a:ext cx="7351483" cy="5889433"/>
          </a:xfrm>
          <a:prstGeom prst="rect">
            <a:avLst/>
          </a:prstGeom>
        </p:spPr>
        <p:txBody>
          <a:bodyPr wrap="square">
            <a:spAutoFit/>
          </a:bodyPr>
          <a:lstStyle/>
          <a:p>
            <a:pPr>
              <a:lnSpc>
                <a:spcPct val="107000"/>
              </a:lnSpc>
              <a:spcAft>
                <a:spcPts val="800"/>
              </a:spcAft>
            </a:pPr>
            <a:r>
              <a:rPr lang="en-US" sz="2400" b="1" dirty="0">
                <a:latin typeface="Arial Narrow" panose="020B0606020202030204" pitchFamily="34" charset="0"/>
                <a:ea typeface="Times New Roman" panose="02020603050405020304" pitchFamily="18" charset="0"/>
              </a:rPr>
              <a:t>The following parameters will be documented from the records of the patients:</a:t>
            </a:r>
          </a:p>
          <a:p>
            <a:pPr>
              <a:lnSpc>
                <a:spcPct val="107000"/>
              </a:lnSpc>
              <a:spcAft>
                <a:spcPts val="800"/>
              </a:spcAft>
            </a:pPr>
            <a:r>
              <a:rPr lang="en-US" b="1" dirty="0">
                <a:latin typeface="Arial Narrow" panose="020B0606020202030204" pitchFamily="34" charset="0"/>
                <a:ea typeface="Times New Roman" panose="02020603050405020304" pitchFamily="18" charset="0"/>
              </a:rPr>
              <a:t> </a:t>
            </a:r>
            <a:endParaRPr lang="en-US" sz="2000" dirty="0">
              <a:latin typeface="Arial Narrow" panose="020B0606020202030204" pitchFamily="34" charset="0"/>
              <a:ea typeface="Calibri" panose="020F0502020204030204" pitchFamily="34" charset="0"/>
            </a:endParaRPr>
          </a:p>
          <a:p>
            <a:pPr marL="342900" marR="0" lvl="0" indent="-342900">
              <a:lnSpc>
                <a:spcPct val="107000"/>
              </a:lnSpc>
              <a:spcBef>
                <a:spcPts val="0"/>
              </a:spcBef>
              <a:spcAft>
                <a:spcPts val="220"/>
              </a:spcAft>
              <a:buFont typeface="Arial" panose="020B0604020202020204" pitchFamily="34" charset="0"/>
              <a:buChar char="●"/>
            </a:pPr>
            <a:r>
              <a:rPr lang="en-US" sz="2400" dirty="0">
                <a:latin typeface="Arial Narrow" panose="020B0606020202030204" pitchFamily="34" charset="0"/>
                <a:ea typeface="Times New Roman" panose="02020603050405020304" pitchFamily="18" charset="0"/>
                <a:cs typeface="Noto Sans Symbols"/>
              </a:rPr>
              <a:t>Full personal history and thorough clinical examination. </a:t>
            </a:r>
            <a:endParaRPr lang="en-US" sz="2000" dirty="0">
              <a:latin typeface="Arial Narrow" panose="020B0606020202030204" pitchFamily="34" charset="0"/>
              <a:ea typeface="Noto Sans Symbols"/>
              <a:cs typeface="Noto Sans Symbols"/>
            </a:endParaRPr>
          </a:p>
          <a:p>
            <a:pPr marL="342900" marR="0" lvl="0" indent="-342900">
              <a:lnSpc>
                <a:spcPct val="107000"/>
              </a:lnSpc>
              <a:spcBef>
                <a:spcPts val="0"/>
              </a:spcBef>
              <a:spcAft>
                <a:spcPts val="220"/>
              </a:spcAft>
              <a:buFont typeface="Arial" panose="020B0604020202020204" pitchFamily="34" charset="0"/>
              <a:buChar char="●"/>
            </a:pPr>
            <a:r>
              <a:rPr lang="en-US" sz="2400" dirty="0">
                <a:latin typeface="Arial Narrow" panose="020B0606020202030204" pitchFamily="34" charset="0"/>
                <a:ea typeface="Times New Roman" panose="02020603050405020304" pitchFamily="18" charset="0"/>
                <a:cs typeface="Noto Sans Symbols"/>
              </a:rPr>
              <a:t>Laboratory investigations for type II DM using one of the following methods: </a:t>
            </a:r>
            <a:endParaRPr lang="en-US" sz="2000" dirty="0">
              <a:latin typeface="Arial Narrow" panose="020B0606020202030204" pitchFamily="34" charset="0"/>
              <a:ea typeface="Noto Sans Symbols"/>
              <a:cs typeface="Noto Sans Symbols"/>
            </a:endParaRPr>
          </a:p>
          <a:p>
            <a:pPr marL="342900" marR="0" lvl="0" indent="-342900">
              <a:lnSpc>
                <a:spcPct val="107000"/>
              </a:lnSpc>
              <a:spcBef>
                <a:spcPts val="0"/>
              </a:spcBef>
              <a:spcAft>
                <a:spcPts val="220"/>
              </a:spcAft>
              <a:buFont typeface="Arial" panose="020B0604020202020204" pitchFamily="34" charset="0"/>
              <a:buChar char="●"/>
            </a:pPr>
            <a:r>
              <a:rPr lang="en-US" sz="2400" dirty="0">
                <a:latin typeface="Arial Narrow" panose="020B0606020202030204" pitchFamily="34" charset="0"/>
                <a:ea typeface="Times New Roman" panose="02020603050405020304" pitchFamily="18" charset="0"/>
                <a:cs typeface="Noto Sans Symbols"/>
              </a:rPr>
              <a:t>HbA1c </a:t>
            </a:r>
            <a:endParaRPr lang="en-US" sz="2000" dirty="0">
              <a:latin typeface="Arial Narrow" panose="020B0606020202030204" pitchFamily="34" charset="0"/>
              <a:ea typeface="Noto Sans Symbols"/>
              <a:cs typeface="Noto Sans Symbols"/>
            </a:endParaRPr>
          </a:p>
          <a:p>
            <a:pPr marL="342900" marR="0" lvl="0" indent="-342900">
              <a:lnSpc>
                <a:spcPct val="107000"/>
              </a:lnSpc>
              <a:spcBef>
                <a:spcPts val="0"/>
              </a:spcBef>
              <a:spcAft>
                <a:spcPts val="220"/>
              </a:spcAft>
              <a:buFont typeface="Arial" panose="020B0604020202020204" pitchFamily="34" charset="0"/>
              <a:buChar char="●"/>
            </a:pPr>
            <a:r>
              <a:rPr lang="en-US" sz="2400" dirty="0">
                <a:latin typeface="Arial Narrow" panose="020B0606020202030204" pitchFamily="34" charset="0"/>
                <a:ea typeface="Times New Roman" panose="02020603050405020304" pitchFamily="18" charset="0"/>
                <a:cs typeface="Noto Sans Symbols"/>
              </a:rPr>
              <a:t>Fasting blood glucose </a:t>
            </a:r>
            <a:endParaRPr lang="en-US" sz="2000" dirty="0">
              <a:latin typeface="Arial Narrow" panose="020B0606020202030204" pitchFamily="34" charset="0"/>
              <a:ea typeface="Noto Sans Symbols"/>
              <a:cs typeface="Noto Sans Symbols"/>
            </a:endParaRPr>
          </a:p>
          <a:p>
            <a:pPr marL="342900" marR="0" lvl="0" indent="-342900">
              <a:lnSpc>
                <a:spcPct val="107000"/>
              </a:lnSpc>
              <a:spcBef>
                <a:spcPts val="0"/>
              </a:spcBef>
              <a:spcAft>
                <a:spcPts val="220"/>
              </a:spcAft>
              <a:buFont typeface="Arial" panose="020B0604020202020204" pitchFamily="34" charset="0"/>
              <a:buChar char="●"/>
            </a:pPr>
            <a:r>
              <a:rPr lang="en-US" sz="2400" dirty="0">
                <a:latin typeface="Arial Narrow" panose="020B0606020202030204" pitchFamily="34" charset="0"/>
                <a:ea typeface="Times New Roman" panose="02020603050405020304" pitchFamily="18" charset="0"/>
                <a:cs typeface="Noto Sans Symbols"/>
              </a:rPr>
              <a:t>Oral glucose tolerance test </a:t>
            </a:r>
            <a:endParaRPr lang="en-US" sz="2000" dirty="0">
              <a:latin typeface="Arial Narrow" panose="020B0606020202030204" pitchFamily="34" charset="0"/>
              <a:ea typeface="Noto Sans Symbols"/>
              <a:cs typeface="Noto Sans Symbols"/>
            </a:endParaRPr>
          </a:p>
          <a:p>
            <a:pPr marL="342900" marR="0" lvl="0" indent="-342900">
              <a:lnSpc>
                <a:spcPct val="107000"/>
              </a:lnSpc>
              <a:spcBef>
                <a:spcPts val="0"/>
              </a:spcBef>
              <a:spcAft>
                <a:spcPts val="220"/>
              </a:spcAft>
              <a:buFont typeface="Arial" panose="020B0604020202020204" pitchFamily="34" charset="0"/>
              <a:buChar char="●"/>
            </a:pPr>
            <a:r>
              <a:rPr lang="en-US" sz="2400" dirty="0">
                <a:latin typeface="Arial Narrow" panose="020B0606020202030204" pitchFamily="34" charset="0"/>
                <a:ea typeface="Times New Roman" panose="02020603050405020304" pitchFamily="18" charset="0"/>
                <a:cs typeface="Noto Sans Symbols"/>
              </a:rPr>
              <a:t>Random blood glucose </a:t>
            </a:r>
            <a:endParaRPr lang="en-US" sz="2000" dirty="0">
              <a:latin typeface="Arial Narrow" panose="020B0606020202030204" pitchFamily="34" charset="0"/>
              <a:ea typeface="Noto Sans Symbols"/>
              <a:cs typeface="Noto Sans Symbols"/>
            </a:endParaRPr>
          </a:p>
          <a:p>
            <a:pPr marL="342900" marR="0" lvl="0" indent="-342900">
              <a:lnSpc>
                <a:spcPct val="107000"/>
              </a:lnSpc>
              <a:spcBef>
                <a:spcPts val="0"/>
              </a:spcBef>
              <a:spcAft>
                <a:spcPts val="220"/>
              </a:spcAft>
              <a:buFont typeface="Arial" panose="020B0604020202020204" pitchFamily="34" charset="0"/>
              <a:buChar char="●"/>
            </a:pPr>
            <a:r>
              <a:rPr lang="en-US" sz="2400" dirty="0">
                <a:latin typeface="Arial Narrow" panose="020B0606020202030204" pitchFamily="34" charset="0"/>
                <a:ea typeface="Times New Roman" panose="02020603050405020304" pitchFamily="18" charset="0"/>
                <a:cs typeface="Noto Sans Symbols"/>
              </a:rPr>
              <a:t>Complete blood picture </a:t>
            </a:r>
            <a:endParaRPr lang="en-US" sz="2000" dirty="0">
              <a:latin typeface="Arial Narrow" panose="020B0606020202030204" pitchFamily="34" charset="0"/>
              <a:ea typeface="Noto Sans Symbols"/>
              <a:cs typeface="Noto Sans Symbols"/>
            </a:endParaRPr>
          </a:p>
          <a:p>
            <a:pPr marL="342900" marR="0" lvl="0" indent="-342900">
              <a:lnSpc>
                <a:spcPct val="107000"/>
              </a:lnSpc>
              <a:spcBef>
                <a:spcPts val="0"/>
              </a:spcBef>
              <a:spcAft>
                <a:spcPts val="220"/>
              </a:spcAft>
              <a:buFont typeface="Arial" panose="020B0604020202020204" pitchFamily="34" charset="0"/>
              <a:buChar char="●"/>
            </a:pPr>
            <a:r>
              <a:rPr lang="en-US" sz="2400" dirty="0">
                <a:latin typeface="Arial Narrow" panose="020B0606020202030204" pitchFamily="34" charset="0"/>
                <a:ea typeface="Times New Roman" panose="02020603050405020304" pitchFamily="18" charset="0"/>
                <a:cs typeface="Noto Sans Symbols"/>
              </a:rPr>
              <a:t>Posterior segment examination (retinal assessment)</a:t>
            </a:r>
            <a:endParaRPr lang="en-US" sz="2000" dirty="0">
              <a:latin typeface="Arial Narrow" panose="020B0606020202030204" pitchFamily="34" charset="0"/>
              <a:ea typeface="Noto Sans Symbols"/>
              <a:cs typeface="Noto Sans Symbols"/>
            </a:endParaRPr>
          </a:p>
          <a:p>
            <a:pPr marL="342900" marR="0" lvl="0" indent="-342900">
              <a:lnSpc>
                <a:spcPct val="107000"/>
              </a:lnSpc>
              <a:spcBef>
                <a:spcPts val="0"/>
              </a:spcBef>
              <a:spcAft>
                <a:spcPts val="220"/>
              </a:spcAft>
              <a:buFont typeface="Arial" panose="020B0604020202020204" pitchFamily="34" charset="0"/>
              <a:buChar char="●"/>
            </a:pPr>
            <a:r>
              <a:rPr lang="en-US" sz="2400" dirty="0">
                <a:latin typeface="Arial Narrow" panose="020B0606020202030204" pitchFamily="34" charset="0"/>
                <a:ea typeface="Times New Roman" panose="02020603050405020304" pitchFamily="18" charset="0"/>
                <a:cs typeface="Noto Sans Symbols"/>
              </a:rPr>
              <a:t>Optical Coherence Tomography Angiography (OCTA)</a:t>
            </a:r>
            <a:endParaRPr lang="en-US" sz="2000" dirty="0">
              <a:latin typeface="Arial Narrow" panose="020B0606020202030204" pitchFamily="34" charset="0"/>
              <a:ea typeface="Noto Sans Symbols"/>
              <a:cs typeface="Noto Sans Symbols"/>
            </a:endParaRPr>
          </a:p>
          <a:p>
            <a:pPr>
              <a:lnSpc>
                <a:spcPct val="115000"/>
              </a:lnSpc>
              <a:spcAft>
                <a:spcPts val="1000"/>
              </a:spcAft>
            </a:pPr>
            <a:endParaRPr lang="en-US" sz="2000" dirty="0">
              <a:latin typeface="Arial Narrow" panose="020B0606020202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9776619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08BCF048-8940-4354-B9EC-5AD74E283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0" name="Rectangle 9">
              <a:extLst>
                <a:ext uri="{FF2B5EF4-FFF2-40B4-BE49-F238E27FC236}">
                  <a16:creationId xmlns:a16="http://schemas.microsoft.com/office/drawing/2014/main" id="{D024C14A-78BD-44B0-82BE-6A0D0A2706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3">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ar-EG"/>
            </a:p>
          </p:txBody>
        </p:sp>
        <p:sp>
          <p:nvSpPr>
            <p:cNvPr id="11" name="Oval 10">
              <a:extLst>
                <a:ext uri="{FF2B5EF4-FFF2-40B4-BE49-F238E27FC236}">
                  <a16:creationId xmlns:a16="http://schemas.microsoft.com/office/drawing/2014/main" id="{809F3D29-EDB1-4F1C-A0E0-36F28CE171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ar-EG"/>
            </a:p>
          </p:txBody>
        </p:sp>
        <p:sp>
          <p:nvSpPr>
            <p:cNvPr id="12" name="Oval 11">
              <a:extLst>
                <a:ext uri="{FF2B5EF4-FFF2-40B4-BE49-F238E27FC236}">
                  <a16:creationId xmlns:a16="http://schemas.microsoft.com/office/drawing/2014/main" id="{5282F4AB-C7B8-4A86-9927-AA106AA27B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ar-EG"/>
            </a:p>
          </p:txBody>
        </p:sp>
        <p:sp>
          <p:nvSpPr>
            <p:cNvPr id="13" name="Rectangle 12">
              <a:extLst>
                <a:ext uri="{FF2B5EF4-FFF2-40B4-BE49-F238E27FC236}">
                  <a16:creationId xmlns:a16="http://schemas.microsoft.com/office/drawing/2014/main" id="{60B26874-5AFA-4D1E-94A9-53AF9790D7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ar-EG"/>
            </a:p>
          </p:txBody>
        </p:sp>
        <p:sp>
          <p:nvSpPr>
            <p:cNvPr id="14" name="Freeform 5">
              <a:extLst>
                <a:ext uri="{FF2B5EF4-FFF2-40B4-BE49-F238E27FC236}">
                  <a16:creationId xmlns:a16="http://schemas.microsoft.com/office/drawing/2014/main" id="{A1DA6C95-40F8-4305-89F6-17F6167C0B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ar-EG"/>
            </a:p>
          </p:txBody>
        </p:sp>
        <p:sp>
          <p:nvSpPr>
            <p:cNvPr id="15" name="Freeform 5">
              <a:extLst>
                <a:ext uri="{FF2B5EF4-FFF2-40B4-BE49-F238E27FC236}">
                  <a16:creationId xmlns:a16="http://schemas.microsoft.com/office/drawing/2014/main" id="{A2FA2D29-AEEE-4FFA-B233-94FBE84C9B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ar-EG"/>
            </a:p>
          </p:txBody>
        </p:sp>
        <p:sp>
          <p:nvSpPr>
            <p:cNvPr id="16" name="Freeform 5">
              <a:extLst>
                <a:ext uri="{FF2B5EF4-FFF2-40B4-BE49-F238E27FC236}">
                  <a16:creationId xmlns:a16="http://schemas.microsoft.com/office/drawing/2014/main" id="{6DA5143E-FA8E-4EC1-99F7-35AE5AD4E3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ar-EG"/>
            </a:p>
          </p:txBody>
        </p:sp>
      </p:grpSp>
      <p:sp>
        <p:nvSpPr>
          <p:cNvPr id="2" name="Title 1"/>
          <p:cNvSpPr>
            <a:spLocks noGrp="1" noEditPoints="1"/>
          </p:cNvSpPr>
          <p:nvPr>
            <p:ph type="title"/>
          </p:nvPr>
        </p:nvSpPr>
        <p:spPr>
          <a:xfrm>
            <a:off x="1154955" y="973667"/>
            <a:ext cx="2942210" cy="4833745"/>
          </a:xfrm>
        </p:spPr>
        <p:txBody>
          <a:bodyPr>
            <a:normAutofit/>
          </a:bodyPr>
          <a:lstStyle/>
          <a:p>
            <a:r>
              <a:rPr lang="en-GB" b="0" i="0" u="none" strike="noStrike" dirty="0">
                <a:solidFill>
                  <a:srgbClr val="EBEBEB"/>
                </a:solidFill>
                <a:latin typeface="Arial Rounded MT Bold" panose="020F0704030504030204" pitchFamily="34" charset="0"/>
                <a:ea typeface="Arial Black" charset="0"/>
                <a:cs typeface="Arial Black" charset="0"/>
              </a:rPr>
              <a:t>Plan for execution of the study:</a:t>
            </a:r>
            <a:endParaRPr lang="en-US" b="0" i="0" u="none" strike="noStrike" dirty="0">
              <a:solidFill>
                <a:srgbClr val="EBEBEB"/>
              </a:solidFill>
              <a:latin typeface="Arial Rounded MT Bold" panose="020F0704030504030204" pitchFamily="34" charset="0"/>
              <a:ea typeface="Arial Black" charset="0"/>
              <a:cs typeface="Arial Black" charset="0"/>
            </a:endParaRPr>
          </a:p>
        </p:txBody>
      </p:sp>
      <p:sp>
        <p:nvSpPr>
          <p:cNvPr id="18" name="Rectangle 17">
            <a:extLst>
              <a:ext uri="{FF2B5EF4-FFF2-40B4-BE49-F238E27FC236}">
                <a16:creationId xmlns:a16="http://schemas.microsoft.com/office/drawing/2014/main" id="{CC28BCC9-4093-4FD5-83EB-7EC297F513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ar-EG"/>
          </a:p>
        </p:txBody>
      </p:sp>
      <p:graphicFrame>
        <p:nvGraphicFramePr>
          <p:cNvPr id="5" name="Content Placeholder 2">
            <a:extLst>
              <a:ext uri="{FF2B5EF4-FFF2-40B4-BE49-F238E27FC236}">
                <a16:creationId xmlns:a16="http://schemas.microsoft.com/office/drawing/2014/main" id="{A5871D5A-2226-FDB8-A530-83F7F5480597}"/>
              </a:ext>
            </a:extLst>
          </p:cNvPr>
          <p:cNvGraphicFramePr>
            <a:graphicFrameLocks noGrp="1"/>
          </p:cNvGraphicFramePr>
          <p:nvPr>
            <p:ph idx="1"/>
            <p:extLst>
              <p:ext uri="{D42A27DB-BD31-4B8C-83A1-F6EECF244321}">
                <p14:modId xmlns:p14="http://schemas.microsoft.com/office/powerpoint/2010/main" val="2694751616"/>
              </p:ext>
            </p:extLst>
          </p:nvPr>
        </p:nvGraphicFramePr>
        <p:xfrm>
          <a:off x="5194300" y="808038"/>
          <a:ext cx="6391275" cy="524668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05D5CF9-52E5-B5FE-C0C1-C7413CEB779B}"/>
              </a:ext>
            </a:extLst>
          </p:cNvPr>
          <p:cNvSpPr txBox="1"/>
          <p:nvPr/>
        </p:nvSpPr>
        <p:spPr>
          <a:xfrm>
            <a:off x="89648" y="0"/>
            <a:ext cx="11358282" cy="6601807"/>
          </a:xfrm>
          <a:prstGeom prst="rect">
            <a:avLst/>
          </a:prstGeom>
          <a:noFill/>
        </p:spPr>
        <p:txBody>
          <a:bodyPr wrap="square">
            <a:spAutoFit/>
          </a:bodyPr>
          <a:lstStyle/>
          <a:p>
            <a:r>
              <a:rPr lang="en-GB" sz="1500" b="1" dirty="0"/>
              <a:t>Month 1-2: Practical Work and Data Collection</a:t>
            </a:r>
          </a:p>
          <a:p>
            <a:endParaRPr lang="en-GB" sz="1200" dirty="0"/>
          </a:p>
          <a:p>
            <a:pPr marL="171450" indent="-171450">
              <a:buFont typeface="Arial" panose="020B0604020202020204" pitchFamily="34" charset="0"/>
              <a:buChar char="•"/>
            </a:pPr>
            <a:r>
              <a:rPr lang="en-GB" sz="1200" dirty="0"/>
              <a:t>Begin practical work: Collect clinical data and blood samples from diabetic retinopathy patients and control subjects.</a:t>
            </a:r>
          </a:p>
          <a:p>
            <a:pPr marL="171450" indent="-171450">
              <a:buFont typeface="Arial" panose="020B0604020202020204" pitchFamily="34" charset="0"/>
              <a:buChar char="•"/>
            </a:pPr>
            <a:r>
              <a:rPr lang="en-GB" sz="1200" dirty="0"/>
              <a:t>Isolate RNA, including hsa_circ_0012107, from collected samples.</a:t>
            </a:r>
          </a:p>
          <a:p>
            <a:pPr marL="171450" indent="-171450">
              <a:buFont typeface="Arial" panose="020B0604020202020204" pitchFamily="34" charset="0"/>
              <a:buChar char="•"/>
            </a:pPr>
            <a:r>
              <a:rPr lang="en-GB" sz="1200" dirty="0"/>
              <a:t>Conduct preliminary analysis of hsa_circ_0012107 expression patterns.</a:t>
            </a:r>
          </a:p>
          <a:p>
            <a:endParaRPr lang="en-GB" sz="1200" dirty="0"/>
          </a:p>
          <a:p>
            <a:r>
              <a:rPr lang="en-GB" sz="1500" b="1" dirty="0"/>
              <a:t>Month 3-4: Laboratory Analysis and Validation</a:t>
            </a:r>
          </a:p>
          <a:p>
            <a:endParaRPr lang="en-GB" sz="1200" dirty="0"/>
          </a:p>
          <a:p>
            <a:pPr marL="171450" indent="-171450">
              <a:buFont typeface="Arial" panose="020B0604020202020204" pitchFamily="34" charset="0"/>
              <a:buChar char="•"/>
            </a:pPr>
            <a:r>
              <a:rPr lang="en-GB" sz="1200" dirty="0"/>
              <a:t>Perform quantitative PCR (qPCR) experiments to measure hsa_circ_0012107 expression levels.</a:t>
            </a:r>
          </a:p>
          <a:p>
            <a:pPr marL="171450" indent="-171450">
              <a:buFont typeface="Arial" panose="020B0604020202020204" pitchFamily="34" charset="0"/>
              <a:buChar char="•"/>
            </a:pPr>
            <a:r>
              <a:rPr lang="en-GB" sz="1200" dirty="0"/>
              <a:t>Validate qPCR results using statistical methods.</a:t>
            </a:r>
          </a:p>
          <a:p>
            <a:pPr marL="171450" indent="-171450">
              <a:buFont typeface="Arial" panose="020B0604020202020204" pitchFamily="34" charset="0"/>
              <a:buChar char="•"/>
            </a:pPr>
            <a:r>
              <a:rPr lang="en-GB" sz="1200" dirty="0"/>
              <a:t>Collaborate with bioinformaticians for data analysis.</a:t>
            </a:r>
          </a:p>
          <a:p>
            <a:pPr marL="171450" indent="-171450">
              <a:buFont typeface="Arial" panose="020B0604020202020204" pitchFamily="34" charset="0"/>
              <a:buChar char="•"/>
            </a:pPr>
            <a:endParaRPr lang="en-GB" sz="1200" dirty="0"/>
          </a:p>
          <a:p>
            <a:r>
              <a:rPr lang="en-GB" sz="1500" b="1" dirty="0"/>
              <a:t>Month 5-6: Bioinformatics Analysis</a:t>
            </a:r>
          </a:p>
          <a:p>
            <a:endParaRPr lang="en-GB" sz="1200" dirty="0"/>
          </a:p>
          <a:p>
            <a:pPr marL="171450" indent="-171450">
              <a:buFont typeface="Arial" panose="020B0604020202020204" pitchFamily="34" charset="0"/>
              <a:buChar char="•"/>
            </a:pPr>
            <a:r>
              <a:rPr lang="en-GB" sz="1200" dirty="0"/>
              <a:t>Utilize bioinformatics tools and techniques to identify pathways and functions associated with hsa_circ_0012107.</a:t>
            </a:r>
          </a:p>
          <a:p>
            <a:pPr marL="171450" indent="-171450">
              <a:buFont typeface="Arial" panose="020B0604020202020204" pitchFamily="34" charset="0"/>
              <a:buChar char="•"/>
            </a:pPr>
            <a:r>
              <a:rPr lang="en-GB" sz="1200" dirty="0" err="1"/>
              <a:t>Analyze</a:t>
            </a:r>
            <a:r>
              <a:rPr lang="en-GB" sz="1200" dirty="0"/>
              <a:t> the integrated dataset that combines experimental and bioinformatics data.</a:t>
            </a:r>
          </a:p>
          <a:p>
            <a:pPr marL="171450" indent="-171450">
              <a:buFont typeface="Arial" panose="020B0604020202020204" pitchFamily="34" charset="0"/>
              <a:buChar char="•"/>
            </a:pPr>
            <a:r>
              <a:rPr lang="en-GB" sz="1200" dirty="0"/>
              <a:t>Investigate expression patterns specific to diabetic retinopathy and related pathways/functions.</a:t>
            </a:r>
          </a:p>
          <a:p>
            <a:endParaRPr lang="en-GB" sz="1200" dirty="0"/>
          </a:p>
          <a:p>
            <a:r>
              <a:rPr lang="en-GB" sz="1500" b="1" dirty="0"/>
              <a:t>Month 7-8: Data Interpretation and Manuscript Preparation</a:t>
            </a:r>
          </a:p>
          <a:p>
            <a:endParaRPr lang="en-GB" sz="1200" dirty="0"/>
          </a:p>
          <a:p>
            <a:pPr marL="171450" indent="-171450">
              <a:buFont typeface="Arial" panose="020B0604020202020204" pitchFamily="34" charset="0"/>
              <a:buChar char="•"/>
            </a:pPr>
            <a:r>
              <a:rPr lang="en-GB" sz="1200" dirty="0"/>
              <a:t>Interpret the integrated data to draw conclusions about hsa_circ_0012107's role in diabetic retinopathy.</a:t>
            </a:r>
          </a:p>
          <a:p>
            <a:pPr marL="171450" indent="-171450">
              <a:buFont typeface="Arial" panose="020B0604020202020204" pitchFamily="34" charset="0"/>
              <a:buChar char="•"/>
            </a:pPr>
            <a:r>
              <a:rPr lang="en-GB" sz="1200" dirty="0"/>
              <a:t>Begin drafting the research paper, incorporating findings from both experimental and bioinformatics analyses.</a:t>
            </a:r>
          </a:p>
          <a:p>
            <a:pPr marL="171450" indent="-171450">
              <a:buFont typeface="Arial" panose="020B0604020202020204" pitchFamily="34" charset="0"/>
              <a:buChar char="•"/>
            </a:pPr>
            <a:r>
              <a:rPr lang="en-GB" sz="1200" dirty="0"/>
              <a:t>Review and edit the manuscript for clarity and accuracy.</a:t>
            </a:r>
          </a:p>
          <a:p>
            <a:r>
              <a:rPr lang="en-GB" sz="1500" b="1" dirty="0"/>
              <a:t>Month 9-10: Review and Finalization</a:t>
            </a:r>
          </a:p>
          <a:p>
            <a:endParaRPr lang="en-GB" sz="1200" dirty="0"/>
          </a:p>
          <a:p>
            <a:pPr marL="171450" indent="-171450">
              <a:buFont typeface="Arial" panose="020B0604020202020204" pitchFamily="34" charset="0"/>
              <a:buChar char="•"/>
            </a:pPr>
            <a:r>
              <a:rPr lang="en-GB" sz="1200" dirty="0"/>
              <a:t>Seek feedback from mentors, collaborators, and bioinformaticians to refine the manuscript.</a:t>
            </a:r>
          </a:p>
          <a:p>
            <a:pPr marL="171450" indent="-171450">
              <a:buFont typeface="Arial" panose="020B0604020202020204" pitchFamily="34" charset="0"/>
              <a:buChar char="•"/>
            </a:pPr>
            <a:r>
              <a:rPr lang="en-GB" sz="1200" dirty="0"/>
              <a:t>Finalize the research paper, ensuring all aspects of the study are thoroughly addressed.</a:t>
            </a:r>
          </a:p>
          <a:p>
            <a:endParaRPr lang="en-GB" sz="1200" dirty="0"/>
          </a:p>
          <a:p>
            <a:r>
              <a:rPr lang="en-GB" sz="1500" b="1" dirty="0"/>
              <a:t>Month 11-12: Publication and Dissemination</a:t>
            </a:r>
          </a:p>
          <a:p>
            <a:endParaRPr lang="en-GB" sz="1200" dirty="0"/>
          </a:p>
          <a:p>
            <a:pPr marL="171450" indent="-171450">
              <a:buFont typeface="Arial" panose="020B0604020202020204" pitchFamily="34" charset="0"/>
              <a:buChar char="•"/>
            </a:pPr>
            <a:r>
              <a:rPr lang="en-GB" sz="1200" dirty="0"/>
              <a:t>Submit the research paper to relevant journals for peer review.</a:t>
            </a:r>
          </a:p>
          <a:p>
            <a:pPr marL="171450" indent="-171450">
              <a:buFont typeface="Arial" panose="020B0604020202020204" pitchFamily="34" charset="0"/>
              <a:buChar char="•"/>
            </a:pPr>
            <a:r>
              <a:rPr lang="en-GB" sz="1200" dirty="0"/>
              <a:t>Prepare for potential revisions and respond to reviewers' comments.</a:t>
            </a:r>
          </a:p>
          <a:p>
            <a:pPr marL="171450" indent="-171450">
              <a:buFont typeface="Arial" panose="020B0604020202020204" pitchFamily="34" charset="0"/>
              <a:buChar char="•"/>
            </a:pPr>
            <a:r>
              <a:rPr lang="en-GB" sz="1200" dirty="0"/>
              <a:t>Aim for publication and dissemination of research findings.</a:t>
            </a:r>
          </a:p>
          <a:p>
            <a:pPr marL="171450" indent="-171450">
              <a:buFont typeface="Arial" panose="020B0604020202020204" pitchFamily="34" charset="0"/>
              <a:buChar char="•"/>
            </a:pPr>
            <a:r>
              <a:rPr lang="en-GB" sz="1200" dirty="0"/>
              <a:t>Present the results at conferences or symposiums to reach a wider audience.</a:t>
            </a:r>
            <a:endParaRPr lang="ar-EG" sz="1200" dirty="0"/>
          </a:p>
        </p:txBody>
      </p:sp>
      <p:sp>
        <p:nvSpPr>
          <p:cNvPr id="5" name="Title 1">
            <a:extLst>
              <a:ext uri="{FF2B5EF4-FFF2-40B4-BE49-F238E27FC236}">
                <a16:creationId xmlns:a16="http://schemas.microsoft.com/office/drawing/2014/main" id="{4249FB39-C35B-679D-9904-881D871C7DE3}"/>
              </a:ext>
            </a:extLst>
          </p:cNvPr>
          <p:cNvSpPr txBox="1">
            <a:spLocks noEditPoints="1"/>
          </p:cNvSpPr>
          <p:nvPr/>
        </p:nvSpPr>
        <p:spPr>
          <a:xfrm>
            <a:off x="9249790" y="1215715"/>
            <a:ext cx="2942210" cy="711698"/>
          </a:xfrm>
          <a:prstGeom prst="rect">
            <a:avLst/>
          </a:prstGeom>
        </p:spPr>
        <p:txBody>
          <a:bodyPr>
            <a:noAutofit/>
          </a:bodyPr>
          <a:lst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GB" sz="2500" dirty="0">
                <a:solidFill>
                  <a:schemeClr val="tx1"/>
                </a:solidFill>
                <a:latin typeface="Arial Rounded MT Bold" panose="020F0704030504030204" pitchFamily="34" charset="0"/>
                <a:ea typeface="Arial Black" charset="0"/>
                <a:cs typeface="Arial Black" charset="0"/>
              </a:rPr>
              <a:t>EXPECTED TIME TABLE</a:t>
            </a:r>
            <a:endParaRPr lang="en-US" sz="2500" dirty="0">
              <a:solidFill>
                <a:schemeClr val="tx1"/>
              </a:solidFill>
              <a:latin typeface="Arial Rounded MT Bold" panose="020F0704030504030204" pitchFamily="34" charset="0"/>
              <a:ea typeface="Arial Black" charset="0"/>
              <a:cs typeface="Arial Black" charset="0"/>
            </a:endParaRPr>
          </a:p>
        </p:txBody>
      </p:sp>
    </p:spTree>
    <p:extLst>
      <p:ext uri="{BB962C8B-B14F-4D97-AF65-F5344CB8AC3E}">
        <p14:creationId xmlns:p14="http://schemas.microsoft.com/office/powerpoint/2010/main" val="25312356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FACCE-AA73-7CBC-1482-68645B58E99D}"/>
              </a:ext>
            </a:extLst>
          </p:cNvPr>
          <p:cNvSpPr>
            <a:spLocks noGrp="1"/>
          </p:cNvSpPr>
          <p:nvPr>
            <p:ph type="title"/>
          </p:nvPr>
        </p:nvSpPr>
        <p:spPr/>
        <p:txBody>
          <a:bodyPr/>
          <a:lstStyle/>
          <a:p>
            <a:r>
              <a:rPr lang="en-US" dirty="0"/>
              <a:t>Expected outcome </a:t>
            </a:r>
            <a:endParaRPr lang="ar-EG" dirty="0"/>
          </a:p>
        </p:txBody>
      </p:sp>
      <p:sp>
        <p:nvSpPr>
          <p:cNvPr id="3" name="TextBox 2">
            <a:extLst>
              <a:ext uri="{FF2B5EF4-FFF2-40B4-BE49-F238E27FC236}">
                <a16:creationId xmlns:a16="http://schemas.microsoft.com/office/drawing/2014/main" id="{0289D1ED-FD9F-CCC2-2368-25E69556BD0B}"/>
              </a:ext>
            </a:extLst>
          </p:cNvPr>
          <p:cNvSpPr txBox="1"/>
          <p:nvPr/>
        </p:nvSpPr>
        <p:spPr>
          <a:xfrm>
            <a:off x="757472" y="2635624"/>
            <a:ext cx="10932504" cy="2118272"/>
          </a:xfrm>
          <a:prstGeom prst="rect">
            <a:avLst/>
          </a:prstGeom>
          <a:noFill/>
        </p:spPr>
        <p:txBody>
          <a:bodyPr wrap="square" rtlCol="1">
            <a:spAutoFit/>
          </a:bodyPr>
          <a:lstStyle/>
          <a:p>
            <a:pPr marL="285750" marR="0" lvl="0"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prstClr val="black"/>
                </a:solidFill>
                <a:effectLst/>
                <a:uLnTx/>
                <a:uFillTx/>
                <a:latin typeface="Century Gothic" panose="020B0502020202020204"/>
                <a:ea typeface="+mn-ea"/>
                <a:cs typeface="+mn-cs"/>
              </a:rPr>
              <a:t>Identify and validate the potential rule of hsa_circ_0012107 in early diagnosis of diabetic retinopathy </a:t>
            </a:r>
          </a:p>
          <a:p>
            <a:pPr marL="285750" marR="0" lvl="0"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prstClr val="black"/>
                </a:solidFill>
                <a:effectLst/>
                <a:uLnTx/>
                <a:uFillTx/>
                <a:latin typeface="Century Gothic" panose="020B0502020202020204"/>
                <a:ea typeface="+mn-ea"/>
                <a:cs typeface="Arial" panose="020B0604020202020204" pitchFamily="34" charset="0"/>
              </a:rPr>
              <a:t>Evaluate the diagnostic accuracy of hsa_circ_0012107 as a biomarker for early detection of diabetic retinopathy, with the aim of establishing its clinical utility in identifying the condition at its initial stages.</a:t>
            </a:r>
            <a:endParaRPr kumimoji="0" lang="ar-EG" sz="1800" b="0" i="0" u="none" strike="noStrike" kern="1200" cap="none" spc="0" normalizeH="0" baseline="0" noProof="0" dirty="0">
              <a:ln>
                <a:noFill/>
              </a:ln>
              <a:solidFill>
                <a:prstClr val="black"/>
              </a:solidFill>
              <a:effectLst/>
              <a:uLnTx/>
              <a:uFillTx/>
              <a:latin typeface="Century Gothic" panose="020B0502020202020204"/>
              <a:ea typeface="+mn-ea"/>
              <a:cs typeface="Arial" panose="020B0604020202020204" pitchFamily="34" charset="0"/>
            </a:endParaRPr>
          </a:p>
        </p:txBody>
      </p:sp>
    </p:spTree>
    <p:extLst>
      <p:ext uri="{BB962C8B-B14F-4D97-AF65-F5344CB8AC3E}">
        <p14:creationId xmlns:p14="http://schemas.microsoft.com/office/powerpoint/2010/main" val="26699116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126CD6DF-E40F-4D39-BA46-5D099AC4C8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3BCB1612-8B21-344E-1B8D-3E74E41668A6}"/>
              </a:ext>
            </a:extLst>
          </p:cNvPr>
          <p:cNvPicPr>
            <a:picLocks noChangeAspect="1"/>
          </p:cNvPicPr>
          <p:nvPr/>
        </p:nvPicPr>
        <p:blipFill>
          <a:blip r:embed="rId2"/>
          <a:stretch>
            <a:fillRect/>
          </a:stretch>
        </p:blipFill>
        <p:spPr>
          <a:xfrm>
            <a:off x="1174880" y="336008"/>
            <a:ext cx="9258905" cy="5208136"/>
          </a:xfrm>
          <a:prstGeom prst="rect">
            <a:avLst/>
          </a:prstGeom>
        </p:spPr>
      </p:pic>
      <p:sp>
        <p:nvSpPr>
          <p:cNvPr id="20" name="Freeform: Shape 19">
            <a:extLst>
              <a:ext uri="{FF2B5EF4-FFF2-40B4-BE49-F238E27FC236}">
                <a16:creationId xmlns:a16="http://schemas.microsoft.com/office/drawing/2014/main" id="{E848A24A-E17D-464F-99FB-EF7B8EC078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6" y="4928325"/>
            <a:ext cx="10905067" cy="1286209"/>
          </a:xfrm>
          <a:custGeom>
            <a:avLst/>
            <a:gdLst>
              <a:gd name="connsiteX0" fmla="*/ 5080191 w 10905067"/>
              <a:gd name="connsiteY0" fmla="*/ 0 h 1286209"/>
              <a:gd name="connsiteX1" fmla="*/ 5315140 w 10905067"/>
              <a:gd name="connsiteY1" fmla="*/ 1588 h 1286209"/>
              <a:gd name="connsiteX2" fmla="*/ 5546915 w 10905067"/>
              <a:gd name="connsiteY2" fmla="*/ 1588 h 1286209"/>
              <a:gd name="connsiteX3" fmla="*/ 5777103 w 10905067"/>
              <a:gd name="connsiteY3" fmla="*/ 4763 h 1286209"/>
              <a:gd name="connsiteX4" fmla="*/ 6002528 w 10905067"/>
              <a:gd name="connsiteY4" fmla="*/ 9525 h 1286209"/>
              <a:gd name="connsiteX5" fmla="*/ 6226365 w 10905067"/>
              <a:gd name="connsiteY5" fmla="*/ 14288 h 1286209"/>
              <a:gd name="connsiteX6" fmla="*/ 6445440 w 10905067"/>
              <a:gd name="connsiteY6" fmla="*/ 19050 h 1286209"/>
              <a:gd name="connsiteX7" fmla="*/ 6662928 w 10905067"/>
              <a:gd name="connsiteY7" fmla="*/ 26988 h 1286209"/>
              <a:gd name="connsiteX8" fmla="*/ 6877240 w 10905067"/>
              <a:gd name="connsiteY8" fmla="*/ 34925 h 1286209"/>
              <a:gd name="connsiteX9" fmla="*/ 7086790 w 10905067"/>
              <a:gd name="connsiteY9" fmla="*/ 42863 h 1286209"/>
              <a:gd name="connsiteX10" fmla="*/ 7496365 w 10905067"/>
              <a:gd name="connsiteY10" fmla="*/ 63500 h 1286209"/>
              <a:gd name="connsiteX11" fmla="*/ 7888478 w 10905067"/>
              <a:gd name="connsiteY11" fmla="*/ 85725 h 1286209"/>
              <a:gd name="connsiteX12" fmla="*/ 8264715 w 10905067"/>
              <a:gd name="connsiteY12" fmla="*/ 109538 h 1286209"/>
              <a:gd name="connsiteX13" fmla="*/ 8621902 w 10905067"/>
              <a:gd name="connsiteY13" fmla="*/ 134938 h 1286209"/>
              <a:gd name="connsiteX14" fmla="*/ 8961628 w 10905067"/>
              <a:gd name="connsiteY14" fmla="*/ 161925 h 1286209"/>
              <a:gd name="connsiteX15" fmla="*/ 9277540 w 10905067"/>
              <a:gd name="connsiteY15" fmla="*/ 190500 h 1286209"/>
              <a:gd name="connsiteX16" fmla="*/ 9574402 w 10905067"/>
              <a:gd name="connsiteY16" fmla="*/ 219075 h 1286209"/>
              <a:gd name="connsiteX17" fmla="*/ 9847452 w 10905067"/>
              <a:gd name="connsiteY17" fmla="*/ 247650 h 1286209"/>
              <a:gd name="connsiteX18" fmla="*/ 10098278 w 10905067"/>
              <a:gd name="connsiteY18" fmla="*/ 274638 h 1286209"/>
              <a:gd name="connsiteX19" fmla="*/ 10320528 w 10905067"/>
              <a:gd name="connsiteY19" fmla="*/ 300038 h 1286209"/>
              <a:gd name="connsiteX20" fmla="*/ 10520552 w 10905067"/>
              <a:gd name="connsiteY20" fmla="*/ 323850 h 1286209"/>
              <a:gd name="connsiteX21" fmla="*/ 10690415 w 10905067"/>
              <a:gd name="connsiteY21" fmla="*/ 344488 h 1286209"/>
              <a:gd name="connsiteX22" fmla="*/ 10831702 w 10905067"/>
              <a:gd name="connsiteY22" fmla="*/ 363538 h 1286209"/>
              <a:gd name="connsiteX23" fmla="*/ 10905067 w 10905067"/>
              <a:gd name="connsiteY23" fmla="*/ 373678 h 1286209"/>
              <a:gd name="connsiteX24" fmla="*/ 10905067 w 10905067"/>
              <a:gd name="connsiteY24" fmla="*/ 1286209 h 1286209"/>
              <a:gd name="connsiteX25" fmla="*/ 0 w 10905067"/>
              <a:gd name="connsiteY25" fmla="*/ 1286209 h 1286209"/>
              <a:gd name="connsiteX26" fmla="*/ 0 w 10905067"/>
              <a:gd name="connsiteY26" fmla="*/ 369898 h 1286209"/>
              <a:gd name="connsiteX27" fmla="*/ 71628 w 10905067"/>
              <a:gd name="connsiteY27" fmla="*/ 358775 h 1286209"/>
              <a:gd name="connsiteX28" fmla="*/ 327215 w 10905067"/>
              <a:gd name="connsiteY28" fmla="*/ 320675 h 1286209"/>
              <a:gd name="connsiteX29" fmla="*/ 582802 w 10905067"/>
              <a:gd name="connsiteY29" fmla="*/ 284163 h 1286209"/>
              <a:gd name="connsiteX30" fmla="*/ 839978 w 10905067"/>
              <a:gd name="connsiteY30" fmla="*/ 252413 h 1286209"/>
              <a:gd name="connsiteX31" fmla="*/ 1095565 w 10905067"/>
              <a:gd name="connsiteY31" fmla="*/ 220663 h 1286209"/>
              <a:gd name="connsiteX32" fmla="*/ 1352740 w 10905067"/>
              <a:gd name="connsiteY32" fmla="*/ 190500 h 1286209"/>
              <a:gd name="connsiteX33" fmla="*/ 1606740 w 10905067"/>
              <a:gd name="connsiteY33" fmla="*/ 165100 h 1286209"/>
              <a:gd name="connsiteX34" fmla="*/ 1863915 w 10905067"/>
              <a:gd name="connsiteY34" fmla="*/ 141288 h 1286209"/>
              <a:gd name="connsiteX35" fmla="*/ 2119502 w 10905067"/>
              <a:gd name="connsiteY35" fmla="*/ 119063 h 1286209"/>
              <a:gd name="connsiteX36" fmla="*/ 2371915 w 10905067"/>
              <a:gd name="connsiteY36" fmla="*/ 100013 h 1286209"/>
              <a:gd name="connsiteX37" fmla="*/ 2625915 w 10905067"/>
              <a:gd name="connsiteY37" fmla="*/ 80963 h 1286209"/>
              <a:gd name="connsiteX38" fmla="*/ 2878328 w 10905067"/>
              <a:gd name="connsiteY38" fmla="*/ 65088 h 1286209"/>
              <a:gd name="connsiteX39" fmla="*/ 3129153 w 10905067"/>
              <a:gd name="connsiteY39" fmla="*/ 52388 h 1286209"/>
              <a:gd name="connsiteX40" fmla="*/ 3379978 w 10905067"/>
              <a:gd name="connsiteY40" fmla="*/ 39688 h 1286209"/>
              <a:gd name="connsiteX41" fmla="*/ 3627628 w 10905067"/>
              <a:gd name="connsiteY41" fmla="*/ 28575 h 1286209"/>
              <a:gd name="connsiteX42" fmla="*/ 3873690 w 10905067"/>
              <a:gd name="connsiteY42" fmla="*/ 20638 h 1286209"/>
              <a:gd name="connsiteX43" fmla="*/ 4119754 w 10905067"/>
              <a:gd name="connsiteY43" fmla="*/ 14288 h 1286209"/>
              <a:gd name="connsiteX44" fmla="*/ 4362640 w 10905067"/>
              <a:gd name="connsiteY44" fmla="*/ 7938 h 1286209"/>
              <a:gd name="connsiteX45" fmla="*/ 4603941 w 10905067"/>
              <a:gd name="connsiteY45" fmla="*/ 4763 h 1286209"/>
              <a:gd name="connsiteX46" fmla="*/ 4843653 w 10905067"/>
              <a:gd name="connsiteY46" fmla="*/ 1588 h 1286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0905067" h="1286209">
                <a:moveTo>
                  <a:pt x="5080191" y="0"/>
                </a:moveTo>
                <a:lnTo>
                  <a:pt x="5315140" y="1588"/>
                </a:lnTo>
                <a:lnTo>
                  <a:pt x="5546915" y="1588"/>
                </a:lnTo>
                <a:lnTo>
                  <a:pt x="5777103" y="4763"/>
                </a:lnTo>
                <a:lnTo>
                  <a:pt x="6002528" y="9525"/>
                </a:lnTo>
                <a:lnTo>
                  <a:pt x="6226365" y="14288"/>
                </a:lnTo>
                <a:lnTo>
                  <a:pt x="6445440" y="19050"/>
                </a:lnTo>
                <a:lnTo>
                  <a:pt x="6662928" y="26988"/>
                </a:lnTo>
                <a:lnTo>
                  <a:pt x="6877240" y="34925"/>
                </a:lnTo>
                <a:lnTo>
                  <a:pt x="7086790" y="42863"/>
                </a:lnTo>
                <a:lnTo>
                  <a:pt x="7496365" y="63500"/>
                </a:lnTo>
                <a:lnTo>
                  <a:pt x="7888478" y="85725"/>
                </a:lnTo>
                <a:lnTo>
                  <a:pt x="8264715" y="109538"/>
                </a:lnTo>
                <a:lnTo>
                  <a:pt x="8621902" y="134938"/>
                </a:lnTo>
                <a:lnTo>
                  <a:pt x="8961628" y="161925"/>
                </a:lnTo>
                <a:lnTo>
                  <a:pt x="9277540" y="190500"/>
                </a:lnTo>
                <a:lnTo>
                  <a:pt x="9574402" y="219075"/>
                </a:lnTo>
                <a:lnTo>
                  <a:pt x="9847452" y="247650"/>
                </a:lnTo>
                <a:lnTo>
                  <a:pt x="10098278" y="274638"/>
                </a:lnTo>
                <a:lnTo>
                  <a:pt x="10320528" y="300038"/>
                </a:lnTo>
                <a:lnTo>
                  <a:pt x="10520552" y="323850"/>
                </a:lnTo>
                <a:lnTo>
                  <a:pt x="10690415" y="344488"/>
                </a:lnTo>
                <a:lnTo>
                  <a:pt x="10831702" y="363538"/>
                </a:lnTo>
                <a:lnTo>
                  <a:pt x="10905067" y="373678"/>
                </a:lnTo>
                <a:lnTo>
                  <a:pt x="10905067" y="1286209"/>
                </a:lnTo>
                <a:lnTo>
                  <a:pt x="0" y="1286209"/>
                </a:lnTo>
                <a:lnTo>
                  <a:pt x="0" y="369898"/>
                </a:lnTo>
                <a:lnTo>
                  <a:pt x="71628" y="358775"/>
                </a:lnTo>
                <a:lnTo>
                  <a:pt x="327215" y="320675"/>
                </a:lnTo>
                <a:lnTo>
                  <a:pt x="582802" y="284163"/>
                </a:lnTo>
                <a:lnTo>
                  <a:pt x="839978" y="252413"/>
                </a:lnTo>
                <a:lnTo>
                  <a:pt x="1095565" y="220663"/>
                </a:lnTo>
                <a:lnTo>
                  <a:pt x="1352740" y="190500"/>
                </a:lnTo>
                <a:lnTo>
                  <a:pt x="1606740" y="165100"/>
                </a:lnTo>
                <a:lnTo>
                  <a:pt x="1863915" y="141288"/>
                </a:lnTo>
                <a:lnTo>
                  <a:pt x="2119502" y="119063"/>
                </a:lnTo>
                <a:lnTo>
                  <a:pt x="2371915" y="100013"/>
                </a:lnTo>
                <a:lnTo>
                  <a:pt x="2625915" y="80963"/>
                </a:lnTo>
                <a:lnTo>
                  <a:pt x="2878328" y="65088"/>
                </a:lnTo>
                <a:lnTo>
                  <a:pt x="3129153" y="52388"/>
                </a:lnTo>
                <a:lnTo>
                  <a:pt x="3379978" y="39688"/>
                </a:lnTo>
                <a:lnTo>
                  <a:pt x="3627628" y="28575"/>
                </a:lnTo>
                <a:lnTo>
                  <a:pt x="3873690" y="20638"/>
                </a:lnTo>
                <a:lnTo>
                  <a:pt x="4119754" y="14288"/>
                </a:lnTo>
                <a:lnTo>
                  <a:pt x="4362640" y="7938"/>
                </a:lnTo>
                <a:lnTo>
                  <a:pt x="4603941" y="4763"/>
                </a:lnTo>
                <a:lnTo>
                  <a:pt x="4843653" y="1588"/>
                </a:lnTo>
                <a:close/>
              </a:path>
            </a:pathLst>
          </a:custGeom>
          <a:ln>
            <a:noFill/>
          </a:ln>
        </p:spPr>
        <p:style>
          <a:lnRef idx="2">
            <a:schemeClr val="accent1">
              <a:shade val="50000"/>
            </a:schemeClr>
          </a:lnRef>
          <a:fillRef idx="1002">
            <a:schemeClr val="dk2"/>
          </a:fillRef>
          <a:effectRef idx="0">
            <a:schemeClr val="accent1"/>
          </a:effectRef>
          <a:fontRef idx="minor">
            <a:schemeClr val="lt1"/>
          </a:fontRef>
        </p:style>
        <p:txBody>
          <a:bodyPr wrap="square">
            <a:noAutofit/>
          </a:bodyPr>
          <a:lstStyle/>
          <a:p>
            <a:endParaRPr lang="en-US" dirty="0"/>
          </a:p>
        </p:txBody>
      </p:sp>
      <p:sp>
        <p:nvSpPr>
          <p:cNvPr id="26" name="Freeform: Shape 21">
            <a:extLst>
              <a:ext uri="{FF2B5EF4-FFF2-40B4-BE49-F238E27FC236}">
                <a16:creationId xmlns:a16="http://schemas.microsoft.com/office/drawing/2014/main" id="{CD3DDA28-7B69-422D-9888-25C7BC97BC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0371525">
            <a:off x="264773" y="4915968"/>
            <a:ext cx="3039999" cy="440926"/>
          </a:xfrm>
          <a:custGeom>
            <a:avLst/>
            <a:gdLst>
              <a:gd name="connsiteX0" fmla="*/ 0 w 3039999"/>
              <a:gd name="connsiteY0" fmla="*/ 155844 h 440926"/>
              <a:gd name="connsiteX1" fmla="*/ 6524 w 3039999"/>
              <a:gd name="connsiteY1" fmla="*/ 156086 h 440926"/>
              <a:gd name="connsiteX2" fmla="*/ 98577 w 3039999"/>
              <a:gd name="connsiteY2" fmla="*/ 159586 h 440926"/>
              <a:gd name="connsiteX3" fmla="*/ 191951 w 3039999"/>
              <a:gd name="connsiteY3" fmla="*/ 162919 h 440926"/>
              <a:gd name="connsiteX4" fmla="*/ 285984 w 3039999"/>
              <a:gd name="connsiteY4" fmla="*/ 165003 h 440926"/>
              <a:gd name="connsiteX5" fmla="*/ 381667 w 3039999"/>
              <a:gd name="connsiteY5" fmla="*/ 167003 h 440926"/>
              <a:gd name="connsiteX6" fmla="*/ 478999 w 3039999"/>
              <a:gd name="connsiteY6" fmla="*/ 169086 h 440926"/>
              <a:gd name="connsiteX7" fmla="*/ 577652 w 3039999"/>
              <a:gd name="connsiteY7" fmla="*/ 170503 h 440926"/>
              <a:gd name="connsiteX8" fmla="*/ 677293 w 3039999"/>
              <a:gd name="connsiteY8" fmla="*/ 170503 h 440926"/>
              <a:gd name="connsiteX9" fmla="*/ 778255 w 3039999"/>
              <a:gd name="connsiteY9" fmla="*/ 171086 h 440926"/>
              <a:gd name="connsiteX10" fmla="*/ 880207 w 3039999"/>
              <a:gd name="connsiteY10" fmla="*/ 170503 h 440926"/>
              <a:gd name="connsiteX11" fmla="*/ 983149 w 3039999"/>
              <a:gd name="connsiteY11" fmla="*/ 169086 h 440926"/>
              <a:gd name="connsiteX12" fmla="*/ 1086420 w 3039999"/>
              <a:gd name="connsiteY12" fmla="*/ 167753 h 440926"/>
              <a:gd name="connsiteX13" fmla="*/ 1191011 w 3039999"/>
              <a:gd name="connsiteY13" fmla="*/ 165003 h 440926"/>
              <a:gd name="connsiteX14" fmla="*/ 1296922 w 3039999"/>
              <a:gd name="connsiteY14" fmla="*/ 162336 h 440926"/>
              <a:gd name="connsiteX15" fmla="*/ 1402173 w 3039999"/>
              <a:gd name="connsiteY15" fmla="*/ 158836 h 440926"/>
              <a:gd name="connsiteX16" fmla="*/ 1508744 w 3039999"/>
              <a:gd name="connsiteY16" fmla="*/ 154169 h 440926"/>
              <a:gd name="connsiteX17" fmla="*/ 1616635 w 3039999"/>
              <a:gd name="connsiteY17" fmla="*/ 148669 h 440926"/>
              <a:gd name="connsiteX18" fmla="*/ 1724525 w 3039999"/>
              <a:gd name="connsiteY18" fmla="*/ 143252 h 440926"/>
              <a:gd name="connsiteX19" fmla="*/ 1832416 w 3039999"/>
              <a:gd name="connsiteY19" fmla="*/ 136335 h 440926"/>
              <a:gd name="connsiteX20" fmla="*/ 1942286 w 3039999"/>
              <a:gd name="connsiteY20" fmla="*/ 128169 h 440926"/>
              <a:gd name="connsiteX21" fmla="*/ 2050177 w 3039999"/>
              <a:gd name="connsiteY21" fmla="*/ 120002 h 440926"/>
              <a:gd name="connsiteX22" fmla="*/ 2160047 w 3039999"/>
              <a:gd name="connsiteY22" fmla="*/ 110419 h 440926"/>
              <a:gd name="connsiteX23" fmla="*/ 2270907 w 3039999"/>
              <a:gd name="connsiteY23" fmla="*/ 100168 h 440926"/>
              <a:gd name="connsiteX24" fmla="*/ 2379788 w 3039999"/>
              <a:gd name="connsiteY24" fmla="*/ 89251 h 440926"/>
              <a:gd name="connsiteX25" fmla="*/ 2489988 w 3039999"/>
              <a:gd name="connsiteY25" fmla="*/ 76418 h 440926"/>
              <a:gd name="connsiteX26" fmla="*/ 2600188 w 3039999"/>
              <a:gd name="connsiteY26" fmla="*/ 62751 h 440926"/>
              <a:gd name="connsiteX27" fmla="*/ 2710388 w 3039999"/>
              <a:gd name="connsiteY27" fmla="*/ 49168 h 440926"/>
              <a:gd name="connsiteX28" fmla="*/ 2820258 w 3039999"/>
              <a:gd name="connsiteY28" fmla="*/ 33334 h 440926"/>
              <a:gd name="connsiteX29" fmla="*/ 2930129 w 3039999"/>
              <a:gd name="connsiteY29" fmla="*/ 17000 h 440926"/>
              <a:gd name="connsiteX30" fmla="*/ 3039999 w 3039999"/>
              <a:gd name="connsiteY30" fmla="*/ 0 h 440926"/>
              <a:gd name="connsiteX31" fmla="*/ 3026141 w 3039999"/>
              <a:gd name="connsiteY31" fmla="*/ 440924 h 440926"/>
              <a:gd name="connsiteX32" fmla="*/ 2677942 w 3039999"/>
              <a:gd name="connsiteY32" fmla="*/ 435925 h 440926"/>
              <a:gd name="connsiteX33" fmla="*/ 2643381 w 3039999"/>
              <a:gd name="connsiteY33" fmla="*/ 434739 h 440926"/>
              <a:gd name="connsiteX34" fmla="*/ 2673098 w 3039999"/>
              <a:gd name="connsiteY34" fmla="*/ 197552 h 440926"/>
              <a:gd name="connsiteX35" fmla="*/ 2600644 w 3039999"/>
              <a:gd name="connsiteY35" fmla="*/ 199684 h 440926"/>
              <a:gd name="connsiteX36" fmla="*/ 2342303 w 3039999"/>
              <a:gd name="connsiteY36" fmla="*/ 205715 h 440926"/>
              <a:gd name="connsiteX37" fmla="*/ 2084160 w 3039999"/>
              <a:gd name="connsiteY37" fmla="*/ 210171 h 440926"/>
              <a:gd name="connsiteX38" fmla="*/ 1825032 w 3039999"/>
              <a:gd name="connsiteY38" fmla="*/ 209703 h 440926"/>
              <a:gd name="connsiteX39" fmla="*/ 1567480 w 3039999"/>
              <a:gd name="connsiteY39" fmla="*/ 209433 h 440926"/>
              <a:gd name="connsiteX40" fmla="*/ 1308551 w 3039999"/>
              <a:gd name="connsiteY40" fmla="*/ 207391 h 440926"/>
              <a:gd name="connsiteX41" fmla="*/ 1053363 w 3039999"/>
              <a:gd name="connsiteY41" fmla="*/ 201018 h 440926"/>
              <a:gd name="connsiteX42" fmla="*/ 795223 w 3039999"/>
              <a:gd name="connsiteY42" fmla="*/ 192674 h 440926"/>
              <a:gd name="connsiteX43" fmla="*/ 538856 w 3039999"/>
              <a:gd name="connsiteY43" fmla="*/ 182954 h 440926"/>
              <a:gd name="connsiteX44" fmla="*/ 286033 w 3039999"/>
              <a:gd name="connsiteY44" fmla="*/ 170477 h 440926"/>
              <a:gd name="connsiteX45" fmla="*/ 31635 w 3039999"/>
              <a:gd name="connsiteY45" fmla="*/ 157803 h 440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039999" h="440926">
                <a:moveTo>
                  <a:pt x="0" y="155844"/>
                </a:moveTo>
                <a:lnTo>
                  <a:pt x="6524" y="156086"/>
                </a:lnTo>
                <a:lnTo>
                  <a:pt x="98577" y="159586"/>
                </a:lnTo>
                <a:lnTo>
                  <a:pt x="191951" y="162919"/>
                </a:lnTo>
                <a:lnTo>
                  <a:pt x="285984" y="165003"/>
                </a:lnTo>
                <a:lnTo>
                  <a:pt x="381667" y="167003"/>
                </a:lnTo>
                <a:lnTo>
                  <a:pt x="478999" y="169086"/>
                </a:lnTo>
                <a:lnTo>
                  <a:pt x="577652" y="170503"/>
                </a:lnTo>
                <a:lnTo>
                  <a:pt x="677293" y="170503"/>
                </a:lnTo>
                <a:lnTo>
                  <a:pt x="778255" y="171086"/>
                </a:lnTo>
                <a:lnTo>
                  <a:pt x="880207" y="170503"/>
                </a:lnTo>
                <a:lnTo>
                  <a:pt x="983149" y="169086"/>
                </a:lnTo>
                <a:lnTo>
                  <a:pt x="1086420" y="167753"/>
                </a:lnTo>
                <a:lnTo>
                  <a:pt x="1191011" y="165003"/>
                </a:lnTo>
                <a:lnTo>
                  <a:pt x="1296922" y="162336"/>
                </a:lnTo>
                <a:lnTo>
                  <a:pt x="1402173" y="158836"/>
                </a:lnTo>
                <a:lnTo>
                  <a:pt x="1508744" y="154169"/>
                </a:lnTo>
                <a:lnTo>
                  <a:pt x="1616635" y="148669"/>
                </a:lnTo>
                <a:lnTo>
                  <a:pt x="1724525" y="143252"/>
                </a:lnTo>
                <a:lnTo>
                  <a:pt x="1832416" y="136335"/>
                </a:lnTo>
                <a:lnTo>
                  <a:pt x="1942286" y="128169"/>
                </a:lnTo>
                <a:lnTo>
                  <a:pt x="2050177" y="120002"/>
                </a:lnTo>
                <a:lnTo>
                  <a:pt x="2160047" y="110419"/>
                </a:lnTo>
                <a:lnTo>
                  <a:pt x="2270907" y="100168"/>
                </a:lnTo>
                <a:lnTo>
                  <a:pt x="2379788" y="89251"/>
                </a:lnTo>
                <a:lnTo>
                  <a:pt x="2489988" y="76418"/>
                </a:lnTo>
                <a:lnTo>
                  <a:pt x="2600188" y="62751"/>
                </a:lnTo>
                <a:lnTo>
                  <a:pt x="2710388" y="49168"/>
                </a:lnTo>
                <a:lnTo>
                  <a:pt x="2820258" y="33334"/>
                </a:lnTo>
                <a:lnTo>
                  <a:pt x="2930129" y="17000"/>
                </a:lnTo>
                <a:lnTo>
                  <a:pt x="3039999" y="0"/>
                </a:lnTo>
                <a:cubicBezTo>
                  <a:pt x="3029771" y="277755"/>
                  <a:pt x="3036370" y="163169"/>
                  <a:pt x="3026141" y="440924"/>
                </a:cubicBezTo>
                <a:cubicBezTo>
                  <a:pt x="2925757" y="440997"/>
                  <a:pt x="2808081" y="439255"/>
                  <a:pt x="2677942" y="435925"/>
                </a:cubicBezTo>
                <a:lnTo>
                  <a:pt x="2643381" y="434739"/>
                </a:lnTo>
                <a:lnTo>
                  <a:pt x="2673098" y="197552"/>
                </a:lnTo>
                <a:lnTo>
                  <a:pt x="2600644" y="199684"/>
                </a:lnTo>
                <a:lnTo>
                  <a:pt x="2342303" y="205715"/>
                </a:lnTo>
                <a:lnTo>
                  <a:pt x="2084160" y="210171"/>
                </a:lnTo>
                <a:lnTo>
                  <a:pt x="1825032" y="209703"/>
                </a:lnTo>
                <a:lnTo>
                  <a:pt x="1567480" y="209433"/>
                </a:lnTo>
                <a:lnTo>
                  <a:pt x="1308551" y="207391"/>
                </a:lnTo>
                <a:lnTo>
                  <a:pt x="1053363" y="201018"/>
                </a:lnTo>
                <a:lnTo>
                  <a:pt x="795223" y="192674"/>
                </a:lnTo>
                <a:lnTo>
                  <a:pt x="538856" y="182954"/>
                </a:lnTo>
                <a:lnTo>
                  <a:pt x="286033" y="170477"/>
                </a:lnTo>
                <a:lnTo>
                  <a:pt x="31635" y="157803"/>
                </a:lnTo>
                <a:close/>
              </a:path>
            </a:pathLst>
          </a:custGeom>
          <a:solidFill>
            <a:schemeClr val="bg1">
              <a:alpha val="20000"/>
            </a:schemeClr>
          </a:solidFill>
          <a:ln>
            <a:noFill/>
          </a:ln>
        </p:spPr>
        <p:txBody>
          <a:bodyPr wrap="square">
            <a:noAutofit/>
          </a:bodyPr>
          <a:lstStyle/>
          <a:p>
            <a:endParaRPr lang="en-US" dirty="0"/>
          </a:p>
        </p:txBody>
      </p:sp>
    </p:spTree>
    <p:extLst>
      <p:ext uri="{BB962C8B-B14F-4D97-AF65-F5344CB8AC3E}">
        <p14:creationId xmlns:p14="http://schemas.microsoft.com/office/powerpoint/2010/main" val="58509655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342</TotalTime>
  <Words>1359</Words>
  <Application>Microsoft Office PowerPoint</Application>
  <PresentationFormat>Widescreen</PresentationFormat>
  <Paragraphs>130</Paragraphs>
  <Slides>17</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Arial</vt:lpstr>
      <vt:lpstr>Arial Narrow</vt:lpstr>
      <vt:lpstr>Arial Rounded MT Bold</vt:lpstr>
      <vt:lpstr>Calibri</vt:lpstr>
      <vt:lpstr>Century Gothic</vt:lpstr>
      <vt:lpstr>Times New Roman</vt:lpstr>
      <vt:lpstr>Wingdings 3</vt:lpstr>
      <vt:lpstr>Ion Boardroom</vt:lpstr>
      <vt:lpstr>Validation of Circular RNA (hsa_circ_0012107) Expression Profile as an Efficient Diagnostic Biomarker for Diabetic Retinopathy</vt:lpstr>
      <vt:lpstr>Background </vt:lpstr>
      <vt:lpstr>PowerPoint Presentation</vt:lpstr>
      <vt:lpstr>Relation between Circular RNA (circRNA), messenger RNA (mRNA), and microRNA (miRNA) and sirna</vt:lpstr>
      <vt:lpstr>PowerPoint Presentation</vt:lpstr>
      <vt:lpstr>At which stage of diabetes circular RNA (circRNA) used ?</vt:lpstr>
      <vt:lpstr>State of Art </vt:lpstr>
      <vt:lpstr>Aim of the study </vt:lpstr>
      <vt:lpstr>PowerPoint Presentation</vt:lpstr>
      <vt:lpstr>Methodology </vt:lpstr>
      <vt:lpstr>PowerPoint Presentation</vt:lpstr>
      <vt:lpstr>Plan for execusion of the study: </vt:lpstr>
      <vt:lpstr>Plan for execusion of the study: </vt:lpstr>
      <vt:lpstr>Plan for execution of the study:</vt:lpstr>
      <vt:lpstr>PowerPoint Presentation</vt:lpstr>
      <vt:lpstr>Expected outcome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ahmed mohamed</dc:creator>
  <cp:lastModifiedBy>Doaa Hussein Hassan</cp:lastModifiedBy>
  <cp:revision>13</cp:revision>
  <dcterms:created xsi:type="dcterms:W3CDTF">2023-07-18T20:31:04Z</dcterms:created>
  <dcterms:modified xsi:type="dcterms:W3CDTF">2023-10-09T21:30:49Z</dcterms:modified>
</cp:coreProperties>
</file>