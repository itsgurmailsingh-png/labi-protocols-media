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5"/>
  </p:sldMasterIdLst>
  <p:notesMasterIdLst>
    <p:notesMasterId r:id="rId21"/>
  </p:notesMasterIdLst>
  <p:sldIdLst>
    <p:sldId id="256" r:id="rId6"/>
    <p:sldId id="792" r:id="rId7"/>
    <p:sldId id="796" r:id="rId8"/>
    <p:sldId id="798" r:id="rId9"/>
    <p:sldId id="833" r:id="rId10"/>
    <p:sldId id="834" r:id="rId11"/>
    <p:sldId id="814" r:id="rId12"/>
    <p:sldId id="837" r:id="rId13"/>
    <p:sldId id="838" r:id="rId14"/>
    <p:sldId id="823" r:id="rId15"/>
    <p:sldId id="824" r:id="rId16"/>
    <p:sldId id="832" r:id="rId17"/>
    <p:sldId id="836" r:id="rId18"/>
    <p:sldId id="793" r:id="rId19"/>
    <p:sldId id="263" r:id="rId20"/>
  </p:sldIdLst>
  <p:sldSz cx="12192000" cy="6858000"/>
  <p:notesSz cx="6858000" cy="9144000"/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647A5E2-DAB4-45AD-9DE0-1EF28C493110}">
          <p14:sldIdLst>
            <p14:sldId id="256"/>
          </p14:sldIdLst>
        </p14:section>
        <p14:section name="Introduction" id="{58A3FD65-D3C0-4F05-88D9-66A282516ABB}">
          <p14:sldIdLst>
            <p14:sldId id="792"/>
            <p14:sldId id="796"/>
            <p14:sldId id="798"/>
            <p14:sldId id="833"/>
          </p14:sldIdLst>
        </p14:section>
        <p14:section name="First steps" id="{4D773898-F25F-47E0-B5FF-5860BA070557}">
          <p14:sldIdLst>
            <p14:sldId id="834"/>
            <p14:sldId id="814"/>
            <p14:sldId id="837"/>
            <p14:sldId id="838"/>
            <p14:sldId id="823"/>
            <p14:sldId id="824"/>
            <p14:sldId id="832"/>
            <p14:sldId id="836"/>
          </p14:sldIdLst>
        </p14:section>
        <p14:section name="Next Steps" id="{3363451C-AA3A-4455-9440-AA7B28CA7CCF}">
          <p14:sldIdLst>
            <p14:sldId id="793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81530B-801A-0DC1-E6F0-24F58243591A}" name="Dörfel, Denise" initials="DD" userId="S::ddoerfel@tu-dresden.de::3cd77080-eb88-4cf9-843e-22ad94c8942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örfel" initials="DD" lastIdx="11" clrIdx="0">
    <p:extLst>
      <p:ext uri="{19B8F6BF-5375-455C-9EA6-DF929625EA0E}">
        <p15:presenceInfo xmlns:p15="http://schemas.microsoft.com/office/powerpoint/2012/main" userId="Denise Dörfel" providerId="None"/>
      </p:ext>
    </p:extLst>
  </p:cmAuthor>
  <p:cmAuthor id="2" name="Robert Müller" initials="RM" lastIdx="7" clrIdx="1">
    <p:extLst>
      <p:ext uri="{19B8F6BF-5375-455C-9EA6-DF929625EA0E}">
        <p15:presenceInfo xmlns:p15="http://schemas.microsoft.com/office/powerpoint/2012/main" userId="Robert Mül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1236" autoAdjust="0"/>
  </p:normalViewPr>
  <p:slideViewPr>
    <p:cSldViewPr snapToGrid="0">
      <p:cViewPr varScale="1">
        <p:scale>
          <a:sx n="93" d="100"/>
          <a:sy n="93" d="100"/>
        </p:scale>
        <p:origin x="954" y="84"/>
      </p:cViewPr>
      <p:guideLst/>
    </p:cSldViewPr>
  </p:slideViewPr>
  <p:outlineViewPr>
    <p:cViewPr>
      <p:scale>
        <a:sx n="33" d="100"/>
        <a:sy n="33" d="100"/>
      </p:scale>
      <p:origin x="0" y="-67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3B9224-F110-4845-9E04-CDFFCC089748}" type="doc">
      <dgm:prSet loTypeId="urn:microsoft.com/office/officeart/2005/8/layout/cycle2" loCatId="cycle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692C628-6377-4762-B080-398D98AD58FC}">
      <dgm:prSet phldrT="[Text]"/>
      <dgm:spPr/>
      <dgm:t>
        <a:bodyPr/>
        <a:lstStyle/>
        <a:p>
          <a:r>
            <a:rPr lang="en-US" noProof="0" dirty="0"/>
            <a:t>Data collection planned</a:t>
          </a:r>
        </a:p>
      </dgm:t>
    </dgm:pt>
    <dgm:pt modelId="{B7751D00-77D1-4418-951F-8856850747F3}" type="parTrans" cxnId="{FDE6E93E-CE78-49E3-AFAF-5C54AD3865BD}">
      <dgm:prSet/>
      <dgm:spPr/>
      <dgm:t>
        <a:bodyPr/>
        <a:lstStyle/>
        <a:p>
          <a:endParaRPr lang="en-US"/>
        </a:p>
      </dgm:t>
    </dgm:pt>
    <dgm:pt modelId="{5F1B7864-5120-4CB5-998E-047D2C611842}" type="sibTrans" cxnId="{FDE6E93E-CE78-49E3-AFAF-5C54AD3865BD}">
      <dgm:prSet/>
      <dgm:spPr/>
      <dgm:t>
        <a:bodyPr/>
        <a:lstStyle/>
        <a:p>
          <a:endParaRPr lang="en-US"/>
        </a:p>
      </dgm:t>
    </dgm:pt>
    <dgm:pt modelId="{8F62CA8C-EF0E-40A0-BADF-ADA9D576EF5B}">
      <dgm:prSet phldrT="[Text]"/>
      <dgm:spPr/>
      <dgm:t>
        <a:bodyPr/>
        <a:lstStyle/>
        <a:p>
          <a:r>
            <a:rPr lang="en-US" noProof="0" dirty="0"/>
            <a:t>Data created / collected</a:t>
          </a:r>
        </a:p>
      </dgm:t>
    </dgm:pt>
    <dgm:pt modelId="{BDC6FDCA-A24C-4DB8-B28B-E4EEF1546F95}" type="parTrans" cxnId="{471B6AB1-DDB2-4537-BC64-DE11D4F05E95}">
      <dgm:prSet/>
      <dgm:spPr/>
      <dgm:t>
        <a:bodyPr/>
        <a:lstStyle/>
        <a:p>
          <a:endParaRPr lang="en-US"/>
        </a:p>
      </dgm:t>
    </dgm:pt>
    <dgm:pt modelId="{9B72C806-F75B-46A2-89E9-406F7471C8EF}" type="sibTrans" cxnId="{471B6AB1-DDB2-4537-BC64-DE11D4F05E95}">
      <dgm:prSet/>
      <dgm:spPr/>
      <dgm:t>
        <a:bodyPr/>
        <a:lstStyle/>
        <a:p>
          <a:endParaRPr lang="en-US"/>
        </a:p>
      </dgm:t>
    </dgm:pt>
    <dgm:pt modelId="{B77640DE-449B-46D0-903A-6A0D969BFC15}">
      <dgm:prSet phldrT="[Text]"/>
      <dgm:spPr/>
      <dgm:t>
        <a:bodyPr/>
        <a:lstStyle/>
        <a:p>
          <a:r>
            <a:rPr lang="en-US" noProof="0" dirty="0"/>
            <a:t>Data processed</a:t>
          </a:r>
        </a:p>
      </dgm:t>
    </dgm:pt>
    <dgm:pt modelId="{AC6C2575-44ED-4D87-AE13-FA44F40FC685}" type="parTrans" cxnId="{813F740B-86FD-4E3C-8330-6857DC330E3A}">
      <dgm:prSet/>
      <dgm:spPr/>
      <dgm:t>
        <a:bodyPr/>
        <a:lstStyle/>
        <a:p>
          <a:endParaRPr lang="en-US"/>
        </a:p>
      </dgm:t>
    </dgm:pt>
    <dgm:pt modelId="{901F4715-D3FA-4128-9823-E2AD9B04A8D6}" type="sibTrans" cxnId="{813F740B-86FD-4E3C-8330-6857DC330E3A}">
      <dgm:prSet/>
      <dgm:spPr/>
      <dgm:t>
        <a:bodyPr/>
        <a:lstStyle/>
        <a:p>
          <a:endParaRPr lang="en-US"/>
        </a:p>
      </dgm:t>
    </dgm:pt>
    <dgm:pt modelId="{2D788132-B900-44C9-AA49-54B579A2BB13}">
      <dgm:prSet phldrT="[Text]"/>
      <dgm:spPr/>
      <dgm:t>
        <a:bodyPr/>
        <a:lstStyle/>
        <a:p>
          <a:r>
            <a:rPr lang="en-US" noProof="0" dirty="0"/>
            <a:t>Data analyzed</a:t>
          </a:r>
        </a:p>
      </dgm:t>
    </dgm:pt>
    <dgm:pt modelId="{32951859-F900-4A25-8887-B0444F0B17EE}" type="parTrans" cxnId="{8E3213BD-7345-4EE2-BB58-174E17A5FB51}">
      <dgm:prSet/>
      <dgm:spPr/>
      <dgm:t>
        <a:bodyPr/>
        <a:lstStyle/>
        <a:p>
          <a:endParaRPr lang="en-US"/>
        </a:p>
      </dgm:t>
    </dgm:pt>
    <dgm:pt modelId="{53CBC455-F604-45D0-AD4C-17726FEC660F}" type="sibTrans" cxnId="{8E3213BD-7345-4EE2-BB58-174E17A5FB51}">
      <dgm:prSet/>
      <dgm:spPr/>
      <dgm:t>
        <a:bodyPr/>
        <a:lstStyle/>
        <a:p>
          <a:endParaRPr lang="en-US"/>
        </a:p>
      </dgm:t>
    </dgm:pt>
    <dgm:pt modelId="{FCF4118F-81C4-4616-A79F-7BA714D16D68}">
      <dgm:prSet phldrT="[Text]"/>
      <dgm:spPr/>
      <dgm:t>
        <a:bodyPr/>
        <a:lstStyle/>
        <a:p>
          <a:r>
            <a:rPr lang="en-US" noProof="0" dirty="0"/>
            <a:t>Data shared / published</a:t>
          </a:r>
        </a:p>
      </dgm:t>
    </dgm:pt>
    <dgm:pt modelId="{CA036D30-8528-4C60-9DA6-8131A19BB824}" type="parTrans" cxnId="{13F00921-1866-4B26-A6D0-AF4FA3F975AA}">
      <dgm:prSet/>
      <dgm:spPr/>
      <dgm:t>
        <a:bodyPr/>
        <a:lstStyle/>
        <a:p>
          <a:endParaRPr lang="en-US"/>
        </a:p>
      </dgm:t>
    </dgm:pt>
    <dgm:pt modelId="{26C50AC3-C4D7-44DA-ADA9-F2A7D703EBEA}" type="sibTrans" cxnId="{13F00921-1866-4B26-A6D0-AF4FA3F975AA}">
      <dgm:prSet/>
      <dgm:spPr/>
      <dgm:t>
        <a:bodyPr/>
        <a:lstStyle/>
        <a:p>
          <a:endParaRPr lang="en-US"/>
        </a:p>
      </dgm:t>
    </dgm:pt>
    <dgm:pt modelId="{11794254-92DF-4C8D-9630-B64B58861E1C}">
      <dgm:prSet phldrT="[Text]"/>
      <dgm:spPr/>
      <dgm:t>
        <a:bodyPr/>
        <a:lstStyle/>
        <a:p>
          <a:r>
            <a:rPr lang="en-US" noProof="0" dirty="0"/>
            <a:t>Data archived</a:t>
          </a:r>
        </a:p>
      </dgm:t>
    </dgm:pt>
    <dgm:pt modelId="{9C83F35E-044F-4124-9A80-A218963564C9}" type="parTrans" cxnId="{204689DC-2210-42C9-A6E3-2C50808ADBEF}">
      <dgm:prSet/>
      <dgm:spPr/>
      <dgm:t>
        <a:bodyPr/>
        <a:lstStyle/>
        <a:p>
          <a:endParaRPr lang="en-US"/>
        </a:p>
      </dgm:t>
    </dgm:pt>
    <dgm:pt modelId="{C264ADE2-4A1E-42C3-82BD-57AFECE7924D}" type="sibTrans" cxnId="{204689DC-2210-42C9-A6E3-2C50808ADBEF}">
      <dgm:prSet/>
      <dgm:spPr/>
      <dgm:t>
        <a:bodyPr/>
        <a:lstStyle/>
        <a:p>
          <a:endParaRPr lang="en-US"/>
        </a:p>
      </dgm:t>
    </dgm:pt>
    <dgm:pt modelId="{ED3D0D3E-10AB-47F7-BE9D-17C93AEDB415}">
      <dgm:prSet phldrT="[Text]"/>
      <dgm:spPr/>
      <dgm:t>
        <a:bodyPr/>
        <a:lstStyle/>
        <a:p>
          <a:r>
            <a:rPr lang="en-US" noProof="0" dirty="0"/>
            <a:t>Data reused</a:t>
          </a:r>
        </a:p>
      </dgm:t>
    </dgm:pt>
    <dgm:pt modelId="{A5C30CE3-514C-44C7-8404-5A5228AB81CC}" type="parTrans" cxnId="{2B5B789B-DB0B-468B-B3C2-92359A0F9FA0}">
      <dgm:prSet/>
      <dgm:spPr/>
      <dgm:t>
        <a:bodyPr/>
        <a:lstStyle/>
        <a:p>
          <a:endParaRPr lang="en-US"/>
        </a:p>
      </dgm:t>
    </dgm:pt>
    <dgm:pt modelId="{6B86A477-C84F-481D-8997-FE5C83163F57}" type="sibTrans" cxnId="{2B5B789B-DB0B-468B-B3C2-92359A0F9FA0}">
      <dgm:prSet/>
      <dgm:spPr/>
      <dgm:t>
        <a:bodyPr/>
        <a:lstStyle/>
        <a:p>
          <a:endParaRPr lang="en-US"/>
        </a:p>
      </dgm:t>
    </dgm:pt>
    <dgm:pt modelId="{E1F438D8-38B9-458F-BE4D-7B59E63BD943}" type="pres">
      <dgm:prSet presAssocID="{783B9224-F110-4845-9E04-CDFFCC089748}" presName="cycle" presStyleCnt="0">
        <dgm:presLayoutVars>
          <dgm:dir/>
          <dgm:resizeHandles val="exact"/>
        </dgm:presLayoutVars>
      </dgm:prSet>
      <dgm:spPr/>
    </dgm:pt>
    <dgm:pt modelId="{7632E520-B6A6-4525-922D-82ACCA509FF6}" type="pres">
      <dgm:prSet presAssocID="{4692C628-6377-4762-B080-398D98AD58FC}" presName="node" presStyleLbl="node1" presStyleIdx="0" presStyleCnt="7">
        <dgm:presLayoutVars>
          <dgm:bulletEnabled val="1"/>
        </dgm:presLayoutVars>
      </dgm:prSet>
      <dgm:spPr/>
    </dgm:pt>
    <dgm:pt modelId="{4B5583B2-6A6F-4762-91A8-1799407DE853}" type="pres">
      <dgm:prSet presAssocID="{5F1B7864-5120-4CB5-998E-047D2C611842}" presName="sibTrans" presStyleLbl="sibTrans2D1" presStyleIdx="0" presStyleCnt="7"/>
      <dgm:spPr/>
    </dgm:pt>
    <dgm:pt modelId="{368F33D8-F5CE-4965-8F51-BE85FE5C057F}" type="pres">
      <dgm:prSet presAssocID="{5F1B7864-5120-4CB5-998E-047D2C611842}" presName="connectorText" presStyleLbl="sibTrans2D1" presStyleIdx="0" presStyleCnt="7"/>
      <dgm:spPr/>
    </dgm:pt>
    <dgm:pt modelId="{87C61DF1-C317-4BD2-A068-E890B3E41349}" type="pres">
      <dgm:prSet presAssocID="{8F62CA8C-EF0E-40A0-BADF-ADA9D576EF5B}" presName="node" presStyleLbl="node1" presStyleIdx="1" presStyleCnt="7">
        <dgm:presLayoutVars>
          <dgm:bulletEnabled val="1"/>
        </dgm:presLayoutVars>
      </dgm:prSet>
      <dgm:spPr/>
    </dgm:pt>
    <dgm:pt modelId="{85437C81-C025-4DF7-8629-A663FD608513}" type="pres">
      <dgm:prSet presAssocID="{9B72C806-F75B-46A2-89E9-406F7471C8EF}" presName="sibTrans" presStyleLbl="sibTrans2D1" presStyleIdx="1" presStyleCnt="7"/>
      <dgm:spPr/>
    </dgm:pt>
    <dgm:pt modelId="{7DA8C235-3D54-425E-947F-B9EA52822FAD}" type="pres">
      <dgm:prSet presAssocID="{9B72C806-F75B-46A2-89E9-406F7471C8EF}" presName="connectorText" presStyleLbl="sibTrans2D1" presStyleIdx="1" presStyleCnt="7"/>
      <dgm:spPr/>
    </dgm:pt>
    <dgm:pt modelId="{75BE16A7-332D-4174-BA3A-EDE42ED7578E}" type="pres">
      <dgm:prSet presAssocID="{B77640DE-449B-46D0-903A-6A0D969BFC15}" presName="node" presStyleLbl="node1" presStyleIdx="2" presStyleCnt="7">
        <dgm:presLayoutVars>
          <dgm:bulletEnabled val="1"/>
        </dgm:presLayoutVars>
      </dgm:prSet>
      <dgm:spPr/>
    </dgm:pt>
    <dgm:pt modelId="{6A32493D-9485-4556-9C40-900F6C1491E3}" type="pres">
      <dgm:prSet presAssocID="{901F4715-D3FA-4128-9823-E2AD9B04A8D6}" presName="sibTrans" presStyleLbl="sibTrans2D1" presStyleIdx="2" presStyleCnt="7"/>
      <dgm:spPr/>
    </dgm:pt>
    <dgm:pt modelId="{1112C95F-3BC5-4C1D-982A-E25680E6A55F}" type="pres">
      <dgm:prSet presAssocID="{901F4715-D3FA-4128-9823-E2AD9B04A8D6}" presName="connectorText" presStyleLbl="sibTrans2D1" presStyleIdx="2" presStyleCnt="7"/>
      <dgm:spPr/>
    </dgm:pt>
    <dgm:pt modelId="{9EC9E88A-E4F3-4691-847D-172FD5642CC5}" type="pres">
      <dgm:prSet presAssocID="{2D788132-B900-44C9-AA49-54B579A2BB13}" presName="node" presStyleLbl="node1" presStyleIdx="3" presStyleCnt="7">
        <dgm:presLayoutVars>
          <dgm:bulletEnabled val="1"/>
        </dgm:presLayoutVars>
      </dgm:prSet>
      <dgm:spPr/>
    </dgm:pt>
    <dgm:pt modelId="{E559F49E-6BD4-4354-A17A-0C3025839423}" type="pres">
      <dgm:prSet presAssocID="{53CBC455-F604-45D0-AD4C-17726FEC660F}" presName="sibTrans" presStyleLbl="sibTrans2D1" presStyleIdx="3" presStyleCnt="7"/>
      <dgm:spPr/>
    </dgm:pt>
    <dgm:pt modelId="{5BFA88D5-AEB0-469E-BCDC-EE8CF08F0107}" type="pres">
      <dgm:prSet presAssocID="{53CBC455-F604-45D0-AD4C-17726FEC660F}" presName="connectorText" presStyleLbl="sibTrans2D1" presStyleIdx="3" presStyleCnt="7"/>
      <dgm:spPr/>
    </dgm:pt>
    <dgm:pt modelId="{CB982BC3-E095-465A-A7F1-6138562C6852}" type="pres">
      <dgm:prSet presAssocID="{FCF4118F-81C4-4616-A79F-7BA714D16D68}" presName="node" presStyleLbl="node1" presStyleIdx="4" presStyleCnt="7">
        <dgm:presLayoutVars>
          <dgm:bulletEnabled val="1"/>
        </dgm:presLayoutVars>
      </dgm:prSet>
      <dgm:spPr/>
    </dgm:pt>
    <dgm:pt modelId="{E3204943-224B-41D0-A30B-7428E22A3CC0}" type="pres">
      <dgm:prSet presAssocID="{26C50AC3-C4D7-44DA-ADA9-F2A7D703EBEA}" presName="sibTrans" presStyleLbl="sibTrans2D1" presStyleIdx="4" presStyleCnt="7"/>
      <dgm:spPr/>
    </dgm:pt>
    <dgm:pt modelId="{E5DCF673-3CCF-4C13-A19B-D202A246F50A}" type="pres">
      <dgm:prSet presAssocID="{26C50AC3-C4D7-44DA-ADA9-F2A7D703EBEA}" presName="connectorText" presStyleLbl="sibTrans2D1" presStyleIdx="4" presStyleCnt="7"/>
      <dgm:spPr/>
    </dgm:pt>
    <dgm:pt modelId="{54917A1B-B96F-49A1-B01C-C675FEF59715}" type="pres">
      <dgm:prSet presAssocID="{11794254-92DF-4C8D-9630-B64B58861E1C}" presName="node" presStyleLbl="node1" presStyleIdx="5" presStyleCnt="7">
        <dgm:presLayoutVars>
          <dgm:bulletEnabled val="1"/>
        </dgm:presLayoutVars>
      </dgm:prSet>
      <dgm:spPr/>
    </dgm:pt>
    <dgm:pt modelId="{F4E331D6-9FFB-42DC-B231-A19CFC0F8EA1}" type="pres">
      <dgm:prSet presAssocID="{C264ADE2-4A1E-42C3-82BD-57AFECE7924D}" presName="sibTrans" presStyleLbl="sibTrans2D1" presStyleIdx="5" presStyleCnt="7"/>
      <dgm:spPr/>
    </dgm:pt>
    <dgm:pt modelId="{FFDBCFFD-41BB-4921-B9B9-439B80C63C82}" type="pres">
      <dgm:prSet presAssocID="{C264ADE2-4A1E-42C3-82BD-57AFECE7924D}" presName="connectorText" presStyleLbl="sibTrans2D1" presStyleIdx="5" presStyleCnt="7"/>
      <dgm:spPr/>
    </dgm:pt>
    <dgm:pt modelId="{8F989672-7F73-4DD2-8B9D-5F8FF398467C}" type="pres">
      <dgm:prSet presAssocID="{ED3D0D3E-10AB-47F7-BE9D-17C93AEDB415}" presName="node" presStyleLbl="node1" presStyleIdx="6" presStyleCnt="7">
        <dgm:presLayoutVars>
          <dgm:bulletEnabled val="1"/>
        </dgm:presLayoutVars>
      </dgm:prSet>
      <dgm:spPr/>
    </dgm:pt>
    <dgm:pt modelId="{0A405A8C-9F87-4742-9E90-D627A447B3C9}" type="pres">
      <dgm:prSet presAssocID="{6B86A477-C84F-481D-8997-FE5C83163F57}" presName="sibTrans" presStyleLbl="sibTrans2D1" presStyleIdx="6" presStyleCnt="7"/>
      <dgm:spPr/>
    </dgm:pt>
    <dgm:pt modelId="{3ED7A363-A81F-49B8-A66A-AC68C1F70FA1}" type="pres">
      <dgm:prSet presAssocID="{6B86A477-C84F-481D-8997-FE5C83163F57}" presName="connectorText" presStyleLbl="sibTrans2D1" presStyleIdx="6" presStyleCnt="7"/>
      <dgm:spPr/>
    </dgm:pt>
  </dgm:ptLst>
  <dgm:cxnLst>
    <dgm:cxn modelId="{45396A02-9CCA-4895-82B7-6602DF9E774A}" type="presOf" srcId="{5F1B7864-5120-4CB5-998E-047D2C611842}" destId="{4B5583B2-6A6F-4762-91A8-1799407DE853}" srcOrd="0" destOrd="0" presId="urn:microsoft.com/office/officeart/2005/8/layout/cycle2"/>
    <dgm:cxn modelId="{813F740B-86FD-4E3C-8330-6857DC330E3A}" srcId="{783B9224-F110-4845-9E04-CDFFCC089748}" destId="{B77640DE-449B-46D0-903A-6A0D969BFC15}" srcOrd="2" destOrd="0" parTransId="{AC6C2575-44ED-4D87-AE13-FA44F40FC685}" sibTransId="{901F4715-D3FA-4128-9823-E2AD9B04A8D6}"/>
    <dgm:cxn modelId="{78D9800F-E522-4840-AAF6-FF5D23782DB6}" type="presOf" srcId="{901F4715-D3FA-4128-9823-E2AD9B04A8D6}" destId="{1112C95F-3BC5-4C1D-982A-E25680E6A55F}" srcOrd="1" destOrd="0" presId="urn:microsoft.com/office/officeart/2005/8/layout/cycle2"/>
    <dgm:cxn modelId="{C67E2011-200C-4E80-B203-E4E77A59FCEE}" type="presOf" srcId="{ED3D0D3E-10AB-47F7-BE9D-17C93AEDB415}" destId="{8F989672-7F73-4DD2-8B9D-5F8FF398467C}" srcOrd="0" destOrd="0" presId="urn:microsoft.com/office/officeart/2005/8/layout/cycle2"/>
    <dgm:cxn modelId="{0857B820-FF6C-4B25-8FF5-3048AC4FFCBA}" type="presOf" srcId="{53CBC455-F604-45D0-AD4C-17726FEC660F}" destId="{5BFA88D5-AEB0-469E-BCDC-EE8CF08F0107}" srcOrd="1" destOrd="0" presId="urn:microsoft.com/office/officeart/2005/8/layout/cycle2"/>
    <dgm:cxn modelId="{13F00921-1866-4B26-A6D0-AF4FA3F975AA}" srcId="{783B9224-F110-4845-9E04-CDFFCC089748}" destId="{FCF4118F-81C4-4616-A79F-7BA714D16D68}" srcOrd="4" destOrd="0" parTransId="{CA036D30-8528-4C60-9DA6-8131A19BB824}" sibTransId="{26C50AC3-C4D7-44DA-ADA9-F2A7D703EBEA}"/>
    <dgm:cxn modelId="{A311302A-C6B3-4311-BB67-D62C9C5175C5}" type="presOf" srcId="{783B9224-F110-4845-9E04-CDFFCC089748}" destId="{E1F438D8-38B9-458F-BE4D-7B59E63BD943}" srcOrd="0" destOrd="0" presId="urn:microsoft.com/office/officeart/2005/8/layout/cycle2"/>
    <dgm:cxn modelId="{2E8A2434-CCDA-4420-BD64-5136977CFBF9}" type="presOf" srcId="{FCF4118F-81C4-4616-A79F-7BA714D16D68}" destId="{CB982BC3-E095-465A-A7F1-6138562C6852}" srcOrd="0" destOrd="0" presId="urn:microsoft.com/office/officeart/2005/8/layout/cycle2"/>
    <dgm:cxn modelId="{BFA8413C-EC15-407B-87F1-C253A552976A}" type="presOf" srcId="{26C50AC3-C4D7-44DA-ADA9-F2A7D703EBEA}" destId="{E3204943-224B-41D0-A30B-7428E22A3CC0}" srcOrd="0" destOrd="0" presId="urn:microsoft.com/office/officeart/2005/8/layout/cycle2"/>
    <dgm:cxn modelId="{FDE6E93E-CE78-49E3-AFAF-5C54AD3865BD}" srcId="{783B9224-F110-4845-9E04-CDFFCC089748}" destId="{4692C628-6377-4762-B080-398D98AD58FC}" srcOrd="0" destOrd="0" parTransId="{B7751D00-77D1-4418-951F-8856850747F3}" sibTransId="{5F1B7864-5120-4CB5-998E-047D2C611842}"/>
    <dgm:cxn modelId="{974D1441-0C12-4CE6-8313-D3B0A398ED37}" type="presOf" srcId="{6B86A477-C84F-481D-8997-FE5C83163F57}" destId="{0A405A8C-9F87-4742-9E90-D627A447B3C9}" srcOrd="0" destOrd="0" presId="urn:microsoft.com/office/officeart/2005/8/layout/cycle2"/>
    <dgm:cxn modelId="{456FCF6B-8FD5-4AB6-926D-A77E6B62CFD5}" type="presOf" srcId="{9B72C806-F75B-46A2-89E9-406F7471C8EF}" destId="{7DA8C235-3D54-425E-947F-B9EA52822FAD}" srcOrd="1" destOrd="0" presId="urn:microsoft.com/office/officeart/2005/8/layout/cycle2"/>
    <dgm:cxn modelId="{EEE7C789-E1DF-4C06-AEF1-9C57CD968E49}" type="presOf" srcId="{8F62CA8C-EF0E-40A0-BADF-ADA9D576EF5B}" destId="{87C61DF1-C317-4BD2-A068-E890B3E41349}" srcOrd="0" destOrd="0" presId="urn:microsoft.com/office/officeart/2005/8/layout/cycle2"/>
    <dgm:cxn modelId="{5E77F48F-20C0-42F5-A2BC-BFCF6E2D9E2A}" type="presOf" srcId="{901F4715-D3FA-4128-9823-E2AD9B04A8D6}" destId="{6A32493D-9485-4556-9C40-900F6C1491E3}" srcOrd="0" destOrd="0" presId="urn:microsoft.com/office/officeart/2005/8/layout/cycle2"/>
    <dgm:cxn modelId="{2B5B789B-DB0B-468B-B3C2-92359A0F9FA0}" srcId="{783B9224-F110-4845-9E04-CDFFCC089748}" destId="{ED3D0D3E-10AB-47F7-BE9D-17C93AEDB415}" srcOrd="6" destOrd="0" parTransId="{A5C30CE3-514C-44C7-8404-5A5228AB81CC}" sibTransId="{6B86A477-C84F-481D-8997-FE5C83163F57}"/>
    <dgm:cxn modelId="{75204F9C-0C6A-472A-A1CA-B11CA4DB1336}" type="presOf" srcId="{C264ADE2-4A1E-42C3-82BD-57AFECE7924D}" destId="{F4E331D6-9FFB-42DC-B231-A19CFC0F8EA1}" srcOrd="0" destOrd="0" presId="urn:microsoft.com/office/officeart/2005/8/layout/cycle2"/>
    <dgm:cxn modelId="{7789629F-5CBD-4BA6-A187-8887B956D127}" type="presOf" srcId="{9B72C806-F75B-46A2-89E9-406F7471C8EF}" destId="{85437C81-C025-4DF7-8629-A663FD608513}" srcOrd="0" destOrd="0" presId="urn:microsoft.com/office/officeart/2005/8/layout/cycle2"/>
    <dgm:cxn modelId="{471B6AB1-DDB2-4537-BC64-DE11D4F05E95}" srcId="{783B9224-F110-4845-9E04-CDFFCC089748}" destId="{8F62CA8C-EF0E-40A0-BADF-ADA9D576EF5B}" srcOrd="1" destOrd="0" parTransId="{BDC6FDCA-A24C-4DB8-B28B-E4EEF1546F95}" sibTransId="{9B72C806-F75B-46A2-89E9-406F7471C8EF}"/>
    <dgm:cxn modelId="{8E3213BD-7345-4EE2-BB58-174E17A5FB51}" srcId="{783B9224-F110-4845-9E04-CDFFCC089748}" destId="{2D788132-B900-44C9-AA49-54B579A2BB13}" srcOrd="3" destOrd="0" parTransId="{32951859-F900-4A25-8887-B0444F0B17EE}" sibTransId="{53CBC455-F604-45D0-AD4C-17726FEC660F}"/>
    <dgm:cxn modelId="{024A4BC3-F6FE-478D-A6B6-703D005CFF70}" type="presOf" srcId="{26C50AC3-C4D7-44DA-ADA9-F2A7D703EBEA}" destId="{E5DCF673-3CCF-4C13-A19B-D202A246F50A}" srcOrd="1" destOrd="0" presId="urn:microsoft.com/office/officeart/2005/8/layout/cycle2"/>
    <dgm:cxn modelId="{C08D69CB-67CA-4BE5-9386-22F0A773096F}" type="presOf" srcId="{2D788132-B900-44C9-AA49-54B579A2BB13}" destId="{9EC9E88A-E4F3-4691-847D-172FD5642CC5}" srcOrd="0" destOrd="0" presId="urn:microsoft.com/office/officeart/2005/8/layout/cycle2"/>
    <dgm:cxn modelId="{859868CC-D899-4EE3-8984-6D32588F4B5B}" type="presOf" srcId="{53CBC455-F604-45D0-AD4C-17726FEC660F}" destId="{E559F49E-6BD4-4354-A17A-0C3025839423}" srcOrd="0" destOrd="0" presId="urn:microsoft.com/office/officeart/2005/8/layout/cycle2"/>
    <dgm:cxn modelId="{085A9BCC-1A75-4795-9B8E-EE50082486F0}" type="presOf" srcId="{C264ADE2-4A1E-42C3-82BD-57AFECE7924D}" destId="{FFDBCFFD-41BB-4921-B9B9-439B80C63C82}" srcOrd="1" destOrd="0" presId="urn:microsoft.com/office/officeart/2005/8/layout/cycle2"/>
    <dgm:cxn modelId="{C8F9F1CE-69F2-47B6-AD73-DC886F2D5BE3}" type="presOf" srcId="{5F1B7864-5120-4CB5-998E-047D2C611842}" destId="{368F33D8-F5CE-4965-8F51-BE85FE5C057F}" srcOrd="1" destOrd="0" presId="urn:microsoft.com/office/officeart/2005/8/layout/cycle2"/>
    <dgm:cxn modelId="{204689DC-2210-42C9-A6E3-2C50808ADBEF}" srcId="{783B9224-F110-4845-9E04-CDFFCC089748}" destId="{11794254-92DF-4C8D-9630-B64B58861E1C}" srcOrd="5" destOrd="0" parTransId="{9C83F35E-044F-4124-9A80-A218963564C9}" sibTransId="{C264ADE2-4A1E-42C3-82BD-57AFECE7924D}"/>
    <dgm:cxn modelId="{90F731E4-C541-4FAB-8CDE-A958F5BF90EA}" type="presOf" srcId="{4692C628-6377-4762-B080-398D98AD58FC}" destId="{7632E520-B6A6-4525-922D-82ACCA509FF6}" srcOrd="0" destOrd="0" presId="urn:microsoft.com/office/officeart/2005/8/layout/cycle2"/>
    <dgm:cxn modelId="{4EECDFF1-F554-4F98-A471-119A69E60F8E}" type="presOf" srcId="{6B86A477-C84F-481D-8997-FE5C83163F57}" destId="{3ED7A363-A81F-49B8-A66A-AC68C1F70FA1}" srcOrd="1" destOrd="0" presId="urn:microsoft.com/office/officeart/2005/8/layout/cycle2"/>
    <dgm:cxn modelId="{8F623BF4-6C83-4003-9DB4-4EA7A6332D94}" type="presOf" srcId="{B77640DE-449B-46D0-903A-6A0D969BFC15}" destId="{75BE16A7-332D-4174-BA3A-EDE42ED7578E}" srcOrd="0" destOrd="0" presId="urn:microsoft.com/office/officeart/2005/8/layout/cycle2"/>
    <dgm:cxn modelId="{BA4373F9-1937-4C69-AF0E-6572D22DFBBB}" type="presOf" srcId="{11794254-92DF-4C8D-9630-B64B58861E1C}" destId="{54917A1B-B96F-49A1-B01C-C675FEF59715}" srcOrd="0" destOrd="0" presId="urn:microsoft.com/office/officeart/2005/8/layout/cycle2"/>
    <dgm:cxn modelId="{D92071F8-E505-4898-BACA-496FA56E16DD}" type="presParOf" srcId="{E1F438D8-38B9-458F-BE4D-7B59E63BD943}" destId="{7632E520-B6A6-4525-922D-82ACCA509FF6}" srcOrd="0" destOrd="0" presId="urn:microsoft.com/office/officeart/2005/8/layout/cycle2"/>
    <dgm:cxn modelId="{7BD6F208-DBFF-421C-B14E-E64D7E4D62E6}" type="presParOf" srcId="{E1F438D8-38B9-458F-BE4D-7B59E63BD943}" destId="{4B5583B2-6A6F-4762-91A8-1799407DE853}" srcOrd="1" destOrd="0" presId="urn:microsoft.com/office/officeart/2005/8/layout/cycle2"/>
    <dgm:cxn modelId="{6B8517B5-F5DF-4359-8650-DF42AE080A99}" type="presParOf" srcId="{4B5583B2-6A6F-4762-91A8-1799407DE853}" destId="{368F33D8-F5CE-4965-8F51-BE85FE5C057F}" srcOrd="0" destOrd="0" presId="urn:microsoft.com/office/officeart/2005/8/layout/cycle2"/>
    <dgm:cxn modelId="{1E2F57AF-58A1-47F9-A182-39A967F45902}" type="presParOf" srcId="{E1F438D8-38B9-458F-BE4D-7B59E63BD943}" destId="{87C61DF1-C317-4BD2-A068-E890B3E41349}" srcOrd="2" destOrd="0" presId="urn:microsoft.com/office/officeart/2005/8/layout/cycle2"/>
    <dgm:cxn modelId="{AAB0BF3A-A240-4C7D-9DE1-E7E54C642F69}" type="presParOf" srcId="{E1F438D8-38B9-458F-BE4D-7B59E63BD943}" destId="{85437C81-C025-4DF7-8629-A663FD608513}" srcOrd="3" destOrd="0" presId="urn:microsoft.com/office/officeart/2005/8/layout/cycle2"/>
    <dgm:cxn modelId="{014A2218-B3D7-4601-AEE1-9C5ACA4B8B39}" type="presParOf" srcId="{85437C81-C025-4DF7-8629-A663FD608513}" destId="{7DA8C235-3D54-425E-947F-B9EA52822FAD}" srcOrd="0" destOrd="0" presId="urn:microsoft.com/office/officeart/2005/8/layout/cycle2"/>
    <dgm:cxn modelId="{2EADA924-2B1C-479B-AD68-193FB987B698}" type="presParOf" srcId="{E1F438D8-38B9-458F-BE4D-7B59E63BD943}" destId="{75BE16A7-332D-4174-BA3A-EDE42ED7578E}" srcOrd="4" destOrd="0" presId="urn:microsoft.com/office/officeart/2005/8/layout/cycle2"/>
    <dgm:cxn modelId="{48A4DC77-113C-45CB-A34F-D886A7ED1DB1}" type="presParOf" srcId="{E1F438D8-38B9-458F-BE4D-7B59E63BD943}" destId="{6A32493D-9485-4556-9C40-900F6C1491E3}" srcOrd="5" destOrd="0" presId="urn:microsoft.com/office/officeart/2005/8/layout/cycle2"/>
    <dgm:cxn modelId="{9A3A86A2-AC31-4D1B-8575-A24E3B739591}" type="presParOf" srcId="{6A32493D-9485-4556-9C40-900F6C1491E3}" destId="{1112C95F-3BC5-4C1D-982A-E25680E6A55F}" srcOrd="0" destOrd="0" presId="urn:microsoft.com/office/officeart/2005/8/layout/cycle2"/>
    <dgm:cxn modelId="{FD4977C7-21B1-4833-8047-1C5D3606CB44}" type="presParOf" srcId="{E1F438D8-38B9-458F-BE4D-7B59E63BD943}" destId="{9EC9E88A-E4F3-4691-847D-172FD5642CC5}" srcOrd="6" destOrd="0" presId="urn:microsoft.com/office/officeart/2005/8/layout/cycle2"/>
    <dgm:cxn modelId="{B732C4D1-A6C4-473D-A921-DD61B04911CA}" type="presParOf" srcId="{E1F438D8-38B9-458F-BE4D-7B59E63BD943}" destId="{E559F49E-6BD4-4354-A17A-0C3025839423}" srcOrd="7" destOrd="0" presId="urn:microsoft.com/office/officeart/2005/8/layout/cycle2"/>
    <dgm:cxn modelId="{A22E8B15-F350-4E19-809A-3C51CD9ECA4B}" type="presParOf" srcId="{E559F49E-6BD4-4354-A17A-0C3025839423}" destId="{5BFA88D5-AEB0-469E-BCDC-EE8CF08F0107}" srcOrd="0" destOrd="0" presId="urn:microsoft.com/office/officeart/2005/8/layout/cycle2"/>
    <dgm:cxn modelId="{908C1237-E4CB-4A6D-984F-07F3D7932E6D}" type="presParOf" srcId="{E1F438D8-38B9-458F-BE4D-7B59E63BD943}" destId="{CB982BC3-E095-465A-A7F1-6138562C6852}" srcOrd="8" destOrd="0" presId="urn:microsoft.com/office/officeart/2005/8/layout/cycle2"/>
    <dgm:cxn modelId="{051A093A-9C95-484E-8955-575771C92E61}" type="presParOf" srcId="{E1F438D8-38B9-458F-BE4D-7B59E63BD943}" destId="{E3204943-224B-41D0-A30B-7428E22A3CC0}" srcOrd="9" destOrd="0" presId="urn:microsoft.com/office/officeart/2005/8/layout/cycle2"/>
    <dgm:cxn modelId="{39A364BF-B51E-4B90-80C2-4A9B54946314}" type="presParOf" srcId="{E3204943-224B-41D0-A30B-7428E22A3CC0}" destId="{E5DCF673-3CCF-4C13-A19B-D202A246F50A}" srcOrd="0" destOrd="0" presId="urn:microsoft.com/office/officeart/2005/8/layout/cycle2"/>
    <dgm:cxn modelId="{8028961B-A50E-4BDD-B7A7-532128658716}" type="presParOf" srcId="{E1F438D8-38B9-458F-BE4D-7B59E63BD943}" destId="{54917A1B-B96F-49A1-B01C-C675FEF59715}" srcOrd="10" destOrd="0" presId="urn:microsoft.com/office/officeart/2005/8/layout/cycle2"/>
    <dgm:cxn modelId="{877FEC35-5E25-4C08-AEC5-851456A0E195}" type="presParOf" srcId="{E1F438D8-38B9-458F-BE4D-7B59E63BD943}" destId="{F4E331D6-9FFB-42DC-B231-A19CFC0F8EA1}" srcOrd="11" destOrd="0" presId="urn:microsoft.com/office/officeart/2005/8/layout/cycle2"/>
    <dgm:cxn modelId="{F22C134A-A7D6-432F-9361-16F83A35F1B5}" type="presParOf" srcId="{F4E331D6-9FFB-42DC-B231-A19CFC0F8EA1}" destId="{FFDBCFFD-41BB-4921-B9B9-439B80C63C82}" srcOrd="0" destOrd="0" presId="urn:microsoft.com/office/officeart/2005/8/layout/cycle2"/>
    <dgm:cxn modelId="{B6696CB9-ABC9-4F90-9DE8-757AB807B70E}" type="presParOf" srcId="{E1F438D8-38B9-458F-BE4D-7B59E63BD943}" destId="{8F989672-7F73-4DD2-8B9D-5F8FF398467C}" srcOrd="12" destOrd="0" presId="urn:microsoft.com/office/officeart/2005/8/layout/cycle2"/>
    <dgm:cxn modelId="{BA80C774-3148-4427-9554-DDDE5AD3A7F9}" type="presParOf" srcId="{E1F438D8-38B9-458F-BE4D-7B59E63BD943}" destId="{0A405A8C-9F87-4742-9E90-D627A447B3C9}" srcOrd="13" destOrd="0" presId="urn:microsoft.com/office/officeart/2005/8/layout/cycle2"/>
    <dgm:cxn modelId="{3F80CD6E-03A5-4B4B-86AE-882E95F02E39}" type="presParOf" srcId="{0A405A8C-9F87-4742-9E90-D627A447B3C9}" destId="{3ED7A363-A81F-49B8-A66A-AC68C1F70F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2E520-B6A6-4525-922D-82ACCA509FF6}">
      <dsp:nvSpPr>
        <dsp:cNvPr id="0" name=""/>
        <dsp:cNvSpPr/>
      </dsp:nvSpPr>
      <dsp:spPr>
        <a:xfrm>
          <a:off x="3098496" y="2042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collection planned</a:t>
          </a:r>
        </a:p>
      </dsp:txBody>
      <dsp:txXfrm>
        <a:off x="3253339" y="156885"/>
        <a:ext cx="747646" cy="747646"/>
      </dsp:txXfrm>
    </dsp:sp>
    <dsp:sp modelId="{4B5583B2-6A6F-4762-91A8-1799407DE853}">
      <dsp:nvSpPr>
        <dsp:cNvPr id="0" name=""/>
        <dsp:cNvSpPr/>
      </dsp:nvSpPr>
      <dsp:spPr>
        <a:xfrm rot="1542857">
          <a:off x="4194479" y="693023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198645" y="746139"/>
        <a:ext cx="196330" cy="214109"/>
      </dsp:txXfrm>
    </dsp:sp>
    <dsp:sp modelId="{87C61DF1-C317-4BD2-A068-E890B3E41349}">
      <dsp:nvSpPr>
        <dsp:cNvPr id="0" name=""/>
        <dsp:cNvSpPr/>
      </dsp:nvSpPr>
      <dsp:spPr>
        <a:xfrm>
          <a:off x="4527906" y="690410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465880"/>
                <a:satOff val="0"/>
                <a:lumOff val="-31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465880"/>
                <a:satOff val="0"/>
                <a:lumOff val="-31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465880"/>
                <a:satOff val="0"/>
                <a:lumOff val="-31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created / collected</a:t>
          </a:r>
        </a:p>
      </dsp:txBody>
      <dsp:txXfrm>
        <a:off x="4682749" y="845253"/>
        <a:ext cx="747646" cy="747646"/>
      </dsp:txXfrm>
    </dsp:sp>
    <dsp:sp modelId="{85437C81-C025-4DF7-8629-A663FD608513}">
      <dsp:nvSpPr>
        <dsp:cNvPr id="0" name=""/>
        <dsp:cNvSpPr/>
      </dsp:nvSpPr>
      <dsp:spPr>
        <a:xfrm rot="4628571">
          <a:off x="5091087" y="1806287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465880"/>
                <a:satOff val="0"/>
                <a:lumOff val="-31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465880"/>
                <a:satOff val="0"/>
                <a:lumOff val="-31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465880"/>
                <a:satOff val="0"/>
                <a:lumOff val="-31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23796" y="1836641"/>
        <a:ext cx="196330" cy="214109"/>
      </dsp:txXfrm>
    </dsp:sp>
    <dsp:sp modelId="{75BE16A7-332D-4174-BA3A-EDE42ED7578E}">
      <dsp:nvSpPr>
        <dsp:cNvPr id="0" name=""/>
        <dsp:cNvSpPr/>
      </dsp:nvSpPr>
      <dsp:spPr>
        <a:xfrm>
          <a:off x="4880942" y="2237159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931761"/>
                <a:satOff val="0"/>
                <a:lumOff val="-63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931761"/>
                <a:satOff val="0"/>
                <a:lumOff val="-63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931761"/>
                <a:satOff val="0"/>
                <a:lumOff val="-63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processed</a:t>
          </a:r>
        </a:p>
      </dsp:txBody>
      <dsp:txXfrm>
        <a:off x="5035785" y="2392002"/>
        <a:ext cx="747646" cy="747646"/>
      </dsp:txXfrm>
    </dsp:sp>
    <dsp:sp modelId="{6A32493D-9485-4556-9C40-900F6C1491E3}">
      <dsp:nvSpPr>
        <dsp:cNvPr id="0" name=""/>
        <dsp:cNvSpPr/>
      </dsp:nvSpPr>
      <dsp:spPr>
        <a:xfrm rot="7714286">
          <a:off x="4779729" y="3201392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931761"/>
                <a:satOff val="0"/>
                <a:lumOff val="-63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931761"/>
                <a:satOff val="0"/>
                <a:lumOff val="-63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931761"/>
                <a:satOff val="0"/>
                <a:lumOff val="-63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848031" y="3239870"/>
        <a:ext cx="196330" cy="214109"/>
      </dsp:txXfrm>
    </dsp:sp>
    <dsp:sp modelId="{9EC9E88A-E4F3-4691-847D-172FD5642CC5}">
      <dsp:nvSpPr>
        <dsp:cNvPr id="0" name=""/>
        <dsp:cNvSpPr/>
      </dsp:nvSpPr>
      <dsp:spPr>
        <a:xfrm>
          <a:off x="3891759" y="3477555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1397641"/>
                <a:satOff val="0"/>
                <a:lumOff val="-95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397641"/>
                <a:satOff val="0"/>
                <a:lumOff val="-95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397641"/>
                <a:satOff val="0"/>
                <a:lumOff val="-95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analyzed</a:t>
          </a:r>
        </a:p>
      </dsp:txBody>
      <dsp:txXfrm>
        <a:off x="4046602" y="3632398"/>
        <a:ext cx="747646" cy="747646"/>
      </dsp:txXfrm>
    </dsp:sp>
    <dsp:sp modelId="{E559F49E-6BD4-4354-A17A-0C3025839423}">
      <dsp:nvSpPr>
        <dsp:cNvPr id="0" name=""/>
        <dsp:cNvSpPr/>
      </dsp:nvSpPr>
      <dsp:spPr>
        <a:xfrm rot="10800000">
          <a:off x="3494864" y="3827796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1397641"/>
                <a:satOff val="0"/>
                <a:lumOff val="-95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397641"/>
                <a:satOff val="0"/>
                <a:lumOff val="-95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397641"/>
                <a:satOff val="0"/>
                <a:lumOff val="-95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579006" y="3899166"/>
        <a:ext cx="196330" cy="214109"/>
      </dsp:txXfrm>
    </dsp:sp>
    <dsp:sp modelId="{CB982BC3-E095-465A-A7F1-6138562C6852}">
      <dsp:nvSpPr>
        <dsp:cNvPr id="0" name=""/>
        <dsp:cNvSpPr/>
      </dsp:nvSpPr>
      <dsp:spPr>
        <a:xfrm>
          <a:off x="2305233" y="3477555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1863521"/>
                <a:satOff val="0"/>
                <a:lumOff val="-126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863521"/>
                <a:satOff val="0"/>
                <a:lumOff val="-126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863521"/>
                <a:satOff val="0"/>
                <a:lumOff val="-126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shared / published</a:t>
          </a:r>
        </a:p>
      </dsp:txBody>
      <dsp:txXfrm>
        <a:off x="2460076" y="3632398"/>
        <a:ext cx="747646" cy="747646"/>
      </dsp:txXfrm>
    </dsp:sp>
    <dsp:sp modelId="{E3204943-224B-41D0-A30B-7428E22A3CC0}">
      <dsp:nvSpPr>
        <dsp:cNvPr id="0" name=""/>
        <dsp:cNvSpPr/>
      </dsp:nvSpPr>
      <dsp:spPr>
        <a:xfrm rot="13885714">
          <a:off x="2204020" y="3213804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1863521"/>
                <a:satOff val="0"/>
                <a:lumOff val="-126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863521"/>
                <a:satOff val="0"/>
                <a:lumOff val="-126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863521"/>
                <a:satOff val="0"/>
                <a:lumOff val="-126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2272322" y="3318066"/>
        <a:ext cx="196330" cy="214109"/>
      </dsp:txXfrm>
    </dsp:sp>
    <dsp:sp modelId="{54917A1B-B96F-49A1-B01C-C675FEF59715}">
      <dsp:nvSpPr>
        <dsp:cNvPr id="0" name=""/>
        <dsp:cNvSpPr/>
      </dsp:nvSpPr>
      <dsp:spPr>
        <a:xfrm>
          <a:off x="1316050" y="2237159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2329401"/>
                <a:satOff val="0"/>
                <a:lumOff val="-158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329401"/>
                <a:satOff val="0"/>
                <a:lumOff val="-158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329401"/>
                <a:satOff val="0"/>
                <a:lumOff val="-158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archived</a:t>
          </a:r>
        </a:p>
      </dsp:txBody>
      <dsp:txXfrm>
        <a:off x="1470893" y="2392002"/>
        <a:ext cx="747646" cy="747646"/>
      </dsp:txXfrm>
    </dsp:sp>
    <dsp:sp modelId="{F4E331D6-9FFB-42DC-B231-A19CFC0F8EA1}">
      <dsp:nvSpPr>
        <dsp:cNvPr id="0" name=""/>
        <dsp:cNvSpPr/>
      </dsp:nvSpPr>
      <dsp:spPr>
        <a:xfrm rot="16971429">
          <a:off x="1879231" y="1821765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2329401"/>
                <a:satOff val="0"/>
                <a:lumOff val="-158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329401"/>
                <a:satOff val="0"/>
                <a:lumOff val="-158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329401"/>
                <a:satOff val="0"/>
                <a:lumOff val="-158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911940" y="1934151"/>
        <a:ext cx="196330" cy="214109"/>
      </dsp:txXfrm>
    </dsp:sp>
    <dsp:sp modelId="{8F989672-7F73-4DD2-8B9D-5F8FF398467C}">
      <dsp:nvSpPr>
        <dsp:cNvPr id="0" name=""/>
        <dsp:cNvSpPr/>
      </dsp:nvSpPr>
      <dsp:spPr>
        <a:xfrm>
          <a:off x="1669085" y="690410"/>
          <a:ext cx="1057332" cy="1057332"/>
        </a:xfrm>
        <a:prstGeom prst="ellipse">
          <a:avLst/>
        </a:prstGeom>
        <a:gradFill rotWithShape="0">
          <a:gsLst>
            <a:gs pos="0">
              <a:schemeClr val="accent3">
                <a:hueOff val="-2795282"/>
                <a:satOff val="0"/>
                <a:lumOff val="-19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795282"/>
                <a:satOff val="0"/>
                <a:lumOff val="-19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795282"/>
                <a:satOff val="0"/>
                <a:lumOff val="-19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Data reused</a:t>
          </a:r>
        </a:p>
      </dsp:txBody>
      <dsp:txXfrm>
        <a:off x="1823928" y="845253"/>
        <a:ext cx="747646" cy="747646"/>
      </dsp:txXfrm>
    </dsp:sp>
    <dsp:sp modelId="{0A405A8C-9F87-4742-9E90-D627A447B3C9}">
      <dsp:nvSpPr>
        <dsp:cNvPr id="0" name=""/>
        <dsp:cNvSpPr/>
      </dsp:nvSpPr>
      <dsp:spPr>
        <a:xfrm rot="20057143">
          <a:off x="2765069" y="699912"/>
          <a:ext cx="280472" cy="3568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2795282"/>
                <a:satOff val="0"/>
                <a:lumOff val="-19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795282"/>
                <a:satOff val="0"/>
                <a:lumOff val="-19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795282"/>
                <a:satOff val="0"/>
                <a:lumOff val="-19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69235" y="789536"/>
        <a:ext cx="196330" cy="214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2248B-2F4D-4DCA-BC34-3863D45C8895}" type="datetimeFigureOut">
              <a:rPr lang="de-DE" smtClean="0"/>
              <a:t>29.05.2024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BD973-D32C-4C2A-8A5F-5397C6AE9E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73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Through planning and organization, RDM creates awareness of the necessary research practices to integrate the elements of good scientific practice into day-to-day research
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C4728-A94E-4BFC-9BB2-20531FE150A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22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12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C4728-A94E-4BFC-9BB2-20531FE150A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22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29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Definition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(TUD):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</a:t>
            </a:r>
            <a:r>
              <a:rPr lang="en-US" noProof="0" dirty="0"/>
              <a:t>All data that is collected, observed, derived, simulated or otherwise generated in connection with research. Research data occurs in different forms and formats in each scientific discipline.“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noProof="0" dirty="0"/>
              <a:t>+ 2 – 3 examples from the</a:t>
            </a:r>
            <a:r>
              <a:rPr lang="en-US" b="1" baseline="0" noProof="0" dirty="0"/>
              <a:t> life sciences: </a:t>
            </a:r>
            <a:r>
              <a:rPr lang="en-US" b="1" baseline="0" noProof="0" dirty="0" err="1"/>
              <a:t>miscroscope</a:t>
            </a:r>
            <a:r>
              <a:rPr lang="en-US" b="1" baseline="0" noProof="0" dirty="0"/>
              <a:t> images, sequencing data, scripts for </a:t>
            </a:r>
            <a:r>
              <a:rPr lang="en-US" b="1" baseline="0" noProof="0" dirty="0" err="1"/>
              <a:t>bioinformatical</a:t>
            </a:r>
            <a:r>
              <a:rPr lang="en-US" b="1" baseline="0" noProof="0" dirty="0"/>
              <a:t> analyses</a:t>
            </a:r>
            <a:endParaRPr lang="de-DE" b="1" dirty="0"/>
          </a:p>
          <a:p>
            <a:endParaRPr lang="de-DE" dirty="0"/>
          </a:p>
          <a:p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sensible </a:t>
            </a:r>
            <a:r>
              <a:rPr lang="de-DE" dirty="0" err="1"/>
              <a:t>moments</a:t>
            </a:r>
            <a:r>
              <a:rPr lang="de-DE" dirty="0"/>
              <a:t>: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An experimental series / survey has been finished.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An article, conference paper or thesis has been finished.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 project (or a project phase) starts or ends.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en-US" dirty="0"/>
              <a:t>Acceptance of a conference paper</a:t>
            </a:r>
            <a:endParaRPr lang="de-DE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dirty="0"/>
              <a:t>Move the manuscript to the shared network drive.</a:t>
            </a:r>
            <a:endParaRPr lang="de-DE" b="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dirty="0"/>
              <a:t>Check the associated data for integrity and completeness</a:t>
            </a:r>
            <a:r>
              <a:rPr lang="en-US" b="0" baseline="0" dirty="0"/>
              <a:t> and store them on the shared network drive as well.</a:t>
            </a:r>
            <a:endParaRPr lang="de-DE" b="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dirty="0"/>
              <a:t>Enrich the data with documentation and add necessary protocols / scripts.</a:t>
            </a:r>
            <a:endParaRPr lang="de-DE" b="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dirty="0"/>
              <a:t>Archive the dataset together with the manuscript on OPARA</a:t>
            </a:r>
            <a:r>
              <a:rPr lang="de-DE" b="0" dirty="0"/>
              <a:t>.</a:t>
            </a:r>
          </a:p>
          <a:p>
            <a:pPr marL="0" lvl="1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BD973-D32C-4C2A-8A5F-5397C6AE9EB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854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Life </a:t>
            </a:r>
            <a:r>
              <a:rPr lang="de-DE" b="1" dirty="0" err="1"/>
              <a:t>sciences</a:t>
            </a:r>
            <a:r>
              <a:rPr lang="de-DE" b="1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="1" dirty="0" err="1"/>
              <a:t>Degree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processing</a:t>
            </a:r>
            <a:r>
              <a:rPr lang="de-DE" b="1" dirty="0"/>
              <a:t>:</a:t>
            </a:r>
            <a:r>
              <a:rPr lang="de-DE" b="1" baseline="0" dirty="0"/>
              <a:t> e.g. </a:t>
            </a:r>
            <a:r>
              <a:rPr lang="de-DE" b="1" baseline="0" dirty="0" err="1"/>
              <a:t>microscope</a:t>
            </a:r>
            <a:r>
              <a:rPr lang="de-DE" b="1" baseline="0" dirty="0"/>
              <a:t> </a:t>
            </a:r>
            <a:r>
              <a:rPr lang="de-DE" b="1" baseline="0" dirty="0" err="1"/>
              <a:t>images</a:t>
            </a:r>
            <a:r>
              <a:rPr lang="de-DE" b="1" baseline="0" dirty="0"/>
              <a:t> </a:t>
            </a:r>
            <a:r>
              <a:rPr lang="de-DE" b="1" baseline="0" dirty="0" err="1"/>
              <a:t>with</a:t>
            </a:r>
            <a:r>
              <a:rPr lang="de-DE" b="1" baseline="0" dirty="0"/>
              <a:t> </a:t>
            </a:r>
            <a:r>
              <a:rPr lang="de-DE" b="1" baseline="0" dirty="0" err="1"/>
              <a:t>several</a:t>
            </a:r>
            <a:r>
              <a:rPr lang="de-DE" b="1" baseline="0" dirty="0"/>
              <a:t> </a:t>
            </a:r>
            <a:r>
              <a:rPr lang="de-DE" b="1" baseline="0" dirty="0" err="1"/>
              <a:t>rounds</a:t>
            </a:r>
            <a:r>
              <a:rPr lang="de-DE" b="1" baseline="0" dirty="0"/>
              <a:t> </a:t>
            </a:r>
            <a:r>
              <a:rPr lang="de-DE" b="1" baseline="0" dirty="0" err="1"/>
              <a:t>of</a:t>
            </a:r>
            <a:r>
              <a:rPr lang="de-DE" b="1" baseline="0" dirty="0"/>
              <a:t> </a:t>
            </a:r>
            <a:r>
              <a:rPr lang="de-DE" b="1" baseline="0" dirty="0" err="1"/>
              <a:t>processing</a:t>
            </a:r>
            <a:endParaRPr lang="de-DE" b="1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="1" baseline="0" dirty="0"/>
              <a:t>Origin: e.g. multiple </a:t>
            </a:r>
            <a:r>
              <a:rPr lang="de-DE" b="1" baseline="0" dirty="0" err="1"/>
              <a:t>microscopes</a:t>
            </a:r>
            <a:r>
              <a:rPr lang="de-DE" b="1" baseline="0" dirty="0"/>
              <a:t> </a:t>
            </a:r>
            <a:r>
              <a:rPr lang="de-DE" b="1" baseline="0" dirty="0" err="1"/>
              <a:t>or</a:t>
            </a:r>
            <a:r>
              <a:rPr lang="de-DE" b="1" baseline="0" dirty="0"/>
              <a:t> </a:t>
            </a:r>
            <a:r>
              <a:rPr lang="de-DE" b="1" baseline="0" dirty="0" err="1"/>
              <a:t>sequencing</a:t>
            </a:r>
            <a:r>
              <a:rPr lang="de-DE" b="1" baseline="0" dirty="0"/>
              <a:t> </a:t>
            </a:r>
            <a:r>
              <a:rPr lang="de-DE" b="1" baseline="0" dirty="0" err="1"/>
              <a:t>machines</a:t>
            </a:r>
            <a:endParaRPr lang="de-DE" b="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BD973-D32C-4C2A-8A5F-5397C6AE9EB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27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pc="-1" dirty="0"/>
              <a:t>Metadaten: Ihr Zweck ist das zugehörige Datenobjekt zu definieren und zu beschreiben;</a:t>
            </a:r>
            <a:r>
              <a:rPr lang="de-DE" spc="-1" baseline="0" dirty="0"/>
              <a:t> es existieren verschiedenen Arten (administrativ, strukturell, deskriptiv).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pc="-1" baseline="0" dirty="0"/>
          </a:p>
          <a:p>
            <a:r>
              <a:rPr lang="de-DE" dirty="0"/>
              <a:t>REMBI</a:t>
            </a:r>
            <a:r>
              <a:rPr lang="de-DE" baseline="0" dirty="0"/>
              <a:t> (</a:t>
            </a:r>
            <a:r>
              <a:rPr lang="en-US" dirty="0"/>
              <a:t>Recommended Metadata for Biological Images):</a:t>
            </a:r>
            <a:r>
              <a:rPr lang="en-US" dirty="0">
                <a:sym typeface="Wingdings" panose="05000000000000000000" pitchFamily="2" charset="2"/>
              </a:rPr>
              <a:t> information</a:t>
            </a:r>
            <a:r>
              <a:rPr lang="en-US" baseline="0" dirty="0">
                <a:sym typeface="Wingdings" panose="05000000000000000000" pitchFamily="2" charset="2"/>
              </a:rPr>
              <a:t> on study, sample, specimen, image acquisition / data / correlation, analysis; uses other standards for the different aspects</a:t>
            </a:r>
            <a:endParaRPr lang="de-DE" dirty="0"/>
          </a:p>
          <a:p>
            <a:r>
              <a:rPr lang="de-DE" dirty="0"/>
              <a:t>ISA (Investigation/Study/Assay): </a:t>
            </a:r>
            <a:r>
              <a:rPr lang="en-US" dirty="0"/>
              <a:t>general purpose framework with which to collect and communicate complex metadata (i.e. sample characteristics, technologies used, type of measurements made) from 'omics-based' experiments employing a combination of technologies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pc="-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0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BD973-D32C-4C2A-8A5F-5397C6AE9EB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512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66A9D7-2588-4143-8213-9E928AAB811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39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7.emf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762137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4" name="Grafik 3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857D8D1-3C20-FB8D-927C-8A1CEA92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70680"/>
            <a:ext cx="1768272" cy="504000"/>
          </a:xfrm>
          <a:prstGeom prst="rect">
            <a:avLst/>
          </a:prstGeom>
        </p:spPr>
      </p:pic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009A5E07-6D23-428C-CDB4-0E94891A1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70680"/>
            <a:ext cx="861762" cy="504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3E1B066-940F-4B3B-A3F5-B9A1D150076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47138DB-EEC2-4025-96DE-F5B89500B63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4680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5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3" name="Grafik 2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762137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391512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blau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762137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9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204913"/>
            <a:ext cx="12192000" cy="56530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7" name="Grafik 1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0B73822-F516-5F84-D7BD-058644989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70680"/>
            <a:ext cx="1768272" cy="504000"/>
          </a:xfrm>
          <a:prstGeom prst="rect">
            <a:avLst/>
          </a:prstGeom>
        </p:spPr>
      </p:pic>
      <p:pic>
        <p:nvPicPr>
          <p:cNvPr id="18" name="Grafik 17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31366910-3983-02A8-6241-A6CCB22B0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70680"/>
            <a:ext cx="861762" cy="504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4987AEF-A7AD-4DBB-B176-DA95B71809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695E25B1-7924-4FC9-A115-39298E952F5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4680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1E56F80F-FB74-A6C7-32C7-7B2FD737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48373"/>
            <a:ext cx="1768272" cy="504000"/>
          </a:xfrm>
          <a:prstGeom prst="rect">
            <a:avLst/>
          </a:prstGeom>
        </p:spPr>
      </p:pic>
      <p:pic>
        <p:nvPicPr>
          <p:cNvPr id="11" name="Grafik 10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F7625FAF-853E-2E83-5961-7F5BEF571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48373"/>
            <a:ext cx="861762" cy="504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BA41BCF-5353-41F7-A0E5-01C9032AFD6B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B6F77E6-8F42-4879-A0D0-758F22509F6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0108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8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951B81"/>
              </a:gs>
              <a:gs pos="100000">
                <a:srgbClr val="59358C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F88F52FA-C770-9EB3-2E03-9E52EA873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48373"/>
            <a:ext cx="1768272" cy="504000"/>
          </a:xfrm>
          <a:prstGeom prst="rect">
            <a:avLst/>
          </a:prstGeom>
        </p:spPr>
      </p:pic>
      <p:pic>
        <p:nvPicPr>
          <p:cNvPr id="11" name="Grafik 10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CA906456-1DC2-542B-FE52-012DE575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48373"/>
            <a:ext cx="861762" cy="504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2274E89-7C33-4A13-AA7E-734236FE9E47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7254E3B-9E25-4DC6-96DB-3909C272519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0108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5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DE2526"/>
              </a:gs>
              <a:gs pos="100000">
                <a:srgbClr val="CD171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8872CA22-B5E4-E185-86AB-9CCFC8600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48373"/>
            <a:ext cx="1768272" cy="504000"/>
          </a:xfrm>
          <a:prstGeom prst="rect">
            <a:avLst/>
          </a:prstGeom>
        </p:spPr>
      </p:pic>
      <p:pic>
        <p:nvPicPr>
          <p:cNvPr id="11" name="Grafik 10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0DFFBE07-D677-95C5-DCA5-BCEAB492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48373"/>
            <a:ext cx="861762" cy="504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14F9908-1A86-416B-A52B-2310C10D91B0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21A208E-38E1-4DA0-A9D2-160D30308C9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0108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1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7" y="5312641"/>
            <a:ext cx="5460327" cy="27699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DEE4C74-2183-2758-4604-42B2249F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30" y="348373"/>
            <a:ext cx="1768272" cy="504000"/>
          </a:xfrm>
          <a:prstGeom prst="rect">
            <a:avLst/>
          </a:prstGeom>
        </p:spPr>
      </p:pic>
      <p:pic>
        <p:nvPicPr>
          <p:cNvPr id="11" name="Grafik 10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27F862AD-C32A-2EE4-AD28-30336F76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4" y="348373"/>
            <a:ext cx="861762" cy="504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3F3C0918-35F4-48AC-BE1A-1853C3B8764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2C00603-AC8C-412A-B4AD-F04CB07893C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30108"/>
            <a:ext cx="18603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9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69BCC71-9276-2C66-E3EE-F3D67E23F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0" y="-80278"/>
            <a:ext cx="12694992" cy="7018556"/>
          </a:xfrm>
          <a:prstGeom prst="rect">
            <a:avLst/>
          </a:prstGeom>
        </p:spPr>
      </p:pic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 sz="300" b="0"/>
              <a:t>Bild durch Klicken auf Symbol hinzufügen</a:t>
            </a:r>
            <a:endParaRPr lang="de-DE" dirty="0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4023064"/>
            <a:ext cx="6924798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squar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634407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000" y="5223691"/>
            <a:ext cx="1608568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575667"/>
            <a:ext cx="203746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Untertitel 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918812"/>
            <a:ext cx="4411130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Vortrags, TT. Monat 2022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14861BB-9F8E-D4AD-1576-A3CB1C241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00" y="2203614"/>
            <a:ext cx="7100748" cy="126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51145DD-35F6-44EA-B63A-2934A40331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0" y="-80278"/>
            <a:ext cx="12694992" cy="701855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94693A7-8A72-4682-8926-22851B9C3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00" y="2203614"/>
            <a:ext cx="710074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223999"/>
            <a:ext cx="10580688" cy="47520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59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224000"/>
            <a:ext cx="5195887" cy="475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224000"/>
            <a:ext cx="5195887" cy="475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1348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224000"/>
            <a:ext cx="5187950" cy="475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224000"/>
            <a:ext cx="5195887" cy="475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30208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224000"/>
            <a:ext cx="3384549" cy="475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224000"/>
            <a:ext cx="6999287" cy="475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427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223999"/>
            <a:ext cx="10580687" cy="273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6667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224000"/>
            <a:ext cx="4121151" cy="4645024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223999"/>
            <a:ext cx="6999287" cy="475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31602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1799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7481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21393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4710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68691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3984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8610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457598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197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64855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B29E05B-38DE-4F02-BAF3-F86344D15922}"/>
              </a:ext>
            </a:extLst>
          </p:cNvPr>
          <p:cNvSpPr/>
          <p:nvPr/>
        </p:nvSpPr>
        <p:spPr>
          <a:xfrm>
            <a:off x="0" y="5655365"/>
            <a:ext cx="12192000" cy="1202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9C8C61D-1CBE-44FE-A8D1-F5CEA8E10987}"/>
              </a:ext>
            </a:extLst>
          </p:cNvPr>
          <p:cNvSpPr/>
          <p:nvPr/>
        </p:nvSpPr>
        <p:spPr>
          <a:xfrm>
            <a:off x="0" y="5655365"/>
            <a:ext cx="12192000" cy="1202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A8A602B-9D46-4AD9-A6F2-A1C07BD107A3}"/>
              </a:ext>
            </a:extLst>
          </p:cNvPr>
          <p:cNvSpPr/>
          <p:nvPr/>
        </p:nvSpPr>
        <p:spPr>
          <a:xfrm>
            <a:off x="0" y="5655365"/>
            <a:ext cx="12192000" cy="1202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E24DE2A-415E-4643-86E0-D1E5310769C0}"/>
              </a:ext>
            </a:extLst>
          </p:cNvPr>
          <p:cNvSpPr/>
          <p:nvPr/>
        </p:nvSpPr>
        <p:spPr>
          <a:xfrm>
            <a:off x="0" y="5655365"/>
            <a:ext cx="12192000" cy="1202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CCB33C5-4C72-4337-9FA1-54124518D939}"/>
              </a:ext>
            </a:extLst>
          </p:cNvPr>
          <p:cNvSpPr/>
          <p:nvPr/>
        </p:nvSpPr>
        <p:spPr>
          <a:xfrm>
            <a:off x="0" y="5655365"/>
            <a:ext cx="12192000" cy="1202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109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762137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409411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71192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2199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762137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075052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E026915-AF32-7DD5-CF8B-F73CDC079F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-1" y="-873302"/>
            <a:ext cx="12192001" cy="690275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Edit title by clicking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A5AAE7A-C718-4F42-932D-70FDC0C5C1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-1" y="-873302"/>
            <a:ext cx="12192001" cy="690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083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915E034-718A-4A2F-A79C-890E56020DBF}"/>
              </a:ext>
            </a:extLst>
          </p:cNvPr>
          <p:cNvSpPr/>
          <p:nvPr/>
        </p:nvSpPr>
        <p:spPr>
          <a:xfrm>
            <a:off x="1" y="6182687"/>
            <a:ext cx="12192000" cy="675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ECD2F70-E658-448A-9DA2-F14969D705EC}"/>
              </a:ext>
            </a:extLst>
          </p:cNvPr>
          <p:cNvSpPr/>
          <p:nvPr/>
        </p:nvSpPr>
        <p:spPr>
          <a:xfrm>
            <a:off x="1" y="6182687"/>
            <a:ext cx="12192000" cy="675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E77F38-C915-44E1-A33B-98E1101BC181}"/>
              </a:ext>
            </a:extLst>
          </p:cNvPr>
          <p:cNvSpPr/>
          <p:nvPr/>
        </p:nvSpPr>
        <p:spPr>
          <a:xfrm>
            <a:off x="1" y="6182687"/>
            <a:ext cx="12192000" cy="675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23EE5D4-42AA-4CE1-BD9A-41223D8EE313}"/>
              </a:ext>
            </a:extLst>
          </p:cNvPr>
          <p:cNvSpPr/>
          <p:nvPr/>
        </p:nvSpPr>
        <p:spPr>
          <a:xfrm>
            <a:off x="1" y="6182687"/>
            <a:ext cx="12192000" cy="675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B269A5-F7D9-4D9F-8018-30A23B118C5D}"/>
              </a:ext>
            </a:extLst>
          </p:cNvPr>
          <p:cNvSpPr/>
          <p:nvPr/>
        </p:nvSpPr>
        <p:spPr>
          <a:xfrm>
            <a:off x="1" y="6182687"/>
            <a:ext cx="12192000" cy="675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64066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69BCC71-9276-2C66-E3EE-F3D67E23F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0" y="-80278"/>
            <a:ext cx="12694992" cy="7018556"/>
          </a:xfrm>
          <a:prstGeom prst="rect">
            <a:avLst/>
          </a:prstGeom>
        </p:spPr>
      </p:pic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 sz="300" b="0"/>
              <a:t>Bild durch Klicken auf Symbol hinzufügen</a:t>
            </a:r>
            <a:endParaRPr lang="de-DE" dirty="0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4023064"/>
            <a:ext cx="6924798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squar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634407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000" y="5223691"/>
            <a:ext cx="1608568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575667"/>
            <a:ext cx="203746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Untertitel 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918812"/>
            <a:ext cx="4411130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Vortrags, TT. Monat 2022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14861BB-9F8E-D4AD-1576-A3CB1C241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00" y="2203614"/>
            <a:ext cx="710074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829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E026915-AF32-7DD5-CF8B-F73CDC079F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1567" r="8649"/>
          <a:stretch/>
        </p:blipFill>
        <p:spPr>
          <a:xfrm>
            <a:off x="-1" y="-873302"/>
            <a:ext cx="12192001" cy="690275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Edit title by clicking</a:t>
            </a:r>
          </a:p>
        </p:txBody>
      </p:sp>
    </p:spTree>
    <p:extLst>
      <p:ext uri="{BB962C8B-B14F-4D97-AF65-F5344CB8AC3E}">
        <p14:creationId xmlns:p14="http://schemas.microsoft.com/office/powerpoint/2010/main" val="359594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hyperlink" Target="https://creativecommons.org/licenses/by/4.0/" TargetMode="Externa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 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260000"/>
            <a:ext cx="10580687" cy="4752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(18pt)</a:t>
            </a:r>
          </a:p>
          <a:p>
            <a:pPr marL="285750" marR="0" lvl="1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Zweite Textebene für Aufzählungen (16pt)</a:t>
            </a:r>
          </a:p>
          <a:p>
            <a:pPr lvl="2"/>
            <a:r>
              <a:rPr lang="de-DE" dirty="0"/>
              <a:t>Dritte Textebene bei viel Text (16pt)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 (nachfolgend alles 14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5"/>
            <a:r>
              <a:rPr lang="de-DE" dirty="0"/>
              <a:t>Sechste Textebene für Aufzählungen bei viel Text</a:t>
            </a:r>
          </a:p>
          <a:p>
            <a:pPr lvl="6"/>
            <a:r>
              <a:rPr lang="de-DE" dirty="0"/>
              <a:t>Siebte Textebene für Aufzählungen bei viel Text</a:t>
            </a:r>
          </a:p>
          <a:p>
            <a:pPr lvl="7"/>
            <a:r>
              <a:rPr lang="de-DE" dirty="0"/>
              <a:t>Achte Textebene für Aufzählungen bei viel Text</a:t>
            </a:r>
          </a:p>
          <a:p>
            <a:pPr lvl="8"/>
            <a:r>
              <a:rPr lang="de-DE" dirty="0"/>
              <a:t>Neunte Textebene für Aufzählungen bei viel Text</a:t>
            </a:r>
          </a:p>
          <a:p>
            <a:pPr lvl="5"/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2477770" y="6326668"/>
            <a:ext cx="448500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</a:rPr>
              <a:t>Service Center </a:t>
            </a:r>
            <a:r>
              <a:rPr lang="de-DE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Research </a:t>
            </a:r>
            <a:r>
              <a:rPr lang="en-US" sz="800" kern="120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Data – First steps in research data management for life scientists</a:t>
            </a:r>
          </a:p>
          <a:p>
            <a:pPr algn="l"/>
            <a:r>
              <a:rPr lang="de-DE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Denise Dörfel / Robert Müller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CMCB/</a:t>
            </a:r>
            <a:r>
              <a:rPr lang="en-US" sz="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PoL</a:t>
            </a: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Campus Workshop, 27.05.2024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8722243" y="6372000"/>
            <a:ext cx="704850" cy="324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5"/>
              </a:rPr>
              <a:t>CC BY 4.0</a:t>
            </a: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Grafik 6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49AFA735-749B-46FF-8FA6-21DBF600AD9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01409" y="6372000"/>
            <a:ext cx="553990" cy="324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E0E58F0-C257-4CBC-AE78-1F175B911835}"/>
              </a:ext>
            </a:extLst>
          </p:cNvPr>
          <p:cNvPicPr>
            <a:picLocks noChangeAspect="1"/>
          </p:cNvPicPr>
          <p:nvPr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9" y="6372000"/>
            <a:ext cx="1116184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2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3" r:id="rId23"/>
    <p:sldLayoutId id="2147483884" r:id="rId24"/>
    <p:sldLayoutId id="2147483885" r:id="rId25"/>
    <p:sldLayoutId id="2147483886" r:id="rId26"/>
    <p:sldLayoutId id="2147483887" r:id="rId27"/>
    <p:sldLayoutId id="2147483888" r:id="rId28"/>
    <p:sldLayoutId id="2147483889" r:id="rId29"/>
    <p:sldLayoutId id="2147483890" r:id="rId30"/>
    <p:sldLayoutId id="2147483891" r:id="rId31"/>
    <p:sldLayoutId id="2147483892" r:id="rId32"/>
    <p:sldLayoutId id="2147483893" r:id="rId33"/>
  </p:sldLayoutIdLst>
  <p:txStyles>
    <p:titleStyle>
      <a:lvl1pPr algn="l" defTabSz="914269" rtl="0" eaLnBrk="1" latinLnBrk="0" hangingPunct="1">
        <a:spcBef>
          <a:spcPct val="0"/>
        </a:spcBef>
        <a:buNone/>
        <a:defRPr sz="2400" b="0" kern="1200" cap="small" baseline="0">
          <a:solidFill>
            <a:schemeClr val="accent1"/>
          </a:solidFill>
          <a:latin typeface="Open Sans TUD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285750" indent="-285750" algn="l" defTabSz="914269" rtl="0" eaLnBrk="1" latinLnBrk="0" hangingPunct="1"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39750" indent="-250825" algn="l" defTabSz="914269" rtl="0" eaLnBrk="1" latinLnBrk="0" hangingPunct="1"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14375" indent="-142875" algn="l" defTabSz="914269" rtl="0" eaLnBrk="1" latinLnBrk="0" hangingPunct="1">
        <a:spcBef>
          <a:spcPts val="0"/>
        </a:spcBef>
        <a:buFont typeface="Courier New" panose="02070309020205020404" pitchFamily="49" charset="0"/>
        <a:buChar char="o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449263" marR="0" indent="-142875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623888" marR="0" indent="-142875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ontaktstelle-forschungsdaten@tu-dresden.de" TargetMode="External"/><Relationship Id="rId2" Type="http://schemas.openxmlformats.org/officeDocument/2006/relationships/hyperlink" Target="https://tu-dresden.de/kontaktstelle-forschungsdaten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9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u-dresden.de/forschung-transfer/services-fuer-forschende/kontaktstelle-forschungsdaten/unser-service/terminbuchungssystem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tu-dresden.de/forschung-transfer/services-fuer-forschende/kontaktstelle-forschungsdaten/termine" TargetMode="Externa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012F98-F287-4E65-97F7-BCB64B9D4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808" y="2852116"/>
            <a:ext cx="2826145" cy="246221"/>
          </a:xfrm>
        </p:spPr>
        <p:txBody>
          <a:bodyPr/>
          <a:lstStyle/>
          <a:p>
            <a:r>
              <a:rPr lang="en-US" dirty="0"/>
              <a:t>Denise Dörfel, Robert Müller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7756CF4-E5CB-4EF6-8F9B-4E62795D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8285973" cy="984885"/>
          </a:xfrm>
        </p:spPr>
        <p:txBody>
          <a:bodyPr/>
          <a:lstStyle/>
          <a:p>
            <a:r>
              <a:rPr lang="en-US" dirty="0"/>
              <a:t>First steps in research data management </a:t>
            </a:r>
            <a:br>
              <a:rPr lang="en-US" dirty="0"/>
            </a:br>
            <a:r>
              <a:rPr lang="en-US" dirty="0"/>
              <a:t>for life scientists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D39C427-5C87-4AB7-9278-C1CC81BE3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772" y="5515038"/>
            <a:ext cx="526605" cy="276999"/>
          </a:xfrm>
        </p:spPr>
        <p:txBody>
          <a:bodyPr/>
          <a:lstStyle/>
          <a:p>
            <a:r>
              <a:rPr lang="en-US" dirty="0"/>
              <a:t>Talk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B2DE85A-E44F-8122-6F10-9AA5C5F49A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2808" y="3138045"/>
            <a:ext cx="6034459" cy="246221"/>
          </a:xfrm>
        </p:spPr>
        <p:txBody>
          <a:bodyPr/>
          <a:lstStyle/>
          <a:p>
            <a:r>
              <a:rPr lang="en-US" dirty="0"/>
              <a:t>Service Center Research Data (Kontaktstelle Forschungsdaten)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1389545-D26B-47D3-B5C1-B34C324B11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862411"/>
            <a:ext cx="3173612" cy="492443"/>
          </a:xfrm>
        </p:spPr>
        <p:txBody>
          <a:bodyPr/>
          <a:lstStyle/>
          <a:p>
            <a:r>
              <a:rPr lang="en-US" dirty="0"/>
              <a:t>A brief overview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976F0C9-0327-4608-9D3B-3A14C0C17F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807" y="5799443"/>
            <a:ext cx="5460327" cy="276999"/>
          </a:xfrm>
        </p:spPr>
        <p:txBody>
          <a:bodyPr/>
          <a:lstStyle/>
          <a:p>
            <a:r>
              <a:rPr lang="en-US" dirty="0"/>
              <a:t>CMCB/</a:t>
            </a:r>
            <a:r>
              <a:rPr lang="en-US" dirty="0" err="1"/>
              <a:t>PoL</a:t>
            </a:r>
            <a:r>
              <a:rPr lang="en-US" dirty="0"/>
              <a:t> Campus Workshop, 27.05.2024</a:t>
            </a:r>
          </a:p>
        </p:txBody>
      </p:sp>
    </p:spTree>
    <p:extLst>
      <p:ext uri="{BB962C8B-B14F-4D97-AF65-F5344CB8AC3E}">
        <p14:creationId xmlns:p14="http://schemas.microsoft.com/office/powerpoint/2010/main" val="307669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The Service Center Research Data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F8495D17-EDF4-4990-B229-6697EA3B9D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2067" y="1104533"/>
            <a:ext cx="5894596" cy="4676244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Cooperation between</a:t>
            </a:r>
            <a:br>
              <a:rPr lang="en-US" dirty="0"/>
            </a:br>
            <a:endParaRPr lang="en-US" dirty="0"/>
          </a:p>
          <a:p>
            <a:pPr marL="1790700"/>
            <a:r>
              <a:rPr lang="en-US" sz="1600" b="0" dirty="0"/>
              <a:t>Department 4.3 Research-related Services</a:t>
            </a:r>
          </a:p>
          <a:p>
            <a:pPr marL="1790700"/>
            <a:endParaRPr lang="en-US" sz="1600" b="0" dirty="0"/>
          </a:p>
          <a:p>
            <a:pPr marL="1790700"/>
            <a:endParaRPr lang="en-US" sz="1600" b="0" dirty="0"/>
          </a:p>
          <a:p>
            <a:pPr marL="1790700"/>
            <a:r>
              <a:rPr lang="en-US" sz="1600" b="0" dirty="0"/>
              <a:t>Center for Interdisciplinary Digital Sciences (CIDS)</a:t>
            </a:r>
            <a:br>
              <a:rPr lang="en-US" sz="1600" b="0" dirty="0"/>
            </a:br>
            <a:r>
              <a:rPr lang="en-US" sz="1600" b="0" dirty="0"/>
              <a:t>Department Information Services and High Performance Computing (ZIH)</a:t>
            </a:r>
            <a:endParaRPr lang="en-US" sz="1400" b="0" dirty="0"/>
          </a:p>
          <a:p>
            <a:pPr marL="84138"/>
            <a:endParaRPr lang="en-US" sz="1400" b="0" dirty="0"/>
          </a:p>
          <a:p>
            <a:pPr marL="84138"/>
            <a:r>
              <a:rPr lang="en-US" sz="1400" b="0" dirty="0"/>
              <a:t>Website:</a:t>
            </a:r>
            <a:br>
              <a:rPr lang="en-US" sz="1400" b="0" dirty="0"/>
            </a:br>
            <a:r>
              <a:rPr lang="en-US" sz="1400" b="0" dirty="0">
                <a:hlinkClick r:id="rId2"/>
              </a:rPr>
              <a:t>https://tu-dresden.de/kontaktstelle-forschungsdaten</a:t>
            </a:r>
            <a:endParaRPr lang="en-US" sz="1400" b="0" dirty="0"/>
          </a:p>
          <a:p>
            <a:pPr marL="84138"/>
            <a:r>
              <a:rPr lang="en-US" sz="1400" b="0" dirty="0"/>
              <a:t>E-Mail:</a:t>
            </a:r>
            <a:br>
              <a:rPr lang="en-US" sz="1400" b="0" dirty="0"/>
            </a:br>
            <a:r>
              <a:rPr lang="en-US" sz="1400" b="0" dirty="0">
                <a:hlinkClick r:id="rId3"/>
              </a:rPr>
              <a:t>kontaktstelle-forschungsdaten@tu-dresden.de</a:t>
            </a:r>
            <a:endParaRPr lang="en-US" sz="1400" b="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CEB74B1-FCB8-48AE-AD80-F51C0D265BC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74712" y="1092594"/>
            <a:ext cx="4942252" cy="4752000"/>
          </a:xfrm>
        </p:spPr>
        <p:txBody>
          <a:bodyPr/>
          <a:lstStyle/>
          <a:p>
            <a:r>
              <a:rPr lang="en-US" dirty="0"/>
              <a:t>Team:</a:t>
            </a:r>
          </a:p>
          <a:p>
            <a:pPr lvl="1"/>
            <a:r>
              <a:rPr lang="en-US" dirty="0"/>
              <a:t>4 consultants</a:t>
            </a:r>
          </a:p>
          <a:p>
            <a:pPr lvl="1"/>
            <a:r>
              <a:rPr lang="en-US" dirty="0"/>
              <a:t>2 IT specialists</a:t>
            </a:r>
          </a:p>
          <a:p>
            <a:endParaRPr lang="en-US" dirty="0"/>
          </a:p>
          <a:p>
            <a:r>
              <a:rPr lang="en-US" dirty="0"/>
              <a:t>Services:</a:t>
            </a:r>
          </a:p>
          <a:p>
            <a:pPr lvl="1"/>
            <a:r>
              <a:rPr lang="en-US" dirty="0"/>
              <a:t>PLAN – Data management plan (DMP)</a:t>
            </a:r>
          </a:p>
          <a:p>
            <a:pPr lvl="1"/>
            <a:r>
              <a:rPr lang="en-US" dirty="0"/>
              <a:t>INFORM – Consultation and information on RDM</a:t>
            </a:r>
          </a:p>
          <a:p>
            <a:pPr lvl="1"/>
            <a:r>
              <a:rPr lang="en-US" dirty="0"/>
              <a:t>IMPLEMENT – Support with RDM</a:t>
            </a:r>
          </a:p>
          <a:p>
            <a:pPr marL="17463" lvl="2" indent="0">
              <a:spcAft>
                <a:spcPts val="300"/>
              </a:spcAft>
              <a:buNone/>
            </a:pPr>
            <a:endParaRPr lang="en-US" sz="14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A00B0B6-91DE-76AD-F6EF-5E01B405F4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99" t="23781" r="54991" b="62068"/>
          <a:stretch/>
        </p:blipFill>
        <p:spPr>
          <a:xfrm>
            <a:off x="5942067" y="1667000"/>
            <a:ext cx="1589849" cy="475200"/>
          </a:xfrm>
          <a:prstGeom prst="rect">
            <a:avLst/>
          </a:prstGeom>
        </p:spPr>
      </p:pic>
      <p:pic>
        <p:nvPicPr>
          <p:cNvPr id="13" name="Grafik 12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76FD6A53-FA4E-6549-FEDF-D4286EBBF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093" y="2644544"/>
            <a:ext cx="738654" cy="432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871FA57-2A11-4CCC-98AC-2A9DC5E1BD0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74"/>
          <a:stretch/>
        </p:blipFill>
        <p:spPr>
          <a:xfrm>
            <a:off x="6033774" y="2644544"/>
            <a:ext cx="453360" cy="432000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3387B0FB-AD74-452A-8631-E151B6F3D13D}"/>
              </a:ext>
            </a:extLst>
          </p:cNvPr>
          <p:cNvSpPr txBox="1">
            <a:spLocks/>
          </p:cNvSpPr>
          <p:nvPr/>
        </p:nvSpPr>
        <p:spPr>
          <a:xfrm>
            <a:off x="6033774" y="5437877"/>
            <a:ext cx="5677786" cy="3429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95942" marR="0" indent="-323953" algn="l" defTabSz="914269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—"/>
              <a:tabLst/>
              <a:defRPr sz="18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marR="0" indent="0" algn="l" defTabSz="914269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95942" marR="0" indent="-215969" algn="l" defTabSz="914269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575916" marR="0" indent="-179362" algn="l" defTabSz="914269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+mn-lt"/>
              </a:rPr>
              <a:t>Certified in ITIL and Requirements Engineering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2554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F4AD30-D9C9-71D9-05C1-CE293E00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data management -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C055CD-F5A3-AA07-ACE6-FA95C0E8392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0591" y="1976594"/>
            <a:ext cx="2124075" cy="90011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/>
            <a:r>
              <a:rPr lang="en-US" b="1" dirty="0"/>
              <a:t>Management</a:t>
            </a:r>
            <a:endParaRPr lang="en-US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E4D399A-B171-7630-924A-A2D5E4B6CCD1}"/>
              </a:ext>
            </a:extLst>
          </p:cNvPr>
          <p:cNvSpPr txBox="1"/>
          <p:nvPr/>
        </p:nvSpPr>
        <p:spPr>
          <a:xfrm>
            <a:off x="3158670" y="1953377"/>
            <a:ext cx="190800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Planning
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organization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ACB2F2E-CAF9-B1A8-0C38-F6FE2E516012}"/>
              </a:ext>
            </a:extLst>
          </p:cNvPr>
          <p:cNvSpPr txBox="1"/>
          <p:nvPr/>
        </p:nvSpPr>
        <p:spPr>
          <a:xfrm>
            <a:off x="6061582" y="1953377"/>
            <a:ext cx="158400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ctions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EEF5228-7726-95D1-45F9-BFC67D2F0759}"/>
              </a:ext>
            </a:extLst>
          </p:cNvPr>
          <p:cNvSpPr txBox="1"/>
          <p:nvPr/>
        </p:nvSpPr>
        <p:spPr>
          <a:xfrm>
            <a:off x="9462543" y="1953377"/>
            <a:ext cx="200711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4C356">
                    <a:lumMod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goal-oriented principles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50605685-B088-CEAE-AC78-3CD25A13396A}"/>
              </a:ext>
            </a:extLst>
          </p:cNvPr>
          <p:cNvSpPr txBox="1">
            <a:spLocks/>
          </p:cNvSpPr>
          <p:nvPr/>
        </p:nvSpPr>
        <p:spPr>
          <a:xfrm>
            <a:off x="2567596" y="2241460"/>
            <a:ext cx="488551" cy="3238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Wingdings" panose="05000000000000000000" pitchFamily="2" charset="2"/>
              <a:buChar char="ü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marR="0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504000" marR="0" indent="-180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720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864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=</a:t>
            </a:r>
          </a:p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305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FD9D8EBA-CD64-6C37-32EA-A27201CB2D2C}"/>
              </a:ext>
            </a:extLst>
          </p:cNvPr>
          <p:cNvSpPr txBox="1">
            <a:spLocks/>
          </p:cNvSpPr>
          <p:nvPr/>
        </p:nvSpPr>
        <p:spPr>
          <a:xfrm>
            <a:off x="5169192" y="2241460"/>
            <a:ext cx="789868" cy="3238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Wingdings" panose="05000000000000000000" pitchFamily="2" charset="2"/>
              <a:buChar char="ü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marR="0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504000" marR="0" indent="-180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720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864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of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94DDE137-F007-277C-3AEA-61DEB7DA52E7}"/>
              </a:ext>
            </a:extLst>
          </p:cNvPr>
          <p:cNvSpPr txBox="1"/>
          <p:nvPr/>
        </p:nvSpPr>
        <p:spPr>
          <a:xfrm>
            <a:off x="7748104" y="1953377"/>
            <a:ext cx="1611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 compliance with</a:t>
            </a:r>
            <a:endParaRPr kumimoji="0" lang="en-US" sz="162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7936054C-5E13-77AC-0B7D-947B50CCE190}"/>
              </a:ext>
            </a:extLst>
          </p:cNvPr>
          <p:cNvSpPr txBox="1">
            <a:spLocks/>
          </p:cNvSpPr>
          <p:nvPr/>
        </p:nvSpPr>
        <p:spPr>
          <a:xfrm>
            <a:off x="340591" y="3438141"/>
            <a:ext cx="2124482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Wingdings" panose="05000000000000000000" pitchFamily="2" charset="2"/>
              <a:buChar char="ü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85750" marR="0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04000" marR="0" indent="-180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lang="de-DE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20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864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Management of research data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5A2FA88F-D4ED-3A0A-2BE0-60BDC49B868F}"/>
              </a:ext>
            </a:extLst>
          </p:cNvPr>
          <p:cNvSpPr txBox="1"/>
          <p:nvPr/>
        </p:nvSpPr>
        <p:spPr>
          <a:xfrm>
            <a:off x="6061582" y="3438141"/>
            <a:ext cx="158400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research practices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6973325D-0B5F-35C8-6BFF-60B5E3D960CC}"/>
              </a:ext>
            </a:extLst>
          </p:cNvPr>
          <p:cNvSpPr txBox="1"/>
          <p:nvPr/>
        </p:nvSpPr>
        <p:spPr>
          <a:xfrm>
            <a:off x="9462543" y="3438141"/>
            <a:ext cx="200711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4C356">
                    <a:lumMod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good scientific practice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Inhaltsplatzhalter 2">
            <a:extLst>
              <a:ext uri="{FF2B5EF4-FFF2-40B4-BE49-F238E27FC236}">
                <a16:creationId xmlns:a16="http://schemas.microsoft.com/office/drawing/2014/main" id="{BEE72716-4E63-83F0-A743-7A97B8C0F8C5}"/>
              </a:ext>
            </a:extLst>
          </p:cNvPr>
          <p:cNvSpPr txBox="1">
            <a:spLocks/>
          </p:cNvSpPr>
          <p:nvPr/>
        </p:nvSpPr>
        <p:spPr>
          <a:xfrm>
            <a:off x="2567596" y="3726224"/>
            <a:ext cx="488551" cy="3238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Wingdings" panose="05000000000000000000" pitchFamily="2" charset="2"/>
              <a:buChar char="ü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marR="0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504000" marR="0" indent="-180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720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864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=</a:t>
            </a:r>
          </a:p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305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40D1A4DD-C0A4-FEED-EC46-23E32FA32615}"/>
              </a:ext>
            </a:extLst>
          </p:cNvPr>
          <p:cNvSpPr txBox="1">
            <a:spLocks/>
          </p:cNvSpPr>
          <p:nvPr/>
        </p:nvSpPr>
        <p:spPr>
          <a:xfrm>
            <a:off x="5169192" y="3726224"/>
            <a:ext cx="789868" cy="3238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Wingdings" panose="05000000000000000000" pitchFamily="2" charset="2"/>
              <a:buChar char="ü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marR="0" indent="-28575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504000" marR="0" indent="-180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720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864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of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EB75173D-7BC4-5AC4-9A75-A7E350D4E65F}"/>
              </a:ext>
            </a:extLst>
          </p:cNvPr>
          <p:cNvSpPr txBox="1"/>
          <p:nvPr/>
        </p:nvSpPr>
        <p:spPr>
          <a:xfrm>
            <a:off x="7748104" y="3438141"/>
            <a:ext cx="1611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 compliance with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2FC9C54-CA4D-C2C2-1CD0-FC156229F9FF}"/>
              </a:ext>
            </a:extLst>
          </p:cNvPr>
          <p:cNvSpPr txBox="1"/>
          <p:nvPr/>
        </p:nvSpPr>
        <p:spPr>
          <a:xfrm>
            <a:off x="3158670" y="3438141"/>
            <a:ext cx="190800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Planning
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organization</a:t>
            </a:r>
          </a:p>
        </p:txBody>
      </p:sp>
    </p:spTree>
    <p:extLst>
      <p:ext uri="{BB962C8B-B14F-4D97-AF65-F5344CB8AC3E}">
        <p14:creationId xmlns:p14="http://schemas.microsoft.com/office/powerpoint/2010/main" val="188410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5" grpId="0" animBg="1"/>
      <p:bldP spid="56" grpId="0"/>
      <p:bldP spid="57" grpId="0"/>
      <p:bldP spid="58" grpId="0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F4AD30-D9C9-71D9-05C1-CE293E00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Key elements of good scientific practice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F7F4D34-0AF2-F157-8847-53B9526EAF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991680"/>
            <a:ext cx="8017733" cy="3837620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consider the current state of the art of science and know the scientific environment.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take responsibility.</a:t>
            </a:r>
          </a:p>
          <a:p>
            <a:pPr marL="0" lvl="2" indent="0">
              <a:buNone/>
            </a:pPr>
            <a:br>
              <a:rPr lang="en-US" sz="2000" noProof="0" dirty="0"/>
            </a:br>
            <a:endParaRPr lang="en-US" sz="2000" noProof="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ensure the verifiability of the research.</a:t>
            </a:r>
            <a:br>
              <a:rPr lang="en-US" sz="2000" noProof="0" dirty="0"/>
            </a:br>
            <a:endParaRPr lang="en-US" sz="2000" noProof="0" dirty="0"/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noProof="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B91B39F-08DC-04D2-3559-195002CD1626}"/>
              </a:ext>
            </a:extLst>
          </p:cNvPr>
          <p:cNvSpPr txBox="1"/>
          <p:nvPr/>
        </p:nvSpPr>
        <p:spPr>
          <a:xfrm>
            <a:off x="776748" y="1049094"/>
            <a:ext cx="10264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26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ClrTx/>
              <a:buSzPct val="14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05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The GSP guidelines aim to ensure that researchers and their institutions ...</a:t>
            </a: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305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CDFD3B0-B033-54FD-89ED-376CD373EDAC}"/>
              </a:ext>
            </a:extLst>
          </p:cNvPr>
          <p:cNvGrpSpPr>
            <a:grpSpLocks noChangeAspect="1"/>
          </p:cNvGrpSpPr>
          <p:nvPr/>
        </p:nvGrpSpPr>
        <p:grpSpPr>
          <a:xfrm>
            <a:off x="9602207" y="4693220"/>
            <a:ext cx="1378904" cy="1223618"/>
            <a:chOff x="781615" y="215063"/>
            <a:chExt cx="1769890" cy="1570565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98A74BD6-8E46-0975-B713-E533B19DE63B}"/>
                </a:ext>
              </a:extLst>
            </p:cNvPr>
            <p:cNvGrpSpPr/>
            <p:nvPr/>
          </p:nvGrpSpPr>
          <p:grpSpPr>
            <a:xfrm>
              <a:off x="1029826" y="215063"/>
              <a:ext cx="1250823" cy="1102370"/>
              <a:chOff x="6325726" y="1221895"/>
              <a:chExt cx="1250823" cy="1102370"/>
            </a:xfrm>
          </p:grpSpPr>
          <p:sp>
            <p:nvSpPr>
              <p:cNvPr id="31" name="Oval 8">
                <a:extLst>
                  <a:ext uri="{FF2B5EF4-FFF2-40B4-BE49-F238E27FC236}">
                    <a16:creationId xmlns:a16="http://schemas.microsoft.com/office/drawing/2014/main" id="{BFDAE8ED-78E9-20D8-479B-1B78ECC0C6E4}"/>
                  </a:ext>
                </a:extLst>
              </p:cNvPr>
              <p:cNvSpPr/>
              <p:nvPr/>
            </p:nvSpPr>
            <p:spPr>
              <a:xfrm>
                <a:off x="6375140" y="2071774"/>
                <a:ext cx="1201409" cy="252491"/>
              </a:xfrm>
              <a:prstGeom prst="ellipse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srgbClr val="00305D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50EABB0B-6851-916C-ED6D-9A36BCAF55A6}"/>
                  </a:ext>
                </a:extLst>
              </p:cNvPr>
              <p:cNvSpPr/>
              <p:nvPr/>
            </p:nvSpPr>
            <p:spPr>
              <a:xfrm>
                <a:off x="6995199" y="2011891"/>
                <a:ext cx="321804" cy="2047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33" name="Grafik 32">
                <a:extLst>
                  <a:ext uri="{FF2B5EF4-FFF2-40B4-BE49-F238E27FC236}">
                    <a16:creationId xmlns:a16="http://schemas.microsoft.com/office/drawing/2014/main" id="{2127B9F3-E72A-9807-D39C-59DE6E3F6F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6325726" y="1221895"/>
                <a:ext cx="1062773" cy="1062773"/>
              </a:xfrm>
              <a:prstGeom prst="rect">
                <a:avLst/>
              </a:prstGeom>
            </p:spPr>
          </p:pic>
        </p:grp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0789B686-42F6-C29B-B43F-CA9E5FDE0483}"/>
                </a:ext>
              </a:extLst>
            </p:cNvPr>
            <p:cNvSpPr txBox="1"/>
            <p:nvPr/>
          </p:nvSpPr>
          <p:spPr>
            <a:xfrm>
              <a:off x="781615" y="1311575"/>
              <a:ext cx="1769890" cy="4740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822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small" spc="0" normalizeH="0" baseline="0" noProof="0" dirty="0">
                  <a:ln>
                    <a:noFill/>
                  </a:ln>
                  <a:solidFill>
                    <a:srgbClr val="00305D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Verifiability</a:t>
              </a: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4A74B087-3394-F4BE-BEBB-1C7310B958AA}"/>
              </a:ext>
            </a:extLst>
          </p:cNvPr>
          <p:cNvGrpSpPr>
            <a:grpSpLocks noChangeAspect="1"/>
          </p:cNvGrpSpPr>
          <p:nvPr/>
        </p:nvGrpSpPr>
        <p:grpSpPr>
          <a:xfrm>
            <a:off x="9460245" y="3091067"/>
            <a:ext cx="1603324" cy="1237271"/>
            <a:chOff x="2731049" y="113965"/>
            <a:chExt cx="2079951" cy="1605078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4C5D98D4-3972-6609-D39C-61C818E823A0}"/>
                </a:ext>
              </a:extLst>
            </p:cNvPr>
            <p:cNvGrpSpPr/>
            <p:nvPr/>
          </p:nvGrpSpPr>
          <p:grpSpPr>
            <a:xfrm>
              <a:off x="3163893" y="113965"/>
              <a:ext cx="1214248" cy="1167550"/>
              <a:chOff x="1798253" y="1134206"/>
              <a:chExt cx="1214248" cy="1167550"/>
            </a:xfrm>
          </p:grpSpPr>
          <p:sp>
            <p:nvSpPr>
              <p:cNvPr id="37" name="Oval 14">
                <a:extLst>
                  <a:ext uri="{FF2B5EF4-FFF2-40B4-BE49-F238E27FC236}">
                    <a16:creationId xmlns:a16="http://schemas.microsoft.com/office/drawing/2014/main" id="{BB69570A-B9FC-47AD-5886-26C21D9695C3}"/>
                  </a:ext>
                </a:extLst>
              </p:cNvPr>
              <p:cNvSpPr/>
              <p:nvPr/>
            </p:nvSpPr>
            <p:spPr>
              <a:xfrm>
                <a:off x="1798253" y="2003339"/>
                <a:ext cx="1214248" cy="252491"/>
              </a:xfrm>
              <a:prstGeom prst="ellipse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6F1C311B-7068-E8A4-8AE4-CEB65CA6E8DE}"/>
                  </a:ext>
                </a:extLst>
              </p:cNvPr>
              <p:cNvSpPr/>
              <p:nvPr/>
            </p:nvSpPr>
            <p:spPr>
              <a:xfrm>
                <a:off x="1913693" y="1865112"/>
                <a:ext cx="167459" cy="2047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74C79E4-40F3-3861-44F8-DAE62CD13CEF}"/>
                  </a:ext>
                </a:extLst>
              </p:cNvPr>
              <p:cNvSpPr/>
              <p:nvPr/>
            </p:nvSpPr>
            <p:spPr>
              <a:xfrm>
                <a:off x="2171038" y="1899046"/>
                <a:ext cx="184205" cy="2047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C06550D5-673F-5943-CD6C-67F272BEA184}"/>
                  </a:ext>
                </a:extLst>
              </p:cNvPr>
              <p:cNvSpPr/>
              <p:nvPr/>
            </p:nvSpPr>
            <p:spPr>
              <a:xfrm>
                <a:off x="2443971" y="1899501"/>
                <a:ext cx="184205" cy="1844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2489E4AF-2BE7-805F-D6F6-9828AD1F7C3D}"/>
                  </a:ext>
                </a:extLst>
              </p:cNvPr>
              <p:cNvSpPr/>
              <p:nvPr/>
            </p:nvSpPr>
            <p:spPr>
              <a:xfrm>
                <a:off x="2707878" y="1942807"/>
                <a:ext cx="167459" cy="184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42" name="Grafik 41" descr="Familie mit zwei Kindern Silhouette">
                <a:extLst>
                  <a:ext uri="{FF2B5EF4-FFF2-40B4-BE49-F238E27FC236}">
                    <a16:creationId xmlns:a16="http://schemas.microsoft.com/office/drawing/2014/main" id="{509134B1-D3AD-EA65-A73A-E5C1C09EB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821603" y="1134206"/>
                <a:ext cx="1167547" cy="1167550"/>
              </a:xfrm>
              <a:prstGeom prst="rect">
                <a:avLst/>
              </a:prstGeom>
            </p:spPr>
          </p:pic>
        </p:grp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88588909-82E6-7A18-3073-43779675DB15}"/>
                </a:ext>
              </a:extLst>
            </p:cNvPr>
            <p:cNvSpPr txBox="1"/>
            <p:nvPr/>
          </p:nvSpPr>
          <p:spPr>
            <a:xfrm>
              <a:off x="2731049" y="1239919"/>
              <a:ext cx="2079951" cy="4791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22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small" spc="0" normalizeH="0" baseline="0" noProof="0" dirty="0">
                  <a:ln>
                    <a:noFill/>
                  </a:ln>
                  <a:solidFill>
                    <a:srgbClr val="00305D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Responsibility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852C607-E764-83E0-1EBF-1220D364590D}"/>
              </a:ext>
            </a:extLst>
          </p:cNvPr>
          <p:cNvGrpSpPr>
            <a:grpSpLocks noChangeAspect="1"/>
          </p:cNvGrpSpPr>
          <p:nvPr/>
        </p:nvGrpSpPr>
        <p:grpSpPr>
          <a:xfrm>
            <a:off x="9513466" y="1500245"/>
            <a:ext cx="1476000" cy="1225940"/>
            <a:chOff x="4923758" y="284337"/>
            <a:chExt cx="1880061" cy="1431932"/>
          </a:xfrm>
        </p:grpSpPr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AEEBE192-FE39-E836-9014-D28BC952ADD6}"/>
                </a:ext>
              </a:extLst>
            </p:cNvPr>
            <p:cNvGrpSpPr/>
            <p:nvPr/>
          </p:nvGrpSpPr>
          <p:grpSpPr>
            <a:xfrm>
              <a:off x="5234495" y="284337"/>
              <a:ext cx="1192234" cy="1051224"/>
              <a:chOff x="3176423" y="1331396"/>
              <a:chExt cx="1192234" cy="1051224"/>
            </a:xfrm>
          </p:grpSpPr>
          <p:sp>
            <p:nvSpPr>
              <p:cNvPr id="46" name="Oval 22">
                <a:extLst>
                  <a:ext uri="{FF2B5EF4-FFF2-40B4-BE49-F238E27FC236}">
                    <a16:creationId xmlns:a16="http://schemas.microsoft.com/office/drawing/2014/main" id="{6446C0BB-C92A-2AA4-AD95-58F02B3678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76423" y="2064414"/>
                <a:ext cx="1192234" cy="294343"/>
              </a:xfrm>
              <a:prstGeom prst="ellipse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8400B42F-5EDE-EC7C-FC11-13408F25A57D}"/>
                  </a:ext>
                </a:extLst>
              </p:cNvPr>
              <p:cNvSpPr/>
              <p:nvPr/>
            </p:nvSpPr>
            <p:spPr>
              <a:xfrm>
                <a:off x="3364302" y="1905406"/>
                <a:ext cx="852201" cy="2662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229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2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48" name="Grafik 47">
                <a:extLst>
                  <a:ext uri="{FF2B5EF4-FFF2-40B4-BE49-F238E27FC236}">
                    <a16:creationId xmlns:a16="http://schemas.microsoft.com/office/drawing/2014/main" id="{E208CDAD-010F-0084-CC7B-0292A8E1E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3264790" y="1331396"/>
                <a:ext cx="1051224" cy="1051224"/>
              </a:xfrm>
              <a:prstGeom prst="rect">
                <a:avLst/>
              </a:prstGeom>
            </p:spPr>
          </p:pic>
        </p:grp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A90809D3-ED46-23A4-EC56-76FC29E55C51}"/>
                </a:ext>
              </a:extLst>
            </p:cNvPr>
            <p:cNvSpPr txBox="1"/>
            <p:nvPr/>
          </p:nvSpPr>
          <p:spPr>
            <a:xfrm>
              <a:off x="4923758" y="1284879"/>
              <a:ext cx="1880061" cy="431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822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small" spc="0" normalizeH="0" baseline="0" noProof="0" dirty="0">
                  <a:ln>
                    <a:noFill/>
                  </a:ln>
                  <a:solidFill>
                    <a:srgbClr val="00305D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Knowledge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824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RDM helps with good scientific practice – How?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to be achieved with research data management?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are useful, secure, complete, comprehensible, standardized.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context is preserved and the quality is increased.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reuse is facilitated – for yourself, the project group, the chair or the community.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22C0CF3-7C7D-42AB-B22E-292C2B8DE949}"/>
              </a:ext>
            </a:extLst>
          </p:cNvPr>
          <p:cNvGrpSpPr>
            <a:grpSpLocks noChangeAspect="1"/>
          </p:cNvGrpSpPr>
          <p:nvPr/>
        </p:nvGrpSpPr>
        <p:grpSpPr>
          <a:xfrm>
            <a:off x="2018459" y="3479322"/>
            <a:ext cx="1809133" cy="1944000"/>
            <a:chOff x="607967" y="395160"/>
            <a:chExt cx="2520000" cy="2520000"/>
          </a:xfrm>
        </p:grpSpPr>
        <p:sp>
          <p:nvSpPr>
            <p:cNvPr id="21" name="Abgerundetes Rechteck 30">
              <a:extLst>
                <a:ext uri="{FF2B5EF4-FFF2-40B4-BE49-F238E27FC236}">
                  <a16:creationId xmlns:a16="http://schemas.microsoft.com/office/drawing/2014/main" id="{2DD80131-D6A5-4C80-BA8F-1BA8475B7CFD}"/>
                </a:ext>
              </a:extLst>
            </p:cNvPr>
            <p:cNvSpPr/>
            <p:nvPr/>
          </p:nvSpPr>
          <p:spPr>
            <a:xfrm>
              <a:off x="607967" y="395160"/>
              <a:ext cx="2520000" cy="2520000"/>
            </a:xfrm>
            <a:prstGeom prst="roundRect">
              <a:avLst>
                <a:gd name="adj" fmla="val 620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4400" b="1" cap="small" dirty="0" err="1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</a:t>
              </a:r>
              <a:r>
                <a:rPr lang="de-DE" cap="small" dirty="0" err="1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indable</a:t>
              </a:r>
              <a:endParaRPr lang="de-DE" cap="small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Abgerundetes Rechteck 31">
              <a:extLst>
                <a:ext uri="{FF2B5EF4-FFF2-40B4-BE49-F238E27FC236}">
                  <a16:creationId xmlns:a16="http://schemas.microsoft.com/office/drawing/2014/main" id="{F9D32B85-683F-49D3-AB5C-6ED18CAED75F}"/>
                </a:ext>
              </a:extLst>
            </p:cNvPr>
            <p:cNvSpPr/>
            <p:nvPr/>
          </p:nvSpPr>
          <p:spPr>
            <a:xfrm>
              <a:off x="755762" y="1366324"/>
              <a:ext cx="2248695" cy="1420416"/>
            </a:xfrm>
            <a:prstGeom prst="roundRect">
              <a:avLst>
                <a:gd name="adj" fmla="val 620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400" cap="small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23" name="Grafik 22" descr="Lupe Silhouette">
              <a:extLst>
                <a:ext uri="{FF2B5EF4-FFF2-40B4-BE49-F238E27FC236}">
                  <a16:creationId xmlns:a16="http://schemas.microsoft.com/office/drawing/2014/main" id="{6C4D619E-8F47-49F3-B49B-5E73B6D9A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8618" y="1429380"/>
              <a:ext cx="1332000" cy="1332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2177B9E-AA5D-431B-AB73-1F19ADBBC948}"/>
              </a:ext>
            </a:extLst>
          </p:cNvPr>
          <p:cNvGrpSpPr>
            <a:grpSpLocks noChangeAspect="1"/>
          </p:cNvGrpSpPr>
          <p:nvPr/>
        </p:nvGrpSpPr>
        <p:grpSpPr>
          <a:xfrm>
            <a:off x="4085877" y="3479322"/>
            <a:ext cx="1809133" cy="1944000"/>
            <a:chOff x="3376727" y="394826"/>
            <a:chExt cx="2520000" cy="2520000"/>
          </a:xfrm>
        </p:grpSpPr>
        <p:sp>
          <p:nvSpPr>
            <p:cNvPr id="25" name="Abgerundetes Rechteck 34">
              <a:extLst>
                <a:ext uri="{FF2B5EF4-FFF2-40B4-BE49-F238E27FC236}">
                  <a16:creationId xmlns:a16="http://schemas.microsoft.com/office/drawing/2014/main" id="{6BC5AB91-9512-4C2F-A247-23BC440ACDD6}"/>
                </a:ext>
              </a:extLst>
            </p:cNvPr>
            <p:cNvSpPr/>
            <p:nvPr/>
          </p:nvSpPr>
          <p:spPr>
            <a:xfrm>
              <a:off x="3376727" y="394826"/>
              <a:ext cx="2520000" cy="2520000"/>
            </a:xfrm>
            <a:prstGeom prst="roundRect">
              <a:avLst>
                <a:gd name="adj" fmla="val 620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4400" b="1" cap="small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</a:t>
              </a:r>
              <a:r>
                <a:rPr lang="de-DE" cap="small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ccessible</a:t>
              </a:r>
            </a:p>
          </p:txBody>
        </p:sp>
        <p:sp>
          <p:nvSpPr>
            <p:cNvPr id="26" name="Abgerundetes Rechteck 35">
              <a:extLst>
                <a:ext uri="{FF2B5EF4-FFF2-40B4-BE49-F238E27FC236}">
                  <a16:creationId xmlns:a16="http://schemas.microsoft.com/office/drawing/2014/main" id="{CC5E15D3-AF47-4278-BC8E-C93E47A284C9}"/>
                </a:ext>
              </a:extLst>
            </p:cNvPr>
            <p:cNvSpPr/>
            <p:nvPr/>
          </p:nvSpPr>
          <p:spPr>
            <a:xfrm>
              <a:off x="3524522" y="1365990"/>
              <a:ext cx="2248695" cy="1420416"/>
            </a:xfrm>
            <a:prstGeom prst="roundRect">
              <a:avLst>
                <a:gd name="adj" fmla="val 620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400" cap="small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27" name="Grafik 26" descr="Doppeltippen-Geste Silhouette">
              <a:extLst>
                <a:ext uri="{FF2B5EF4-FFF2-40B4-BE49-F238E27FC236}">
                  <a16:creationId xmlns:a16="http://schemas.microsoft.com/office/drawing/2014/main" id="{38B36C30-D06E-41BE-8CF2-6B3A6D35C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02" y="1429380"/>
              <a:ext cx="1332000" cy="133200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1C08EE9-D7F0-4B5D-9C2D-86889D07B15A}"/>
              </a:ext>
            </a:extLst>
          </p:cNvPr>
          <p:cNvGrpSpPr>
            <a:grpSpLocks noChangeAspect="1"/>
          </p:cNvGrpSpPr>
          <p:nvPr/>
        </p:nvGrpSpPr>
        <p:grpSpPr>
          <a:xfrm>
            <a:off x="6153295" y="3479322"/>
            <a:ext cx="1809133" cy="1944000"/>
            <a:chOff x="6145487" y="394826"/>
            <a:chExt cx="2520000" cy="2520000"/>
          </a:xfrm>
        </p:grpSpPr>
        <p:sp>
          <p:nvSpPr>
            <p:cNvPr id="29" name="Abgerundetes Rechteck 38">
              <a:extLst>
                <a:ext uri="{FF2B5EF4-FFF2-40B4-BE49-F238E27FC236}">
                  <a16:creationId xmlns:a16="http://schemas.microsoft.com/office/drawing/2014/main" id="{6AE01521-FFDC-4663-BB59-8E21AD4B91C5}"/>
                </a:ext>
              </a:extLst>
            </p:cNvPr>
            <p:cNvSpPr/>
            <p:nvPr/>
          </p:nvSpPr>
          <p:spPr>
            <a:xfrm>
              <a:off x="6145487" y="394826"/>
              <a:ext cx="2520000" cy="2520000"/>
            </a:xfrm>
            <a:prstGeom prst="roundRect">
              <a:avLst>
                <a:gd name="adj" fmla="val 620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4400" b="1" cap="small" dirty="0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r>
                <a:rPr lang="de-DE" cap="small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nteroperable</a:t>
              </a:r>
              <a:endParaRPr lang="de-DE" sz="2400" cap="small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Abgerundetes Rechteck 39">
              <a:extLst>
                <a:ext uri="{FF2B5EF4-FFF2-40B4-BE49-F238E27FC236}">
                  <a16:creationId xmlns:a16="http://schemas.microsoft.com/office/drawing/2014/main" id="{65794D07-75B6-4D3C-AE62-A3BEE97AEB71}"/>
                </a:ext>
              </a:extLst>
            </p:cNvPr>
            <p:cNvSpPr/>
            <p:nvPr/>
          </p:nvSpPr>
          <p:spPr>
            <a:xfrm>
              <a:off x="6293282" y="1365990"/>
              <a:ext cx="2248695" cy="1420416"/>
            </a:xfrm>
            <a:prstGeom prst="roundRect">
              <a:avLst>
                <a:gd name="adj" fmla="val 620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400" cap="small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1" name="Grafik 30" descr="Getrennt Silhouette">
              <a:extLst>
                <a:ext uri="{FF2B5EF4-FFF2-40B4-BE49-F238E27FC236}">
                  <a16:creationId xmlns:a16="http://schemas.microsoft.com/office/drawing/2014/main" id="{01E6D113-7394-4494-9203-9E8B56448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55685" y="1424046"/>
              <a:ext cx="1332000" cy="1332000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610ED1D-AB40-49AC-8E60-A03647EDF8FE}"/>
              </a:ext>
            </a:extLst>
          </p:cNvPr>
          <p:cNvGrpSpPr>
            <a:grpSpLocks noChangeAspect="1"/>
          </p:cNvGrpSpPr>
          <p:nvPr/>
        </p:nvGrpSpPr>
        <p:grpSpPr>
          <a:xfrm>
            <a:off x="8219383" y="3479322"/>
            <a:ext cx="1809133" cy="1944000"/>
            <a:chOff x="8914247" y="394826"/>
            <a:chExt cx="2520000" cy="2520000"/>
          </a:xfrm>
        </p:grpSpPr>
        <p:sp>
          <p:nvSpPr>
            <p:cNvPr id="33" name="Abgerundetes Rechteck 42">
              <a:extLst>
                <a:ext uri="{FF2B5EF4-FFF2-40B4-BE49-F238E27FC236}">
                  <a16:creationId xmlns:a16="http://schemas.microsoft.com/office/drawing/2014/main" id="{4F163F74-05AE-4352-84CE-68343426E022}"/>
                </a:ext>
              </a:extLst>
            </p:cNvPr>
            <p:cNvSpPr/>
            <p:nvPr/>
          </p:nvSpPr>
          <p:spPr>
            <a:xfrm>
              <a:off x="8914247" y="394826"/>
              <a:ext cx="2520000" cy="2520000"/>
            </a:xfrm>
            <a:prstGeom prst="roundRect">
              <a:avLst>
                <a:gd name="adj" fmla="val 620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4400" b="1" cap="small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</a:t>
              </a:r>
              <a:r>
                <a:rPr lang="de-DE" cap="small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eusable</a:t>
              </a:r>
              <a:endParaRPr lang="de-DE" sz="2400" cap="small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Abgerundetes Rechteck 43">
              <a:extLst>
                <a:ext uri="{FF2B5EF4-FFF2-40B4-BE49-F238E27FC236}">
                  <a16:creationId xmlns:a16="http://schemas.microsoft.com/office/drawing/2014/main" id="{216A4A95-B49B-4388-A58C-ADE0457E5E68}"/>
                </a:ext>
              </a:extLst>
            </p:cNvPr>
            <p:cNvSpPr/>
            <p:nvPr/>
          </p:nvSpPr>
          <p:spPr>
            <a:xfrm>
              <a:off x="9062042" y="1365990"/>
              <a:ext cx="2248695" cy="1420416"/>
            </a:xfrm>
            <a:prstGeom prst="roundRect">
              <a:avLst>
                <a:gd name="adj" fmla="val 620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400" cap="small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5" name="Grafik 34" descr="Kreise mit Pfeilen Silhouette">
              <a:extLst>
                <a:ext uri="{FF2B5EF4-FFF2-40B4-BE49-F238E27FC236}">
                  <a16:creationId xmlns:a16="http://schemas.microsoft.com/office/drawing/2014/main" id="{E25CFCFA-242C-415F-AAC5-E581FFCA9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12303" y="1404462"/>
              <a:ext cx="1332000" cy="13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149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82771" y="3835706"/>
            <a:ext cx="2300360" cy="492443"/>
          </a:xfrm>
        </p:spPr>
        <p:txBody>
          <a:bodyPr/>
          <a:lstStyle/>
          <a:p>
            <a:r>
              <a:rPr lang="en-US" dirty="0"/>
              <a:t>First steps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355491" cy="492443"/>
          </a:xfrm>
        </p:spPr>
        <p:txBody>
          <a:bodyPr/>
          <a:lstStyle/>
          <a:p>
            <a:r>
              <a:rPr lang="en-US" dirty="0"/>
              <a:t>Best practices to begin with</a:t>
            </a:r>
          </a:p>
        </p:txBody>
      </p:sp>
    </p:spTree>
    <p:extLst>
      <p:ext uri="{BB962C8B-B14F-4D97-AF65-F5344CB8AC3E}">
        <p14:creationId xmlns:p14="http://schemas.microsoft.com/office/powerpoint/2010/main" val="228905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49E5766A-4605-A51E-2371-DC39DBE438F8}"/>
              </a:ext>
            </a:extLst>
          </p:cNvPr>
          <p:cNvGraphicFramePr/>
          <p:nvPr/>
        </p:nvGraphicFramePr>
        <p:xfrm>
          <a:off x="4854873" y="791567"/>
          <a:ext cx="7254325" cy="4536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DAD63C64-EA7C-9829-EEC6-9CA5DE8517F2}"/>
              </a:ext>
            </a:extLst>
          </p:cNvPr>
          <p:cNvSpPr txBox="1"/>
          <p:nvPr/>
        </p:nvSpPr>
        <p:spPr>
          <a:xfrm rot="16200000">
            <a:off x="7992578" y="240380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Nach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https://forschungsdaten.info/themen/informieren-und-planen/datenlebenszyklus/</a:t>
            </a:r>
          </a:p>
        </p:txBody>
      </p:sp>
      <p:pic>
        <p:nvPicPr>
          <p:cNvPr id="4" name="Grafik 3" descr="Uhr mit einfarbiger Füllung">
            <a:extLst>
              <a:ext uri="{FF2B5EF4-FFF2-40B4-BE49-F238E27FC236}">
                <a16:creationId xmlns:a16="http://schemas.microsoft.com/office/drawing/2014/main" id="{B82D1E77-A627-DA7D-F068-4E45F76932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4710" y="3009116"/>
            <a:ext cx="1522396" cy="152239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 descr="Klemmbrett abgehakt mit einfarbiger Füllung">
            <a:extLst>
              <a:ext uri="{FF2B5EF4-FFF2-40B4-BE49-F238E27FC236}">
                <a16:creationId xmlns:a16="http://schemas.microsoft.com/office/drawing/2014/main" id="{DF78EF28-16B5-F733-5823-29000CABF6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60144" y="3009116"/>
            <a:ext cx="1522396" cy="152239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D3D139C2-EE73-BE0E-7053-0327C65B9D46}"/>
              </a:ext>
            </a:extLst>
          </p:cNvPr>
          <p:cNvSpPr/>
          <p:nvPr/>
        </p:nvSpPr>
        <p:spPr>
          <a:xfrm>
            <a:off x="2769281" y="3574600"/>
            <a:ext cx="839003" cy="391427"/>
          </a:xfrm>
          <a:prstGeom prst="rightArrow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2AC364E-A5E0-BBA8-E723-07AB4C26E94D}"/>
              </a:ext>
            </a:extLst>
          </p:cNvPr>
          <p:cNvSpPr txBox="1"/>
          <p:nvPr/>
        </p:nvSpPr>
        <p:spPr>
          <a:xfrm>
            <a:off x="1180494" y="4531512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/>
              <a:t>Timing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1E41693-38FD-D4EF-84E3-97825639FB8C}"/>
              </a:ext>
            </a:extLst>
          </p:cNvPr>
          <p:cNvSpPr txBox="1"/>
          <p:nvPr/>
        </p:nvSpPr>
        <p:spPr>
          <a:xfrm>
            <a:off x="4050512" y="4531512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/>
              <a:t>Checklist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5A759B6E-833B-6C17-A32B-9F5134C5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are my research data?</a:t>
            </a:r>
            <a:br>
              <a:rPr lang="en-US" noProof="0" dirty="0"/>
            </a:br>
            <a:r>
              <a:rPr lang="en-US" dirty="0"/>
              <a:t>The life cycle of research data</a:t>
            </a:r>
            <a:endParaRPr lang="en-US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3D76AC4-A8ED-6F3A-E9B2-6508885C2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223999"/>
            <a:ext cx="4518509" cy="4752000"/>
          </a:xfrm>
        </p:spPr>
        <p:txBody>
          <a:bodyPr/>
          <a:lstStyle/>
          <a:p>
            <a:r>
              <a:rPr lang="en-US" dirty="0"/>
              <a:t>Time points can serve as triggers for specific actions by certain people</a:t>
            </a:r>
          </a:p>
          <a:p>
            <a:r>
              <a:rPr lang="en-US" dirty="0"/>
              <a:t>The sequence of actions should be recorded, e.g. as a checklist</a:t>
            </a:r>
          </a:p>
          <a:p>
            <a:endParaRPr lang="en-US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835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could the data be stored?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83546130"/>
              </p:ext>
            </p:extLst>
          </p:nvPr>
        </p:nvGraphicFramePr>
        <p:xfrm>
          <a:off x="874713" y="1519797"/>
          <a:ext cx="10580688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858652">
                  <a:extLst>
                    <a:ext uri="{9D8B030D-6E8A-4147-A177-3AD203B41FA5}">
                      <a16:colId xmlns:a16="http://schemas.microsoft.com/office/drawing/2014/main" val="867910967"/>
                    </a:ext>
                  </a:extLst>
                </a:gridCol>
                <a:gridCol w="3361764">
                  <a:extLst>
                    <a:ext uri="{9D8B030D-6E8A-4147-A177-3AD203B41FA5}">
                      <a16:colId xmlns:a16="http://schemas.microsoft.com/office/drawing/2014/main" val="3183798977"/>
                    </a:ext>
                  </a:extLst>
                </a:gridCol>
                <a:gridCol w="3360272">
                  <a:extLst>
                    <a:ext uri="{9D8B030D-6E8A-4147-A177-3AD203B41FA5}">
                      <a16:colId xmlns:a16="http://schemas.microsoft.com/office/drawing/2014/main" val="552179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>
                          <a:solidFill>
                            <a:srgbClr val="00B050"/>
                          </a:solidFill>
                        </a:rPr>
                        <a:t>Suitable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Not </a:t>
                      </a: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suitable</a:t>
                      </a:r>
                      <a:endParaRPr lang="de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358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others need to have access?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Datashare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Your</a:t>
                      </a:r>
                      <a:r>
                        <a:rPr lang="de-DE" dirty="0"/>
                        <a:t> PC, Home </a:t>
                      </a:r>
                      <a:r>
                        <a:rPr lang="de-DE" dirty="0" err="1"/>
                        <a:t>drive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092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I have to store TB of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OPARA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Home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Datashare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4422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Should external users have access without a guest login?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Datashare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SharePoint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09196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a backup necessary?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Home </a:t>
                      </a:r>
                      <a:r>
                        <a:rPr lang="de-DE" dirty="0" err="1"/>
                        <a:t>drive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Datashare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1556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I have to store sensitive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SharePoint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Your</a:t>
                      </a:r>
                      <a:r>
                        <a:rPr lang="de-DE" dirty="0"/>
                        <a:t> PC, Datashare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815975"/>
                  </a:ext>
                </a:extLst>
              </a:tr>
            </a:tbl>
          </a:graphicData>
        </a:graphic>
      </p:graphicFrame>
      <p:sp>
        <p:nvSpPr>
          <p:cNvPr id="6" name="Inhaltsplatzhalter 2"/>
          <p:cNvSpPr txBox="1">
            <a:spLocks/>
          </p:cNvSpPr>
          <p:nvPr/>
        </p:nvSpPr>
        <p:spPr>
          <a:xfrm>
            <a:off x="874712" y="915142"/>
            <a:ext cx="10580687" cy="4239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269" rtl="0"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39750" indent="-250825" algn="l" defTabSz="914269" rtl="0" eaLnBrk="1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14375" indent="-142875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449263" marR="0" indent="-142875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623888" marR="0" indent="-142875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requirements do you place on the storage system?</a:t>
            </a:r>
          </a:p>
        </p:txBody>
      </p:sp>
      <p:sp>
        <p:nvSpPr>
          <p:cNvPr id="7" name="Rechteck 6"/>
          <p:cNvSpPr/>
          <p:nvPr/>
        </p:nvSpPr>
        <p:spPr>
          <a:xfrm>
            <a:off x="874712" y="1438835"/>
            <a:ext cx="10656141" cy="1123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874711" y="2561946"/>
            <a:ext cx="10656141" cy="6198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874712" y="3127475"/>
            <a:ext cx="10580688" cy="711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874712" y="3839136"/>
            <a:ext cx="10580688" cy="5655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874712" y="4404666"/>
            <a:ext cx="10580688" cy="767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97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could the data be stored?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0"/>
          </p:nvPr>
        </p:nvGraphicFramePr>
        <p:xfrm>
          <a:off x="874713" y="1519797"/>
          <a:ext cx="10580688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858652">
                  <a:extLst>
                    <a:ext uri="{9D8B030D-6E8A-4147-A177-3AD203B41FA5}">
                      <a16:colId xmlns:a16="http://schemas.microsoft.com/office/drawing/2014/main" val="867910967"/>
                    </a:ext>
                  </a:extLst>
                </a:gridCol>
                <a:gridCol w="3361764">
                  <a:extLst>
                    <a:ext uri="{9D8B030D-6E8A-4147-A177-3AD203B41FA5}">
                      <a16:colId xmlns:a16="http://schemas.microsoft.com/office/drawing/2014/main" val="3183798977"/>
                    </a:ext>
                  </a:extLst>
                </a:gridCol>
                <a:gridCol w="3360272">
                  <a:extLst>
                    <a:ext uri="{9D8B030D-6E8A-4147-A177-3AD203B41FA5}">
                      <a16:colId xmlns:a16="http://schemas.microsoft.com/office/drawing/2014/main" val="552179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>
                          <a:solidFill>
                            <a:srgbClr val="00B050"/>
                          </a:solidFill>
                        </a:rPr>
                        <a:t>Suitable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Not </a:t>
                      </a: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suitable</a:t>
                      </a:r>
                      <a:endParaRPr lang="de-D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358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others need to have access?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Datashare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Your</a:t>
                      </a:r>
                      <a:r>
                        <a:rPr lang="de-DE" dirty="0"/>
                        <a:t> PC, Home </a:t>
                      </a:r>
                      <a:r>
                        <a:rPr lang="de-DE" dirty="0" err="1"/>
                        <a:t>drive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092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I have to store TB of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OPARA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Home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Datashare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4422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Should external users have access without a guest login?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Datashare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SharePoint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09196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a backup necessary?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Home </a:t>
                      </a:r>
                      <a:r>
                        <a:rPr lang="de-DE" dirty="0" err="1"/>
                        <a:t>drive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Datashare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1556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I have to store sensitive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Group </a:t>
                      </a:r>
                      <a:r>
                        <a:rPr lang="de-DE" dirty="0" err="1"/>
                        <a:t>drive</a:t>
                      </a:r>
                      <a:r>
                        <a:rPr lang="de-DE" dirty="0"/>
                        <a:t>, SharePoint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Your</a:t>
                      </a:r>
                      <a:r>
                        <a:rPr lang="de-DE" dirty="0"/>
                        <a:t> PC, Datashare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815975"/>
                  </a:ext>
                </a:extLst>
              </a:tr>
            </a:tbl>
          </a:graphicData>
        </a:graphic>
      </p:graphicFrame>
      <p:sp>
        <p:nvSpPr>
          <p:cNvPr id="6" name="Inhaltsplatzhalter 2"/>
          <p:cNvSpPr txBox="1">
            <a:spLocks/>
          </p:cNvSpPr>
          <p:nvPr/>
        </p:nvSpPr>
        <p:spPr>
          <a:xfrm>
            <a:off x="874712" y="915142"/>
            <a:ext cx="10580687" cy="4239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269" rtl="0"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39750" indent="-250825" algn="l" defTabSz="914269" rtl="0" eaLnBrk="1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14375" indent="-142875" algn="l" defTabSz="914269" rtl="0" eaLnBrk="1" latinLnBrk="0" hangingPunct="1">
              <a:spcBef>
                <a:spcPts val="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449263" marR="0" indent="-142875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623888" marR="0" indent="-142875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requirements do you place on the storage system?</a:t>
            </a:r>
          </a:p>
        </p:txBody>
      </p:sp>
    </p:spTree>
    <p:extLst>
      <p:ext uri="{BB962C8B-B14F-4D97-AF65-F5344CB8AC3E}">
        <p14:creationId xmlns:p14="http://schemas.microsoft.com/office/powerpoint/2010/main" val="238061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dirty="0"/>
              <a:t>How to create a (shared) folder structure</a:t>
            </a:r>
          </a:p>
        </p:txBody>
      </p:sp>
      <p:sp>
        <p:nvSpPr>
          <p:cNvPr id="1436" name="PlaceHolder 2"/>
          <p:cNvSpPr>
            <a:spLocks noGrp="1"/>
          </p:cNvSpPr>
          <p:nvPr>
            <p:ph sz="quarter" idx="10"/>
          </p:nvPr>
        </p:nvSpPr>
        <p:spPr>
          <a:xfrm>
            <a:off x="874711" y="1223999"/>
            <a:ext cx="10883506" cy="1674187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dirty="0"/>
              <a:t>Upper level of the folder structure: </a:t>
            </a:r>
            <a:r>
              <a:rPr lang="en-US" b="0" dirty="0"/>
              <a:t>Which terms are known and understood by all? Pick </a:t>
            </a:r>
            <a:r>
              <a:rPr lang="en-US" b="0" u="sng" dirty="0"/>
              <a:t>one</a:t>
            </a:r>
            <a:r>
              <a:rPr lang="en-US" b="0" dirty="0"/>
              <a:t> approach.</a:t>
            </a:r>
          </a:p>
          <a:p>
            <a:r>
              <a:rPr lang="en-US" dirty="0"/>
              <a:t>Lower levels of the folder structure: </a:t>
            </a:r>
            <a:r>
              <a:rPr lang="en-US" b="0" dirty="0"/>
              <a:t>Each subfolder is given a structuring approach that you understand, know and (can) follow.</a:t>
            </a:r>
          </a:p>
        </p:txBody>
      </p:sp>
      <p:grpSp>
        <p:nvGrpSpPr>
          <p:cNvPr id="1674" name="Gruppieren 1673">
            <a:extLst>
              <a:ext uri="{FF2B5EF4-FFF2-40B4-BE49-F238E27FC236}">
                <a16:creationId xmlns:a16="http://schemas.microsoft.com/office/drawing/2014/main" id="{6DF176AD-6B9C-EF93-ED94-EDFB9566A15F}"/>
              </a:ext>
            </a:extLst>
          </p:cNvPr>
          <p:cNvGrpSpPr/>
          <p:nvPr/>
        </p:nvGrpSpPr>
        <p:grpSpPr>
          <a:xfrm>
            <a:off x="222555" y="2985755"/>
            <a:ext cx="11762455" cy="2502625"/>
            <a:chOff x="222555" y="2985755"/>
            <a:chExt cx="11762455" cy="2502625"/>
          </a:xfrm>
        </p:grpSpPr>
        <p:grpSp>
          <p:nvGrpSpPr>
            <p:cNvPr id="1524" name="Gruppieren 155">
              <a:extLst>
                <a:ext uri="{FF2B5EF4-FFF2-40B4-BE49-F238E27FC236}">
                  <a16:creationId xmlns:a16="http://schemas.microsoft.com/office/drawing/2014/main" id="{AA6F3C8E-5AD4-064D-CB45-A07ED1FCA54F}"/>
                </a:ext>
              </a:extLst>
            </p:cNvPr>
            <p:cNvGrpSpPr/>
            <p:nvPr/>
          </p:nvGrpSpPr>
          <p:grpSpPr>
            <a:xfrm>
              <a:off x="222555" y="2987460"/>
              <a:ext cx="2783520" cy="2500920"/>
              <a:chOff x="159840" y="1422000"/>
              <a:chExt cx="2783520" cy="2500920"/>
            </a:xfrm>
          </p:grpSpPr>
          <p:grpSp>
            <p:nvGrpSpPr>
              <p:cNvPr id="1525" name="Gruppieren 156">
                <a:extLst>
                  <a:ext uri="{FF2B5EF4-FFF2-40B4-BE49-F238E27FC236}">
                    <a16:creationId xmlns:a16="http://schemas.microsoft.com/office/drawing/2014/main" id="{881B0784-3C82-DB37-FB23-6B72ABEDD258}"/>
                  </a:ext>
                </a:extLst>
              </p:cNvPr>
              <p:cNvGrpSpPr/>
              <p:nvPr/>
            </p:nvGrpSpPr>
            <p:grpSpPr>
              <a:xfrm>
                <a:off x="159840" y="2027880"/>
                <a:ext cx="2783520" cy="1895040"/>
                <a:chOff x="159840" y="2027880"/>
                <a:chExt cx="2783520" cy="1895040"/>
              </a:xfrm>
            </p:grpSpPr>
            <p:sp>
              <p:nvSpPr>
                <p:cNvPr id="1527" name="Abgerundetes Rechteck 134">
                  <a:extLst>
                    <a:ext uri="{FF2B5EF4-FFF2-40B4-BE49-F238E27FC236}">
                      <a16:creationId xmlns:a16="http://schemas.microsoft.com/office/drawing/2014/main" id="{6E9BC95B-558F-A22C-BACA-768EA2A31A91}"/>
                    </a:ext>
                  </a:extLst>
                </p:cNvPr>
                <p:cNvSpPr/>
                <p:nvPr/>
              </p:nvSpPr>
              <p:spPr>
                <a:xfrm>
                  <a:off x="159840" y="2027880"/>
                  <a:ext cx="2783520" cy="1895040"/>
                </a:xfrm>
                <a:prstGeom prst="roundRect">
                  <a:avLst>
                    <a:gd name="adj" fmla="val 6392"/>
                  </a:avLst>
                </a:prstGeom>
                <a:solidFill>
                  <a:srgbClr val="E2F0D9"/>
                </a:solidFill>
                <a:ln w="12700">
                  <a:solidFill>
                    <a:srgbClr val="385623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  <a:tabLst>
                      <a:tab pos="0" algn="l"/>
                    </a:tabLst>
                  </a:pPr>
                  <a:endParaRPr lang="de-DE" sz="1800" b="0" strike="noStrike" spc="-1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Calibri"/>
                  </a:endParaRPr>
                </a:p>
              </p:txBody>
            </p:sp>
            <p:grpSp>
              <p:nvGrpSpPr>
                <p:cNvPr id="1528" name="Gruppieren 159">
                  <a:extLst>
                    <a:ext uri="{FF2B5EF4-FFF2-40B4-BE49-F238E27FC236}">
                      <a16:creationId xmlns:a16="http://schemas.microsoft.com/office/drawing/2014/main" id="{296F34BD-4B5A-26D0-66BF-E3F03C3D23AA}"/>
                    </a:ext>
                  </a:extLst>
                </p:cNvPr>
                <p:cNvGrpSpPr/>
                <p:nvPr/>
              </p:nvGrpSpPr>
              <p:grpSpPr>
                <a:xfrm>
                  <a:off x="337680" y="2060640"/>
                  <a:ext cx="1769532" cy="502920"/>
                  <a:chOff x="337680" y="2060640"/>
                  <a:chExt cx="1769532" cy="502920"/>
                </a:xfrm>
              </p:grpSpPr>
              <p:pic>
                <p:nvPicPr>
                  <p:cNvPr id="1547" name="Grafik 178" descr="Ordner mit einfarbiger Füllung">
                    <a:extLst>
                      <a:ext uri="{FF2B5EF4-FFF2-40B4-BE49-F238E27FC236}">
                        <a16:creationId xmlns:a16="http://schemas.microsoft.com/office/drawing/2014/main" id="{69AB0459-237C-CA8F-AECA-E28C9BF3B8D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37680" y="20606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48" name="Textfeld 179">
                    <a:extLst>
                      <a:ext uri="{FF2B5EF4-FFF2-40B4-BE49-F238E27FC236}">
                        <a16:creationId xmlns:a16="http://schemas.microsoft.com/office/drawing/2014/main" id="{E0F4CA0E-D9C8-ECCC-36DE-2863E87DAC35}"/>
                      </a:ext>
                    </a:extLst>
                  </p:cNvPr>
                  <p:cNvSpPr/>
                  <p:nvPr/>
                </p:nvSpPr>
                <p:spPr>
                  <a:xfrm>
                    <a:off x="757314" y="2201629"/>
                    <a:ext cx="1349898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Use as subfolder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29" name="Gruppieren 160">
                  <a:extLst>
                    <a:ext uri="{FF2B5EF4-FFF2-40B4-BE49-F238E27FC236}">
                      <a16:creationId xmlns:a16="http://schemas.microsoft.com/office/drawing/2014/main" id="{D222F008-A053-97B8-F1BC-DB7FE0F67EF4}"/>
                    </a:ext>
                  </a:extLst>
                </p:cNvPr>
                <p:cNvGrpSpPr/>
                <p:nvPr/>
              </p:nvGrpSpPr>
              <p:grpSpPr>
                <a:xfrm>
                  <a:off x="773280" y="2570400"/>
                  <a:ext cx="1779339" cy="502920"/>
                  <a:chOff x="773280" y="2570400"/>
                  <a:chExt cx="1779339" cy="502920"/>
                </a:xfrm>
              </p:grpSpPr>
              <p:pic>
                <p:nvPicPr>
                  <p:cNvPr id="1545" name="Grafik 176" descr="Ordner mit einfarbiger Füllung">
                    <a:extLst>
                      <a:ext uri="{FF2B5EF4-FFF2-40B4-BE49-F238E27FC236}">
                        <a16:creationId xmlns:a16="http://schemas.microsoft.com/office/drawing/2014/main" id="{C5B753C3-B859-A515-FF18-EBAC58392E84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257040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46" name="Textfeld 177">
                    <a:extLst>
                      <a:ext uri="{FF2B5EF4-FFF2-40B4-BE49-F238E27FC236}">
                        <a16:creationId xmlns:a16="http://schemas.microsoft.com/office/drawing/2014/main" id="{152C4B3D-2F5B-3D7B-5D38-3011F127F218}"/>
                      </a:ext>
                    </a:extLst>
                  </p:cNvPr>
                  <p:cNvSpPr/>
                  <p:nvPr/>
                </p:nvSpPr>
                <p:spPr>
                  <a:xfrm>
                    <a:off x="1197463" y="2700863"/>
                    <a:ext cx="1355156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Working package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30" name="Gruppieren 161">
                  <a:extLst>
                    <a:ext uri="{FF2B5EF4-FFF2-40B4-BE49-F238E27FC236}">
                      <a16:creationId xmlns:a16="http://schemas.microsoft.com/office/drawing/2014/main" id="{C7147C4B-5BA5-1DBC-FA65-844B23DEFA84}"/>
                    </a:ext>
                  </a:extLst>
                </p:cNvPr>
                <p:cNvGrpSpPr/>
                <p:nvPr/>
              </p:nvGrpSpPr>
              <p:grpSpPr>
                <a:xfrm>
                  <a:off x="571320" y="2450880"/>
                  <a:ext cx="250920" cy="365760"/>
                  <a:chOff x="571320" y="2450880"/>
                  <a:chExt cx="250920" cy="365760"/>
                </a:xfrm>
              </p:grpSpPr>
              <p:sp>
                <p:nvSpPr>
                  <p:cNvPr id="1543" name="Gerade Verbindung 152">
                    <a:extLst>
                      <a:ext uri="{FF2B5EF4-FFF2-40B4-BE49-F238E27FC236}">
                        <a16:creationId xmlns:a16="http://schemas.microsoft.com/office/drawing/2014/main" id="{BABB757B-4683-D013-72B2-D3CBD99113C4}"/>
                      </a:ext>
                    </a:extLst>
                  </p:cNvPr>
                  <p:cNvSpPr/>
                  <p:nvPr/>
                </p:nvSpPr>
                <p:spPr>
                  <a:xfrm>
                    <a:off x="571320" y="245088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44" name="Gerade Verbindung 153">
                    <a:extLst>
                      <a:ext uri="{FF2B5EF4-FFF2-40B4-BE49-F238E27FC236}">
                        <a16:creationId xmlns:a16="http://schemas.microsoft.com/office/drawing/2014/main" id="{FF3FCA44-233B-8293-2775-B1DBA9A2B177}"/>
                      </a:ext>
                    </a:extLst>
                  </p:cNvPr>
                  <p:cNvSpPr/>
                  <p:nvPr/>
                </p:nvSpPr>
                <p:spPr>
                  <a:xfrm>
                    <a:off x="571320" y="281628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31" name="Gruppieren 162">
                  <a:extLst>
                    <a:ext uri="{FF2B5EF4-FFF2-40B4-BE49-F238E27FC236}">
                      <a16:creationId xmlns:a16="http://schemas.microsoft.com/office/drawing/2014/main" id="{76F055F9-99B2-FBE6-3C01-7A875DB49B9C}"/>
                    </a:ext>
                  </a:extLst>
                </p:cNvPr>
                <p:cNvGrpSpPr/>
                <p:nvPr/>
              </p:nvGrpSpPr>
              <p:grpSpPr>
                <a:xfrm>
                  <a:off x="773280" y="2932920"/>
                  <a:ext cx="1020773" cy="502920"/>
                  <a:chOff x="773280" y="2932920"/>
                  <a:chExt cx="1020773" cy="502920"/>
                </a:xfrm>
              </p:grpSpPr>
              <p:pic>
                <p:nvPicPr>
                  <p:cNvPr id="1541" name="Grafik 172" descr="Ordner mit einfarbiger Füllung">
                    <a:extLst>
                      <a:ext uri="{FF2B5EF4-FFF2-40B4-BE49-F238E27FC236}">
                        <a16:creationId xmlns:a16="http://schemas.microsoft.com/office/drawing/2014/main" id="{EFE3F193-BADE-1E48-AD65-50B64B34EDD6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293292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42" name="Textfeld 173">
                    <a:extLst>
                      <a:ext uri="{FF2B5EF4-FFF2-40B4-BE49-F238E27FC236}">
                        <a16:creationId xmlns:a16="http://schemas.microsoft.com/office/drawing/2014/main" id="{06EDBDA4-C33A-8488-3C30-271DEC9285E7}"/>
                      </a:ext>
                    </a:extLst>
                  </p:cNvPr>
                  <p:cNvSpPr/>
                  <p:nvPr/>
                </p:nvSpPr>
                <p:spPr>
                  <a:xfrm>
                    <a:off x="1213403" y="3063977"/>
                    <a:ext cx="580650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Study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32" name="Gruppieren 163">
                  <a:extLst>
                    <a:ext uri="{FF2B5EF4-FFF2-40B4-BE49-F238E27FC236}">
                      <a16:creationId xmlns:a16="http://schemas.microsoft.com/office/drawing/2014/main" id="{9743C090-936F-4B11-3AF2-D43AEBC51631}"/>
                    </a:ext>
                  </a:extLst>
                </p:cNvPr>
                <p:cNvGrpSpPr/>
                <p:nvPr/>
              </p:nvGrpSpPr>
              <p:grpSpPr>
                <a:xfrm>
                  <a:off x="571320" y="2813400"/>
                  <a:ext cx="250920" cy="365760"/>
                  <a:chOff x="571320" y="2813400"/>
                  <a:chExt cx="250920" cy="365760"/>
                </a:xfrm>
              </p:grpSpPr>
              <p:sp>
                <p:nvSpPr>
                  <p:cNvPr id="1539" name="Gerade Verbindung 148">
                    <a:extLst>
                      <a:ext uri="{FF2B5EF4-FFF2-40B4-BE49-F238E27FC236}">
                        <a16:creationId xmlns:a16="http://schemas.microsoft.com/office/drawing/2014/main" id="{98A7AEF9-AF88-8DA4-B80C-CB8AA44FA954}"/>
                      </a:ext>
                    </a:extLst>
                  </p:cNvPr>
                  <p:cNvSpPr/>
                  <p:nvPr/>
                </p:nvSpPr>
                <p:spPr>
                  <a:xfrm>
                    <a:off x="571320" y="281340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40" name="Gerade Verbindung 149">
                    <a:extLst>
                      <a:ext uri="{FF2B5EF4-FFF2-40B4-BE49-F238E27FC236}">
                        <a16:creationId xmlns:a16="http://schemas.microsoft.com/office/drawing/2014/main" id="{AEE6C7CD-6A44-7AB4-95EE-F3282DE6988D}"/>
                      </a:ext>
                    </a:extLst>
                  </p:cNvPr>
                  <p:cNvSpPr/>
                  <p:nvPr/>
                </p:nvSpPr>
                <p:spPr>
                  <a:xfrm>
                    <a:off x="571320" y="317880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33" name="Gruppieren 164">
                  <a:extLst>
                    <a:ext uri="{FF2B5EF4-FFF2-40B4-BE49-F238E27FC236}">
                      <a16:creationId xmlns:a16="http://schemas.microsoft.com/office/drawing/2014/main" id="{FEE7D197-23B6-3DAF-05F9-EDCE008AF247}"/>
                    </a:ext>
                  </a:extLst>
                </p:cNvPr>
                <p:cNvGrpSpPr/>
                <p:nvPr/>
              </p:nvGrpSpPr>
              <p:grpSpPr>
                <a:xfrm>
                  <a:off x="773280" y="3295440"/>
                  <a:ext cx="902033" cy="502920"/>
                  <a:chOff x="773280" y="3295440"/>
                  <a:chExt cx="902033" cy="502920"/>
                </a:xfrm>
              </p:grpSpPr>
              <p:pic>
                <p:nvPicPr>
                  <p:cNvPr id="1537" name="Grafik 168" descr="Ordner mit einfarbiger Füllung">
                    <a:extLst>
                      <a:ext uri="{FF2B5EF4-FFF2-40B4-BE49-F238E27FC236}">
                        <a16:creationId xmlns:a16="http://schemas.microsoft.com/office/drawing/2014/main" id="{F8B32DD6-F414-7C02-B9C6-01B67791C9B5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32954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38" name="Textfeld 169">
                    <a:extLst>
                      <a:ext uri="{FF2B5EF4-FFF2-40B4-BE49-F238E27FC236}">
                        <a16:creationId xmlns:a16="http://schemas.microsoft.com/office/drawing/2014/main" id="{7CF5C254-4345-1A8E-D8A4-999E6A60E490}"/>
                      </a:ext>
                    </a:extLst>
                  </p:cNvPr>
                  <p:cNvSpPr/>
                  <p:nvPr/>
                </p:nvSpPr>
                <p:spPr>
                  <a:xfrm>
                    <a:off x="1198666" y="3438218"/>
                    <a:ext cx="476647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Task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34" name="Gruppieren 165">
                  <a:extLst>
                    <a:ext uri="{FF2B5EF4-FFF2-40B4-BE49-F238E27FC236}">
                      <a16:creationId xmlns:a16="http://schemas.microsoft.com/office/drawing/2014/main" id="{0425414F-451F-01BE-605D-F5C2A0207173}"/>
                    </a:ext>
                  </a:extLst>
                </p:cNvPr>
                <p:cNvGrpSpPr/>
                <p:nvPr/>
              </p:nvGrpSpPr>
              <p:grpSpPr>
                <a:xfrm>
                  <a:off x="571320" y="3175560"/>
                  <a:ext cx="250920" cy="366120"/>
                  <a:chOff x="571320" y="3175560"/>
                  <a:chExt cx="250920" cy="366120"/>
                </a:xfrm>
              </p:grpSpPr>
              <p:sp>
                <p:nvSpPr>
                  <p:cNvPr id="1535" name="Gerade Verbindung 144">
                    <a:extLst>
                      <a:ext uri="{FF2B5EF4-FFF2-40B4-BE49-F238E27FC236}">
                        <a16:creationId xmlns:a16="http://schemas.microsoft.com/office/drawing/2014/main" id="{836EFC2F-F4E7-DFDD-4AED-B14996EFEA72}"/>
                      </a:ext>
                    </a:extLst>
                  </p:cNvPr>
                  <p:cNvSpPr/>
                  <p:nvPr/>
                </p:nvSpPr>
                <p:spPr>
                  <a:xfrm>
                    <a:off x="571320" y="3175560"/>
                    <a:ext cx="360" cy="3657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36" name="Gerade Verbindung 145">
                    <a:extLst>
                      <a:ext uri="{FF2B5EF4-FFF2-40B4-BE49-F238E27FC236}">
                        <a16:creationId xmlns:a16="http://schemas.microsoft.com/office/drawing/2014/main" id="{AB7FEDBF-7367-0AC2-2E5B-BB680D5BC7B0}"/>
                      </a:ext>
                    </a:extLst>
                  </p:cNvPr>
                  <p:cNvSpPr/>
                  <p:nvPr/>
                </p:nvSpPr>
                <p:spPr>
                  <a:xfrm>
                    <a:off x="571320" y="354132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</p:grpSp>
          <p:sp>
            <p:nvSpPr>
              <p:cNvPr id="1526" name="Textfeld 157">
                <a:extLst>
                  <a:ext uri="{FF2B5EF4-FFF2-40B4-BE49-F238E27FC236}">
                    <a16:creationId xmlns:a16="http://schemas.microsoft.com/office/drawing/2014/main" id="{FEE2BE5D-8D61-63C0-14A7-897C7D31503F}"/>
                  </a:ext>
                </a:extLst>
              </p:cNvPr>
              <p:cNvSpPr/>
              <p:nvPr/>
            </p:nvSpPr>
            <p:spPr>
              <a:xfrm>
                <a:off x="552672" y="1422000"/>
                <a:ext cx="1998216" cy="55254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by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"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purpose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“</a:t>
                </a:r>
              </a:p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Why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is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data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collected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?</a:t>
                </a:r>
                <a:endParaRPr lang="en-GB" sz="1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1574" name="Gruppieren 205">
              <a:extLst>
                <a:ext uri="{FF2B5EF4-FFF2-40B4-BE49-F238E27FC236}">
                  <a16:creationId xmlns:a16="http://schemas.microsoft.com/office/drawing/2014/main" id="{5D47D019-4259-0F93-2259-410E291B5E2D}"/>
                </a:ext>
              </a:extLst>
            </p:cNvPr>
            <p:cNvGrpSpPr/>
            <p:nvPr/>
          </p:nvGrpSpPr>
          <p:grpSpPr>
            <a:xfrm>
              <a:off x="5920792" y="2985755"/>
              <a:ext cx="3435148" cy="2497320"/>
              <a:chOff x="5828206" y="1425600"/>
              <a:chExt cx="3435148" cy="2497320"/>
            </a:xfrm>
          </p:grpSpPr>
          <p:grpSp>
            <p:nvGrpSpPr>
              <p:cNvPr id="1575" name="Gruppieren 206">
                <a:extLst>
                  <a:ext uri="{FF2B5EF4-FFF2-40B4-BE49-F238E27FC236}">
                    <a16:creationId xmlns:a16="http://schemas.microsoft.com/office/drawing/2014/main" id="{D2FE5D29-A136-08FF-13A4-8E80588E83D6}"/>
                  </a:ext>
                </a:extLst>
              </p:cNvPr>
              <p:cNvGrpSpPr/>
              <p:nvPr/>
            </p:nvGrpSpPr>
            <p:grpSpPr>
              <a:xfrm>
                <a:off x="6153840" y="2031480"/>
                <a:ext cx="2783520" cy="1891440"/>
                <a:chOff x="6153840" y="2031480"/>
                <a:chExt cx="2783520" cy="1891440"/>
              </a:xfrm>
            </p:grpSpPr>
            <p:sp>
              <p:nvSpPr>
                <p:cNvPr id="1577" name="Abgerundetes Rechteck 290">
                  <a:extLst>
                    <a:ext uri="{FF2B5EF4-FFF2-40B4-BE49-F238E27FC236}">
                      <a16:creationId xmlns:a16="http://schemas.microsoft.com/office/drawing/2014/main" id="{FEDF7F27-4BAF-06EE-34FF-6057D9E54052}"/>
                    </a:ext>
                  </a:extLst>
                </p:cNvPr>
                <p:cNvSpPr/>
                <p:nvPr/>
              </p:nvSpPr>
              <p:spPr>
                <a:xfrm>
                  <a:off x="6153840" y="2031480"/>
                  <a:ext cx="2783520" cy="1891440"/>
                </a:xfrm>
                <a:prstGeom prst="roundRect">
                  <a:avLst>
                    <a:gd name="adj" fmla="val 6392"/>
                  </a:avLst>
                </a:prstGeom>
                <a:solidFill>
                  <a:srgbClr val="E2F0D9"/>
                </a:solidFill>
                <a:ln w="12700">
                  <a:solidFill>
                    <a:srgbClr val="385623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  <a:tabLst>
                      <a:tab pos="0" algn="l"/>
                    </a:tabLst>
                  </a:pPr>
                  <a:endParaRPr lang="de-DE" sz="1800" b="0" strike="noStrike" spc="-1">
                    <a:solidFill>
                      <a:srgbClr val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578" name="Gruppieren 209">
                  <a:extLst>
                    <a:ext uri="{FF2B5EF4-FFF2-40B4-BE49-F238E27FC236}">
                      <a16:creationId xmlns:a16="http://schemas.microsoft.com/office/drawing/2014/main" id="{7F7946CD-E972-D97E-732C-CD42E4173089}"/>
                    </a:ext>
                  </a:extLst>
                </p:cNvPr>
                <p:cNvGrpSpPr/>
                <p:nvPr/>
              </p:nvGrpSpPr>
              <p:grpSpPr>
                <a:xfrm>
                  <a:off x="6331320" y="2064240"/>
                  <a:ext cx="1764801" cy="502920"/>
                  <a:chOff x="6331320" y="2064240"/>
                  <a:chExt cx="1764801" cy="502920"/>
                </a:xfrm>
              </p:grpSpPr>
              <p:pic>
                <p:nvPicPr>
                  <p:cNvPr id="1597" name="Grafik 228" descr="Ordner mit einfarbiger Füllung">
                    <a:extLst>
                      <a:ext uri="{FF2B5EF4-FFF2-40B4-BE49-F238E27FC236}">
                        <a16:creationId xmlns:a16="http://schemas.microsoft.com/office/drawing/2014/main" id="{79930CD0-1D21-59E2-145F-1176E06BCAB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331320" y="20642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98" name="Textfeld 229">
                    <a:extLst>
                      <a:ext uri="{FF2B5EF4-FFF2-40B4-BE49-F238E27FC236}">
                        <a16:creationId xmlns:a16="http://schemas.microsoft.com/office/drawing/2014/main" id="{3DFEEE98-71D6-32EC-4D3A-090F2D30E7D5}"/>
                      </a:ext>
                    </a:extLst>
                  </p:cNvPr>
                  <p:cNvSpPr/>
                  <p:nvPr/>
                </p:nvSpPr>
                <p:spPr>
                  <a:xfrm>
                    <a:off x="6746223" y="2196000"/>
                    <a:ext cx="1349898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Use as subfolder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79" name="Gruppieren 210">
                  <a:extLst>
                    <a:ext uri="{FF2B5EF4-FFF2-40B4-BE49-F238E27FC236}">
                      <a16:creationId xmlns:a16="http://schemas.microsoft.com/office/drawing/2014/main" id="{C22C0283-93F9-5ACC-F0BF-E317E03899FB}"/>
                    </a:ext>
                  </a:extLst>
                </p:cNvPr>
                <p:cNvGrpSpPr/>
                <p:nvPr/>
              </p:nvGrpSpPr>
              <p:grpSpPr>
                <a:xfrm>
                  <a:off x="6766920" y="2574000"/>
                  <a:ext cx="1300708" cy="502920"/>
                  <a:chOff x="6766920" y="2574000"/>
                  <a:chExt cx="1300708" cy="502920"/>
                </a:xfrm>
              </p:grpSpPr>
              <p:pic>
                <p:nvPicPr>
                  <p:cNvPr id="1595" name="Grafik 226" descr="Ordner mit einfarbiger Füllung">
                    <a:extLst>
                      <a:ext uri="{FF2B5EF4-FFF2-40B4-BE49-F238E27FC236}">
                        <a16:creationId xmlns:a16="http://schemas.microsoft.com/office/drawing/2014/main" id="{DB2F020A-B2CE-C202-CC54-00A9E20F7797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766920" y="257400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96" name="Textfeld 227">
                    <a:extLst>
                      <a:ext uri="{FF2B5EF4-FFF2-40B4-BE49-F238E27FC236}">
                        <a16:creationId xmlns:a16="http://schemas.microsoft.com/office/drawing/2014/main" id="{AF775400-B84F-EB47-9FDE-164F38B6AECB}"/>
                      </a:ext>
                    </a:extLst>
                  </p:cNvPr>
                  <p:cNvSpPr/>
                  <p:nvPr/>
                </p:nvSpPr>
                <p:spPr>
                  <a:xfrm>
                    <a:off x="7213763" y="2705760"/>
                    <a:ext cx="853865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ID-System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80" name="Gruppieren 211">
                  <a:extLst>
                    <a:ext uri="{FF2B5EF4-FFF2-40B4-BE49-F238E27FC236}">
                      <a16:creationId xmlns:a16="http://schemas.microsoft.com/office/drawing/2014/main" id="{0AE06F2C-8E96-16E6-941B-79F68034455F}"/>
                    </a:ext>
                  </a:extLst>
                </p:cNvPr>
                <p:cNvGrpSpPr/>
                <p:nvPr/>
              </p:nvGrpSpPr>
              <p:grpSpPr>
                <a:xfrm>
                  <a:off x="6565320" y="2454480"/>
                  <a:ext cx="250920" cy="365760"/>
                  <a:chOff x="6565320" y="2454480"/>
                  <a:chExt cx="250920" cy="365760"/>
                </a:xfrm>
              </p:grpSpPr>
              <p:sp>
                <p:nvSpPr>
                  <p:cNvPr id="1593" name="Gerade Verbindung 312">
                    <a:extLst>
                      <a:ext uri="{FF2B5EF4-FFF2-40B4-BE49-F238E27FC236}">
                        <a16:creationId xmlns:a16="http://schemas.microsoft.com/office/drawing/2014/main" id="{EAFBB83C-9884-74C2-278D-1C0095CD7CE3}"/>
                      </a:ext>
                    </a:extLst>
                  </p:cNvPr>
                  <p:cNvSpPr/>
                  <p:nvPr/>
                </p:nvSpPr>
                <p:spPr>
                  <a:xfrm>
                    <a:off x="6565320" y="245448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94" name="Gerade Verbindung 313">
                    <a:extLst>
                      <a:ext uri="{FF2B5EF4-FFF2-40B4-BE49-F238E27FC236}">
                        <a16:creationId xmlns:a16="http://schemas.microsoft.com/office/drawing/2014/main" id="{6EDBCA08-AD3E-5397-BFA0-3625107CD0F4}"/>
                      </a:ext>
                    </a:extLst>
                  </p:cNvPr>
                  <p:cNvSpPr/>
                  <p:nvPr/>
                </p:nvSpPr>
                <p:spPr>
                  <a:xfrm>
                    <a:off x="6565320" y="281988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81" name="Gruppieren 212">
                  <a:extLst>
                    <a:ext uri="{FF2B5EF4-FFF2-40B4-BE49-F238E27FC236}">
                      <a16:creationId xmlns:a16="http://schemas.microsoft.com/office/drawing/2014/main" id="{A7F37785-8DCF-E06D-9C77-9CC97F954A99}"/>
                    </a:ext>
                  </a:extLst>
                </p:cNvPr>
                <p:cNvGrpSpPr/>
                <p:nvPr/>
              </p:nvGrpSpPr>
              <p:grpSpPr>
                <a:xfrm>
                  <a:off x="6766920" y="2936520"/>
                  <a:ext cx="1337321" cy="502920"/>
                  <a:chOff x="6766920" y="2936520"/>
                  <a:chExt cx="1337321" cy="502920"/>
                </a:xfrm>
              </p:grpSpPr>
              <p:pic>
                <p:nvPicPr>
                  <p:cNvPr id="1591" name="Grafik 222" descr="Ordner mit einfarbiger Füllung">
                    <a:extLst>
                      <a:ext uri="{FF2B5EF4-FFF2-40B4-BE49-F238E27FC236}">
                        <a16:creationId xmlns:a16="http://schemas.microsoft.com/office/drawing/2014/main" id="{ADBF7DDA-473C-AE9B-D762-13F9DA7BC6A5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766920" y="293652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92" name="Textfeld 223">
                    <a:extLst>
                      <a:ext uri="{FF2B5EF4-FFF2-40B4-BE49-F238E27FC236}">
                        <a16:creationId xmlns:a16="http://schemas.microsoft.com/office/drawing/2014/main" id="{3550443D-B839-7FF1-D152-EB5C74BEDF1B}"/>
                      </a:ext>
                    </a:extLst>
                  </p:cNvPr>
                  <p:cNvSpPr/>
                  <p:nvPr/>
                </p:nvSpPr>
                <p:spPr>
                  <a:xfrm>
                    <a:off x="7213763" y="3056255"/>
                    <a:ext cx="890478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Test series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82" name="Gruppieren 213">
                  <a:extLst>
                    <a:ext uri="{FF2B5EF4-FFF2-40B4-BE49-F238E27FC236}">
                      <a16:creationId xmlns:a16="http://schemas.microsoft.com/office/drawing/2014/main" id="{46C28429-AB8D-403E-E74D-ECEE67532951}"/>
                    </a:ext>
                  </a:extLst>
                </p:cNvPr>
                <p:cNvGrpSpPr/>
                <p:nvPr/>
              </p:nvGrpSpPr>
              <p:grpSpPr>
                <a:xfrm>
                  <a:off x="6565320" y="2817000"/>
                  <a:ext cx="250920" cy="365760"/>
                  <a:chOff x="6565320" y="2817000"/>
                  <a:chExt cx="250920" cy="365760"/>
                </a:xfrm>
              </p:grpSpPr>
              <p:sp>
                <p:nvSpPr>
                  <p:cNvPr id="1589" name="Gerade Verbindung 308">
                    <a:extLst>
                      <a:ext uri="{FF2B5EF4-FFF2-40B4-BE49-F238E27FC236}">
                        <a16:creationId xmlns:a16="http://schemas.microsoft.com/office/drawing/2014/main" id="{9E5967BA-0F10-FD50-2505-282EC99E732F}"/>
                      </a:ext>
                    </a:extLst>
                  </p:cNvPr>
                  <p:cNvSpPr/>
                  <p:nvPr/>
                </p:nvSpPr>
                <p:spPr>
                  <a:xfrm>
                    <a:off x="6565320" y="281700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90" name="Gerade Verbindung 309">
                    <a:extLst>
                      <a:ext uri="{FF2B5EF4-FFF2-40B4-BE49-F238E27FC236}">
                        <a16:creationId xmlns:a16="http://schemas.microsoft.com/office/drawing/2014/main" id="{D59BFEB9-83CD-2412-E21B-D293AFFF17FF}"/>
                      </a:ext>
                    </a:extLst>
                  </p:cNvPr>
                  <p:cNvSpPr/>
                  <p:nvPr/>
                </p:nvSpPr>
                <p:spPr>
                  <a:xfrm>
                    <a:off x="6565320" y="318240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83" name="Gruppieren 214">
                  <a:extLst>
                    <a:ext uri="{FF2B5EF4-FFF2-40B4-BE49-F238E27FC236}">
                      <a16:creationId xmlns:a16="http://schemas.microsoft.com/office/drawing/2014/main" id="{EA99A449-02E7-9704-BE09-F770FB89D639}"/>
                    </a:ext>
                  </a:extLst>
                </p:cNvPr>
                <p:cNvGrpSpPr/>
                <p:nvPr/>
              </p:nvGrpSpPr>
              <p:grpSpPr>
                <a:xfrm>
                  <a:off x="6766920" y="3299040"/>
                  <a:ext cx="1701550" cy="502920"/>
                  <a:chOff x="6766920" y="3299040"/>
                  <a:chExt cx="1701550" cy="502920"/>
                </a:xfrm>
              </p:grpSpPr>
              <p:pic>
                <p:nvPicPr>
                  <p:cNvPr id="1587" name="Grafik 218" descr="Ordner mit einfarbiger Füllung">
                    <a:extLst>
                      <a:ext uri="{FF2B5EF4-FFF2-40B4-BE49-F238E27FC236}">
                        <a16:creationId xmlns:a16="http://schemas.microsoft.com/office/drawing/2014/main" id="{014C74EA-BA13-250C-5AD8-1A3907E39BCE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766920" y="32990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588" name="Textfeld 219">
                    <a:extLst>
                      <a:ext uri="{FF2B5EF4-FFF2-40B4-BE49-F238E27FC236}">
                        <a16:creationId xmlns:a16="http://schemas.microsoft.com/office/drawing/2014/main" id="{B6B2616E-EB20-F945-399E-54282866B6AA}"/>
                      </a:ext>
                    </a:extLst>
                  </p:cNvPr>
                  <p:cNvSpPr/>
                  <p:nvPr/>
                </p:nvSpPr>
                <p:spPr>
                  <a:xfrm>
                    <a:off x="7232128" y="3427415"/>
                    <a:ext cx="1236342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Measuring time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584" name="Gruppieren 215">
                  <a:extLst>
                    <a:ext uri="{FF2B5EF4-FFF2-40B4-BE49-F238E27FC236}">
                      <a16:creationId xmlns:a16="http://schemas.microsoft.com/office/drawing/2014/main" id="{3E3351EF-688A-AC3C-3D1E-861BB23A7DC9}"/>
                    </a:ext>
                  </a:extLst>
                </p:cNvPr>
                <p:cNvGrpSpPr/>
                <p:nvPr/>
              </p:nvGrpSpPr>
              <p:grpSpPr>
                <a:xfrm>
                  <a:off x="6565320" y="3179520"/>
                  <a:ext cx="250920" cy="365760"/>
                  <a:chOff x="6565320" y="3179520"/>
                  <a:chExt cx="250920" cy="365760"/>
                </a:xfrm>
              </p:grpSpPr>
              <p:sp>
                <p:nvSpPr>
                  <p:cNvPr id="1585" name="Gerade Verbindung 304">
                    <a:extLst>
                      <a:ext uri="{FF2B5EF4-FFF2-40B4-BE49-F238E27FC236}">
                        <a16:creationId xmlns:a16="http://schemas.microsoft.com/office/drawing/2014/main" id="{DD5E6B9E-0EE2-2571-0AAA-8A09B862E778}"/>
                      </a:ext>
                    </a:extLst>
                  </p:cNvPr>
                  <p:cNvSpPr/>
                  <p:nvPr/>
                </p:nvSpPr>
                <p:spPr>
                  <a:xfrm>
                    <a:off x="6565320" y="317952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86" name="Gerade Verbindung 305">
                    <a:extLst>
                      <a:ext uri="{FF2B5EF4-FFF2-40B4-BE49-F238E27FC236}">
                        <a16:creationId xmlns:a16="http://schemas.microsoft.com/office/drawing/2014/main" id="{541995F4-9D11-F5FA-66E9-48F093539E93}"/>
                      </a:ext>
                    </a:extLst>
                  </p:cNvPr>
                  <p:cNvSpPr/>
                  <p:nvPr/>
                </p:nvSpPr>
                <p:spPr>
                  <a:xfrm>
                    <a:off x="6565320" y="354492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</p:grpSp>
          <p:sp>
            <p:nvSpPr>
              <p:cNvPr id="1576" name="Textfeld 207">
                <a:extLst>
                  <a:ext uri="{FF2B5EF4-FFF2-40B4-BE49-F238E27FC236}">
                    <a16:creationId xmlns:a16="http://schemas.microsoft.com/office/drawing/2014/main" id="{04C4D52E-89AE-EDA4-1510-8FEEE28CFBAD}"/>
                  </a:ext>
                </a:extLst>
              </p:cNvPr>
              <p:cNvSpPr/>
              <p:nvPr/>
            </p:nvSpPr>
            <p:spPr>
              <a:xfrm>
                <a:off x="5828206" y="1425600"/>
                <a:ext cx="3435148" cy="55254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by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„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chronology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“</a:t>
                </a:r>
                <a:endParaRPr lang="en-GB" sz="16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How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are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data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classified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in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terms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of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time?</a:t>
                </a:r>
                <a:endParaRPr lang="en-GB" sz="1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1599" name="Gruppieren 230">
              <a:extLst>
                <a:ext uri="{FF2B5EF4-FFF2-40B4-BE49-F238E27FC236}">
                  <a16:creationId xmlns:a16="http://schemas.microsoft.com/office/drawing/2014/main" id="{9F1E3EE6-64E5-41F2-0468-A05C87E8A85A}"/>
                </a:ext>
              </a:extLst>
            </p:cNvPr>
            <p:cNvGrpSpPr/>
            <p:nvPr/>
          </p:nvGrpSpPr>
          <p:grpSpPr>
            <a:xfrm>
              <a:off x="3186618" y="2986541"/>
              <a:ext cx="2783520" cy="2497320"/>
              <a:chOff x="159840" y="4123440"/>
              <a:chExt cx="2783520" cy="2497320"/>
            </a:xfrm>
          </p:grpSpPr>
          <p:grpSp>
            <p:nvGrpSpPr>
              <p:cNvPr id="1600" name="Gruppieren 231">
                <a:extLst>
                  <a:ext uri="{FF2B5EF4-FFF2-40B4-BE49-F238E27FC236}">
                    <a16:creationId xmlns:a16="http://schemas.microsoft.com/office/drawing/2014/main" id="{14E1179C-1A4C-D2F2-F691-0E94DEAF310B}"/>
                  </a:ext>
                </a:extLst>
              </p:cNvPr>
              <p:cNvGrpSpPr/>
              <p:nvPr/>
            </p:nvGrpSpPr>
            <p:grpSpPr>
              <a:xfrm>
                <a:off x="159840" y="4729320"/>
                <a:ext cx="2783520" cy="1891440"/>
                <a:chOff x="159840" y="4729320"/>
                <a:chExt cx="2783520" cy="1891440"/>
              </a:xfrm>
            </p:grpSpPr>
            <p:sp>
              <p:nvSpPr>
                <p:cNvPr id="1602" name="Abgerundetes Rechteck 321">
                  <a:extLst>
                    <a:ext uri="{FF2B5EF4-FFF2-40B4-BE49-F238E27FC236}">
                      <a16:creationId xmlns:a16="http://schemas.microsoft.com/office/drawing/2014/main" id="{E43DB0A0-D434-E4AA-E8B4-0EB9E300EB30}"/>
                    </a:ext>
                  </a:extLst>
                </p:cNvPr>
                <p:cNvSpPr/>
                <p:nvPr/>
              </p:nvSpPr>
              <p:spPr>
                <a:xfrm>
                  <a:off x="159840" y="4729320"/>
                  <a:ext cx="2783520" cy="1891440"/>
                </a:xfrm>
                <a:prstGeom prst="roundRect">
                  <a:avLst>
                    <a:gd name="adj" fmla="val 6392"/>
                  </a:avLst>
                </a:prstGeom>
                <a:solidFill>
                  <a:srgbClr val="E2F0D9"/>
                </a:solidFill>
                <a:ln w="12700">
                  <a:solidFill>
                    <a:srgbClr val="385623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  <a:tabLst>
                      <a:tab pos="0" algn="l"/>
                    </a:tabLst>
                  </a:pPr>
                  <a:endParaRPr lang="de-DE" sz="1800" b="0" strike="noStrike" spc="-1">
                    <a:solidFill>
                      <a:srgbClr val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603" name="Gruppieren 234">
                  <a:extLst>
                    <a:ext uri="{FF2B5EF4-FFF2-40B4-BE49-F238E27FC236}">
                      <a16:creationId xmlns:a16="http://schemas.microsoft.com/office/drawing/2014/main" id="{65CCE01D-55B1-DF41-F9D8-D70E6F57600E}"/>
                    </a:ext>
                  </a:extLst>
                </p:cNvPr>
                <p:cNvGrpSpPr/>
                <p:nvPr/>
              </p:nvGrpSpPr>
              <p:grpSpPr>
                <a:xfrm>
                  <a:off x="337680" y="4762080"/>
                  <a:ext cx="1769839" cy="502920"/>
                  <a:chOff x="337680" y="4762080"/>
                  <a:chExt cx="1769839" cy="502920"/>
                </a:xfrm>
              </p:grpSpPr>
              <p:pic>
                <p:nvPicPr>
                  <p:cNvPr id="1622" name="Grafik 253" descr="Ordner mit einfarbiger Füllung">
                    <a:extLst>
                      <a:ext uri="{FF2B5EF4-FFF2-40B4-BE49-F238E27FC236}">
                        <a16:creationId xmlns:a16="http://schemas.microsoft.com/office/drawing/2014/main" id="{4967F76D-0A71-E951-59C5-7A7F17E147E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37680" y="476208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23" name="Textfeld 254">
                    <a:extLst>
                      <a:ext uri="{FF2B5EF4-FFF2-40B4-BE49-F238E27FC236}">
                        <a16:creationId xmlns:a16="http://schemas.microsoft.com/office/drawing/2014/main" id="{5160605B-9C19-36AF-02B1-26E7B9964613}"/>
                      </a:ext>
                    </a:extLst>
                  </p:cNvPr>
                  <p:cNvSpPr/>
                  <p:nvPr/>
                </p:nvSpPr>
                <p:spPr>
                  <a:xfrm>
                    <a:off x="757621" y="4893054"/>
                    <a:ext cx="1349898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Use as subfolder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04" name="Gruppieren 235">
                  <a:extLst>
                    <a:ext uri="{FF2B5EF4-FFF2-40B4-BE49-F238E27FC236}">
                      <a16:creationId xmlns:a16="http://schemas.microsoft.com/office/drawing/2014/main" id="{1F0DEBA0-A8E9-9F3C-B2C6-2DC1EC7846C1}"/>
                    </a:ext>
                  </a:extLst>
                </p:cNvPr>
                <p:cNvGrpSpPr/>
                <p:nvPr/>
              </p:nvGrpSpPr>
              <p:grpSpPr>
                <a:xfrm>
                  <a:off x="773280" y="5272200"/>
                  <a:ext cx="1216782" cy="502920"/>
                  <a:chOff x="773280" y="5272200"/>
                  <a:chExt cx="1216782" cy="502920"/>
                </a:xfrm>
              </p:grpSpPr>
              <p:pic>
                <p:nvPicPr>
                  <p:cNvPr id="1620" name="Grafik 251" descr="Ordner mit einfarbiger Füllung">
                    <a:extLst>
                      <a:ext uri="{FF2B5EF4-FFF2-40B4-BE49-F238E27FC236}">
                        <a16:creationId xmlns:a16="http://schemas.microsoft.com/office/drawing/2014/main" id="{119B85BA-A233-55AE-60D4-1046B81DD64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527220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21" name="Textfeld 252">
                    <a:extLst>
                      <a:ext uri="{FF2B5EF4-FFF2-40B4-BE49-F238E27FC236}">
                        <a16:creationId xmlns:a16="http://schemas.microsoft.com/office/drawing/2014/main" id="{784AF07A-A52C-434C-BC29-29E80FB63A66}"/>
                      </a:ext>
                    </a:extLst>
                  </p:cNvPr>
                  <p:cNvSpPr/>
                  <p:nvPr/>
                </p:nvSpPr>
                <p:spPr>
                  <a:xfrm>
                    <a:off x="1192686" y="5402814"/>
                    <a:ext cx="797376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 dirty="0" err="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Raw</a:t>
                    </a:r>
                    <a:r>
                      <a:rPr lang="de-DE" sz="1200" b="0" strike="noStrike" cap="small" spc="-1" dirty="0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 </a:t>
                    </a:r>
                    <a:r>
                      <a:rPr lang="de-DE" sz="1200" b="0" strike="noStrike" cap="small" spc="-1" dirty="0" err="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data</a:t>
                    </a:r>
                    <a:endParaRPr lang="en-GB" sz="1200" b="0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05" name="Gruppieren 236">
                  <a:extLst>
                    <a:ext uri="{FF2B5EF4-FFF2-40B4-BE49-F238E27FC236}">
                      <a16:creationId xmlns:a16="http://schemas.microsoft.com/office/drawing/2014/main" id="{D83B352A-B3FE-4D5D-EED5-96DEF73693BA}"/>
                    </a:ext>
                  </a:extLst>
                </p:cNvPr>
                <p:cNvGrpSpPr/>
                <p:nvPr/>
              </p:nvGrpSpPr>
              <p:grpSpPr>
                <a:xfrm>
                  <a:off x="571320" y="5152320"/>
                  <a:ext cx="250920" cy="366120"/>
                  <a:chOff x="571320" y="5152320"/>
                  <a:chExt cx="250920" cy="366120"/>
                </a:xfrm>
              </p:grpSpPr>
              <p:sp>
                <p:nvSpPr>
                  <p:cNvPr id="1618" name="Gerade Verbindung 337">
                    <a:extLst>
                      <a:ext uri="{FF2B5EF4-FFF2-40B4-BE49-F238E27FC236}">
                        <a16:creationId xmlns:a16="http://schemas.microsoft.com/office/drawing/2014/main" id="{4F5F53B4-892C-F4D2-D9E5-CD8471A742D4}"/>
                      </a:ext>
                    </a:extLst>
                  </p:cNvPr>
                  <p:cNvSpPr/>
                  <p:nvPr/>
                </p:nvSpPr>
                <p:spPr>
                  <a:xfrm>
                    <a:off x="571320" y="5152320"/>
                    <a:ext cx="360" cy="3657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19" name="Gerade Verbindung 338">
                    <a:extLst>
                      <a:ext uri="{FF2B5EF4-FFF2-40B4-BE49-F238E27FC236}">
                        <a16:creationId xmlns:a16="http://schemas.microsoft.com/office/drawing/2014/main" id="{5808E637-9EB6-4D71-353C-E7BE1DE83208}"/>
                      </a:ext>
                    </a:extLst>
                  </p:cNvPr>
                  <p:cNvSpPr/>
                  <p:nvPr/>
                </p:nvSpPr>
                <p:spPr>
                  <a:xfrm>
                    <a:off x="571320" y="551808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06" name="Gruppieren 237">
                  <a:extLst>
                    <a:ext uri="{FF2B5EF4-FFF2-40B4-BE49-F238E27FC236}">
                      <a16:creationId xmlns:a16="http://schemas.microsoft.com/office/drawing/2014/main" id="{7621E1C7-A6C4-2D71-33CC-4202099288D5}"/>
                    </a:ext>
                  </a:extLst>
                </p:cNvPr>
                <p:cNvGrpSpPr/>
                <p:nvPr/>
              </p:nvGrpSpPr>
              <p:grpSpPr>
                <a:xfrm>
                  <a:off x="773280" y="5634720"/>
                  <a:ext cx="1646690" cy="502920"/>
                  <a:chOff x="773280" y="5634720"/>
                  <a:chExt cx="1646690" cy="502920"/>
                </a:xfrm>
              </p:grpSpPr>
              <p:pic>
                <p:nvPicPr>
                  <p:cNvPr id="1616" name="Grafik 247" descr="Ordner mit einfarbiger Füllung">
                    <a:extLst>
                      <a:ext uri="{FF2B5EF4-FFF2-40B4-BE49-F238E27FC236}">
                        <a16:creationId xmlns:a16="http://schemas.microsoft.com/office/drawing/2014/main" id="{1D0B3C89-A158-B009-6DBF-5BAE448165F8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563472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17" name="Textfeld 248">
                    <a:extLst>
                      <a:ext uri="{FF2B5EF4-FFF2-40B4-BE49-F238E27FC236}">
                        <a16:creationId xmlns:a16="http://schemas.microsoft.com/office/drawing/2014/main" id="{771CDB91-37DE-B748-7A84-4E497592E9A3}"/>
                      </a:ext>
                    </a:extLst>
                  </p:cNvPr>
                  <p:cNvSpPr/>
                  <p:nvPr/>
                </p:nvSpPr>
                <p:spPr>
                  <a:xfrm>
                    <a:off x="1201646" y="5774003"/>
                    <a:ext cx="1218324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cap="small" spc="-1" dirty="0" err="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Processed</a:t>
                    </a:r>
                    <a:r>
                      <a:rPr lang="de-DE" sz="1200" cap="small" spc="-1" dirty="0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 </a:t>
                    </a:r>
                    <a:r>
                      <a:rPr lang="de-DE" sz="1200" cap="small" spc="-1" dirty="0" err="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data</a:t>
                    </a:r>
                    <a:endParaRPr lang="en-GB" sz="1200" b="0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07" name="Gruppieren 238">
                  <a:extLst>
                    <a:ext uri="{FF2B5EF4-FFF2-40B4-BE49-F238E27FC236}">
                      <a16:creationId xmlns:a16="http://schemas.microsoft.com/office/drawing/2014/main" id="{DDCE80E0-0026-62EB-141D-BCA7863A6F80}"/>
                    </a:ext>
                  </a:extLst>
                </p:cNvPr>
                <p:cNvGrpSpPr/>
                <p:nvPr/>
              </p:nvGrpSpPr>
              <p:grpSpPr>
                <a:xfrm>
                  <a:off x="571320" y="5514840"/>
                  <a:ext cx="250920" cy="366120"/>
                  <a:chOff x="571320" y="5514840"/>
                  <a:chExt cx="250920" cy="366120"/>
                </a:xfrm>
              </p:grpSpPr>
              <p:sp>
                <p:nvSpPr>
                  <p:cNvPr id="1614" name="Gerade Verbindung 333">
                    <a:extLst>
                      <a:ext uri="{FF2B5EF4-FFF2-40B4-BE49-F238E27FC236}">
                        <a16:creationId xmlns:a16="http://schemas.microsoft.com/office/drawing/2014/main" id="{EABC19E1-8B10-3C34-C076-0169C35FAB0D}"/>
                      </a:ext>
                    </a:extLst>
                  </p:cNvPr>
                  <p:cNvSpPr/>
                  <p:nvPr/>
                </p:nvSpPr>
                <p:spPr>
                  <a:xfrm>
                    <a:off x="571320" y="5514840"/>
                    <a:ext cx="360" cy="3657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15" name="Gerade Verbindung 334">
                    <a:extLst>
                      <a:ext uri="{FF2B5EF4-FFF2-40B4-BE49-F238E27FC236}">
                        <a16:creationId xmlns:a16="http://schemas.microsoft.com/office/drawing/2014/main" id="{649D13B6-1D15-DF03-F649-9703F4E13D5B}"/>
                      </a:ext>
                    </a:extLst>
                  </p:cNvPr>
                  <p:cNvSpPr/>
                  <p:nvPr/>
                </p:nvSpPr>
                <p:spPr>
                  <a:xfrm>
                    <a:off x="571320" y="588060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08" name="Gruppieren 239">
                  <a:extLst>
                    <a:ext uri="{FF2B5EF4-FFF2-40B4-BE49-F238E27FC236}">
                      <a16:creationId xmlns:a16="http://schemas.microsoft.com/office/drawing/2014/main" id="{8ED9773F-6B6C-21F8-0148-3E2DF5B20CEE}"/>
                    </a:ext>
                  </a:extLst>
                </p:cNvPr>
                <p:cNvGrpSpPr/>
                <p:nvPr/>
              </p:nvGrpSpPr>
              <p:grpSpPr>
                <a:xfrm>
                  <a:off x="773280" y="5997240"/>
                  <a:ext cx="1135917" cy="502920"/>
                  <a:chOff x="773280" y="5997240"/>
                  <a:chExt cx="1135917" cy="502920"/>
                </a:xfrm>
              </p:grpSpPr>
              <p:pic>
                <p:nvPicPr>
                  <p:cNvPr id="1612" name="Grafik 243" descr="Ordner mit einfarbiger Füllung">
                    <a:extLst>
                      <a:ext uri="{FF2B5EF4-FFF2-40B4-BE49-F238E27FC236}">
                        <a16:creationId xmlns:a16="http://schemas.microsoft.com/office/drawing/2014/main" id="{4063467A-4708-DE8A-DF9F-05EFBC8DA129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773280" y="59972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13" name="Textfeld 244">
                    <a:extLst>
                      <a:ext uri="{FF2B5EF4-FFF2-40B4-BE49-F238E27FC236}">
                        <a16:creationId xmlns:a16="http://schemas.microsoft.com/office/drawing/2014/main" id="{6D42A2B5-864A-4D94-9133-164D53D99E1C}"/>
                      </a:ext>
                    </a:extLst>
                  </p:cNvPr>
                  <p:cNvSpPr/>
                  <p:nvPr/>
                </p:nvSpPr>
                <p:spPr>
                  <a:xfrm>
                    <a:off x="1211400" y="6128552"/>
                    <a:ext cx="697797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Results</a:t>
                    </a:r>
                  </a:p>
                </p:txBody>
              </p:sp>
            </p:grpSp>
            <p:grpSp>
              <p:nvGrpSpPr>
                <p:cNvPr id="1609" name="Gruppieren 240">
                  <a:extLst>
                    <a:ext uri="{FF2B5EF4-FFF2-40B4-BE49-F238E27FC236}">
                      <a16:creationId xmlns:a16="http://schemas.microsoft.com/office/drawing/2014/main" id="{4074CC03-40A9-887D-18BB-66E42CB5C6BD}"/>
                    </a:ext>
                  </a:extLst>
                </p:cNvPr>
                <p:cNvGrpSpPr/>
                <p:nvPr/>
              </p:nvGrpSpPr>
              <p:grpSpPr>
                <a:xfrm>
                  <a:off x="571320" y="5877360"/>
                  <a:ext cx="250920" cy="366120"/>
                  <a:chOff x="571320" y="5877360"/>
                  <a:chExt cx="250920" cy="366120"/>
                </a:xfrm>
              </p:grpSpPr>
              <p:sp>
                <p:nvSpPr>
                  <p:cNvPr id="1610" name="Gerade Verbindung 329">
                    <a:extLst>
                      <a:ext uri="{FF2B5EF4-FFF2-40B4-BE49-F238E27FC236}">
                        <a16:creationId xmlns:a16="http://schemas.microsoft.com/office/drawing/2014/main" id="{90FA7C3F-049F-328E-1EE0-9F98AA6FCE70}"/>
                      </a:ext>
                    </a:extLst>
                  </p:cNvPr>
                  <p:cNvSpPr/>
                  <p:nvPr/>
                </p:nvSpPr>
                <p:spPr>
                  <a:xfrm>
                    <a:off x="571320" y="5877360"/>
                    <a:ext cx="360" cy="3657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11" name="Gerade Verbindung 330">
                    <a:extLst>
                      <a:ext uri="{FF2B5EF4-FFF2-40B4-BE49-F238E27FC236}">
                        <a16:creationId xmlns:a16="http://schemas.microsoft.com/office/drawing/2014/main" id="{FF5D3621-0D22-CE56-D4AD-7D987C573A82}"/>
                      </a:ext>
                    </a:extLst>
                  </p:cNvPr>
                  <p:cNvSpPr/>
                  <p:nvPr/>
                </p:nvSpPr>
                <p:spPr>
                  <a:xfrm>
                    <a:off x="571320" y="624312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</p:grpSp>
          <p:sp>
            <p:nvSpPr>
              <p:cNvPr id="1601" name="Textfeld 232">
                <a:extLst>
                  <a:ext uri="{FF2B5EF4-FFF2-40B4-BE49-F238E27FC236}">
                    <a16:creationId xmlns:a16="http://schemas.microsoft.com/office/drawing/2014/main" id="{F31C7B14-37D4-2ABD-E5A7-5F81CB31A3B5}"/>
                  </a:ext>
                </a:extLst>
              </p:cNvPr>
              <p:cNvSpPr/>
              <p:nvPr/>
            </p:nvSpPr>
            <p:spPr>
              <a:xfrm>
                <a:off x="206550" y="4123440"/>
                <a:ext cx="2690458" cy="55254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by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"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degree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of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processing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“</a:t>
                </a:r>
              </a:p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How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much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data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was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processed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?</a:t>
                </a:r>
                <a:endParaRPr lang="en-GB" sz="1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1624" name="Gruppieren 255">
              <a:extLst>
                <a:ext uri="{FF2B5EF4-FFF2-40B4-BE49-F238E27FC236}">
                  <a16:creationId xmlns:a16="http://schemas.microsoft.com/office/drawing/2014/main" id="{98F26B7E-FB4E-72D1-4AEE-13FD4B339411}"/>
                </a:ext>
              </a:extLst>
            </p:cNvPr>
            <p:cNvGrpSpPr/>
            <p:nvPr/>
          </p:nvGrpSpPr>
          <p:grpSpPr>
            <a:xfrm>
              <a:off x="9201490" y="2985755"/>
              <a:ext cx="2783520" cy="2497320"/>
              <a:chOff x="3183480" y="4119840"/>
              <a:chExt cx="2783520" cy="2497320"/>
            </a:xfrm>
          </p:grpSpPr>
          <p:grpSp>
            <p:nvGrpSpPr>
              <p:cNvPr id="1625" name="Gruppieren 256">
                <a:extLst>
                  <a:ext uri="{FF2B5EF4-FFF2-40B4-BE49-F238E27FC236}">
                    <a16:creationId xmlns:a16="http://schemas.microsoft.com/office/drawing/2014/main" id="{8AF63CB6-C5F0-0487-B5BC-FF1806160943}"/>
                  </a:ext>
                </a:extLst>
              </p:cNvPr>
              <p:cNvGrpSpPr/>
              <p:nvPr/>
            </p:nvGrpSpPr>
            <p:grpSpPr>
              <a:xfrm>
                <a:off x="3183480" y="4725720"/>
                <a:ext cx="2783520" cy="1891440"/>
                <a:chOff x="3183480" y="4725720"/>
                <a:chExt cx="2783520" cy="1891440"/>
              </a:xfrm>
            </p:grpSpPr>
            <p:sp>
              <p:nvSpPr>
                <p:cNvPr id="1627" name="Abgerundetes Rechteck 347">
                  <a:extLst>
                    <a:ext uri="{FF2B5EF4-FFF2-40B4-BE49-F238E27FC236}">
                      <a16:creationId xmlns:a16="http://schemas.microsoft.com/office/drawing/2014/main" id="{DE02BA50-1CC3-019C-91FF-FC6AABD09276}"/>
                    </a:ext>
                  </a:extLst>
                </p:cNvPr>
                <p:cNvSpPr/>
                <p:nvPr/>
              </p:nvSpPr>
              <p:spPr>
                <a:xfrm>
                  <a:off x="3183480" y="4725720"/>
                  <a:ext cx="2783520" cy="1891440"/>
                </a:xfrm>
                <a:prstGeom prst="roundRect">
                  <a:avLst>
                    <a:gd name="adj" fmla="val 6392"/>
                  </a:avLst>
                </a:prstGeom>
                <a:solidFill>
                  <a:srgbClr val="E2F0D9"/>
                </a:solidFill>
                <a:ln w="12700">
                  <a:solidFill>
                    <a:srgbClr val="385623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  <a:tabLst>
                      <a:tab pos="0" algn="l"/>
                    </a:tabLst>
                  </a:pPr>
                  <a:endParaRPr lang="de-DE" sz="1800" b="0" strike="noStrike" spc="-1">
                    <a:solidFill>
                      <a:srgbClr val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628" name="Gruppieren 259">
                  <a:extLst>
                    <a:ext uri="{FF2B5EF4-FFF2-40B4-BE49-F238E27FC236}">
                      <a16:creationId xmlns:a16="http://schemas.microsoft.com/office/drawing/2014/main" id="{E3EA8EC6-7A10-EDBF-9858-6DBB31C19914}"/>
                    </a:ext>
                  </a:extLst>
                </p:cNvPr>
                <p:cNvGrpSpPr/>
                <p:nvPr/>
              </p:nvGrpSpPr>
              <p:grpSpPr>
                <a:xfrm>
                  <a:off x="3360960" y="4758480"/>
                  <a:ext cx="1785341" cy="502920"/>
                  <a:chOff x="3360960" y="4758480"/>
                  <a:chExt cx="1785341" cy="502920"/>
                </a:xfrm>
              </p:grpSpPr>
              <p:pic>
                <p:nvPicPr>
                  <p:cNvPr id="1647" name="Grafik 278" descr="Ordner mit einfarbiger Füllung">
                    <a:extLst>
                      <a:ext uri="{FF2B5EF4-FFF2-40B4-BE49-F238E27FC236}">
                        <a16:creationId xmlns:a16="http://schemas.microsoft.com/office/drawing/2014/main" id="{D7F6C0D2-CE8B-3483-1098-BD2A40F3A59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360960" y="475848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48" name="Textfeld 279">
                    <a:extLst>
                      <a:ext uri="{FF2B5EF4-FFF2-40B4-BE49-F238E27FC236}">
                        <a16:creationId xmlns:a16="http://schemas.microsoft.com/office/drawing/2014/main" id="{E222EA30-3287-5DF2-AB27-7658D9CA1096}"/>
                      </a:ext>
                    </a:extLst>
                  </p:cNvPr>
                  <p:cNvSpPr/>
                  <p:nvPr/>
                </p:nvSpPr>
                <p:spPr>
                  <a:xfrm>
                    <a:off x="3796403" y="4890240"/>
                    <a:ext cx="1349898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Use as subfolder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29" name="Gruppieren 260">
                  <a:extLst>
                    <a:ext uri="{FF2B5EF4-FFF2-40B4-BE49-F238E27FC236}">
                      <a16:creationId xmlns:a16="http://schemas.microsoft.com/office/drawing/2014/main" id="{8248A754-BE42-1FF0-0F04-14E75064640D}"/>
                    </a:ext>
                  </a:extLst>
                </p:cNvPr>
                <p:cNvGrpSpPr/>
                <p:nvPr/>
              </p:nvGrpSpPr>
              <p:grpSpPr>
                <a:xfrm>
                  <a:off x="3796920" y="5268240"/>
                  <a:ext cx="1078085" cy="502920"/>
                  <a:chOff x="3796920" y="5268240"/>
                  <a:chExt cx="1078085" cy="502920"/>
                </a:xfrm>
              </p:grpSpPr>
              <p:pic>
                <p:nvPicPr>
                  <p:cNvPr id="1645" name="Grafik 276" descr="Ordner mit einfarbiger Füllung">
                    <a:extLst>
                      <a:ext uri="{FF2B5EF4-FFF2-40B4-BE49-F238E27FC236}">
                        <a16:creationId xmlns:a16="http://schemas.microsoft.com/office/drawing/2014/main" id="{80BF58D2-3E9C-8FFA-EDD2-17413BCAC395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796920" y="526824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46" name="Textfeld 277">
                    <a:extLst>
                      <a:ext uri="{FF2B5EF4-FFF2-40B4-BE49-F238E27FC236}">
                        <a16:creationId xmlns:a16="http://schemas.microsoft.com/office/drawing/2014/main" id="{55FDF8F4-8BFE-5F66-9EB6-19B4140700B7}"/>
                      </a:ext>
                    </a:extLst>
                  </p:cNvPr>
                  <p:cNvSpPr/>
                  <p:nvPr/>
                </p:nvSpPr>
                <p:spPr>
                  <a:xfrm>
                    <a:off x="4259602" y="5409133"/>
                    <a:ext cx="615403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Device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30" name="Gruppieren 261">
                  <a:extLst>
                    <a:ext uri="{FF2B5EF4-FFF2-40B4-BE49-F238E27FC236}">
                      <a16:creationId xmlns:a16="http://schemas.microsoft.com/office/drawing/2014/main" id="{4D5F6079-634C-C157-207B-AC1B42EA9D29}"/>
                    </a:ext>
                  </a:extLst>
                </p:cNvPr>
                <p:cNvGrpSpPr/>
                <p:nvPr/>
              </p:nvGrpSpPr>
              <p:grpSpPr>
                <a:xfrm>
                  <a:off x="3594960" y="5148720"/>
                  <a:ext cx="250920" cy="365760"/>
                  <a:chOff x="3594960" y="5148720"/>
                  <a:chExt cx="250920" cy="365760"/>
                </a:xfrm>
              </p:grpSpPr>
              <p:sp>
                <p:nvSpPr>
                  <p:cNvPr id="1643" name="Gerade Verbindung 363">
                    <a:extLst>
                      <a:ext uri="{FF2B5EF4-FFF2-40B4-BE49-F238E27FC236}">
                        <a16:creationId xmlns:a16="http://schemas.microsoft.com/office/drawing/2014/main" id="{C6D723D5-F9FB-3703-522B-4A350E1BF154}"/>
                      </a:ext>
                    </a:extLst>
                  </p:cNvPr>
                  <p:cNvSpPr/>
                  <p:nvPr/>
                </p:nvSpPr>
                <p:spPr>
                  <a:xfrm>
                    <a:off x="3594960" y="514872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44" name="Gerade Verbindung 364">
                    <a:extLst>
                      <a:ext uri="{FF2B5EF4-FFF2-40B4-BE49-F238E27FC236}">
                        <a16:creationId xmlns:a16="http://schemas.microsoft.com/office/drawing/2014/main" id="{58D314A4-B888-4FBB-94FA-262235C52768}"/>
                      </a:ext>
                    </a:extLst>
                  </p:cNvPr>
                  <p:cNvSpPr/>
                  <p:nvPr/>
                </p:nvSpPr>
                <p:spPr>
                  <a:xfrm>
                    <a:off x="3594960" y="551412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31" name="Gruppieren 262">
                  <a:extLst>
                    <a:ext uri="{FF2B5EF4-FFF2-40B4-BE49-F238E27FC236}">
                      <a16:creationId xmlns:a16="http://schemas.microsoft.com/office/drawing/2014/main" id="{D1CBB1B4-A05D-2B27-4C51-94456BF8074C}"/>
                    </a:ext>
                  </a:extLst>
                </p:cNvPr>
                <p:cNvGrpSpPr/>
                <p:nvPr/>
              </p:nvGrpSpPr>
              <p:grpSpPr>
                <a:xfrm>
                  <a:off x="3796920" y="5630760"/>
                  <a:ext cx="1129345" cy="502920"/>
                  <a:chOff x="3796920" y="5630760"/>
                  <a:chExt cx="1129345" cy="502920"/>
                </a:xfrm>
              </p:grpSpPr>
              <p:pic>
                <p:nvPicPr>
                  <p:cNvPr id="1641" name="Grafik 272" descr="Ordner mit einfarbiger Füllung">
                    <a:extLst>
                      <a:ext uri="{FF2B5EF4-FFF2-40B4-BE49-F238E27FC236}">
                        <a16:creationId xmlns:a16="http://schemas.microsoft.com/office/drawing/2014/main" id="{0920192F-DCB7-A3F6-13BA-CAC2DEA993F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796920" y="563076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42" name="Textfeld 273">
                    <a:extLst>
                      <a:ext uri="{FF2B5EF4-FFF2-40B4-BE49-F238E27FC236}">
                        <a16:creationId xmlns:a16="http://schemas.microsoft.com/office/drawing/2014/main" id="{99F002FA-CFB4-9B69-1969-CE71B2E7E1E5}"/>
                      </a:ext>
                    </a:extLst>
                  </p:cNvPr>
                  <p:cNvSpPr/>
                  <p:nvPr/>
                </p:nvSpPr>
                <p:spPr>
                  <a:xfrm>
                    <a:off x="4251552" y="5762520"/>
                    <a:ext cx="674713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Person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32" name="Gruppieren 263">
                  <a:extLst>
                    <a:ext uri="{FF2B5EF4-FFF2-40B4-BE49-F238E27FC236}">
                      <a16:creationId xmlns:a16="http://schemas.microsoft.com/office/drawing/2014/main" id="{09470F13-6D46-14A2-10F9-C762A2F8D809}"/>
                    </a:ext>
                  </a:extLst>
                </p:cNvPr>
                <p:cNvGrpSpPr/>
                <p:nvPr/>
              </p:nvGrpSpPr>
              <p:grpSpPr>
                <a:xfrm>
                  <a:off x="3594960" y="5511240"/>
                  <a:ext cx="250920" cy="365760"/>
                  <a:chOff x="3594960" y="5511240"/>
                  <a:chExt cx="250920" cy="365760"/>
                </a:xfrm>
              </p:grpSpPr>
              <p:sp>
                <p:nvSpPr>
                  <p:cNvPr id="1639" name="Gerade Verbindung 359">
                    <a:extLst>
                      <a:ext uri="{FF2B5EF4-FFF2-40B4-BE49-F238E27FC236}">
                        <a16:creationId xmlns:a16="http://schemas.microsoft.com/office/drawing/2014/main" id="{6977301B-5E5F-6B56-F16E-29EC460CFCA1}"/>
                      </a:ext>
                    </a:extLst>
                  </p:cNvPr>
                  <p:cNvSpPr/>
                  <p:nvPr/>
                </p:nvSpPr>
                <p:spPr>
                  <a:xfrm>
                    <a:off x="3594960" y="551124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40" name="Gerade Verbindung 360">
                    <a:extLst>
                      <a:ext uri="{FF2B5EF4-FFF2-40B4-BE49-F238E27FC236}">
                        <a16:creationId xmlns:a16="http://schemas.microsoft.com/office/drawing/2014/main" id="{0951995C-2400-140F-3326-FEC14A5C07C1}"/>
                      </a:ext>
                    </a:extLst>
                  </p:cNvPr>
                  <p:cNvSpPr/>
                  <p:nvPr/>
                </p:nvSpPr>
                <p:spPr>
                  <a:xfrm>
                    <a:off x="3594960" y="587664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33" name="Gruppieren 264">
                  <a:extLst>
                    <a:ext uri="{FF2B5EF4-FFF2-40B4-BE49-F238E27FC236}">
                      <a16:creationId xmlns:a16="http://schemas.microsoft.com/office/drawing/2014/main" id="{BA5B05AC-423A-A85C-DA59-5F4E6766C955}"/>
                    </a:ext>
                  </a:extLst>
                </p:cNvPr>
                <p:cNvGrpSpPr/>
                <p:nvPr/>
              </p:nvGrpSpPr>
              <p:grpSpPr>
                <a:xfrm>
                  <a:off x="3796920" y="5993280"/>
                  <a:ext cx="1359454" cy="502920"/>
                  <a:chOff x="3796920" y="5993280"/>
                  <a:chExt cx="1359454" cy="502920"/>
                </a:xfrm>
              </p:grpSpPr>
              <p:pic>
                <p:nvPicPr>
                  <p:cNvPr id="1637" name="Grafik 268" descr="Ordner mit einfarbiger Füllung">
                    <a:extLst>
                      <a:ext uri="{FF2B5EF4-FFF2-40B4-BE49-F238E27FC236}">
                        <a16:creationId xmlns:a16="http://schemas.microsoft.com/office/drawing/2014/main" id="{5A27236A-E651-17E6-D8E8-E4436087A569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796920" y="5993280"/>
                    <a:ext cx="502920" cy="502920"/>
                  </a:xfrm>
                  <a:prstGeom prst="rect">
                    <a:avLst/>
                  </a:prstGeom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</p:pic>
              <p:sp>
                <p:nvSpPr>
                  <p:cNvPr id="1638" name="Textfeld 269">
                    <a:extLst>
                      <a:ext uri="{FF2B5EF4-FFF2-40B4-BE49-F238E27FC236}">
                        <a16:creationId xmlns:a16="http://schemas.microsoft.com/office/drawing/2014/main" id="{253A8933-CB6E-E408-B842-B20E35081C84}"/>
                      </a:ext>
                    </a:extLst>
                  </p:cNvPr>
                  <p:cNvSpPr/>
                  <p:nvPr/>
                </p:nvSpPr>
                <p:spPr>
                  <a:xfrm>
                    <a:off x="4232682" y="6121655"/>
                    <a:ext cx="923692" cy="275545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blurRad="50760" dist="37674" dir="8100000" algn="tr" rotWithShape="0">
                      <a:srgbClr val="000000">
                        <a:alpha val="40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buNone/>
                      <a:tabLst>
                        <a:tab pos="0" algn="l"/>
                      </a:tabLst>
                    </a:pPr>
                    <a:r>
                      <a:rPr lang="de-DE" sz="1200" b="0" strike="noStrike" cap="small" spc="-1">
                        <a:solidFill>
                          <a:srgbClr val="000000"/>
                        </a:solidFill>
                        <a:latin typeface="Open Sans"/>
                        <a:ea typeface="Open Sans"/>
                      </a:rPr>
                      <a:t>Simulation</a:t>
                    </a:r>
                    <a:endParaRPr lang="en-GB" sz="12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634" name="Gruppieren 265">
                  <a:extLst>
                    <a:ext uri="{FF2B5EF4-FFF2-40B4-BE49-F238E27FC236}">
                      <a16:creationId xmlns:a16="http://schemas.microsoft.com/office/drawing/2014/main" id="{59B3B5AF-8C91-D626-55DB-0141022F1951}"/>
                    </a:ext>
                  </a:extLst>
                </p:cNvPr>
                <p:cNvGrpSpPr/>
                <p:nvPr/>
              </p:nvGrpSpPr>
              <p:grpSpPr>
                <a:xfrm>
                  <a:off x="3594960" y="5873760"/>
                  <a:ext cx="250920" cy="365760"/>
                  <a:chOff x="3594960" y="5873760"/>
                  <a:chExt cx="250920" cy="365760"/>
                </a:xfrm>
              </p:grpSpPr>
              <p:sp>
                <p:nvSpPr>
                  <p:cNvPr id="1635" name="Gerade Verbindung 355">
                    <a:extLst>
                      <a:ext uri="{FF2B5EF4-FFF2-40B4-BE49-F238E27FC236}">
                        <a16:creationId xmlns:a16="http://schemas.microsoft.com/office/drawing/2014/main" id="{DDD23245-C5BE-0415-1A7E-8F39C1C5D74C}"/>
                      </a:ext>
                    </a:extLst>
                  </p:cNvPr>
                  <p:cNvSpPr/>
                  <p:nvPr/>
                </p:nvSpPr>
                <p:spPr>
                  <a:xfrm>
                    <a:off x="3594960" y="5873760"/>
                    <a:ext cx="360" cy="36540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636" name="Gerade Verbindung 356">
                    <a:extLst>
                      <a:ext uri="{FF2B5EF4-FFF2-40B4-BE49-F238E27FC236}">
                        <a16:creationId xmlns:a16="http://schemas.microsoft.com/office/drawing/2014/main" id="{AC453B6D-5C5D-033F-A2BE-AD051729CCAD}"/>
                      </a:ext>
                    </a:extLst>
                  </p:cNvPr>
                  <p:cNvSpPr/>
                  <p:nvPr/>
                </p:nvSpPr>
                <p:spPr>
                  <a:xfrm>
                    <a:off x="3594960" y="6239160"/>
                    <a:ext cx="250920" cy="36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-44640" rIns="90000" bIns="-44640" anchor="t" anchorCtr="1">
                    <a:noAutofit/>
                  </a:bodyPr>
                  <a:lstStyle/>
                  <a:p>
                    <a:endParaRPr lang="en-GB" sz="1800" b="0" strike="noStrike" spc="-1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</p:grpSp>
          <p:sp>
            <p:nvSpPr>
              <p:cNvPr id="1626" name="Textfeld 257">
                <a:extLst>
                  <a:ext uri="{FF2B5EF4-FFF2-40B4-BE49-F238E27FC236}">
                    <a16:creationId xmlns:a16="http://schemas.microsoft.com/office/drawing/2014/main" id="{9D820A9E-0C8F-68E9-147F-A58A3956BE94}"/>
                  </a:ext>
                </a:extLst>
              </p:cNvPr>
              <p:cNvSpPr/>
              <p:nvPr/>
            </p:nvSpPr>
            <p:spPr>
              <a:xfrm>
                <a:off x="3409912" y="4119840"/>
                <a:ext cx="2330295" cy="55254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by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„</a:t>
                </a:r>
                <a:r>
                  <a:rPr lang="de-DE" sz="1600" b="1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origin</a:t>
                </a:r>
                <a:r>
                  <a:rPr lang="de-DE" sz="1600" b="1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“</a:t>
                </a:r>
                <a:endParaRPr lang="en-GB" sz="16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 algn="ctr">
                  <a:lnSpc>
                    <a:spcPct val="100000"/>
                  </a:lnSpc>
                  <a:buNone/>
                  <a:tabLst>
                    <a:tab pos="0" algn="l"/>
                  </a:tabLst>
                </a:pP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What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is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the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origin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of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 </a:t>
                </a:r>
                <a:r>
                  <a:rPr lang="de-DE" sz="1400" b="0" strike="noStrike" cap="small" spc="-1" dirty="0" err="1">
                    <a:solidFill>
                      <a:srgbClr val="000000"/>
                    </a:solidFill>
                    <a:latin typeface="Open Sans"/>
                    <a:ea typeface="Open Sans"/>
                  </a:rPr>
                  <a:t>data</a:t>
                </a:r>
                <a:r>
                  <a:rPr lang="de-DE" sz="1400" b="0" strike="noStrike" cap="small" spc="-1" dirty="0">
                    <a:solidFill>
                      <a:srgbClr val="000000"/>
                    </a:solidFill>
                    <a:latin typeface="Open Sans"/>
                    <a:ea typeface="Open Sans"/>
                  </a:rPr>
                  <a:t>?</a:t>
                </a:r>
                <a:endParaRPr lang="en-GB" sz="1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199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25AC4-8112-B87B-AB5A-06857532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documentation and metadata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448F28-BED6-31E7-CB31-74F2AFCA36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223999"/>
            <a:ext cx="4601641" cy="4752000"/>
          </a:xfrm>
        </p:spPr>
        <p:txBody>
          <a:bodyPr/>
          <a:lstStyle/>
          <a:p>
            <a:r>
              <a:rPr lang="en-US" dirty="0"/>
              <a:t>Metadata are data about data – What information about your data is required?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endParaRPr lang="en-US" dirty="0"/>
          </a:p>
          <a:p>
            <a:r>
              <a:rPr lang="en-US" dirty="0"/>
              <a:t>Use existing metadata standards or develop a custom standard for your research.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Think of how and where you want to store the metadata and further documentation – ReadMe files, codebooks, …</a:t>
            </a:r>
          </a:p>
          <a:p>
            <a:endParaRPr lang="en-US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FE30B9F2-CB1B-655C-F6AC-C558BBE3203E}"/>
              </a:ext>
            </a:extLst>
          </p:cNvPr>
          <p:cNvGrpSpPr>
            <a:grpSpLocks noChangeAspect="1"/>
          </p:cNvGrpSpPr>
          <p:nvPr/>
        </p:nvGrpSpPr>
        <p:grpSpPr>
          <a:xfrm>
            <a:off x="7314967" y="49855"/>
            <a:ext cx="3023175" cy="1960866"/>
            <a:chOff x="5812952" y="1139604"/>
            <a:chExt cx="8455069" cy="5484055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4747D79-7AC9-AF5B-0822-610F31641F7B}"/>
                </a:ext>
              </a:extLst>
            </p:cNvPr>
            <p:cNvSpPr txBox="1"/>
            <p:nvPr/>
          </p:nvSpPr>
          <p:spPr>
            <a:xfrm>
              <a:off x="10405569" y="1139604"/>
              <a:ext cx="38624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b="1" i="1" dirty="0" err="1">
                  <a:solidFill>
                    <a:schemeClr val="accent4"/>
                  </a:solidFill>
                </a:rPr>
                <a:t>Metadata</a:t>
              </a:r>
              <a:endParaRPr lang="en-US" sz="1800" b="1" i="1" dirty="0">
                <a:solidFill>
                  <a:schemeClr val="accent4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4CC68FA-E7D4-EC84-1EC2-995F8EA69126}"/>
                </a:ext>
              </a:extLst>
            </p:cNvPr>
            <p:cNvSpPr txBox="1"/>
            <p:nvPr/>
          </p:nvSpPr>
          <p:spPr>
            <a:xfrm>
              <a:off x="5812952" y="5700329"/>
              <a:ext cx="28002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b="1" i="1" dirty="0">
                  <a:solidFill>
                    <a:schemeClr val="accent4"/>
                  </a:solidFill>
                </a:rPr>
                <a:t>Data</a:t>
              </a:r>
              <a:endParaRPr lang="en-US" sz="1800" b="1" i="1" dirty="0">
                <a:solidFill>
                  <a:schemeClr val="accent4"/>
                </a:solidFill>
              </a:endParaRPr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0BF0A8BA-6D7E-98AF-2884-8A809C7D1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7486984" y="1308746"/>
              <a:ext cx="3347423" cy="468410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Textfeld 11"/>
          <p:cNvSpPr txBox="1"/>
          <p:nvPr/>
        </p:nvSpPr>
        <p:spPr>
          <a:xfrm>
            <a:off x="6881516" y="2606721"/>
            <a:ext cx="451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00305D"/>
                </a:solidFill>
              </a:rPr>
              <a:t>Generic: e.g. Dublin Core</a:t>
            </a:r>
          </a:p>
          <a:p>
            <a:r>
              <a:rPr lang="en-GB" sz="1800" dirty="0">
                <a:solidFill>
                  <a:srgbClr val="00305D"/>
                </a:solidFill>
              </a:rPr>
              <a:t>Discipline-specific: e.g. REMBI, ISA</a:t>
            </a: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3" name="Gruppieren 12"/>
          <p:cNvGrpSpPr/>
          <p:nvPr/>
        </p:nvGrpSpPr>
        <p:grpSpPr>
          <a:xfrm>
            <a:off x="6343980" y="4029214"/>
            <a:ext cx="5652822" cy="2222357"/>
            <a:chOff x="6343980" y="4029214"/>
            <a:chExt cx="5652822" cy="2222357"/>
          </a:xfrm>
        </p:grpSpPr>
        <p:pic>
          <p:nvPicPr>
            <p:cNvPr id="14" name="Grafik 4">
              <a:extLst>
                <a:ext uri="{FF2B5EF4-FFF2-40B4-BE49-F238E27FC236}">
                  <a16:creationId xmlns:a16="http://schemas.microsoft.com/office/drawing/2014/main" id="{EBB38A95-3344-5F61-ADBB-19BFD95423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1739"/>
            <a:stretch/>
          </p:blipFill>
          <p:spPr>
            <a:xfrm>
              <a:off x="6343980" y="4029214"/>
              <a:ext cx="4422584" cy="14612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5" name="Picture 9">
              <a:extLst>
                <a:ext uri="{FF2B5EF4-FFF2-40B4-BE49-F238E27FC236}">
                  <a16:creationId xmlns:a16="http://schemas.microsoft.com/office/drawing/2014/main" id="{65667C77-1C63-A73A-AC75-8694EACDD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6555" y="4567788"/>
              <a:ext cx="3170247" cy="16837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5919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33060FC-027D-E826-B699-E2B3AED8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achieve high data quality?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Preserve knowledge (protocols, scripts, lab notebook, …)!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Perform data cleanup regularly!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Use peer review for data quality management!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Introduce/use standards in the lab/team (checklists, guidelines, lab manual, …)!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Assign responsibilities and create resources, if possible!</a:t>
            </a:r>
          </a:p>
          <a:p>
            <a:pPr lvl="2"/>
            <a:r>
              <a:rPr lang="en-US" dirty="0"/>
              <a:t>People</a:t>
            </a:r>
          </a:p>
          <a:p>
            <a:pPr lvl="2"/>
            <a:r>
              <a:rPr lang="en-US" dirty="0"/>
              <a:t>Skills and competences</a:t>
            </a:r>
          </a:p>
          <a:p>
            <a:pPr lvl="2"/>
            <a:r>
              <a:rPr lang="en-US" dirty="0"/>
              <a:t>Time</a:t>
            </a:r>
          </a:p>
          <a:p>
            <a:pPr lvl="2"/>
            <a:r>
              <a:rPr lang="en-US" dirty="0"/>
              <a:t>Money</a:t>
            </a:r>
          </a:p>
          <a:p>
            <a:pPr lvl="2"/>
            <a:endParaRPr lang="en-US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0702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What could your first steps look like?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Work on the following questions: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What are my research data?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Which moments and steps are important for my RDM?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Where do I store my research data?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How do I structure my data storage?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What documentation is necessary?</a:t>
            </a:r>
          </a:p>
          <a:p>
            <a:pPr>
              <a:lnSpc>
                <a:spcPct val="150000"/>
              </a:lnSpc>
            </a:pPr>
            <a:r>
              <a:rPr lang="en-US" dirty="0"/>
              <a:t>Answer these questions according to your research practices.</a:t>
            </a:r>
          </a:p>
        </p:txBody>
      </p:sp>
    </p:spTree>
    <p:extLst>
      <p:ext uri="{BB962C8B-B14F-4D97-AF65-F5344CB8AC3E}">
        <p14:creationId xmlns:p14="http://schemas.microsoft.com/office/powerpoint/2010/main" val="4150323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E81D1B8F-AF71-FD87-3EFA-C274C2E6B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805" y="3500806"/>
            <a:ext cx="2446447" cy="2446447"/>
          </a:xfrm>
          <a:prstGeom prst="rect">
            <a:avLst/>
          </a:prstGeom>
        </p:spPr>
      </p:pic>
      <p:pic>
        <p:nvPicPr>
          <p:cNvPr id="26" name="Grafik 25">
            <a:hlinkClick r:id="rId3"/>
            <a:extLst>
              <a:ext uri="{FF2B5EF4-FFF2-40B4-BE49-F238E27FC236}">
                <a16:creationId xmlns:a16="http://schemas.microsoft.com/office/drawing/2014/main" id="{4653AA02-FB75-F6F0-FAC1-910EDCC7D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823" y="3852868"/>
            <a:ext cx="3567631" cy="188291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Services and next Steps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464355A-6838-4AF0-A196-5C3A63027964}"/>
              </a:ext>
            </a:extLst>
          </p:cNvPr>
          <p:cNvGrpSpPr/>
          <p:nvPr/>
        </p:nvGrpSpPr>
        <p:grpSpPr>
          <a:xfrm>
            <a:off x="1049397" y="763675"/>
            <a:ext cx="9931399" cy="2351315"/>
            <a:chOff x="1049397" y="956734"/>
            <a:chExt cx="9931399" cy="4978400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127060D2-471F-4B9B-9E68-757E3374AE7F}"/>
                </a:ext>
              </a:extLst>
            </p:cNvPr>
            <p:cNvSpPr/>
            <p:nvPr/>
          </p:nvSpPr>
          <p:spPr>
            <a:xfrm>
              <a:off x="1049397" y="956734"/>
              <a:ext cx="9931399" cy="4978400"/>
            </a:xfrm>
            <a:prstGeom prst="roundRect">
              <a:avLst>
                <a:gd name="adj" fmla="val 3890"/>
              </a:avLst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CF6B287E-8723-CACA-00EB-6AB5EEECD219}"/>
                </a:ext>
              </a:extLst>
            </p:cNvPr>
            <p:cNvSpPr/>
            <p:nvPr/>
          </p:nvSpPr>
          <p:spPr>
            <a:xfrm>
              <a:off x="1317036" y="1013257"/>
              <a:ext cx="3048603" cy="22869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rgbClr val="00305D"/>
                  </a:solidFill>
                </a:rPr>
                <a:t>PLAN – Data management plan (DMP)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00305D"/>
                  </a:solidFill>
                </a:rPr>
                <a:t>Text modules for individual project proposals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00305D"/>
                  </a:solidFill>
                </a:rPr>
                <a:t>DMP concept for collaborative project proposals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00305D"/>
                  </a:solidFill>
                </a:rPr>
                <a:t>Review of DMP drafts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D485A76-ECF9-880E-0003-EE458DD937E1}"/>
                </a:ext>
              </a:extLst>
            </p:cNvPr>
            <p:cNvSpPr/>
            <p:nvPr/>
          </p:nvSpPr>
          <p:spPr>
            <a:xfrm>
              <a:off x="4647097" y="1013266"/>
              <a:ext cx="2736000" cy="22869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r>
                <a:rPr lang="en-US" sz="1600" baseline="0" dirty="0">
                  <a:solidFill>
                    <a:schemeClr val="accent1"/>
                  </a:solidFill>
                </a:rPr>
                <a:t>INFORM – Consultation and information on RDM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baseline="0" dirty="0">
                  <a:solidFill>
                    <a:schemeClr val="accent1"/>
                  </a:solidFill>
                </a:rPr>
                <a:t>Inquiries and information 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baseline="0" dirty="0">
                  <a:solidFill>
                    <a:schemeClr val="accent1"/>
                  </a:solidFill>
                </a:rPr>
                <a:t>Consultation meetings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baseline="0" dirty="0">
                  <a:solidFill>
                    <a:schemeClr val="accent1"/>
                  </a:solidFill>
                </a:rPr>
                <a:t>Talks and lectures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E9497FE-F0FD-ABF9-29A6-39CE8AA14EC1}"/>
                </a:ext>
              </a:extLst>
            </p:cNvPr>
            <p:cNvSpPr/>
            <p:nvPr/>
          </p:nvSpPr>
          <p:spPr>
            <a:xfrm>
              <a:off x="7952145" y="1013264"/>
              <a:ext cx="2736000" cy="22869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r>
                <a:rPr lang="en-US" sz="1600" baseline="0" dirty="0">
                  <a:solidFill>
                    <a:schemeClr val="accent1"/>
                  </a:solidFill>
                </a:rPr>
                <a:t>IMPLEMENT – Support with RDM</a:t>
              </a: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chemeClr val="accent1"/>
                  </a:solidFill>
                </a:rPr>
                <a:t>I</a:t>
              </a:r>
              <a:r>
                <a:rPr lang="en-US" sz="1600" baseline="0" dirty="0">
                  <a:solidFill>
                    <a:schemeClr val="accent1"/>
                  </a:solidFill>
                </a:rPr>
                <a:t>mplementation</a:t>
              </a:r>
              <a:br>
                <a:rPr lang="en-US" sz="1600" baseline="0" dirty="0">
                  <a:solidFill>
                    <a:schemeClr val="accent1"/>
                  </a:solidFill>
                </a:rPr>
              </a:br>
              <a:r>
                <a:rPr lang="en-US" sz="1600" dirty="0">
                  <a:solidFill>
                    <a:schemeClr val="accent1"/>
                  </a:solidFill>
                </a:rPr>
                <a:t>a</a:t>
              </a:r>
              <a:r>
                <a:rPr lang="en-US" sz="1600" kern="1200" baseline="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ssistance with RDM projects</a:t>
              </a:r>
            </a:p>
            <a:p>
              <a:pPr marL="285750" indent="-285750"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600" baseline="0" dirty="0">
                  <a:solidFill>
                    <a:schemeClr val="accent1"/>
                  </a:solidFill>
                </a:rPr>
                <a:t>Research data offboarding</a:t>
              </a:r>
            </a:p>
            <a:p>
              <a:pPr marL="285750" indent="-285750"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600" baseline="0" dirty="0">
                  <a:solidFill>
                    <a:schemeClr val="accent1"/>
                  </a:solidFill>
                </a:rPr>
                <a:t>Technical support</a:t>
              </a:r>
            </a:p>
          </p:txBody>
        </p:sp>
      </p:grp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3F4AC022-3CE2-0FA0-D52E-64C6B652ABA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049397" y="3292386"/>
            <a:ext cx="9931399" cy="167990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>
                <a:solidFill>
                  <a:srgbClr val="00305D"/>
                </a:solidFill>
              </a:rPr>
              <a:t>Look for </a:t>
            </a:r>
            <a:r>
              <a:rPr lang="en-US" dirty="0">
                <a:solidFill>
                  <a:srgbClr val="00305D"/>
                </a:solidFill>
                <a:hlinkClick r:id="rId5"/>
              </a:rPr>
              <a:t>further lectures</a:t>
            </a:r>
            <a:r>
              <a:rPr lang="en-US" dirty="0">
                <a:solidFill>
                  <a:srgbClr val="00305D"/>
                </a:solidFill>
              </a:rPr>
              <a:t> of the Service Center Research Data or book an </a:t>
            </a:r>
            <a:r>
              <a:rPr lang="en-US" dirty="0">
                <a:solidFill>
                  <a:srgbClr val="00305D"/>
                </a:solidFill>
                <a:hlinkClick r:id="rId3"/>
              </a:rPr>
              <a:t>appointment</a:t>
            </a:r>
            <a:r>
              <a:rPr lang="en-US" dirty="0">
                <a:solidFill>
                  <a:srgbClr val="00305D"/>
                </a:solidFill>
              </a:rPr>
              <a:t>.
</a:t>
            </a:r>
          </a:p>
        </p:txBody>
      </p:sp>
    </p:spTree>
    <p:extLst>
      <p:ext uri="{BB962C8B-B14F-4D97-AF65-F5344CB8AC3E}">
        <p14:creationId xmlns:p14="http://schemas.microsoft.com/office/powerpoint/2010/main" val="80726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8F03CD-4FFE-40B9-B172-21571278C0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808" y="3138045"/>
            <a:ext cx="3011145" cy="246221"/>
          </a:xfrm>
        </p:spPr>
        <p:txBody>
          <a:bodyPr/>
          <a:lstStyle/>
          <a:p>
            <a:r>
              <a:rPr lang="en-US" dirty="0"/>
              <a:t>Service Center Research Data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9DD4E0-869B-4A30-8A8F-A83CC9C2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5691558" cy="49244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38037213-4943-4DA3-89B1-7FC05C153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240" y="5036945"/>
            <a:ext cx="5737533" cy="630942"/>
          </a:xfrm>
        </p:spPr>
        <p:txBody>
          <a:bodyPr/>
          <a:lstStyle/>
          <a:p>
            <a:r>
              <a:rPr lang="en-US" dirty="0"/>
              <a:t>https://tu-dresden.de/kontaktstelle-forschungsdaten</a:t>
            </a:r>
          </a:p>
          <a:p>
            <a:r>
              <a:rPr lang="en-US" dirty="0"/>
              <a:t>kontaktstelle-forschungsdaten@tu-dresden.de</a:t>
            </a: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44332B84-936D-4FBA-8759-7E6DD0F53CD5}"/>
              </a:ext>
            </a:extLst>
          </p:cNvPr>
          <p:cNvSpPr/>
          <p:nvPr/>
        </p:nvSpPr>
        <p:spPr>
          <a:xfrm>
            <a:off x="887318" y="5455257"/>
            <a:ext cx="235510" cy="165130"/>
          </a:xfrm>
          <a:custGeom>
            <a:avLst/>
            <a:gdLst>
              <a:gd name="connsiteX0" fmla="*/ 235511 w 235510"/>
              <a:gd name="connsiteY0" fmla="*/ 165130 h 165130"/>
              <a:gd name="connsiteX1" fmla="*/ 235511 w 235510"/>
              <a:gd name="connsiteY1" fmla="*/ 0 h 165130"/>
              <a:gd name="connsiteX2" fmla="*/ 0 w 235510"/>
              <a:gd name="connsiteY2" fmla="*/ 0 h 165130"/>
              <a:gd name="connsiteX3" fmla="*/ 0 w 235510"/>
              <a:gd name="connsiteY3" fmla="*/ 165130 h 165130"/>
              <a:gd name="connsiteX4" fmla="*/ 235511 w 235510"/>
              <a:gd name="connsiteY4" fmla="*/ 165130 h 165130"/>
              <a:gd name="connsiteX5" fmla="*/ 235511 w 235510"/>
              <a:gd name="connsiteY5" fmla="*/ 165130 h 165130"/>
              <a:gd name="connsiteX6" fmla="*/ 18186 w 235510"/>
              <a:gd name="connsiteY6" fmla="*/ 9821 h 165130"/>
              <a:gd name="connsiteX7" fmla="*/ 217143 w 235510"/>
              <a:gd name="connsiteY7" fmla="*/ 9821 h 165130"/>
              <a:gd name="connsiteX8" fmla="*/ 117846 w 235510"/>
              <a:gd name="connsiteY8" fmla="*/ 96932 h 165130"/>
              <a:gd name="connsiteX9" fmla="*/ 18186 w 235510"/>
              <a:gd name="connsiteY9" fmla="*/ 9821 h 165130"/>
              <a:gd name="connsiteX10" fmla="*/ 18186 w 235510"/>
              <a:gd name="connsiteY10" fmla="*/ 9821 h 165130"/>
              <a:gd name="connsiteX11" fmla="*/ 9821 w 235510"/>
              <a:gd name="connsiteY11" fmla="*/ 144398 h 165130"/>
              <a:gd name="connsiteX12" fmla="*/ 9821 w 235510"/>
              <a:gd name="connsiteY12" fmla="*/ 15822 h 165130"/>
              <a:gd name="connsiteX13" fmla="*/ 66379 w 235510"/>
              <a:gd name="connsiteY13" fmla="*/ 65288 h 165130"/>
              <a:gd name="connsiteX14" fmla="*/ 9821 w 235510"/>
              <a:gd name="connsiteY14" fmla="*/ 144398 h 165130"/>
              <a:gd name="connsiteX15" fmla="*/ 9821 w 235510"/>
              <a:gd name="connsiteY15" fmla="*/ 144398 h 165130"/>
              <a:gd name="connsiteX16" fmla="*/ 225508 w 235510"/>
              <a:gd name="connsiteY16" fmla="*/ 15822 h 165130"/>
              <a:gd name="connsiteX17" fmla="*/ 225508 w 235510"/>
              <a:gd name="connsiteY17" fmla="*/ 144398 h 165130"/>
              <a:gd name="connsiteX18" fmla="*/ 168949 w 235510"/>
              <a:gd name="connsiteY18" fmla="*/ 65470 h 165130"/>
              <a:gd name="connsiteX19" fmla="*/ 225508 w 235510"/>
              <a:gd name="connsiteY19" fmla="*/ 15822 h 165130"/>
              <a:gd name="connsiteX20" fmla="*/ 225508 w 235510"/>
              <a:gd name="connsiteY20" fmla="*/ 15822 h 165130"/>
              <a:gd name="connsiteX21" fmla="*/ 220962 w 235510"/>
              <a:gd name="connsiteY21" fmla="*/ 155128 h 165130"/>
              <a:gd name="connsiteX22" fmla="*/ 14549 w 235510"/>
              <a:gd name="connsiteY22" fmla="*/ 155128 h 165130"/>
              <a:gd name="connsiteX23" fmla="*/ 74018 w 235510"/>
              <a:gd name="connsiteY23" fmla="*/ 72017 h 165130"/>
              <a:gd name="connsiteX24" fmla="*/ 117846 w 235510"/>
              <a:gd name="connsiteY24" fmla="*/ 110390 h 165130"/>
              <a:gd name="connsiteX25" fmla="*/ 161311 w 235510"/>
              <a:gd name="connsiteY25" fmla="*/ 72017 h 165130"/>
              <a:gd name="connsiteX26" fmla="*/ 220962 w 235510"/>
              <a:gd name="connsiteY26" fmla="*/ 155128 h 165130"/>
              <a:gd name="connsiteX27" fmla="*/ 220962 w 235510"/>
              <a:gd name="connsiteY27" fmla="*/ 155128 h 16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35510" h="165130">
                <a:moveTo>
                  <a:pt x="235511" y="165130"/>
                </a:moveTo>
                <a:lnTo>
                  <a:pt x="235511" y="0"/>
                </a:lnTo>
                <a:lnTo>
                  <a:pt x="0" y="0"/>
                </a:lnTo>
                <a:lnTo>
                  <a:pt x="0" y="165130"/>
                </a:lnTo>
                <a:lnTo>
                  <a:pt x="235511" y="165130"/>
                </a:lnTo>
                <a:lnTo>
                  <a:pt x="235511" y="165130"/>
                </a:lnTo>
                <a:close/>
                <a:moveTo>
                  <a:pt x="18186" y="9821"/>
                </a:moveTo>
                <a:lnTo>
                  <a:pt x="217143" y="9821"/>
                </a:lnTo>
                <a:lnTo>
                  <a:pt x="117846" y="96932"/>
                </a:lnTo>
                <a:lnTo>
                  <a:pt x="18186" y="9821"/>
                </a:lnTo>
                <a:lnTo>
                  <a:pt x="18186" y="9821"/>
                </a:lnTo>
                <a:close/>
                <a:moveTo>
                  <a:pt x="9821" y="144398"/>
                </a:moveTo>
                <a:lnTo>
                  <a:pt x="9821" y="15822"/>
                </a:lnTo>
                <a:lnTo>
                  <a:pt x="66379" y="65288"/>
                </a:lnTo>
                <a:lnTo>
                  <a:pt x="9821" y="144398"/>
                </a:lnTo>
                <a:lnTo>
                  <a:pt x="9821" y="144398"/>
                </a:lnTo>
                <a:close/>
                <a:moveTo>
                  <a:pt x="225508" y="15822"/>
                </a:moveTo>
                <a:lnTo>
                  <a:pt x="225508" y="144398"/>
                </a:lnTo>
                <a:lnTo>
                  <a:pt x="168949" y="65470"/>
                </a:lnTo>
                <a:lnTo>
                  <a:pt x="225508" y="15822"/>
                </a:lnTo>
                <a:lnTo>
                  <a:pt x="225508" y="15822"/>
                </a:lnTo>
                <a:close/>
                <a:moveTo>
                  <a:pt x="220962" y="155128"/>
                </a:moveTo>
                <a:lnTo>
                  <a:pt x="14549" y="155128"/>
                </a:lnTo>
                <a:lnTo>
                  <a:pt x="74018" y="72017"/>
                </a:lnTo>
                <a:lnTo>
                  <a:pt x="117846" y="110390"/>
                </a:lnTo>
                <a:lnTo>
                  <a:pt x="161311" y="72017"/>
                </a:lnTo>
                <a:lnTo>
                  <a:pt x="220962" y="155128"/>
                </a:lnTo>
                <a:lnTo>
                  <a:pt x="220962" y="155128"/>
                </a:lnTo>
                <a:close/>
              </a:path>
            </a:pathLst>
          </a:custGeom>
          <a:solidFill>
            <a:schemeClr val="bg1"/>
          </a:solidFill>
          <a:ln w="181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E773539-55A8-4CB7-93F7-AA70F4D7FC1E}"/>
              </a:ext>
            </a:extLst>
          </p:cNvPr>
          <p:cNvSpPr/>
          <p:nvPr/>
        </p:nvSpPr>
        <p:spPr>
          <a:xfrm>
            <a:off x="882771" y="5036945"/>
            <a:ext cx="240057" cy="240061"/>
          </a:xfrm>
          <a:custGeom>
            <a:avLst/>
            <a:gdLst>
              <a:gd name="connsiteX0" fmla="*/ 59651 w 240057"/>
              <a:gd name="connsiteY0" fmla="*/ 224054 h 240061"/>
              <a:gd name="connsiteX1" fmla="*/ 16004 w 240057"/>
              <a:gd name="connsiteY1" fmla="*/ 180407 h 240061"/>
              <a:gd name="connsiteX2" fmla="*/ 0 w 240057"/>
              <a:gd name="connsiteY2" fmla="*/ 119847 h 240061"/>
              <a:gd name="connsiteX3" fmla="*/ 16004 w 240057"/>
              <a:gd name="connsiteY3" fmla="*/ 59651 h 240061"/>
              <a:gd name="connsiteX4" fmla="*/ 59651 w 240057"/>
              <a:gd name="connsiteY4" fmla="*/ 16004 h 240061"/>
              <a:gd name="connsiteX5" fmla="*/ 120210 w 240057"/>
              <a:gd name="connsiteY5" fmla="*/ 0 h 240061"/>
              <a:gd name="connsiteX6" fmla="*/ 180407 w 240057"/>
              <a:gd name="connsiteY6" fmla="*/ 16004 h 240061"/>
              <a:gd name="connsiteX7" fmla="*/ 224053 w 240057"/>
              <a:gd name="connsiteY7" fmla="*/ 59651 h 240061"/>
              <a:gd name="connsiteX8" fmla="*/ 240057 w 240057"/>
              <a:gd name="connsiteY8" fmla="*/ 119847 h 240061"/>
              <a:gd name="connsiteX9" fmla="*/ 224053 w 240057"/>
              <a:gd name="connsiteY9" fmla="*/ 180407 h 240061"/>
              <a:gd name="connsiteX10" fmla="*/ 180407 w 240057"/>
              <a:gd name="connsiteY10" fmla="*/ 224054 h 240061"/>
              <a:gd name="connsiteX11" fmla="*/ 120210 w 240057"/>
              <a:gd name="connsiteY11" fmla="*/ 240057 h 240061"/>
              <a:gd name="connsiteX12" fmla="*/ 59651 w 240057"/>
              <a:gd name="connsiteY12" fmla="*/ 224054 h 240061"/>
              <a:gd name="connsiteX13" fmla="*/ 59651 w 240057"/>
              <a:gd name="connsiteY13" fmla="*/ 224054 h 240061"/>
              <a:gd name="connsiteX14" fmla="*/ 65106 w 240057"/>
              <a:gd name="connsiteY14" fmla="*/ 67289 h 240061"/>
              <a:gd name="connsiteX15" fmla="*/ 33463 w 240057"/>
              <a:gd name="connsiteY15" fmla="*/ 50194 h 240061"/>
              <a:gd name="connsiteX16" fmla="*/ 16186 w 240057"/>
              <a:gd name="connsiteY16" fmla="*/ 80747 h 240061"/>
              <a:gd name="connsiteX17" fmla="*/ 9457 w 240057"/>
              <a:gd name="connsiteY17" fmla="*/ 115482 h 240061"/>
              <a:gd name="connsiteX18" fmla="*/ 56013 w 240057"/>
              <a:gd name="connsiteY18" fmla="*/ 115482 h 240061"/>
              <a:gd name="connsiteX19" fmla="*/ 65106 w 240057"/>
              <a:gd name="connsiteY19" fmla="*/ 67289 h 240061"/>
              <a:gd name="connsiteX20" fmla="*/ 65106 w 240057"/>
              <a:gd name="connsiteY20" fmla="*/ 67289 h 240061"/>
              <a:gd name="connsiteX21" fmla="*/ 65106 w 240057"/>
              <a:gd name="connsiteY21" fmla="*/ 172951 h 240061"/>
              <a:gd name="connsiteX22" fmla="*/ 56013 w 240057"/>
              <a:gd name="connsiteY22" fmla="*/ 124394 h 240061"/>
              <a:gd name="connsiteX23" fmla="*/ 9457 w 240057"/>
              <a:gd name="connsiteY23" fmla="*/ 124394 h 240061"/>
              <a:gd name="connsiteX24" fmla="*/ 16186 w 240057"/>
              <a:gd name="connsiteY24" fmla="*/ 158947 h 240061"/>
              <a:gd name="connsiteX25" fmla="*/ 33644 w 240057"/>
              <a:gd name="connsiteY25" fmla="*/ 189682 h 240061"/>
              <a:gd name="connsiteX26" fmla="*/ 65106 w 240057"/>
              <a:gd name="connsiteY26" fmla="*/ 172951 h 240061"/>
              <a:gd name="connsiteX27" fmla="*/ 65106 w 240057"/>
              <a:gd name="connsiteY27" fmla="*/ 172951 h 240061"/>
              <a:gd name="connsiteX28" fmla="*/ 82020 w 240057"/>
              <a:gd name="connsiteY28" fmla="*/ 206777 h 240061"/>
              <a:gd name="connsiteX29" fmla="*/ 68198 w 240057"/>
              <a:gd name="connsiteY29" fmla="*/ 181134 h 240061"/>
              <a:gd name="connsiteX30" fmla="*/ 62742 w 240057"/>
              <a:gd name="connsiteY30" fmla="*/ 183317 h 240061"/>
              <a:gd name="connsiteX31" fmla="*/ 49830 w 240057"/>
              <a:gd name="connsiteY31" fmla="*/ 189500 h 240061"/>
              <a:gd name="connsiteX32" fmla="*/ 39100 w 240057"/>
              <a:gd name="connsiteY32" fmla="*/ 196593 h 240061"/>
              <a:gd name="connsiteX33" fmla="*/ 69653 w 240057"/>
              <a:gd name="connsiteY33" fmla="*/ 218962 h 240061"/>
              <a:gd name="connsiteX34" fmla="*/ 105116 w 240057"/>
              <a:gd name="connsiteY34" fmla="*/ 231146 h 240061"/>
              <a:gd name="connsiteX35" fmla="*/ 82020 w 240057"/>
              <a:gd name="connsiteY35" fmla="*/ 206777 h 240061"/>
              <a:gd name="connsiteX36" fmla="*/ 82020 w 240057"/>
              <a:gd name="connsiteY36" fmla="*/ 206777 h 240061"/>
              <a:gd name="connsiteX37" fmla="*/ 83111 w 240057"/>
              <a:gd name="connsiteY37" fmla="*/ 32190 h 240061"/>
              <a:gd name="connsiteX38" fmla="*/ 104207 w 240057"/>
              <a:gd name="connsiteY38" fmla="*/ 11457 h 240061"/>
              <a:gd name="connsiteX39" fmla="*/ 69289 w 240057"/>
              <a:gd name="connsiteY39" fmla="*/ 20914 h 240061"/>
              <a:gd name="connsiteX40" fmla="*/ 39464 w 240057"/>
              <a:gd name="connsiteY40" fmla="*/ 43829 h 240061"/>
              <a:gd name="connsiteX41" fmla="*/ 68562 w 240057"/>
              <a:gd name="connsiteY41" fmla="*/ 59105 h 240061"/>
              <a:gd name="connsiteX42" fmla="*/ 83111 w 240057"/>
              <a:gd name="connsiteY42" fmla="*/ 32190 h 240061"/>
              <a:gd name="connsiteX43" fmla="*/ 83111 w 240057"/>
              <a:gd name="connsiteY43" fmla="*/ 32190 h 240061"/>
              <a:gd name="connsiteX44" fmla="*/ 115664 w 240057"/>
              <a:gd name="connsiteY44" fmla="*/ 115664 h 240061"/>
              <a:gd name="connsiteX45" fmla="*/ 115664 w 240057"/>
              <a:gd name="connsiteY45" fmla="*/ 77291 h 240061"/>
              <a:gd name="connsiteX46" fmla="*/ 73472 w 240057"/>
              <a:gd name="connsiteY46" fmla="*/ 70017 h 240061"/>
              <a:gd name="connsiteX47" fmla="*/ 65106 w 240057"/>
              <a:gd name="connsiteY47" fmla="*/ 115664 h 240061"/>
              <a:gd name="connsiteX48" fmla="*/ 115664 w 240057"/>
              <a:gd name="connsiteY48" fmla="*/ 115664 h 240061"/>
              <a:gd name="connsiteX49" fmla="*/ 115664 w 240057"/>
              <a:gd name="connsiteY49" fmla="*/ 115664 h 240061"/>
              <a:gd name="connsiteX50" fmla="*/ 115664 w 240057"/>
              <a:gd name="connsiteY50" fmla="*/ 162948 h 240061"/>
              <a:gd name="connsiteX51" fmla="*/ 115664 w 240057"/>
              <a:gd name="connsiteY51" fmla="*/ 124575 h 240061"/>
              <a:gd name="connsiteX52" fmla="*/ 65106 w 240057"/>
              <a:gd name="connsiteY52" fmla="*/ 124575 h 240061"/>
              <a:gd name="connsiteX53" fmla="*/ 73472 w 240057"/>
              <a:gd name="connsiteY53" fmla="*/ 170223 h 240061"/>
              <a:gd name="connsiteX54" fmla="*/ 115664 w 240057"/>
              <a:gd name="connsiteY54" fmla="*/ 162948 h 240061"/>
              <a:gd name="connsiteX55" fmla="*/ 115664 w 240057"/>
              <a:gd name="connsiteY55" fmla="*/ 162948 h 240061"/>
              <a:gd name="connsiteX56" fmla="*/ 93295 w 240057"/>
              <a:gd name="connsiteY56" fmla="*/ 33644 h 240061"/>
              <a:gd name="connsiteX57" fmla="*/ 76927 w 240057"/>
              <a:gd name="connsiteY57" fmla="*/ 61469 h 240061"/>
              <a:gd name="connsiteX58" fmla="*/ 115846 w 240057"/>
              <a:gd name="connsiteY58" fmla="*/ 67653 h 240061"/>
              <a:gd name="connsiteX59" fmla="*/ 115846 w 240057"/>
              <a:gd name="connsiteY59" fmla="*/ 12003 h 240061"/>
              <a:gd name="connsiteX60" fmla="*/ 93295 w 240057"/>
              <a:gd name="connsiteY60" fmla="*/ 33644 h 240061"/>
              <a:gd name="connsiteX61" fmla="*/ 93295 w 240057"/>
              <a:gd name="connsiteY61" fmla="*/ 33644 h 240061"/>
              <a:gd name="connsiteX62" fmla="*/ 76746 w 240057"/>
              <a:gd name="connsiteY62" fmla="*/ 178406 h 240061"/>
              <a:gd name="connsiteX63" fmla="*/ 93113 w 240057"/>
              <a:gd name="connsiteY63" fmla="*/ 206413 h 240061"/>
              <a:gd name="connsiteX64" fmla="*/ 115482 w 240057"/>
              <a:gd name="connsiteY64" fmla="*/ 228418 h 240061"/>
              <a:gd name="connsiteX65" fmla="*/ 115482 w 240057"/>
              <a:gd name="connsiteY65" fmla="*/ 172223 h 240061"/>
              <a:gd name="connsiteX66" fmla="*/ 76746 w 240057"/>
              <a:gd name="connsiteY66" fmla="*/ 178406 h 240061"/>
              <a:gd name="connsiteX67" fmla="*/ 76746 w 240057"/>
              <a:gd name="connsiteY67" fmla="*/ 178406 h 240061"/>
              <a:gd name="connsiteX68" fmla="*/ 163494 w 240057"/>
              <a:gd name="connsiteY68" fmla="*/ 61833 h 240061"/>
              <a:gd name="connsiteX69" fmla="*/ 146762 w 240057"/>
              <a:gd name="connsiteY69" fmla="*/ 33826 h 240061"/>
              <a:gd name="connsiteX70" fmla="*/ 124393 w 240057"/>
              <a:gd name="connsiteY70" fmla="*/ 12185 h 240061"/>
              <a:gd name="connsiteX71" fmla="*/ 124393 w 240057"/>
              <a:gd name="connsiteY71" fmla="*/ 67834 h 240061"/>
              <a:gd name="connsiteX72" fmla="*/ 163494 w 240057"/>
              <a:gd name="connsiteY72" fmla="*/ 61833 h 240061"/>
              <a:gd name="connsiteX73" fmla="*/ 163494 w 240057"/>
              <a:gd name="connsiteY73" fmla="*/ 61833 h 240061"/>
              <a:gd name="connsiteX74" fmla="*/ 166585 w 240057"/>
              <a:gd name="connsiteY74" fmla="*/ 70017 h 240061"/>
              <a:gd name="connsiteX75" fmla="*/ 124393 w 240057"/>
              <a:gd name="connsiteY75" fmla="*/ 77291 h 240061"/>
              <a:gd name="connsiteX76" fmla="*/ 124393 w 240057"/>
              <a:gd name="connsiteY76" fmla="*/ 115664 h 240061"/>
              <a:gd name="connsiteX77" fmla="*/ 174951 w 240057"/>
              <a:gd name="connsiteY77" fmla="*/ 115664 h 240061"/>
              <a:gd name="connsiteX78" fmla="*/ 166585 w 240057"/>
              <a:gd name="connsiteY78" fmla="*/ 70017 h 240061"/>
              <a:gd name="connsiteX79" fmla="*/ 166585 w 240057"/>
              <a:gd name="connsiteY79" fmla="*/ 70017 h 240061"/>
              <a:gd name="connsiteX80" fmla="*/ 174951 w 240057"/>
              <a:gd name="connsiteY80" fmla="*/ 124394 h 240061"/>
              <a:gd name="connsiteX81" fmla="*/ 124393 w 240057"/>
              <a:gd name="connsiteY81" fmla="*/ 124394 h 240061"/>
              <a:gd name="connsiteX82" fmla="*/ 124393 w 240057"/>
              <a:gd name="connsiteY82" fmla="*/ 162766 h 240061"/>
              <a:gd name="connsiteX83" fmla="*/ 166585 w 240057"/>
              <a:gd name="connsiteY83" fmla="*/ 170041 h 240061"/>
              <a:gd name="connsiteX84" fmla="*/ 174951 w 240057"/>
              <a:gd name="connsiteY84" fmla="*/ 124394 h 240061"/>
              <a:gd name="connsiteX85" fmla="*/ 174951 w 240057"/>
              <a:gd name="connsiteY85" fmla="*/ 124394 h 240061"/>
              <a:gd name="connsiteX86" fmla="*/ 163494 w 240057"/>
              <a:gd name="connsiteY86" fmla="*/ 178406 h 240061"/>
              <a:gd name="connsiteX87" fmla="*/ 124393 w 240057"/>
              <a:gd name="connsiteY87" fmla="*/ 172223 h 240061"/>
              <a:gd name="connsiteX88" fmla="*/ 124393 w 240057"/>
              <a:gd name="connsiteY88" fmla="*/ 228418 h 240061"/>
              <a:gd name="connsiteX89" fmla="*/ 163494 w 240057"/>
              <a:gd name="connsiteY89" fmla="*/ 178406 h 240061"/>
              <a:gd name="connsiteX90" fmla="*/ 163494 w 240057"/>
              <a:gd name="connsiteY90" fmla="*/ 178406 h 240061"/>
              <a:gd name="connsiteX91" fmla="*/ 161311 w 240057"/>
              <a:gd name="connsiteY91" fmla="*/ 224963 h 240061"/>
              <a:gd name="connsiteX92" fmla="*/ 182225 w 240057"/>
              <a:gd name="connsiteY92" fmla="*/ 213506 h 240061"/>
              <a:gd name="connsiteX93" fmla="*/ 200957 w 240057"/>
              <a:gd name="connsiteY93" fmla="*/ 196593 h 240061"/>
              <a:gd name="connsiteX94" fmla="*/ 172041 w 240057"/>
              <a:gd name="connsiteY94" fmla="*/ 181316 h 240061"/>
              <a:gd name="connsiteX95" fmla="*/ 154219 w 240057"/>
              <a:gd name="connsiteY95" fmla="*/ 211869 h 240061"/>
              <a:gd name="connsiteX96" fmla="*/ 134396 w 240057"/>
              <a:gd name="connsiteY96" fmla="*/ 230783 h 240061"/>
              <a:gd name="connsiteX97" fmla="*/ 161311 w 240057"/>
              <a:gd name="connsiteY97" fmla="*/ 224963 h 240061"/>
              <a:gd name="connsiteX98" fmla="*/ 161311 w 240057"/>
              <a:gd name="connsiteY98" fmla="*/ 224963 h 240061"/>
              <a:gd name="connsiteX99" fmla="*/ 200957 w 240057"/>
              <a:gd name="connsiteY99" fmla="*/ 43829 h 240061"/>
              <a:gd name="connsiteX100" fmla="*/ 170768 w 240057"/>
              <a:gd name="connsiteY100" fmla="*/ 21278 h 240061"/>
              <a:gd name="connsiteX101" fmla="*/ 136396 w 240057"/>
              <a:gd name="connsiteY101" fmla="*/ 11276 h 240061"/>
              <a:gd name="connsiteX102" fmla="*/ 156765 w 240057"/>
              <a:gd name="connsiteY102" fmla="*/ 32917 h 240061"/>
              <a:gd name="connsiteX103" fmla="*/ 171859 w 240057"/>
              <a:gd name="connsiteY103" fmla="*/ 59287 h 240061"/>
              <a:gd name="connsiteX104" fmla="*/ 200957 w 240057"/>
              <a:gd name="connsiteY104" fmla="*/ 43829 h 240061"/>
              <a:gd name="connsiteX105" fmla="*/ 200957 w 240057"/>
              <a:gd name="connsiteY105" fmla="*/ 43829 h 240061"/>
              <a:gd name="connsiteX106" fmla="*/ 224053 w 240057"/>
              <a:gd name="connsiteY106" fmla="*/ 80928 h 240061"/>
              <a:gd name="connsiteX107" fmla="*/ 206959 w 240057"/>
              <a:gd name="connsiteY107" fmla="*/ 50376 h 240061"/>
              <a:gd name="connsiteX108" fmla="*/ 174951 w 240057"/>
              <a:gd name="connsiteY108" fmla="*/ 67471 h 240061"/>
              <a:gd name="connsiteX109" fmla="*/ 183862 w 240057"/>
              <a:gd name="connsiteY109" fmla="*/ 115664 h 240061"/>
              <a:gd name="connsiteX110" fmla="*/ 231146 w 240057"/>
              <a:gd name="connsiteY110" fmla="*/ 115664 h 240061"/>
              <a:gd name="connsiteX111" fmla="*/ 224053 w 240057"/>
              <a:gd name="connsiteY111" fmla="*/ 80928 h 240061"/>
              <a:gd name="connsiteX112" fmla="*/ 224053 w 240057"/>
              <a:gd name="connsiteY112" fmla="*/ 80928 h 240061"/>
              <a:gd name="connsiteX113" fmla="*/ 224053 w 240057"/>
              <a:gd name="connsiteY113" fmla="*/ 159311 h 240061"/>
              <a:gd name="connsiteX114" fmla="*/ 231146 w 240057"/>
              <a:gd name="connsiteY114" fmla="*/ 124575 h 240061"/>
              <a:gd name="connsiteX115" fmla="*/ 183862 w 240057"/>
              <a:gd name="connsiteY115" fmla="*/ 124575 h 240061"/>
              <a:gd name="connsiteX116" fmla="*/ 174951 w 240057"/>
              <a:gd name="connsiteY116" fmla="*/ 173133 h 240061"/>
              <a:gd name="connsiteX117" fmla="*/ 206595 w 240057"/>
              <a:gd name="connsiteY117" fmla="*/ 189864 h 240061"/>
              <a:gd name="connsiteX118" fmla="*/ 224053 w 240057"/>
              <a:gd name="connsiteY118" fmla="*/ 159311 h 240061"/>
              <a:gd name="connsiteX119" fmla="*/ 224053 w 240057"/>
              <a:gd name="connsiteY119" fmla="*/ 159311 h 24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40057" h="240061">
                <a:moveTo>
                  <a:pt x="59651" y="224054"/>
                </a:moveTo>
                <a:cubicBezTo>
                  <a:pt x="41283" y="213324"/>
                  <a:pt x="26734" y="198775"/>
                  <a:pt x="16004" y="180407"/>
                </a:cubicBezTo>
                <a:cubicBezTo>
                  <a:pt x="5274" y="162039"/>
                  <a:pt x="0" y="141852"/>
                  <a:pt x="0" y="119847"/>
                </a:cubicBezTo>
                <a:cubicBezTo>
                  <a:pt x="0" y="98024"/>
                  <a:pt x="5274" y="78019"/>
                  <a:pt x="16004" y="59651"/>
                </a:cubicBezTo>
                <a:cubicBezTo>
                  <a:pt x="26734" y="41283"/>
                  <a:pt x="41283" y="26734"/>
                  <a:pt x="59651" y="16004"/>
                </a:cubicBezTo>
                <a:cubicBezTo>
                  <a:pt x="78019" y="5274"/>
                  <a:pt x="98205" y="0"/>
                  <a:pt x="120210" y="0"/>
                </a:cubicBezTo>
                <a:cubicBezTo>
                  <a:pt x="142034" y="0"/>
                  <a:pt x="162039" y="5456"/>
                  <a:pt x="180407" y="16004"/>
                </a:cubicBezTo>
                <a:cubicBezTo>
                  <a:pt x="198775" y="26734"/>
                  <a:pt x="213324" y="41283"/>
                  <a:pt x="224053" y="59651"/>
                </a:cubicBezTo>
                <a:cubicBezTo>
                  <a:pt x="234783" y="78019"/>
                  <a:pt x="240057" y="98205"/>
                  <a:pt x="240057" y="119847"/>
                </a:cubicBezTo>
                <a:cubicBezTo>
                  <a:pt x="240057" y="141852"/>
                  <a:pt x="234783" y="161857"/>
                  <a:pt x="224053" y="180407"/>
                </a:cubicBezTo>
                <a:cubicBezTo>
                  <a:pt x="213324" y="198775"/>
                  <a:pt x="198775" y="213324"/>
                  <a:pt x="180407" y="224054"/>
                </a:cubicBezTo>
                <a:cubicBezTo>
                  <a:pt x="162039" y="234783"/>
                  <a:pt x="142034" y="240057"/>
                  <a:pt x="120210" y="240057"/>
                </a:cubicBezTo>
                <a:cubicBezTo>
                  <a:pt x="98205" y="240239"/>
                  <a:pt x="78019" y="234783"/>
                  <a:pt x="59651" y="224054"/>
                </a:cubicBezTo>
                <a:lnTo>
                  <a:pt x="59651" y="224054"/>
                </a:lnTo>
                <a:close/>
                <a:moveTo>
                  <a:pt x="65106" y="67289"/>
                </a:moveTo>
                <a:cubicBezTo>
                  <a:pt x="54195" y="63470"/>
                  <a:pt x="43647" y="57832"/>
                  <a:pt x="33463" y="50194"/>
                </a:cubicBezTo>
                <a:cubicBezTo>
                  <a:pt x="26006" y="59469"/>
                  <a:pt x="20369" y="69653"/>
                  <a:pt x="16186" y="80747"/>
                </a:cubicBezTo>
                <a:cubicBezTo>
                  <a:pt x="12003" y="91840"/>
                  <a:pt x="9821" y="103480"/>
                  <a:pt x="9457" y="115482"/>
                </a:cubicBezTo>
                <a:lnTo>
                  <a:pt x="56013" y="115482"/>
                </a:lnTo>
                <a:cubicBezTo>
                  <a:pt x="56377" y="98569"/>
                  <a:pt x="59469" y="82565"/>
                  <a:pt x="65106" y="67289"/>
                </a:cubicBezTo>
                <a:lnTo>
                  <a:pt x="65106" y="67289"/>
                </a:lnTo>
                <a:close/>
                <a:moveTo>
                  <a:pt x="65106" y="172951"/>
                </a:moveTo>
                <a:cubicBezTo>
                  <a:pt x="59469" y="157674"/>
                  <a:pt x="56377" y="141488"/>
                  <a:pt x="56013" y="124394"/>
                </a:cubicBezTo>
                <a:lnTo>
                  <a:pt x="9457" y="124394"/>
                </a:lnTo>
                <a:cubicBezTo>
                  <a:pt x="9821" y="136396"/>
                  <a:pt x="12003" y="147854"/>
                  <a:pt x="16186" y="158947"/>
                </a:cubicBezTo>
                <a:cubicBezTo>
                  <a:pt x="20369" y="170041"/>
                  <a:pt x="26188" y="180225"/>
                  <a:pt x="33644" y="189682"/>
                </a:cubicBezTo>
                <a:cubicBezTo>
                  <a:pt x="43101" y="182589"/>
                  <a:pt x="53467" y="176951"/>
                  <a:pt x="65106" y="172951"/>
                </a:cubicBezTo>
                <a:lnTo>
                  <a:pt x="65106" y="172951"/>
                </a:lnTo>
                <a:close/>
                <a:moveTo>
                  <a:pt x="82020" y="206777"/>
                </a:moveTo>
                <a:cubicBezTo>
                  <a:pt x="76927" y="199684"/>
                  <a:pt x="72381" y="191137"/>
                  <a:pt x="68198" y="181134"/>
                </a:cubicBezTo>
                <a:lnTo>
                  <a:pt x="62742" y="183317"/>
                </a:lnTo>
                <a:cubicBezTo>
                  <a:pt x="58014" y="185317"/>
                  <a:pt x="53649" y="187499"/>
                  <a:pt x="49830" y="189500"/>
                </a:cubicBezTo>
                <a:cubicBezTo>
                  <a:pt x="46011" y="191500"/>
                  <a:pt x="42374" y="193865"/>
                  <a:pt x="39100" y="196593"/>
                </a:cubicBezTo>
                <a:cubicBezTo>
                  <a:pt x="47466" y="204958"/>
                  <a:pt x="57650" y="212414"/>
                  <a:pt x="69653" y="218962"/>
                </a:cubicBezTo>
                <a:cubicBezTo>
                  <a:pt x="81656" y="225508"/>
                  <a:pt x="93477" y="229691"/>
                  <a:pt x="105116" y="231146"/>
                </a:cubicBezTo>
                <a:cubicBezTo>
                  <a:pt x="94750" y="221871"/>
                  <a:pt x="86930" y="213869"/>
                  <a:pt x="82020" y="206777"/>
                </a:cubicBezTo>
                <a:lnTo>
                  <a:pt x="82020" y="206777"/>
                </a:lnTo>
                <a:close/>
                <a:moveTo>
                  <a:pt x="83111" y="32190"/>
                </a:moveTo>
                <a:cubicBezTo>
                  <a:pt x="88567" y="24733"/>
                  <a:pt x="95659" y="17823"/>
                  <a:pt x="104207" y="11457"/>
                </a:cubicBezTo>
                <a:cubicBezTo>
                  <a:pt x="92022" y="12003"/>
                  <a:pt x="80383" y="15095"/>
                  <a:pt x="69289" y="20914"/>
                </a:cubicBezTo>
                <a:cubicBezTo>
                  <a:pt x="58196" y="26734"/>
                  <a:pt x="48193" y="34372"/>
                  <a:pt x="39464" y="43829"/>
                </a:cubicBezTo>
                <a:cubicBezTo>
                  <a:pt x="46738" y="49103"/>
                  <a:pt x="56377" y="54195"/>
                  <a:pt x="68562" y="59105"/>
                </a:cubicBezTo>
                <a:cubicBezTo>
                  <a:pt x="72745" y="48557"/>
                  <a:pt x="77655" y="39646"/>
                  <a:pt x="83111" y="32190"/>
                </a:cubicBezTo>
                <a:lnTo>
                  <a:pt x="83111" y="32190"/>
                </a:lnTo>
                <a:close/>
                <a:moveTo>
                  <a:pt x="115664" y="115664"/>
                </a:moveTo>
                <a:lnTo>
                  <a:pt x="115664" y="77291"/>
                </a:lnTo>
                <a:cubicBezTo>
                  <a:pt x="100388" y="76746"/>
                  <a:pt x="86384" y="74200"/>
                  <a:pt x="73472" y="70017"/>
                </a:cubicBezTo>
                <a:cubicBezTo>
                  <a:pt x="68562" y="84020"/>
                  <a:pt x="65652" y="99297"/>
                  <a:pt x="65106" y="115664"/>
                </a:cubicBezTo>
                <a:lnTo>
                  <a:pt x="115664" y="115664"/>
                </a:lnTo>
                <a:lnTo>
                  <a:pt x="115664" y="115664"/>
                </a:lnTo>
                <a:close/>
                <a:moveTo>
                  <a:pt x="115664" y="162948"/>
                </a:moveTo>
                <a:lnTo>
                  <a:pt x="115664" y="124575"/>
                </a:lnTo>
                <a:lnTo>
                  <a:pt x="65106" y="124575"/>
                </a:lnTo>
                <a:cubicBezTo>
                  <a:pt x="65652" y="140761"/>
                  <a:pt x="68562" y="155856"/>
                  <a:pt x="73472" y="170223"/>
                </a:cubicBezTo>
                <a:cubicBezTo>
                  <a:pt x="86384" y="166040"/>
                  <a:pt x="100569" y="163675"/>
                  <a:pt x="115664" y="162948"/>
                </a:cubicBezTo>
                <a:lnTo>
                  <a:pt x="115664" y="162948"/>
                </a:lnTo>
                <a:close/>
                <a:moveTo>
                  <a:pt x="93295" y="33644"/>
                </a:moveTo>
                <a:cubicBezTo>
                  <a:pt x="86566" y="42192"/>
                  <a:pt x="81110" y="51467"/>
                  <a:pt x="76927" y="61469"/>
                </a:cubicBezTo>
                <a:cubicBezTo>
                  <a:pt x="90749" y="65652"/>
                  <a:pt x="103661" y="67653"/>
                  <a:pt x="115846" y="67653"/>
                </a:cubicBezTo>
                <a:lnTo>
                  <a:pt x="115846" y="12003"/>
                </a:lnTo>
                <a:cubicBezTo>
                  <a:pt x="107298" y="18005"/>
                  <a:pt x="99842" y="25279"/>
                  <a:pt x="93295" y="33644"/>
                </a:cubicBezTo>
                <a:lnTo>
                  <a:pt x="93295" y="33644"/>
                </a:lnTo>
                <a:close/>
                <a:moveTo>
                  <a:pt x="76746" y="178406"/>
                </a:moveTo>
                <a:cubicBezTo>
                  <a:pt x="81110" y="188409"/>
                  <a:pt x="86566" y="197865"/>
                  <a:pt x="93113" y="206413"/>
                </a:cubicBezTo>
                <a:cubicBezTo>
                  <a:pt x="99842" y="214961"/>
                  <a:pt x="107298" y="222235"/>
                  <a:pt x="115482" y="228418"/>
                </a:cubicBezTo>
                <a:lnTo>
                  <a:pt x="115482" y="172223"/>
                </a:lnTo>
                <a:cubicBezTo>
                  <a:pt x="102570" y="172587"/>
                  <a:pt x="89658" y="174587"/>
                  <a:pt x="76746" y="178406"/>
                </a:cubicBezTo>
                <a:lnTo>
                  <a:pt x="76746" y="178406"/>
                </a:lnTo>
                <a:close/>
                <a:moveTo>
                  <a:pt x="163494" y="61833"/>
                </a:moveTo>
                <a:cubicBezTo>
                  <a:pt x="158947" y="51649"/>
                  <a:pt x="153491" y="42192"/>
                  <a:pt x="146762" y="33826"/>
                </a:cubicBezTo>
                <a:cubicBezTo>
                  <a:pt x="140215" y="25279"/>
                  <a:pt x="132577" y="18186"/>
                  <a:pt x="124393" y="12185"/>
                </a:cubicBezTo>
                <a:lnTo>
                  <a:pt x="124393" y="67834"/>
                </a:lnTo>
                <a:cubicBezTo>
                  <a:pt x="138215" y="67653"/>
                  <a:pt x="151309" y="65652"/>
                  <a:pt x="163494" y="61833"/>
                </a:cubicBezTo>
                <a:lnTo>
                  <a:pt x="163494" y="61833"/>
                </a:lnTo>
                <a:close/>
                <a:moveTo>
                  <a:pt x="166585" y="70017"/>
                </a:moveTo>
                <a:cubicBezTo>
                  <a:pt x="153855" y="74200"/>
                  <a:pt x="139852" y="76564"/>
                  <a:pt x="124393" y="77291"/>
                </a:cubicBezTo>
                <a:lnTo>
                  <a:pt x="124393" y="115664"/>
                </a:lnTo>
                <a:lnTo>
                  <a:pt x="174951" y="115664"/>
                </a:lnTo>
                <a:cubicBezTo>
                  <a:pt x="174769" y="100206"/>
                  <a:pt x="172041" y="84930"/>
                  <a:pt x="166585" y="70017"/>
                </a:cubicBezTo>
                <a:lnTo>
                  <a:pt x="166585" y="70017"/>
                </a:lnTo>
                <a:close/>
                <a:moveTo>
                  <a:pt x="174951" y="124394"/>
                </a:moveTo>
                <a:lnTo>
                  <a:pt x="124393" y="124394"/>
                </a:lnTo>
                <a:lnTo>
                  <a:pt x="124393" y="162766"/>
                </a:lnTo>
                <a:cubicBezTo>
                  <a:pt x="139852" y="163494"/>
                  <a:pt x="154037" y="166040"/>
                  <a:pt x="166585" y="170041"/>
                </a:cubicBezTo>
                <a:cubicBezTo>
                  <a:pt x="172041" y="155492"/>
                  <a:pt x="174769" y="140215"/>
                  <a:pt x="174951" y="124394"/>
                </a:cubicBezTo>
                <a:lnTo>
                  <a:pt x="174951" y="124394"/>
                </a:lnTo>
                <a:close/>
                <a:moveTo>
                  <a:pt x="163494" y="178406"/>
                </a:moveTo>
                <a:cubicBezTo>
                  <a:pt x="150581" y="174587"/>
                  <a:pt x="137487" y="172587"/>
                  <a:pt x="124393" y="172223"/>
                </a:cubicBezTo>
                <a:lnTo>
                  <a:pt x="124393" y="228418"/>
                </a:lnTo>
                <a:cubicBezTo>
                  <a:pt x="140579" y="216779"/>
                  <a:pt x="153491" y="200048"/>
                  <a:pt x="163494" y="178406"/>
                </a:cubicBezTo>
                <a:lnTo>
                  <a:pt x="163494" y="178406"/>
                </a:lnTo>
                <a:close/>
                <a:moveTo>
                  <a:pt x="161311" y="224963"/>
                </a:moveTo>
                <a:cubicBezTo>
                  <a:pt x="169131" y="221871"/>
                  <a:pt x="176042" y="218052"/>
                  <a:pt x="182225" y="213506"/>
                </a:cubicBezTo>
                <a:cubicBezTo>
                  <a:pt x="188227" y="208959"/>
                  <a:pt x="194592" y="203321"/>
                  <a:pt x="200957" y="196593"/>
                </a:cubicBezTo>
                <a:cubicBezTo>
                  <a:pt x="191136" y="190045"/>
                  <a:pt x="181498" y="184954"/>
                  <a:pt x="172041" y="181316"/>
                </a:cubicBezTo>
                <a:cubicBezTo>
                  <a:pt x="166585" y="193319"/>
                  <a:pt x="160584" y="203503"/>
                  <a:pt x="154219" y="211869"/>
                </a:cubicBezTo>
                <a:cubicBezTo>
                  <a:pt x="147671" y="220235"/>
                  <a:pt x="141125" y="226600"/>
                  <a:pt x="134396" y="230783"/>
                </a:cubicBezTo>
                <a:cubicBezTo>
                  <a:pt x="144580" y="229873"/>
                  <a:pt x="153491" y="228055"/>
                  <a:pt x="161311" y="224963"/>
                </a:cubicBezTo>
                <a:lnTo>
                  <a:pt x="161311" y="224963"/>
                </a:lnTo>
                <a:close/>
                <a:moveTo>
                  <a:pt x="200957" y="43829"/>
                </a:moveTo>
                <a:cubicBezTo>
                  <a:pt x="192591" y="34736"/>
                  <a:pt x="182589" y="27098"/>
                  <a:pt x="170768" y="21278"/>
                </a:cubicBezTo>
                <a:cubicBezTo>
                  <a:pt x="158947" y="15458"/>
                  <a:pt x="147490" y="12003"/>
                  <a:pt x="136396" y="11276"/>
                </a:cubicBezTo>
                <a:cubicBezTo>
                  <a:pt x="143489" y="16550"/>
                  <a:pt x="150218" y="23824"/>
                  <a:pt x="156765" y="32917"/>
                </a:cubicBezTo>
                <a:cubicBezTo>
                  <a:pt x="163312" y="42192"/>
                  <a:pt x="168404" y="50921"/>
                  <a:pt x="171859" y="59287"/>
                </a:cubicBezTo>
                <a:cubicBezTo>
                  <a:pt x="182043" y="54923"/>
                  <a:pt x="191682" y="49830"/>
                  <a:pt x="200957" y="43829"/>
                </a:cubicBezTo>
                <a:lnTo>
                  <a:pt x="200957" y="43829"/>
                </a:lnTo>
                <a:close/>
                <a:moveTo>
                  <a:pt x="224053" y="80928"/>
                </a:moveTo>
                <a:cubicBezTo>
                  <a:pt x="219871" y="69835"/>
                  <a:pt x="214051" y="59651"/>
                  <a:pt x="206959" y="50376"/>
                </a:cubicBezTo>
                <a:cubicBezTo>
                  <a:pt x="196592" y="57832"/>
                  <a:pt x="185862" y="63652"/>
                  <a:pt x="174951" y="67471"/>
                </a:cubicBezTo>
                <a:cubicBezTo>
                  <a:pt x="180407" y="82020"/>
                  <a:pt x="183317" y="98205"/>
                  <a:pt x="183862" y="115664"/>
                </a:cubicBezTo>
                <a:lnTo>
                  <a:pt x="231146" y="115664"/>
                </a:lnTo>
                <a:cubicBezTo>
                  <a:pt x="230601" y="103661"/>
                  <a:pt x="228418" y="92022"/>
                  <a:pt x="224053" y="80928"/>
                </a:cubicBezTo>
                <a:lnTo>
                  <a:pt x="224053" y="80928"/>
                </a:lnTo>
                <a:close/>
                <a:moveTo>
                  <a:pt x="224053" y="159311"/>
                </a:moveTo>
                <a:cubicBezTo>
                  <a:pt x="228236" y="148217"/>
                  <a:pt x="230601" y="136760"/>
                  <a:pt x="231146" y="124575"/>
                </a:cubicBezTo>
                <a:lnTo>
                  <a:pt x="183862" y="124575"/>
                </a:lnTo>
                <a:cubicBezTo>
                  <a:pt x="183317" y="142398"/>
                  <a:pt x="180407" y="158584"/>
                  <a:pt x="174951" y="173133"/>
                </a:cubicBezTo>
                <a:cubicBezTo>
                  <a:pt x="186772" y="177315"/>
                  <a:pt x="197320" y="182953"/>
                  <a:pt x="206595" y="189864"/>
                </a:cubicBezTo>
                <a:cubicBezTo>
                  <a:pt x="214051" y="180407"/>
                  <a:pt x="219871" y="170223"/>
                  <a:pt x="224053" y="159311"/>
                </a:cubicBezTo>
                <a:lnTo>
                  <a:pt x="224053" y="159311"/>
                </a:lnTo>
                <a:close/>
              </a:path>
            </a:pathLst>
          </a:custGeom>
          <a:solidFill>
            <a:schemeClr val="bg1"/>
          </a:solidFill>
          <a:ln w="181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50087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design - ENG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design - ENG" id="{3C2D6E13-FC92-4E0A-9045-EBD50A743C32}" vid="{BA8662F3-C755-47AA-BE02-070901A65A3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usarbeitung" ma:contentTypeID="0x0101000FB713DD50D3D84999563C26A08686F2008D7DDB8268712F4EBAE7AC1AB3B287D1" ma:contentTypeVersion="17" ma:contentTypeDescription="" ma:contentTypeScope="" ma:versionID="5920e39886c00097fd075ead116de7b3">
  <xsd:schema xmlns:xsd="http://www.w3.org/2001/XMLSchema" xmlns:xs="http://www.w3.org/2001/XMLSchema" xmlns:p="http://schemas.microsoft.com/office/2006/metadata/properties" xmlns:ns2="48740596-e238-435f-bcf6-b332c4006c31" xmlns:ns3="6c208dc0-b5bb-4d29-86c6-a11a99475dda" targetNamespace="http://schemas.microsoft.com/office/2006/metadata/properties" ma:root="true" ma:fieldsID="bdab204354eae275dab6a5b13ef79134" ns2:_="" ns3:_="">
    <xsd:import namespace="48740596-e238-435f-bcf6-b332c4006c31"/>
    <xsd:import namespace="6c208dc0-b5bb-4d29-86c6-a11a99475dda"/>
    <xsd:element name="properties">
      <xsd:complexType>
        <xsd:sequence>
          <xsd:element name="documentManagement">
            <xsd:complexType>
              <xsd:all>
                <xsd:element ref="ns2:Projektname" minOccurs="0"/>
                <xsd:element ref="ns2:Dienstleistung" minOccurs="0"/>
                <xsd:element ref="ns2:Produkt" minOccurs="0"/>
                <xsd:element ref="ns2:Produkttyp" minOccurs="0"/>
                <xsd:element ref="ns2:Terminbeschreibung" minOccurs="0"/>
                <xsd:element ref="ns3:_dlc_DocId" minOccurs="0"/>
                <xsd:element ref="ns3:_dlc_DocIdUrl" minOccurs="0"/>
                <xsd:element ref="ns3:_dlc_DocIdPersistId" minOccurs="0"/>
                <xsd:element ref="ns2:Dienstleistungstyp" minOccurs="0"/>
                <xsd:element ref="ns2:Terminty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40596-e238-435f-bcf6-b332c4006c31" elementFormDefault="qualified">
    <xsd:import namespace="http://schemas.microsoft.com/office/2006/documentManagement/types"/>
    <xsd:import namespace="http://schemas.microsoft.com/office/infopath/2007/PartnerControls"/>
    <xsd:element name="Projektname" ma:index="2" nillable="true" ma:displayName="Projektname" ma:description="Dieses Dokument wird dem ausgewählten Projekt zugeordnet und ist fortan über dieses auffindbar." ma:list="{101a159d-2881-488a-b201-24a98c6b34a4}" ma:internalName="Projektname" ma:showField="Title">
      <xsd:simpleType>
        <xsd:restriction base="dms:Lookup"/>
      </xsd:simpleType>
    </xsd:element>
    <xsd:element name="Dienstleistung" ma:index="3" nillable="true" ma:displayName="Dienstleistung" ma:description="Dieses Dokument wird der ausgewählten Dienstleistung zugeordnet und ist fortan über diese auffindbar." ma:list="{9dccccf0-8c7e-4bb4-b28b-dca0ee88571e}" ma:internalName="Dienstleistung" ma:showField="Title">
      <xsd:simpleType>
        <xsd:restriction base="dms:Lookup"/>
      </xsd:simpleType>
    </xsd:element>
    <xsd:element name="Produkt" ma:index="4" nillable="true" ma:displayName="Produkt" ma:description="(Wenn zutreffend) &#10;Dieses Dokument wird dem ausgewählten Produkt zugeordnet und ist fortan über dieses auffindbar. Wenn dieses Dokument keinem Produkt zugeordnet werden kann, bitte Feld frei lassen." ma:list="{7ec4a087-7d3f-4ea3-936c-7e2edcc896f3}" ma:internalName="Produkt" ma:showField="Title">
      <xsd:simpleType>
        <xsd:restriction base="dms:Lookup"/>
      </xsd:simpleType>
    </xsd:element>
    <xsd:element name="Produkttyp" ma:index="5" nillable="true" ma:displayName="Produkttyp" ma:format="Dropdown" ma:hidden="true" ma:internalName="Produkttyp" ma:readOnly="false">
      <xsd:simpleType>
        <xsd:restriction base="dms:Choice">
          <xsd:enumeration value="(Keine)"/>
          <xsd:enumeration value="Ausarbeitung"/>
          <xsd:enumeration value="Auskunft"/>
          <xsd:enumeration value="DMP für Einzelprojekte"/>
          <xsd:enumeration value="DMP für Verbundprojekte"/>
          <xsd:enumeration value="FDM-Lösung"/>
          <xsd:enumeration value="Technische Lösung"/>
          <xsd:enumeration value="ZAU-Stellungnahme"/>
        </xsd:restriction>
      </xsd:simpleType>
    </xsd:element>
    <xsd:element name="Terminbeschreibung" ma:index="6" nillable="true" ma:displayName="Terminbeschreibung" ma:description="(Wenn zutreffend) &#10;Dieses Dokument wird dem ausgewählten Termin zugeordnet und ist fortan über diesen auffindbar. Wenn dieses Dokument keinem Termin zugeordnet werden kann, bitte Feld frei lassen." ma:list="{47912a10-d30f-4dc5-bf16-fe2c879541a8}" ma:internalName="Terminbeschreibung" ma:showField="Title">
      <xsd:simpleType>
        <xsd:restriction base="dms:Lookup"/>
      </xsd:simpleType>
    </xsd:element>
    <xsd:element name="Dienstleistungstyp" ma:index="16" nillable="true" ma:displayName="Dienstleistungstyp" ma:format="Dropdown" ma:hidden="true" ma:internalName="Dienstleistungstyp" ma:readOnly="false">
      <xsd:simpleType>
        <xsd:restriction base="dms:Choice">
          <xsd:enumeration value="(Keine)"/>
          <xsd:enumeration value="FDM-Beratung"/>
          <xsd:enumeration value="DMP-Beratung"/>
          <xsd:enumeration value="Schulung"/>
          <xsd:enumeration value="Technische Unterstützung"/>
          <xsd:enumeration value="Koordination"/>
        </xsd:restriction>
      </xsd:simpleType>
    </xsd:element>
    <xsd:element name="Termintyp" ma:index="17" nillable="true" ma:displayName="Termintyp" ma:format="Dropdown" ma:hidden="true" ma:internalName="Termintyp" ma:readOnly="false">
      <xsd:simpleType>
        <xsd:restriction base="dms:Choice">
          <xsd:enumeration value="(Keine)"/>
          <xsd:enumeration value="FDM-Beratung"/>
          <xsd:enumeration value="DMP-Beratung"/>
          <xsd:enumeration value="Schulung"/>
          <xsd:enumeration value="Technische Besprechung"/>
          <xsd:enumeration value="Koordination"/>
          <xsd:enumeration value="Foku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08dc0-b5bb-4d29-86c6-a11a99475dd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3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c208dc0-b5bb-4d29-86c6-a11a99475dda">UKU3UVJNXDQD-1697555606-5367</_dlc_DocId>
    <_dlc_DocIdUrl xmlns="6c208dc0-b5bb-4d29-86c6-a11a99475dda">
      <Url>https://sharepoint.tu-dresden.de/sites/forschungsdaten/_layouts/15/DocIdRedir.aspx?ID=UKU3UVJNXDQD-1697555606-5367</Url>
      <Description>UKU3UVJNXDQD-1697555606-5367</Description>
    </_dlc_DocIdUrl>
    <Produkttyp xmlns="48740596-e238-435f-bcf6-b332c4006c31" xsi:nil="true"/>
    <Terminbeschreibung xmlns="48740596-e238-435f-bcf6-b332c4006c31">1288</Terminbeschreibung>
    <Dienstleistungstyp xmlns="48740596-e238-435f-bcf6-b332c4006c31">Schulung</Dienstleistungstyp>
    <Termintyp xmlns="48740596-e238-435f-bcf6-b332c4006c31">Schulung</Termintyp>
    <Projektname xmlns="48740596-e238-435f-bcf6-b332c4006c31">832</Projektname>
    <Produkt xmlns="48740596-e238-435f-bcf6-b332c4006c31" xsi:nil="true"/>
    <Dienstleistung xmlns="48740596-e238-435f-bcf6-b332c4006c31">1013</Dienstleistung>
  </documentManagement>
</p:properties>
</file>

<file path=customXml/itemProps1.xml><?xml version="1.0" encoding="utf-8"?>
<ds:datastoreItem xmlns:ds="http://schemas.openxmlformats.org/officeDocument/2006/customXml" ds:itemID="{602474F9-97D3-4568-B97B-6BC77596A19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17032DF-65B2-4CC6-A411-A2D0111B2E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40596-e238-435f-bcf6-b332c4006c31"/>
    <ds:schemaRef ds:uri="6c208dc0-b5bb-4d29-86c6-a11a99475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5670E0-2889-403A-91AD-6F70C08AA3A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1D26B75-25B7-4D2E-B702-B08078230E21}">
  <ds:schemaRefs>
    <ds:schemaRef ds:uri="http://schemas.microsoft.com/office/2006/documentManagement/types"/>
    <ds:schemaRef ds:uri="http://purl.org/dc/terms/"/>
    <ds:schemaRef ds:uri="http://purl.org/dc/elements/1.1/"/>
    <ds:schemaRef ds:uri="6c208dc0-b5bb-4d29-86c6-a11a99475dda"/>
    <ds:schemaRef ds:uri="http://purl.org/dc/dcmitype/"/>
    <ds:schemaRef ds:uri="48740596-e238-435f-bcf6-b332c4006c31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1275</Words>
  <Application>Microsoft Office PowerPoint</Application>
  <PresentationFormat>Breitbild</PresentationFormat>
  <Paragraphs>219</Paragraphs>
  <Slides>15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Open Sans</vt:lpstr>
      <vt:lpstr>Open Sans TUD</vt:lpstr>
      <vt:lpstr>Symbol</vt:lpstr>
      <vt:lpstr>Wingdings</vt:lpstr>
      <vt:lpstr>Foliendesign - ENG</vt:lpstr>
      <vt:lpstr>First steps in research data management  for life scientists</vt:lpstr>
      <vt:lpstr>The Service Center Research Data</vt:lpstr>
      <vt:lpstr>Research data management - definition</vt:lpstr>
      <vt:lpstr>Key elements of good scientific practice </vt:lpstr>
      <vt:lpstr>RDM helps with good scientific practice – How?</vt:lpstr>
      <vt:lpstr>First steps</vt:lpstr>
      <vt:lpstr>What are my research data? The life cycle of research data</vt:lpstr>
      <vt:lpstr>Where could the data be stored?</vt:lpstr>
      <vt:lpstr>Where could the data be stored?</vt:lpstr>
      <vt:lpstr>How to create a (shared) folder structure</vt:lpstr>
      <vt:lpstr>Data documentation and metadata</vt:lpstr>
      <vt:lpstr>How to achieve high data quality?</vt:lpstr>
      <vt:lpstr>Summary – What could your first steps look like?</vt:lpstr>
      <vt:lpstr>Our Services and next Steps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Präsentationsfolien - Vorlage - ENG</dc:title>
  <dc:creator>Dörfel, Denise</dc:creator>
  <cp:lastModifiedBy>Denise</cp:lastModifiedBy>
  <cp:revision>32</cp:revision>
  <dcterms:created xsi:type="dcterms:W3CDTF">2022-04-25T08:21:57Z</dcterms:created>
  <dcterms:modified xsi:type="dcterms:W3CDTF">2024-05-29T08:12:45Z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0x0101000FB713DD50D3D84999563C26A08686F2008D7DDB8268712F4EBAE7AC1AB3B287D1</vt:lpwstr>
  </property>
  <property fmtid="{D5CDD505-2E9C-101B-9397-08002B2CF9AE}" pid="3" name="Neuigkeit erstellen - Interne Dokumente">
    <vt:lpwstr>https://sharepoint.tu-dresden.de/sites/forschungsdaten/_layouts/15/wrkstat.aspx?List=7e1fa2fd-42b8-4b62-aa7a-25d3e9af8187&amp;WorkflowInstanceName=08c4e81e-a2bb-4308-a680-bf033c4b494c, Stufe 1</vt:lpwstr>
  </property>
  <property fmtid="{D5CDD505-2E9C-101B-9397-08002B2CF9AE}" pid="4" name="_dlc_DocIdItemGuid">
    <vt:lpwstr>53be9736-88d0-4b20-9715-bf7723a9e1a7</vt:lpwstr>
  </property>
  <property fmtid="{D5CDD505-2E9C-101B-9397-08002B2CF9AE}" pid="5" name="Projektdokumente Typen aktualisieren">
    <vt:lpwstr>https://sharepoint.tu-dresden.de/sites/forschungsdaten/_layouts/15/wrkstat.aspx?List=48740596-e238-435f-bcf6-b332c4006c31&amp;WorkflowInstanceName=81066030-8207-495d-af53-65cc0f832edd, Start - Q8 - PROD</vt:lpwstr>
  </property>
  <property fmtid="{D5CDD505-2E9C-101B-9397-08002B2CF9AE}" pid="6" name="GUID">
    <vt:lpwstr>9c4523df-c592-423d-ae3a-3779f146d64f</vt:lpwstr>
  </property>
  <property fmtid="{D5CDD505-2E9C-101B-9397-08002B2CF9AE}" pid="7" name="WorkflowCreationPath">
    <vt:lpwstr>f47434bc-32bf-442d-a573-70915ff6f44d;</vt:lpwstr>
  </property>
</Properties>
</file>